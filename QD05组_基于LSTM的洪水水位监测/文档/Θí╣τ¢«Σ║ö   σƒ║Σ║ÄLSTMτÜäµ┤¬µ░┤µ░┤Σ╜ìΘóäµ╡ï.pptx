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1" r:id="rId3"/>
    <p:sldId id="258" r:id="rId4"/>
    <p:sldId id="257" r:id="rId5"/>
    <p:sldId id="262" r:id="rId6"/>
    <p:sldId id="259" r:id="rId7"/>
    <p:sldId id="260" r:id="rId8"/>
    <p:sldId id="263" r:id="rId9"/>
    <p:sldId id="266" r:id="rId10"/>
    <p:sldId id="269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小时占比</c:v>
          </c:tx>
          <c:dPt>
            <c:idx val="0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1-B8DF-48A4-8DC1-72FF6CD38261}"/>
              </c:ext>
            </c:extLst>
          </c:dPt>
          <c:dPt>
            <c:idx val="1"/>
            <c:bubble3D val="0"/>
            <c:spPr>
              <a:solidFill>
                <a:srgbClr val="DDE8EF"/>
              </a:solidFill>
            </c:spPr>
            <c:extLst>
              <c:ext xmlns:c16="http://schemas.microsoft.com/office/drawing/2014/chart" uri="{C3380CC4-5D6E-409C-BE32-E72D297353CC}">
                <c16:uniqueId val="{00000003-B8DF-48A4-8DC1-72FF6CD38261}"/>
              </c:ext>
            </c:extLst>
          </c:dPt>
          <c:dLbls>
            <c:delete val="1"/>
          </c:dLbls>
          <c:cat>
            <c:strLit>
              <c:ptCount val="2"/>
              <c:pt idx="0">
                <c:v>有雨小时</c:v>
              </c:pt>
              <c:pt idx="1">
                <c:v>无雨小时</c:v>
              </c:pt>
            </c:strLit>
          </c:cat>
          <c:val>
            <c:numLit>
              <c:formatCode>General</c:formatCode>
              <c:ptCount val="2"/>
              <c:pt idx="0">
                <c:v>12.18</c:v>
              </c:pt>
              <c:pt idx="1">
                <c:v>87.82</c:v>
              </c:pt>
            </c:numLit>
          </c:val>
          <c:extLst>
            <c:ext xmlns:c16="http://schemas.microsoft.com/office/drawing/2014/chart" uri="{C3380CC4-5D6E-409C-BE32-E72D297353CC}">
              <c16:uniqueId val="{00000004-B8DF-48A4-8DC1-72FF6CD382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6"/>
      </c:doughnutChart>
      <c:spPr>
        <a:solidFill>
          <a:srgbClr val="000000">
            <a:alpha val="0"/>
          </a:srgbClr>
        </a:solidFill>
        <a:ln w="0">
          <a:solidFill>
            <a:srgbClr val="000000">
              <a:alpha val="0"/>
            </a:srgbClr>
          </a:solidFill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607085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000000">
        <a:alpha val="0"/>
      </a:srgbClr>
    </a:solidFill>
    <a:ln w="0">
      <a:solidFill>
        <a:srgbClr val="000000">
          <a:alpha val="0"/>
        </a:srgbClr>
      </a:solidFill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MAE (ft)</c:v>
          </c:tx>
          <c:spPr>
            <a:ln w="28575">
              <a:solidFill>
                <a:srgbClr val="1261A6"/>
              </a:solidFill>
              <a:prstDash val="solid"/>
            </a:ln>
          </c:spPr>
          <c:marker>
            <c:symbol val="circle"/>
            <c:size val="4"/>
          </c:marker>
          <c:cat>
            <c:numLit>
              <c:formatCode>General</c:formatCode>
              <c:ptCount val="2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</c:numLit>
          </c:cat>
          <c:val>
            <c:numLit>
              <c:formatCode>0.00</c:formatCode>
              <c:ptCount val="24"/>
              <c:pt idx="0">
                <c:v>7.7189223714376115E-2</c:v>
              </c:pt>
              <c:pt idx="1">
                <c:v>6.7237981386847653E-2</c:v>
              </c:pt>
              <c:pt idx="2">
                <c:v>7.4875579216319682E-2</c:v>
              </c:pt>
              <c:pt idx="3">
                <c:v>8.1047180336853542E-2</c:v>
              </c:pt>
              <c:pt idx="4">
                <c:v>8.6422906792552739E-2</c:v>
              </c:pt>
              <c:pt idx="5">
                <c:v>8.6116336849302338E-2</c:v>
              </c:pt>
              <c:pt idx="6">
                <c:v>9.9189924637197016E-2</c:v>
              </c:pt>
              <c:pt idx="7">
                <c:v>9.1264241950851491E-2</c:v>
              </c:pt>
              <c:pt idx="8">
                <c:v>0.10398435593958705</c:v>
              </c:pt>
              <c:pt idx="9">
                <c:v>0.10180889443719901</c:v>
              </c:pt>
              <c:pt idx="10">
                <c:v>0.10746219318926648</c:v>
              </c:pt>
              <c:pt idx="11">
                <c:v>0.11099886511109062</c:v>
              </c:pt>
              <c:pt idx="12">
                <c:v>0.11591759089783664</c:v>
              </c:pt>
              <c:pt idx="13">
                <c:v>0.12159060380862123</c:v>
              </c:pt>
              <c:pt idx="14">
                <c:v>0.12475851944955563</c:v>
              </c:pt>
              <c:pt idx="15">
                <c:v>0.13145309779045616</c:v>
              </c:pt>
              <c:pt idx="16">
                <c:v>0.13491386755268236</c:v>
              </c:pt>
              <c:pt idx="17">
                <c:v>0.14477031402466101</c:v>
              </c:pt>
              <c:pt idx="18">
                <c:v>0.15219303694084177</c:v>
              </c:pt>
              <c:pt idx="19">
                <c:v>0.14855307402659768</c:v>
              </c:pt>
              <c:pt idx="20">
                <c:v>0.16079534247401403</c:v>
              </c:pt>
              <c:pt idx="21">
                <c:v>0.1641579310108448</c:v>
              </c:pt>
              <c:pt idx="22">
                <c:v>0.1681962997941962</c:v>
              </c:pt>
              <c:pt idx="23">
                <c:v>0.18051861841330491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721-4A62-A718-6526B325C34E}"/>
            </c:ext>
          </c:extLst>
        </c:ser>
        <c:ser>
          <c:idx val="1"/>
          <c:order val="1"/>
          <c:tx>
            <c:v>RMSE (ft)</c:v>
          </c:tx>
          <c:spPr>
            <a:ln w="28575">
              <a:solidFill>
                <a:srgbClr val="F59E0B"/>
              </a:solidFill>
              <a:prstDash val="solid"/>
            </a:ln>
          </c:spPr>
          <c:marker>
            <c:symbol val="circle"/>
            <c:size val="4"/>
          </c:marker>
          <c:cat>
            <c:numLit>
              <c:formatCode>General</c:formatCode>
              <c:ptCount val="2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</c:numLit>
          </c:cat>
          <c:val>
            <c:numLit>
              <c:formatCode>0.00</c:formatCode>
              <c:ptCount val="24"/>
              <c:pt idx="0">
                <c:v>0.11281451074163318</c:v>
              </c:pt>
              <c:pt idx="1">
                <c:v>0.11427883133069122</c:v>
              </c:pt>
              <c:pt idx="2">
                <c:v>0.11933996371840273</c:v>
              </c:pt>
              <c:pt idx="3">
                <c:v>0.12947384621216873</c:v>
              </c:pt>
              <c:pt idx="4">
                <c:v>0.13865522225591148</c:v>
              </c:pt>
              <c:pt idx="5">
                <c:v>0.14394157399229621</c:v>
              </c:pt>
              <c:pt idx="6">
                <c:v>0.15148626051614303</c:v>
              </c:pt>
              <c:pt idx="7">
                <c:v>0.15442837159666215</c:v>
              </c:pt>
              <c:pt idx="8">
                <c:v>0.16424235087765168</c:v>
              </c:pt>
              <c:pt idx="9">
                <c:v>0.16815304348660368</c:v>
              </c:pt>
              <c:pt idx="10">
                <c:v>0.1772642008722817</c:v>
              </c:pt>
              <c:pt idx="11">
                <c:v>0.1857816428553524</c:v>
              </c:pt>
              <c:pt idx="12">
                <c:v>0.1927124012761276</c:v>
              </c:pt>
              <c:pt idx="13">
                <c:v>0.19915580807888772</c:v>
              </c:pt>
              <c:pt idx="14">
                <c:v>0.20705068492347697</c:v>
              </c:pt>
              <c:pt idx="15">
                <c:v>0.21615873738636698</c:v>
              </c:pt>
              <c:pt idx="16">
                <c:v>0.22577436633727932</c:v>
              </c:pt>
              <c:pt idx="17">
                <c:v>0.23415526287485586</c:v>
              </c:pt>
              <c:pt idx="18">
                <c:v>0.24506618505747516</c:v>
              </c:pt>
              <c:pt idx="19">
                <c:v>0.2514655407687455</c:v>
              </c:pt>
              <c:pt idx="20">
                <c:v>0.26352916932393683</c:v>
              </c:pt>
              <c:pt idx="21">
                <c:v>0.27420228000838703</c:v>
              </c:pt>
              <c:pt idx="22">
                <c:v>0.2879451495516942</c:v>
              </c:pt>
              <c:pt idx="23">
                <c:v>0.29873612564713636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4721-4A62-A718-6526B325C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/>
                  <a:t>预测时距 </a:t>
                </a:r>
                <a:r>
                  <a:rPr lang="en-US" altLang="zh-CN"/>
                  <a:t>(</a:t>
                </a:r>
                <a:r>
                  <a:rPr lang="en-US"/>
                  <a:t>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07085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35"/>
        </c:scaling>
        <c:delete val="0"/>
        <c:axPos val="l"/>
        <c:majorGridlines>
          <c:spPr>
            <a:ln w="9525">
              <a:solidFill>
                <a:srgbClr val="D8E3EA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误差 </a:t>
                </a:r>
                <a:r>
                  <a:rPr lang="en-US" altLang="zh-CN"/>
                  <a:t>(</a:t>
                </a:r>
                <a:r>
                  <a:rPr lang="en-US"/>
                  <a:t>ft)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07085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607085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000000">
        <a:alpha val="0"/>
      </a:srgbClr>
    </a:solidFill>
    <a:ln w="0">
      <a:solidFill>
        <a:srgbClr val="000000">
          <a:alpha val="0"/>
        </a:srgbClr>
      </a:solidFill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R²</c:v>
          </c:tx>
          <c:spPr>
            <a:ln w="28575">
              <a:solidFill>
                <a:srgbClr val="16A34A"/>
              </a:solidFill>
              <a:prstDash val="solid"/>
            </a:ln>
          </c:spPr>
          <c:marker>
            <c:symbol val="circle"/>
            <c:size val="4"/>
          </c:marker>
          <c:cat>
            <c:numLit>
              <c:formatCode>General</c:formatCode>
              <c:ptCount val="2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</c:numLit>
          </c:cat>
          <c:val>
            <c:numLit>
              <c:formatCode>0.000</c:formatCode>
              <c:ptCount val="24"/>
              <c:pt idx="0">
                <c:v>0.99642639232504704</c:v>
              </c:pt>
              <c:pt idx="1">
                <c:v>0.99633302114524935</c:v>
              </c:pt>
              <c:pt idx="2">
                <c:v>0.99600104772332498</c:v>
              </c:pt>
              <c:pt idx="3">
                <c:v>0.99529311458745162</c:v>
              </c:pt>
              <c:pt idx="4">
                <c:v>0.99460196813726709</c:v>
              </c:pt>
              <c:pt idx="5">
                <c:v>0.99418259862558933</c:v>
              </c:pt>
              <c:pt idx="6">
                <c:v>0.99355688227212491</c:v>
              </c:pt>
              <c:pt idx="7">
                <c:v>0.9933042998061774</c:v>
              </c:pt>
              <c:pt idx="8">
                <c:v>0.9924263923852753</c:v>
              </c:pt>
              <c:pt idx="9">
                <c:v>0.99206167379379662</c:v>
              </c:pt>
              <c:pt idx="10">
                <c:v>0.99117839292000565</c:v>
              </c:pt>
              <c:pt idx="11">
                <c:v>0.99031064273195257</c:v>
              </c:pt>
              <c:pt idx="12">
                <c:v>0.98957465266053946</c:v>
              </c:pt>
              <c:pt idx="13">
                <c:v>0.98886631444709017</c:v>
              </c:pt>
              <c:pt idx="14">
                <c:v>0.98796661563461041</c:v>
              </c:pt>
              <c:pt idx="15">
                <c:v>0.98688522593161598</c:v>
              </c:pt>
              <c:pt idx="16">
                <c:v>0.98569313553205296</c:v>
              </c:pt>
              <c:pt idx="17">
                <c:v>0.98461199067421123</c:v>
              </c:pt>
              <c:pt idx="18">
                <c:v>0.98314544698080653</c:v>
              </c:pt>
              <c:pt idx="19">
                <c:v>0.98225475938663509</c:v>
              </c:pt>
              <c:pt idx="20">
                <c:v>0.98051246375493073</c:v>
              </c:pt>
              <c:pt idx="21">
                <c:v>0.97890319367151979</c:v>
              </c:pt>
              <c:pt idx="22">
                <c:v>0.97673678102851835</c:v>
              </c:pt>
              <c:pt idx="23">
                <c:v>0.97496186273649588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282-4BD1-AEA3-50569BADC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/>
                  <a:t>预测时距 </a:t>
                </a:r>
                <a:r>
                  <a:rPr lang="en-US" altLang="zh-CN"/>
                  <a:t>(</a:t>
                </a:r>
                <a:r>
                  <a:rPr lang="en-US"/>
                  <a:t>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07085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.97"/>
        </c:scaling>
        <c:delete val="0"/>
        <c:axPos val="l"/>
        <c:majorGridlines>
          <c:spPr>
            <a:ln w="9525">
              <a:solidFill>
                <a:srgbClr val="D8E3EA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R²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07085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000000">
            <a:alpha val="0"/>
          </a:srgbClr>
        </a:solidFill>
      </c:spPr>
    </c:plotArea>
    <c:plotVisOnly val="1"/>
    <c:dispBlanksAs val="zero"/>
    <c:showDLblsOverMax val="1"/>
  </c:chart>
  <c:spPr>
    <a:solidFill>
      <a:srgbClr val="000000">
        <a:alpha val="0"/>
      </a:srgbClr>
    </a:solidFill>
    <a:ln w="0">
      <a:solidFill>
        <a:srgbClr val="000000">
          <a:alpha val="0"/>
        </a:srgbClr>
      </a:solidFill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-1">
            <a:extLst>
              <a:ext uri="{FF2B5EF4-FFF2-40B4-BE49-F238E27FC236}">
                <a16:creationId xmlns:a16="http://schemas.microsoft.com/office/drawing/2014/main" id="{F7601AEB-090F-4289-BD82-337346ED38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2" name="rect-2">
            <a:extLst>
              <a:ext uri="{FF2B5EF4-FFF2-40B4-BE49-F238E27FC236}">
                <a16:creationId xmlns:a16="http://schemas.microsoft.com/office/drawing/2014/main" id="{421E5EAE-BE59-4D59-896B-811708D2D6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ECB9D9C0-2692-42C1-899C-2D191D5A886D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752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LSTM 的洪水水位预测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4F265348-3A6B-42EA-AFB7-BA5CA4A3F1C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C7F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F9FF"/>
                </a:solidFill>
                <a:latin typeface="Microsoft YaHei"/>
                <a:ea typeface="Microsoft YaHei"/>
                <a:cs typeface="Microsoft YaHei"/>
              </a:rPr>
              <a:t>融合历史水位、流量与 ERA5 逐小时降雨量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EF2ABBE3-4D51-4D31-9CFF-7639CCAAA227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733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D6F2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F2F7"/>
                </a:solidFill>
                <a:latin typeface="Microsoft YaHei"/>
                <a:ea typeface="Microsoft YaHei"/>
                <a:cs typeface="Microsoft YaHei"/>
              </a:rPr>
              <a:t>Cedar River at Cedar Rapids, IA · USGS 05464500</a:t>
            </a:r>
          </a:p>
        </p:txBody>
      </p:sp>
      <p:sp>
        <p:nvSpPr>
          <p:cNvPr id="6" name="box-6">
            <a:extLst>
              <a:ext uri="{FF2B5EF4-FFF2-40B4-BE49-F238E27FC236}">
                <a16:creationId xmlns:a16="http://schemas.microsoft.com/office/drawing/2014/main" id="{F1CB0ED9-C6FE-4FA4-B076-91156CEA901A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7143750" cy="1676400"/>
          </a:xfrm>
          <a:prstGeom prst="roundRect">
            <a:avLst>
              <a:gd name="adj" fmla="val 10227"/>
            </a:avLst>
          </a:prstGeom>
          <a:solidFill>
            <a:srgbClr val="102B45"/>
          </a:solidFill>
          <a:ln w="9525">
            <a:solidFill>
              <a:srgbClr val="244761"/>
            </a:solidFill>
            <a:prstDash val="solid"/>
          </a:ln>
        </p:spPr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22B8F7CE-704F-4D46-AAA7-6AA1DFB8BC92}"/>
              </a:ext>
            </a:extLst>
          </p:cNvPr>
          <p:cNvSpPr>
            <a:spLocks noGrp="1"/>
          </p:cNvSpPr>
          <p:nvPr/>
        </p:nvSpPr>
        <p:spPr>
          <a:xfrm>
            <a:off x="952500" y="36004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7F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F9FF"/>
                </a:solidFill>
                <a:latin typeface="Microsoft YaHei"/>
                <a:ea typeface="Microsoft YaHei"/>
                <a:cs typeface="Microsoft YaHei"/>
              </a:rPr>
              <a:t>预测任务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D87C41FB-5547-4833-97B6-A1E9592358CB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638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过去 72 小时 × 3 个特征  →  未来 24 小时水位</a:t>
            </a:r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5E493388-8FB0-45B8-9040-2FBACF73CF9A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628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rPr>
              <a:t>数据覆盖：2008-01-01 至 2026-06-09（UTC）</a:t>
            </a:r>
          </a:p>
          <a:p>
            <a:pPr algn="l">
              <a:defRPr sz="1200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rPr>
              <a:t>模型：双层 LSTM + Dense 多步直接预测</a:t>
            </a:r>
          </a:p>
        </p:txBody>
      </p:sp>
      <p:sp>
        <p:nvSpPr>
          <p:cNvPr id="10" name="box-10">
            <a:extLst>
              <a:ext uri="{FF2B5EF4-FFF2-40B4-BE49-F238E27FC236}">
                <a16:creationId xmlns:a16="http://schemas.microsoft.com/office/drawing/2014/main" id="{F85D8542-D108-4369-BA3A-8A9D18C91BE6}"/>
              </a:ext>
            </a:extLst>
          </p:cNvPr>
          <p:cNvSpPr>
            <a:spLocks noGrp="1"/>
          </p:cNvSpPr>
          <p:nvPr/>
        </p:nvSpPr>
        <p:spPr>
          <a:xfrm>
            <a:off x="8477250" y="1257300"/>
            <a:ext cx="2857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1" name="rect-11">
            <a:extLst>
              <a:ext uri="{FF2B5EF4-FFF2-40B4-BE49-F238E27FC236}">
                <a16:creationId xmlns:a16="http://schemas.microsoft.com/office/drawing/2014/main" id="{B5F0E71D-4276-4BF2-B03B-786695D10978}"/>
              </a:ext>
            </a:extLst>
          </p:cNvPr>
          <p:cNvSpPr>
            <a:spLocks noGrp="1"/>
          </p:cNvSpPr>
          <p:nvPr/>
        </p:nvSpPr>
        <p:spPr>
          <a:xfrm>
            <a:off x="8477250" y="125730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12" name="text-12">
            <a:extLst>
              <a:ext uri="{FF2B5EF4-FFF2-40B4-BE49-F238E27FC236}">
                <a16:creationId xmlns:a16="http://schemas.microsoft.com/office/drawing/2014/main" id="{5B3A0F70-A2B0-4BF2-ACC2-CA045EE55DAB}"/>
              </a:ext>
            </a:extLst>
          </p:cNvPr>
          <p:cNvSpPr>
            <a:spLocks noGrp="1"/>
          </p:cNvSpPr>
          <p:nvPr/>
        </p:nvSpPr>
        <p:spPr>
          <a:xfrm>
            <a:off x="8667750" y="13906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小时级样本</a:t>
            </a:r>
          </a:p>
        </p:txBody>
      </p:sp>
      <p:sp>
        <p:nvSpPr>
          <p:cNvPr id="13" name="text-13">
            <a:extLst>
              <a:ext uri="{FF2B5EF4-FFF2-40B4-BE49-F238E27FC236}">
                <a16:creationId xmlns:a16="http://schemas.microsoft.com/office/drawing/2014/main" id="{8345466B-15BE-4C2B-9FD6-199ECEE1102B}"/>
              </a:ext>
            </a:extLst>
          </p:cNvPr>
          <p:cNvSpPr>
            <a:spLocks noGrp="1"/>
          </p:cNvSpPr>
          <p:nvPr/>
        </p:nvSpPr>
        <p:spPr>
          <a:xfrm>
            <a:off x="8667750" y="1628775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161,634</a:t>
            </a:r>
          </a:p>
        </p:txBody>
      </p:sp>
      <p:sp>
        <p:nvSpPr>
          <p:cNvPr id="14" name="text-14">
            <a:extLst>
              <a:ext uri="{FF2B5EF4-FFF2-40B4-BE49-F238E27FC236}">
                <a16:creationId xmlns:a16="http://schemas.microsoft.com/office/drawing/2014/main" id="{CAE90172-2C87-4F94-99BE-14C918D8DDAF}"/>
              </a:ext>
            </a:extLst>
          </p:cNvPr>
          <p:cNvSpPr>
            <a:spLocks noGrp="1"/>
          </p:cNvSpPr>
          <p:nvPr/>
        </p:nvSpPr>
        <p:spPr>
          <a:xfrm>
            <a:off x="8667750" y="2085975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连续、无缺失</a:t>
            </a:r>
          </a:p>
        </p:txBody>
      </p:sp>
      <p:sp>
        <p:nvSpPr>
          <p:cNvPr id="15" name="box-15">
            <a:extLst>
              <a:ext uri="{FF2B5EF4-FFF2-40B4-BE49-F238E27FC236}">
                <a16:creationId xmlns:a16="http://schemas.microsoft.com/office/drawing/2014/main" id="{3D608899-95CD-44E5-8B26-511A726445CC}"/>
              </a:ext>
            </a:extLst>
          </p:cNvPr>
          <p:cNvSpPr>
            <a:spLocks noGrp="1"/>
          </p:cNvSpPr>
          <p:nvPr/>
        </p:nvSpPr>
        <p:spPr>
          <a:xfrm>
            <a:off x="8477250" y="2590800"/>
            <a:ext cx="2857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6" name="rect-16">
            <a:extLst>
              <a:ext uri="{FF2B5EF4-FFF2-40B4-BE49-F238E27FC236}">
                <a16:creationId xmlns:a16="http://schemas.microsoft.com/office/drawing/2014/main" id="{90D2E32A-3CC7-4F1F-9A6C-54792E4C1E42}"/>
              </a:ext>
            </a:extLst>
          </p:cNvPr>
          <p:cNvSpPr>
            <a:spLocks noGrp="1"/>
          </p:cNvSpPr>
          <p:nvPr/>
        </p:nvSpPr>
        <p:spPr>
          <a:xfrm>
            <a:off x="8477250" y="2590800"/>
            <a:ext cx="66675" cy="11049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7" name="text-17">
            <a:extLst>
              <a:ext uri="{FF2B5EF4-FFF2-40B4-BE49-F238E27FC236}">
                <a16:creationId xmlns:a16="http://schemas.microsoft.com/office/drawing/2014/main" id="{EE2832AD-F66C-4982-9125-FD45CF2D74CE}"/>
              </a:ext>
            </a:extLst>
          </p:cNvPr>
          <p:cNvSpPr>
            <a:spLocks noGrp="1"/>
          </p:cNvSpPr>
          <p:nvPr/>
        </p:nvSpPr>
        <p:spPr>
          <a:xfrm>
            <a:off x="8667750" y="27241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第 1 小时 R²</a:t>
            </a:r>
          </a:p>
        </p:txBody>
      </p:sp>
      <p:sp>
        <p:nvSpPr>
          <p:cNvPr id="18" name="text-18">
            <a:extLst>
              <a:ext uri="{FF2B5EF4-FFF2-40B4-BE49-F238E27FC236}">
                <a16:creationId xmlns:a16="http://schemas.microsoft.com/office/drawing/2014/main" id="{62485270-9BF3-4FBA-9EBF-09E07727020E}"/>
              </a:ext>
            </a:extLst>
          </p:cNvPr>
          <p:cNvSpPr>
            <a:spLocks noGrp="1"/>
          </p:cNvSpPr>
          <p:nvPr/>
        </p:nvSpPr>
        <p:spPr>
          <a:xfrm>
            <a:off x="8667750" y="2962275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0.9964</a:t>
            </a:r>
          </a:p>
        </p:txBody>
      </p:sp>
      <p:sp>
        <p:nvSpPr>
          <p:cNvPr id="19" name="text-19">
            <a:extLst>
              <a:ext uri="{FF2B5EF4-FFF2-40B4-BE49-F238E27FC236}">
                <a16:creationId xmlns:a16="http://schemas.microsoft.com/office/drawing/2014/main" id="{48203B23-7850-467D-AF13-73DE23E9A90B}"/>
              </a:ext>
            </a:extLst>
          </p:cNvPr>
          <p:cNvSpPr>
            <a:spLocks noGrp="1"/>
          </p:cNvSpPr>
          <p:nvPr/>
        </p:nvSpPr>
        <p:spPr>
          <a:xfrm>
            <a:off x="8667750" y="3419475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RMSE 0.1128 ft</a:t>
            </a:r>
          </a:p>
        </p:txBody>
      </p:sp>
      <p:sp>
        <p:nvSpPr>
          <p:cNvPr id="20" name="box-20">
            <a:extLst>
              <a:ext uri="{FF2B5EF4-FFF2-40B4-BE49-F238E27FC236}">
                <a16:creationId xmlns:a16="http://schemas.microsoft.com/office/drawing/2014/main" id="{0DB7F80A-5927-4261-80AC-652EF51F1B7A}"/>
              </a:ext>
            </a:extLst>
          </p:cNvPr>
          <p:cNvSpPr>
            <a:spLocks noGrp="1"/>
          </p:cNvSpPr>
          <p:nvPr/>
        </p:nvSpPr>
        <p:spPr>
          <a:xfrm>
            <a:off x="8477250" y="3924300"/>
            <a:ext cx="2857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rect-21">
            <a:extLst>
              <a:ext uri="{FF2B5EF4-FFF2-40B4-BE49-F238E27FC236}">
                <a16:creationId xmlns:a16="http://schemas.microsoft.com/office/drawing/2014/main" id="{7B84E38A-77C2-4E87-B0C9-C961DE6520AD}"/>
              </a:ext>
            </a:extLst>
          </p:cNvPr>
          <p:cNvSpPr>
            <a:spLocks noGrp="1"/>
          </p:cNvSpPr>
          <p:nvPr/>
        </p:nvSpPr>
        <p:spPr>
          <a:xfrm>
            <a:off x="8477250" y="3924300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text-22">
            <a:extLst>
              <a:ext uri="{FF2B5EF4-FFF2-40B4-BE49-F238E27FC236}">
                <a16:creationId xmlns:a16="http://schemas.microsoft.com/office/drawing/2014/main" id="{590D65C3-768C-47AF-8CD4-79F18CC7EE74}"/>
              </a:ext>
            </a:extLst>
          </p:cNvPr>
          <p:cNvSpPr>
            <a:spLocks noGrp="1"/>
          </p:cNvSpPr>
          <p:nvPr/>
        </p:nvSpPr>
        <p:spPr>
          <a:xfrm>
            <a:off x="8667750" y="40576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第 24 小时 R²</a:t>
            </a:r>
          </a:p>
        </p:txBody>
      </p:sp>
      <p:sp>
        <p:nvSpPr>
          <p:cNvPr id="23" name="text-23">
            <a:extLst>
              <a:ext uri="{FF2B5EF4-FFF2-40B4-BE49-F238E27FC236}">
                <a16:creationId xmlns:a16="http://schemas.microsoft.com/office/drawing/2014/main" id="{2FAB734B-41A6-4D1A-AC75-36682A75E3EA}"/>
              </a:ext>
            </a:extLst>
          </p:cNvPr>
          <p:cNvSpPr>
            <a:spLocks noGrp="1"/>
          </p:cNvSpPr>
          <p:nvPr/>
        </p:nvSpPr>
        <p:spPr>
          <a:xfrm>
            <a:off x="8667750" y="4295775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0.9750</a:t>
            </a:r>
          </a:p>
        </p:txBody>
      </p:sp>
      <p:sp>
        <p:nvSpPr>
          <p:cNvPr id="24" name="text-24">
            <a:extLst>
              <a:ext uri="{FF2B5EF4-FFF2-40B4-BE49-F238E27FC236}">
                <a16:creationId xmlns:a16="http://schemas.microsoft.com/office/drawing/2014/main" id="{73D65DD2-B1F7-4ED1-97D0-85C324981AC9}"/>
              </a:ext>
            </a:extLst>
          </p:cNvPr>
          <p:cNvSpPr>
            <a:spLocks noGrp="1"/>
          </p:cNvSpPr>
          <p:nvPr/>
        </p:nvSpPr>
        <p:spPr>
          <a:xfrm>
            <a:off x="8667750" y="4752975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RMSE 0.2987 ft</a:t>
            </a:r>
          </a:p>
        </p:txBody>
      </p:sp>
      <p:sp>
        <p:nvSpPr>
          <p:cNvPr id="25" name="text-25">
            <a:extLst>
              <a:ext uri="{FF2B5EF4-FFF2-40B4-BE49-F238E27FC236}">
                <a16:creationId xmlns:a16="http://schemas.microsoft.com/office/drawing/2014/main" id="{D6C4D16C-271F-4D33-916A-8A9A38E0FE6E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B7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dirty="0">
                <a:solidFill>
                  <a:srgbClr val="B7CBD8"/>
                </a:solidFill>
                <a:latin typeface="Microsoft YaHei"/>
                <a:ea typeface="Microsoft YaHei"/>
                <a:cs typeface="Microsoft YaHei"/>
              </a:rPr>
              <a:t>汇报人：康力元</a:t>
            </a:r>
            <a:br>
              <a:rPr lang="en-US" sz="1050" b="0" dirty="0">
                <a:solidFill>
                  <a:srgbClr val="B7CBD8"/>
                </a:solidFill>
                <a:latin typeface="Microsoft YaHei"/>
                <a:ea typeface="Microsoft YaHei"/>
                <a:cs typeface="Microsoft YaHei"/>
              </a:rPr>
            </a:br>
            <a:r>
              <a:rPr sz="1050" b="0" dirty="0" err="1">
                <a:solidFill>
                  <a:srgbClr val="B7CBD8"/>
                </a:solidFill>
                <a:latin typeface="Microsoft YaHei"/>
                <a:ea typeface="Microsoft YaHei"/>
                <a:cs typeface="Microsoft YaHei"/>
              </a:rPr>
              <a:t>详细技术汇报</a:t>
            </a:r>
            <a:r>
              <a:rPr sz="1050" b="0" dirty="0">
                <a:solidFill>
                  <a:srgbClr val="B7CBD8"/>
                </a:solidFill>
                <a:latin typeface="Microsoft YaHei"/>
                <a:ea typeface="Microsoft YaHei"/>
                <a:cs typeface="Microsoft YaHei"/>
              </a:rPr>
              <a:t> · 2026-06-15</a:t>
            </a:r>
            <a:br>
              <a:rPr lang="en-US" sz="1050" b="0" dirty="0">
                <a:solidFill>
                  <a:srgbClr val="B7CBD8"/>
                </a:solidFill>
                <a:latin typeface="Microsoft YaHei"/>
                <a:ea typeface="Microsoft YaHei"/>
                <a:cs typeface="Microsoft YaHei"/>
              </a:rPr>
            </a:br>
            <a:endParaRPr sz="1050" b="0" dirty="0">
              <a:solidFill>
                <a:srgbClr val="B7CBD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7752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-201">
            <a:extLst>
              <a:ext uri="{FF2B5EF4-FFF2-40B4-BE49-F238E27FC236}">
                <a16:creationId xmlns:a16="http://schemas.microsoft.com/office/drawing/2014/main" id="{61448596-601C-4FE5-9238-AC46CF157B59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DATA SOURCES</a:t>
            </a:r>
          </a:p>
        </p:txBody>
      </p:sp>
      <p:sp>
        <p:nvSpPr>
          <p:cNvPr id="2" name="text-202">
            <a:extLst>
              <a:ext uri="{FF2B5EF4-FFF2-40B4-BE49-F238E27FC236}">
                <a16:creationId xmlns:a16="http://schemas.microsoft.com/office/drawing/2014/main" id="{B57494FC-8106-419F-8012-2D9A9077ADB0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数据来源：USGS 水文观测 + ERA5 再分析降雨</a:t>
            </a:r>
          </a:p>
        </p:txBody>
      </p:sp>
      <p:sp>
        <p:nvSpPr>
          <p:cNvPr id="3" name="rect-203">
            <a:extLst>
              <a:ext uri="{FF2B5EF4-FFF2-40B4-BE49-F238E27FC236}">
                <a16:creationId xmlns:a16="http://schemas.microsoft.com/office/drawing/2014/main" id="{D67E72AA-D832-42E2-9652-96A610667F3D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204">
            <a:extLst>
              <a:ext uri="{FF2B5EF4-FFF2-40B4-BE49-F238E27FC236}">
                <a16:creationId xmlns:a16="http://schemas.microsoft.com/office/drawing/2014/main" id="{1B95B402-6688-40CE-A6FF-AAAE80AA26A2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USGS Water Services；Open-Meteo Historical Weather API</a:t>
            </a:r>
          </a:p>
        </p:txBody>
      </p:sp>
      <p:sp>
        <p:nvSpPr>
          <p:cNvPr id="5" name="text-205">
            <a:extLst>
              <a:ext uri="{FF2B5EF4-FFF2-40B4-BE49-F238E27FC236}">
                <a16:creationId xmlns:a16="http://schemas.microsoft.com/office/drawing/2014/main" id="{32FFFBAE-1FBB-46EC-9E3F-A8F3DF7A0F7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box-206">
            <a:extLst>
              <a:ext uri="{FF2B5EF4-FFF2-40B4-BE49-F238E27FC236}">
                <a16:creationId xmlns:a16="http://schemas.microsoft.com/office/drawing/2014/main" id="{A8521989-AADA-40F1-8B2A-A3A3368F363C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5286375" cy="4438650"/>
          </a:xfrm>
          <a:prstGeom prst="roundRect">
            <a:avLst>
              <a:gd name="adj" fmla="val 386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box-207">
            <a:extLst>
              <a:ext uri="{FF2B5EF4-FFF2-40B4-BE49-F238E27FC236}">
                <a16:creationId xmlns:a16="http://schemas.microsoft.com/office/drawing/2014/main" id="{CA78607C-12F6-4267-B1F2-521CDA32AABD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8" name="text-208">
            <a:extLst>
              <a:ext uri="{FF2B5EF4-FFF2-40B4-BE49-F238E27FC236}">
                <a16:creationId xmlns:a16="http://schemas.microsoft.com/office/drawing/2014/main" id="{69317253-B39D-46EE-AA85-8ED297119211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SOURCE 01</a:t>
            </a:r>
          </a:p>
        </p:txBody>
      </p:sp>
      <p:sp>
        <p:nvSpPr>
          <p:cNvPr id="9" name="text-209">
            <a:extLst>
              <a:ext uri="{FF2B5EF4-FFF2-40B4-BE49-F238E27FC236}">
                <a16:creationId xmlns:a16="http://schemas.microsoft.com/office/drawing/2014/main" id="{07409660-39E0-449C-B518-4B6F2902D170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USGS 水文站观测</a:t>
            </a:r>
          </a:p>
        </p:txBody>
      </p:sp>
      <p:sp>
        <p:nvSpPr>
          <p:cNvPr id="10" name="text-210">
            <a:extLst>
              <a:ext uri="{FF2B5EF4-FFF2-40B4-BE49-F238E27FC236}">
                <a16:creationId xmlns:a16="http://schemas.microsoft.com/office/drawing/2014/main" id="{2ADD3318-FEDA-47AA-AE5E-BA307F0851BC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433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站点：05464500 · Cedar River at Cedar Rapids, IA</a:t>
            </a:r>
          </a:p>
        </p:txBody>
      </p:sp>
      <p:sp>
        <p:nvSpPr>
          <p:cNvPr id="11" name="box-211">
            <a:extLst>
              <a:ext uri="{FF2B5EF4-FFF2-40B4-BE49-F238E27FC236}">
                <a16:creationId xmlns:a16="http://schemas.microsoft.com/office/drawing/2014/main" id="{0376C090-05A2-400C-A73A-E647934D8BC8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2095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2" name="rect-212">
            <a:extLst>
              <a:ext uri="{FF2B5EF4-FFF2-40B4-BE49-F238E27FC236}">
                <a16:creationId xmlns:a16="http://schemas.microsoft.com/office/drawing/2014/main" id="{AB1AED6C-2464-4E8E-A74D-F78882088DD0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13" name="text-213">
            <a:extLst>
              <a:ext uri="{FF2B5EF4-FFF2-40B4-BE49-F238E27FC236}">
                <a16:creationId xmlns:a16="http://schemas.microsoft.com/office/drawing/2014/main" id="{D39A5E78-DE31-477C-8C65-D4552A1A3E1F}"/>
              </a:ext>
            </a:extLst>
          </p:cNvPr>
          <p:cNvSpPr>
            <a:spLocks noGrp="1"/>
          </p:cNvSpPr>
          <p:nvPr/>
        </p:nvSpPr>
        <p:spPr>
          <a:xfrm>
            <a:off x="1028700" y="310515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水位参数</a:t>
            </a:r>
          </a:p>
        </p:txBody>
      </p:sp>
      <p:sp>
        <p:nvSpPr>
          <p:cNvPr id="14" name="text-214">
            <a:extLst>
              <a:ext uri="{FF2B5EF4-FFF2-40B4-BE49-F238E27FC236}">
                <a16:creationId xmlns:a16="http://schemas.microsoft.com/office/drawing/2014/main" id="{3C5B4861-71FB-4A86-BDCC-D6C9A9365E31}"/>
              </a:ext>
            </a:extLst>
          </p:cNvPr>
          <p:cNvSpPr>
            <a:spLocks noGrp="1"/>
          </p:cNvSpPr>
          <p:nvPr/>
        </p:nvSpPr>
        <p:spPr>
          <a:xfrm>
            <a:off x="1028700" y="334327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00065</a:t>
            </a:r>
          </a:p>
        </p:txBody>
      </p:sp>
      <p:sp>
        <p:nvSpPr>
          <p:cNvPr id="15" name="text-215">
            <a:extLst>
              <a:ext uri="{FF2B5EF4-FFF2-40B4-BE49-F238E27FC236}">
                <a16:creationId xmlns:a16="http://schemas.microsoft.com/office/drawing/2014/main" id="{6F3D8ED2-5F77-46BA-AE72-2C340C115F08}"/>
              </a:ext>
            </a:extLst>
          </p:cNvPr>
          <p:cNvSpPr>
            <a:spLocks noGrp="1"/>
          </p:cNvSpPr>
          <p:nvPr/>
        </p:nvSpPr>
        <p:spPr>
          <a:xfrm>
            <a:off x="1028700" y="3800475"/>
            <a:ext cx="1771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Gage height · ft</a:t>
            </a:r>
          </a:p>
        </p:txBody>
      </p:sp>
      <p:sp>
        <p:nvSpPr>
          <p:cNvPr id="16" name="box-216">
            <a:extLst>
              <a:ext uri="{FF2B5EF4-FFF2-40B4-BE49-F238E27FC236}">
                <a16:creationId xmlns:a16="http://schemas.microsoft.com/office/drawing/2014/main" id="{6777992A-F9B2-4B2B-B5C5-2861015ADBE5}"/>
              </a:ext>
            </a:extLst>
          </p:cNvPr>
          <p:cNvSpPr>
            <a:spLocks noGrp="1"/>
          </p:cNvSpPr>
          <p:nvPr/>
        </p:nvSpPr>
        <p:spPr>
          <a:xfrm>
            <a:off x="3143250" y="2971800"/>
            <a:ext cx="22860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rect-217">
            <a:extLst>
              <a:ext uri="{FF2B5EF4-FFF2-40B4-BE49-F238E27FC236}">
                <a16:creationId xmlns:a16="http://schemas.microsoft.com/office/drawing/2014/main" id="{5457C51B-FD45-4018-A6A8-FE71692FB524}"/>
              </a:ext>
            </a:extLst>
          </p:cNvPr>
          <p:cNvSpPr>
            <a:spLocks noGrp="1"/>
          </p:cNvSpPr>
          <p:nvPr/>
        </p:nvSpPr>
        <p:spPr>
          <a:xfrm>
            <a:off x="3143250" y="2971800"/>
            <a:ext cx="66675" cy="1104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8" name="text-218">
            <a:extLst>
              <a:ext uri="{FF2B5EF4-FFF2-40B4-BE49-F238E27FC236}">
                <a16:creationId xmlns:a16="http://schemas.microsoft.com/office/drawing/2014/main" id="{89706928-652C-4481-AE2F-B1D2428C2097}"/>
              </a:ext>
            </a:extLst>
          </p:cNvPr>
          <p:cNvSpPr>
            <a:spLocks noGrp="1"/>
          </p:cNvSpPr>
          <p:nvPr/>
        </p:nvSpPr>
        <p:spPr>
          <a:xfrm>
            <a:off x="3333750" y="3105150"/>
            <a:ext cx="1962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流量参数</a:t>
            </a:r>
          </a:p>
        </p:txBody>
      </p:sp>
      <p:sp>
        <p:nvSpPr>
          <p:cNvPr id="19" name="text-219">
            <a:extLst>
              <a:ext uri="{FF2B5EF4-FFF2-40B4-BE49-F238E27FC236}">
                <a16:creationId xmlns:a16="http://schemas.microsoft.com/office/drawing/2014/main" id="{391844D0-2A41-469C-84D7-6EBC8E1AA136}"/>
              </a:ext>
            </a:extLst>
          </p:cNvPr>
          <p:cNvSpPr>
            <a:spLocks noGrp="1"/>
          </p:cNvSpPr>
          <p:nvPr/>
        </p:nvSpPr>
        <p:spPr>
          <a:xfrm>
            <a:off x="3333750" y="3343275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00060</a:t>
            </a:r>
          </a:p>
        </p:txBody>
      </p:sp>
      <p:sp>
        <p:nvSpPr>
          <p:cNvPr id="20" name="text-220">
            <a:extLst>
              <a:ext uri="{FF2B5EF4-FFF2-40B4-BE49-F238E27FC236}">
                <a16:creationId xmlns:a16="http://schemas.microsoft.com/office/drawing/2014/main" id="{F41BE545-6C7C-40F5-BE1B-888F5FDB4DCE}"/>
              </a:ext>
            </a:extLst>
          </p:cNvPr>
          <p:cNvSpPr>
            <a:spLocks noGrp="1"/>
          </p:cNvSpPr>
          <p:nvPr/>
        </p:nvSpPr>
        <p:spPr>
          <a:xfrm>
            <a:off x="3333750" y="3800475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Discharge · ft³/s</a:t>
            </a:r>
          </a:p>
        </p:txBody>
      </p:sp>
      <p:sp>
        <p:nvSpPr>
          <p:cNvPr id="21" name="rect-221">
            <a:extLst>
              <a:ext uri="{FF2B5EF4-FFF2-40B4-BE49-F238E27FC236}">
                <a16:creationId xmlns:a16="http://schemas.microsoft.com/office/drawing/2014/main" id="{4BFF38E0-725E-47AB-A796-48D2EC6D3FEB}"/>
              </a:ext>
            </a:extLst>
          </p:cNvPr>
          <p:cNvSpPr>
            <a:spLocks noGrp="1"/>
          </p:cNvSpPr>
          <p:nvPr/>
        </p:nvSpPr>
        <p:spPr>
          <a:xfrm>
            <a:off x="857250" y="44196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2" name="text-222">
            <a:extLst>
              <a:ext uri="{FF2B5EF4-FFF2-40B4-BE49-F238E27FC236}">
                <a16:creationId xmlns:a16="http://schemas.microsoft.com/office/drawing/2014/main" id="{9B7EEE88-710D-4825-8C4F-0B756AB89EB1}"/>
              </a:ext>
            </a:extLst>
          </p:cNvPr>
          <p:cNvSpPr>
            <a:spLocks noGrp="1"/>
          </p:cNvSpPr>
          <p:nvPr/>
        </p:nvSpPr>
        <p:spPr>
          <a:xfrm>
            <a:off x="1028700" y="4343400"/>
            <a:ext cx="421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原始数据为瞬时观测，按年度分块请求。</a:t>
            </a:r>
          </a:p>
        </p:txBody>
      </p:sp>
      <p:sp>
        <p:nvSpPr>
          <p:cNvPr id="23" name="rect-223">
            <a:extLst>
              <a:ext uri="{FF2B5EF4-FFF2-40B4-BE49-F238E27FC236}">
                <a16:creationId xmlns:a16="http://schemas.microsoft.com/office/drawing/2014/main" id="{83BF62CD-B8E7-4BA0-B63B-F830E8E31342}"/>
              </a:ext>
            </a:extLst>
          </p:cNvPr>
          <p:cNvSpPr>
            <a:spLocks noGrp="1"/>
          </p:cNvSpPr>
          <p:nvPr/>
        </p:nvSpPr>
        <p:spPr>
          <a:xfrm>
            <a:off x="857250" y="48958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4" name="text-224">
            <a:extLst>
              <a:ext uri="{FF2B5EF4-FFF2-40B4-BE49-F238E27FC236}">
                <a16:creationId xmlns:a16="http://schemas.microsoft.com/office/drawing/2014/main" id="{5C2349BC-C28F-4EFD-8945-AB0FD0D3A600}"/>
              </a:ext>
            </a:extLst>
          </p:cNvPr>
          <p:cNvSpPr>
            <a:spLocks noGrp="1"/>
          </p:cNvSpPr>
          <p:nvPr/>
        </p:nvSpPr>
        <p:spPr>
          <a:xfrm>
            <a:off x="1028700" y="4819650"/>
            <a:ext cx="421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按 UTC 解析时间戳，再聚合为小时均值。</a:t>
            </a:r>
          </a:p>
        </p:txBody>
      </p:sp>
      <p:sp>
        <p:nvSpPr>
          <p:cNvPr id="26" name="text-226">
            <a:extLst>
              <a:ext uri="{FF2B5EF4-FFF2-40B4-BE49-F238E27FC236}">
                <a16:creationId xmlns:a16="http://schemas.microsoft.com/office/drawing/2014/main" id="{2E55F932-6F5E-4CFE-89CD-5FA809945B4D}"/>
              </a:ext>
            </a:extLst>
          </p:cNvPr>
          <p:cNvSpPr>
            <a:spLocks noGrp="1"/>
          </p:cNvSpPr>
          <p:nvPr/>
        </p:nvSpPr>
        <p:spPr>
          <a:xfrm>
            <a:off x="1028700" y="5295900"/>
            <a:ext cx="421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原始 JSON 约 102.7 MB，可离线复用。</a:t>
            </a:r>
          </a:p>
        </p:txBody>
      </p:sp>
      <p:sp>
        <p:nvSpPr>
          <p:cNvPr id="27" name="box-227">
            <a:extLst>
              <a:ext uri="{FF2B5EF4-FFF2-40B4-BE49-F238E27FC236}">
                <a16:creationId xmlns:a16="http://schemas.microsoft.com/office/drawing/2014/main" id="{89B5C136-FCB5-463B-8EE4-C459F741157B}"/>
              </a:ext>
            </a:extLst>
          </p:cNvPr>
          <p:cNvSpPr>
            <a:spLocks noGrp="1"/>
          </p:cNvSpPr>
          <p:nvPr/>
        </p:nvSpPr>
        <p:spPr>
          <a:xfrm>
            <a:off x="6334125" y="1390650"/>
            <a:ext cx="5286375" cy="4438650"/>
          </a:xfrm>
          <a:prstGeom prst="roundRect">
            <a:avLst>
              <a:gd name="adj" fmla="val 386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8" name="box-228">
            <a:extLst>
              <a:ext uri="{FF2B5EF4-FFF2-40B4-BE49-F238E27FC236}">
                <a16:creationId xmlns:a16="http://schemas.microsoft.com/office/drawing/2014/main" id="{7E743B70-AD8B-4EBB-A2A1-3227CE6C4267}"/>
              </a:ext>
            </a:extLst>
          </p:cNvPr>
          <p:cNvSpPr>
            <a:spLocks noGrp="1"/>
          </p:cNvSpPr>
          <p:nvPr/>
        </p:nvSpPr>
        <p:spPr>
          <a:xfrm>
            <a:off x="6600825" y="1657350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9" name="text-229">
            <a:extLst>
              <a:ext uri="{FF2B5EF4-FFF2-40B4-BE49-F238E27FC236}">
                <a16:creationId xmlns:a16="http://schemas.microsoft.com/office/drawing/2014/main" id="{4937DDCD-E4BF-4085-A74E-89ECA6F90FF3}"/>
              </a:ext>
            </a:extLst>
          </p:cNvPr>
          <p:cNvSpPr>
            <a:spLocks noGrp="1"/>
          </p:cNvSpPr>
          <p:nvPr/>
        </p:nvSpPr>
        <p:spPr>
          <a:xfrm>
            <a:off x="6600825" y="169545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SOURCE 02</a:t>
            </a:r>
          </a:p>
        </p:txBody>
      </p:sp>
      <p:sp>
        <p:nvSpPr>
          <p:cNvPr id="30" name="text-230">
            <a:extLst>
              <a:ext uri="{FF2B5EF4-FFF2-40B4-BE49-F238E27FC236}">
                <a16:creationId xmlns:a16="http://schemas.microsoft.com/office/drawing/2014/main" id="{9BE980BB-6FEF-4B63-8B81-F804D5F610D0}"/>
              </a:ext>
            </a:extLst>
          </p:cNvPr>
          <p:cNvSpPr>
            <a:spLocks noGrp="1"/>
          </p:cNvSpPr>
          <p:nvPr/>
        </p:nvSpPr>
        <p:spPr>
          <a:xfrm>
            <a:off x="6600825" y="20955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Open-Meteo ERA5 降雨</a:t>
            </a:r>
          </a:p>
        </p:txBody>
      </p:sp>
      <p:sp>
        <p:nvSpPr>
          <p:cNvPr id="31" name="text-231">
            <a:extLst>
              <a:ext uri="{FF2B5EF4-FFF2-40B4-BE49-F238E27FC236}">
                <a16:creationId xmlns:a16="http://schemas.microsoft.com/office/drawing/2014/main" id="{5823A28F-3CB6-44E0-BBBD-A4659E7CF3A2}"/>
              </a:ext>
            </a:extLst>
          </p:cNvPr>
          <p:cNvSpPr>
            <a:spLocks noGrp="1"/>
          </p:cNvSpPr>
          <p:nvPr/>
        </p:nvSpPr>
        <p:spPr>
          <a:xfrm>
            <a:off x="6600825" y="2514600"/>
            <a:ext cx="433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点位：41.97194549, -91.6671239 · timezone=GMT</a:t>
            </a:r>
          </a:p>
        </p:txBody>
      </p:sp>
      <p:sp>
        <p:nvSpPr>
          <p:cNvPr id="32" name="box-232">
            <a:extLst>
              <a:ext uri="{FF2B5EF4-FFF2-40B4-BE49-F238E27FC236}">
                <a16:creationId xmlns:a16="http://schemas.microsoft.com/office/drawing/2014/main" id="{57C78F4F-5C81-4381-A8EC-A816C4E8D425}"/>
              </a:ext>
            </a:extLst>
          </p:cNvPr>
          <p:cNvSpPr>
            <a:spLocks noGrp="1"/>
          </p:cNvSpPr>
          <p:nvPr/>
        </p:nvSpPr>
        <p:spPr>
          <a:xfrm>
            <a:off x="6600825" y="2971800"/>
            <a:ext cx="2095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3" name="rect-233">
            <a:extLst>
              <a:ext uri="{FF2B5EF4-FFF2-40B4-BE49-F238E27FC236}">
                <a16:creationId xmlns:a16="http://schemas.microsoft.com/office/drawing/2014/main" id="{C5A5C403-E730-4421-A87C-972F2BC3FDC7}"/>
              </a:ext>
            </a:extLst>
          </p:cNvPr>
          <p:cNvSpPr>
            <a:spLocks noGrp="1"/>
          </p:cNvSpPr>
          <p:nvPr/>
        </p:nvSpPr>
        <p:spPr>
          <a:xfrm>
            <a:off x="6600825" y="2971800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4" name="text-234">
            <a:extLst>
              <a:ext uri="{FF2B5EF4-FFF2-40B4-BE49-F238E27FC236}">
                <a16:creationId xmlns:a16="http://schemas.microsoft.com/office/drawing/2014/main" id="{FC144FD8-692D-4991-A80F-B1285AF6ADF7}"/>
              </a:ext>
            </a:extLst>
          </p:cNvPr>
          <p:cNvSpPr>
            <a:spLocks noGrp="1"/>
          </p:cNvSpPr>
          <p:nvPr/>
        </p:nvSpPr>
        <p:spPr>
          <a:xfrm>
            <a:off x="6791325" y="310515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时间分辨率</a:t>
            </a:r>
          </a:p>
        </p:txBody>
      </p:sp>
      <p:sp>
        <p:nvSpPr>
          <p:cNvPr id="35" name="text-235">
            <a:extLst>
              <a:ext uri="{FF2B5EF4-FFF2-40B4-BE49-F238E27FC236}">
                <a16:creationId xmlns:a16="http://schemas.microsoft.com/office/drawing/2014/main" id="{380184A6-5992-4288-B1FD-929111D62FE1}"/>
              </a:ext>
            </a:extLst>
          </p:cNvPr>
          <p:cNvSpPr>
            <a:spLocks noGrp="1"/>
          </p:cNvSpPr>
          <p:nvPr/>
        </p:nvSpPr>
        <p:spPr>
          <a:xfrm>
            <a:off x="6791325" y="334327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 h</a:t>
            </a:r>
          </a:p>
        </p:txBody>
      </p:sp>
      <p:sp>
        <p:nvSpPr>
          <p:cNvPr id="36" name="text-236">
            <a:extLst>
              <a:ext uri="{FF2B5EF4-FFF2-40B4-BE49-F238E27FC236}">
                <a16:creationId xmlns:a16="http://schemas.microsoft.com/office/drawing/2014/main" id="{2FDE2EE9-CF2C-4108-AA47-923FF34E4177}"/>
              </a:ext>
            </a:extLst>
          </p:cNvPr>
          <p:cNvSpPr>
            <a:spLocks noGrp="1"/>
          </p:cNvSpPr>
          <p:nvPr/>
        </p:nvSpPr>
        <p:spPr>
          <a:xfrm>
            <a:off x="6791325" y="3800475"/>
            <a:ext cx="1771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逐小时累计降水</a:t>
            </a:r>
          </a:p>
        </p:txBody>
      </p:sp>
      <p:sp>
        <p:nvSpPr>
          <p:cNvPr id="37" name="box-237">
            <a:extLst>
              <a:ext uri="{FF2B5EF4-FFF2-40B4-BE49-F238E27FC236}">
                <a16:creationId xmlns:a16="http://schemas.microsoft.com/office/drawing/2014/main" id="{BFC835C4-AE15-4345-96CF-F50A15A64E24}"/>
              </a:ext>
            </a:extLst>
          </p:cNvPr>
          <p:cNvSpPr>
            <a:spLocks noGrp="1"/>
          </p:cNvSpPr>
          <p:nvPr/>
        </p:nvSpPr>
        <p:spPr>
          <a:xfrm>
            <a:off x="8905875" y="2971800"/>
            <a:ext cx="22860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8" name="rect-238">
            <a:extLst>
              <a:ext uri="{FF2B5EF4-FFF2-40B4-BE49-F238E27FC236}">
                <a16:creationId xmlns:a16="http://schemas.microsoft.com/office/drawing/2014/main" id="{3C85BB32-8FDE-46D4-802C-C4AC27F27C9A}"/>
              </a:ext>
            </a:extLst>
          </p:cNvPr>
          <p:cNvSpPr>
            <a:spLocks noGrp="1"/>
          </p:cNvSpPr>
          <p:nvPr/>
        </p:nvSpPr>
        <p:spPr>
          <a:xfrm>
            <a:off x="8905875" y="2971800"/>
            <a:ext cx="66675" cy="11049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39" name="text-239">
            <a:extLst>
              <a:ext uri="{FF2B5EF4-FFF2-40B4-BE49-F238E27FC236}">
                <a16:creationId xmlns:a16="http://schemas.microsoft.com/office/drawing/2014/main" id="{7110EADB-1B0C-4A44-9944-43EDAAD93A52}"/>
              </a:ext>
            </a:extLst>
          </p:cNvPr>
          <p:cNvSpPr>
            <a:spLocks noGrp="1"/>
          </p:cNvSpPr>
          <p:nvPr/>
        </p:nvSpPr>
        <p:spPr>
          <a:xfrm>
            <a:off x="9096375" y="3105150"/>
            <a:ext cx="1962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40" name="text-240">
            <a:extLst>
              <a:ext uri="{FF2B5EF4-FFF2-40B4-BE49-F238E27FC236}">
                <a16:creationId xmlns:a16="http://schemas.microsoft.com/office/drawing/2014/main" id="{7CB8639D-B962-4816-8CB7-71378BD21B06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precipitation_mm</a:t>
            </a:r>
          </a:p>
        </p:txBody>
      </p:sp>
      <p:sp>
        <p:nvSpPr>
          <p:cNvPr id="41" name="text-241">
            <a:extLst>
              <a:ext uri="{FF2B5EF4-FFF2-40B4-BE49-F238E27FC236}">
                <a16:creationId xmlns:a16="http://schemas.microsoft.com/office/drawing/2014/main" id="{68C9F687-215E-4054-BECC-8E41FD77CF61}"/>
              </a:ext>
            </a:extLst>
          </p:cNvPr>
          <p:cNvSpPr>
            <a:spLocks noGrp="1"/>
          </p:cNvSpPr>
          <p:nvPr/>
        </p:nvSpPr>
        <p:spPr>
          <a:xfrm>
            <a:off x="9096375" y="3800475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单位 mm</a:t>
            </a:r>
          </a:p>
        </p:txBody>
      </p:sp>
      <p:sp>
        <p:nvSpPr>
          <p:cNvPr id="42" name="rect-242">
            <a:extLst>
              <a:ext uri="{FF2B5EF4-FFF2-40B4-BE49-F238E27FC236}">
                <a16:creationId xmlns:a16="http://schemas.microsoft.com/office/drawing/2014/main" id="{80B19664-F383-470C-9E6E-0F70E844CB56}"/>
              </a:ext>
            </a:extLst>
          </p:cNvPr>
          <p:cNvSpPr>
            <a:spLocks noGrp="1"/>
          </p:cNvSpPr>
          <p:nvPr/>
        </p:nvSpPr>
        <p:spPr>
          <a:xfrm>
            <a:off x="6619875" y="44196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43" name="text-243">
            <a:extLst>
              <a:ext uri="{FF2B5EF4-FFF2-40B4-BE49-F238E27FC236}">
                <a16:creationId xmlns:a16="http://schemas.microsoft.com/office/drawing/2014/main" id="{1E96704F-1506-43DD-B624-FDFD4FAAD3F2}"/>
              </a:ext>
            </a:extLst>
          </p:cNvPr>
          <p:cNvSpPr>
            <a:spLocks noGrp="1"/>
          </p:cNvSpPr>
          <p:nvPr/>
        </p:nvSpPr>
        <p:spPr>
          <a:xfrm>
            <a:off x="6791325" y="4343400"/>
            <a:ext cx="421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ERA5 为全球再分析数据，适合长时间序列回溯。</a:t>
            </a:r>
          </a:p>
        </p:txBody>
      </p:sp>
      <p:sp>
        <p:nvSpPr>
          <p:cNvPr id="44" name="rect-244">
            <a:extLst>
              <a:ext uri="{FF2B5EF4-FFF2-40B4-BE49-F238E27FC236}">
                <a16:creationId xmlns:a16="http://schemas.microsoft.com/office/drawing/2014/main" id="{37C453C6-74F9-4C13-8D80-032EFAF1E879}"/>
              </a:ext>
            </a:extLst>
          </p:cNvPr>
          <p:cNvSpPr>
            <a:spLocks noGrp="1"/>
          </p:cNvSpPr>
          <p:nvPr/>
        </p:nvSpPr>
        <p:spPr>
          <a:xfrm>
            <a:off x="6619875" y="48958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45" name="text-245">
            <a:extLst>
              <a:ext uri="{FF2B5EF4-FFF2-40B4-BE49-F238E27FC236}">
                <a16:creationId xmlns:a16="http://schemas.microsoft.com/office/drawing/2014/main" id="{3540FAF7-BDC8-4928-9909-C069C84C0936}"/>
              </a:ext>
            </a:extLst>
          </p:cNvPr>
          <p:cNvSpPr>
            <a:spLocks noGrp="1"/>
          </p:cNvSpPr>
          <p:nvPr/>
        </p:nvSpPr>
        <p:spPr>
          <a:xfrm>
            <a:off x="6791325" y="4819650"/>
            <a:ext cx="421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按年度下载，并支持断点缓存与指数退避重试。</a:t>
            </a:r>
          </a:p>
        </p:txBody>
      </p:sp>
      <p:sp>
        <p:nvSpPr>
          <p:cNvPr id="46" name="rect-246">
            <a:extLst>
              <a:ext uri="{FF2B5EF4-FFF2-40B4-BE49-F238E27FC236}">
                <a16:creationId xmlns:a16="http://schemas.microsoft.com/office/drawing/2014/main" id="{E6B9F021-41DD-4BCC-982E-4ED1DD5CA10C}"/>
              </a:ext>
            </a:extLst>
          </p:cNvPr>
          <p:cNvSpPr>
            <a:spLocks noGrp="1"/>
          </p:cNvSpPr>
          <p:nvPr/>
        </p:nvSpPr>
        <p:spPr>
          <a:xfrm>
            <a:off x="6619875" y="53721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47" name="text-247">
            <a:extLst>
              <a:ext uri="{FF2B5EF4-FFF2-40B4-BE49-F238E27FC236}">
                <a16:creationId xmlns:a16="http://schemas.microsoft.com/office/drawing/2014/main" id="{78B3E275-0689-4003-89E3-A7B8F153EA97}"/>
              </a:ext>
            </a:extLst>
          </p:cNvPr>
          <p:cNvSpPr>
            <a:spLocks noGrp="1"/>
          </p:cNvSpPr>
          <p:nvPr/>
        </p:nvSpPr>
        <p:spPr>
          <a:xfrm>
            <a:off x="6791325" y="5295900"/>
            <a:ext cx="421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降雨缓存约 4.0 MB，与水文小时轴严格连接。</a:t>
            </a:r>
          </a:p>
        </p:txBody>
      </p:sp>
    </p:spTree>
    <p:extLst>
      <p:ext uri="{BB962C8B-B14F-4D97-AF65-F5344CB8AC3E}">
        <p14:creationId xmlns:p14="http://schemas.microsoft.com/office/powerpoint/2010/main" val="211462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-71">
            <a:extLst>
              <a:ext uri="{FF2B5EF4-FFF2-40B4-BE49-F238E27FC236}">
                <a16:creationId xmlns:a16="http://schemas.microsoft.com/office/drawing/2014/main" id="{3DB4A801-F9BD-42F6-A2BD-FDD6C8110CDE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STUDY AREA</a:t>
            </a:r>
          </a:p>
        </p:txBody>
      </p:sp>
      <p:sp>
        <p:nvSpPr>
          <p:cNvPr id="2" name="text-72">
            <a:extLst>
              <a:ext uri="{FF2B5EF4-FFF2-40B4-BE49-F238E27FC236}">
                <a16:creationId xmlns:a16="http://schemas.microsoft.com/office/drawing/2014/main" id="{8CFE3937-5144-4DBD-BFF0-4472A2B7A6CB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研究区域：Cedar Rapids 的 Cedar River</a:t>
            </a:r>
          </a:p>
        </p:txBody>
      </p:sp>
      <p:sp>
        <p:nvSpPr>
          <p:cNvPr id="3" name="rect-73">
            <a:extLst>
              <a:ext uri="{FF2B5EF4-FFF2-40B4-BE49-F238E27FC236}">
                <a16:creationId xmlns:a16="http://schemas.microsoft.com/office/drawing/2014/main" id="{D9842F30-1073-46EE-B60D-1A127F5FFA6E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74">
            <a:extLst>
              <a:ext uri="{FF2B5EF4-FFF2-40B4-BE49-F238E27FC236}">
                <a16:creationId xmlns:a16="http://schemas.microsoft.com/office/drawing/2014/main" id="{A5A9E907-690C-4D81-933D-DE9F0D4F1245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USGS station 05464500</a:t>
            </a:r>
          </a:p>
        </p:txBody>
      </p:sp>
      <p:sp>
        <p:nvSpPr>
          <p:cNvPr id="5" name="text-75">
            <a:extLst>
              <a:ext uri="{FF2B5EF4-FFF2-40B4-BE49-F238E27FC236}">
                <a16:creationId xmlns:a16="http://schemas.microsoft.com/office/drawing/2014/main" id="{E1879E2A-2C3F-4BD8-8728-823BB1A8310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box-76">
            <a:extLst>
              <a:ext uri="{FF2B5EF4-FFF2-40B4-BE49-F238E27FC236}">
                <a16:creationId xmlns:a16="http://schemas.microsoft.com/office/drawing/2014/main" id="{AE1EE9E9-5201-42F5-9409-5685168706A1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5810250" cy="47625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text-77">
            <a:extLst>
              <a:ext uri="{FF2B5EF4-FFF2-40B4-BE49-F238E27FC236}">
                <a16:creationId xmlns:a16="http://schemas.microsoft.com/office/drawing/2014/main" id="{CF2B18A5-A833-47ED-AE3E-036A1ADFD51E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位置概况</a:t>
            </a:r>
          </a:p>
        </p:txBody>
      </p:sp>
      <p:sp>
        <p:nvSpPr>
          <p:cNvPr id="8" name="box-78">
            <a:extLst>
              <a:ext uri="{FF2B5EF4-FFF2-40B4-BE49-F238E27FC236}">
                <a16:creationId xmlns:a16="http://schemas.microsoft.com/office/drawing/2014/main" id="{9FF7C79A-54E4-43F9-A701-4A00F60ACF06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5276850" cy="2571750"/>
          </a:xfrm>
          <a:prstGeom prst="roundRect">
            <a:avLst>
              <a:gd name="adj" fmla="val 6667"/>
            </a:avLst>
          </a:prstGeom>
          <a:solidFill>
            <a:srgbClr val="E8F3FA"/>
          </a:solidFill>
          <a:ln w="0">
            <a:noFill/>
            <a:prstDash val="solid"/>
          </a:ln>
        </p:spPr>
      </p:sp>
      <p:sp>
        <p:nvSpPr>
          <p:cNvPr id="9" name="rect-79">
            <a:extLst>
              <a:ext uri="{FF2B5EF4-FFF2-40B4-BE49-F238E27FC236}">
                <a16:creationId xmlns:a16="http://schemas.microsoft.com/office/drawing/2014/main" id="{31521553-3B0B-425B-AB0B-47F5578B0388}"/>
              </a:ext>
            </a:extLst>
          </p:cNvPr>
          <p:cNvSpPr>
            <a:spLocks noGrp="1"/>
          </p:cNvSpPr>
          <p:nvPr/>
        </p:nvSpPr>
        <p:spPr>
          <a:xfrm>
            <a:off x="2743200" y="2333625"/>
            <a:ext cx="762000" cy="1943100"/>
          </a:xfrm>
          <a:prstGeom prst="rect">
            <a:avLst/>
          </a:prstGeom>
          <a:solidFill>
            <a:srgbClr val="BBD7E8"/>
          </a:solidFill>
          <a:ln w="0">
            <a:noFill/>
            <a:prstDash val="solid"/>
          </a:ln>
        </p:spPr>
      </p:sp>
      <p:sp>
        <p:nvSpPr>
          <p:cNvPr id="10" name="rect-80">
            <a:extLst>
              <a:ext uri="{FF2B5EF4-FFF2-40B4-BE49-F238E27FC236}">
                <a16:creationId xmlns:a16="http://schemas.microsoft.com/office/drawing/2014/main" id="{85665676-7FB2-460B-A104-8A92D888ECB9}"/>
              </a:ext>
            </a:extLst>
          </p:cNvPr>
          <p:cNvSpPr>
            <a:spLocks noGrp="1"/>
          </p:cNvSpPr>
          <p:nvPr/>
        </p:nvSpPr>
        <p:spPr>
          <a:xfrm>
            <a:off x="3505200" y="2619375"/>
            <a:ext cx="1123950" cy="1657350"/>
          </a:xfrm>
          <a:prstGeom prst="rect">
            <a:avLst/>
          </a:prstGeom>
          <a:solidFill>
            <a:srgbClr val="D8E9F2"/>
          </a:solidFill>
          <a:ln w="0">
            <a:noFill/>
            <a:prstDash val="solid"/>
          </a:ln>
        </p:spPr>
      </p:sp>
      <p:sp>
        <p:nvSpPr>
          <p:cNvPr id="11" name="rect-81">
            <a:extLst>
              <a:ext uri="{FF2B5EF4-FFF2-40B4-BE49-F238E27FC236}">
                <a16:creationId xmlns:a16="http://schemas.microsoft.com/office/drawing/2014/main" id="{7519C7C2-FFC7-4745-8F60-FE9326FC07F8}"/>
              </a:ext>
            </a:extLst>
          </p:cNvPr>
          <p:cNvSpPr>
            <a:spLocks noGrp="1"/>
          </p:cNvSpPr>
          <p:nvPr/>
        </p:nvSpPr>
        <p:spPr>
          <a:xfrm>
            <a:off x="4629150" y="2190750"/>
            <a:ext cx="876300" cy="2190750"/>
          </a:xfrm>
          <a:prstGeom prst="rect">
            <a:avLst/>
          </a:prstGeom>
          <a:solidFill>
            <a:srgbClr val="A8CBE0"/>
          </a:solidFill>
          <a:ln w="0">
            <a:noFill/>
            <a:prstDash val="solid"/>
          </a:ln>
        </p:spPr>
      </p:sp>
      <p:sp>
        <p:nvSpPr>
          <p:cNvPr id="12" name="text-82">
            <a:extLst>
              <a:ext uri="{FF2B5EF4-FFF2-40B4-BE49-F238E27FC236}">
                <a16:creationId xmlns:a16="http://schemas.microsoft.com/office/drawing/2014/main" id="{BE450CD6-F6DD-409C-80C4-4F6778B47B57}"/>
              </a:ext>
            </a:extLst>
          </p:cNvPr>
          <p:cNvSpPr>
            <a:spLocks noGrp="1"/>
          </p:cNvSpPr>
          <p:nvPr/>
        </p:nvSpPr>
        <p:spPr>
          <a:xfrm>
            <a:off x="2857500" y="317182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IOWA</a:t>
            </a:r>
          </a:p>
        </p:txBody>
      </p:sp>
      <p:sp>
        <p:nvSpPr>
          <p:cNvPr id="13" name="rect-83">
            <a:extLst>
              <a:ext uri="{FF2B5EF4-FFF2-40B4-BE49-F238E27FC236}">
                <a16:creationId xmlns:a16="http://schemas.microsoft.com/office/drawing/2014/main" id="{52125079-7830-4D15-A698-CABFB174CF61}"/>
              </a:ext>
            </a:extLst>
          </p:cNvPr>
          <p:cNvSpPr>
            <a:spLocks noGrp="1"/>
          </p:cNvSpPr>
          <p:nvPr/>
        </p:nvSpPr>
        <p:spPr>
          <a:xfrm>
            <a:off x="4219575" y="2371725"/>
            <a:ext cx="95250" cy="17145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4" name="box-84">
            <a:extLst>
              <a:ext uri="{FF2B5EF4-FFF2-40B4-BE49-F238E27FC236}">
                <a16:creationId xmlns:a16="http://schemas.microsoft.com/office/drawing/2014/main" id="{0CCE418C-7B63-4E19-B0DB-A4DB2778D001}"/>
              </a:ext>
            </a:extLst>
          </p:cNvPr>
          <p:cNvSpPr>
            <a:spLocks noGrp="1"/>
          </p:cNvSpPr>
          <p:nvPr/>
        </p:nvSpPr>
        <p:spPr>
          <a:xfrm>
            <a:off x="4029075" y="30480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5" name="text-85">
            <a:extLst>
              <a:ext uri="{FF2B5EF4-FFF2-40B4-BE49-F238E27FC236}">
                <a16:creationId xmlns:a16="http://schemas.microsoft.com/office/drawing/2014/main" id="{88E3FB9D-A6E2-4088-A9A3-4747E1D0F5CF}"/>
              </a:ext>
            </a:extLst>
          </p:cNvPr>
          <p:cNvSpPr>
            <a:spLocks noGrp="1"/>
          </p:cNvSpPr>
          <p:nvPr/>
        </p:nvSpPr>
        <p:spPr>
          <a:xfrm>
            <a:off x="4029075" y="31051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6" name="text-86">
            <a:extLst>
              <a:ext uri="{FF2B5EF4-FFF2-40B4-BE49-F238E27FC236}">
                <a16:creationId xmlns:a16="http://schemas.microsoft.com/office/drawing/2014/main" id="{A33A6F50-0F2F-4465-AF9A-C05CA8B0813D}"/>
              </a:ext>
            </a:extLst>
          </p:cNvPr>
          <p:cNvSpPr>
            <a:spLocks noGrp="1"/>
          </p:cNvSpPr>
          <p:nvPr/>
        </p:nvSpPr>
        <p:spPr>
          <a:xfrm>
            <a:off x="3505200" y="43338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Cedar Rapids</a:t>
            </a:r>
          </a:p>
        </p:txBody>
      </p:sp>
      <p:sp>
        <p:nvSpPr>
          <p:cNvPr id="17" name="text-87">
            <a:extLst>
              <a:ext uri="{FF2B5EF4-FFF2-40B4-BE49-F238E27FC236}">
                <a16:creationId xmlns:a16="http://schemas.microsoft.com/office/drawing/2014/main" id="{D4B41660-4EB6-4175-919D-715CE2F7383C}"/>
              </a:ext>
            </a:extLst>
          </p:cNvPr>
          <p:cNvSpPr>
            <a:spLocks noGrp="1"/>
          </p:cNvSpPr>
          <p:nvPr/>
        </p:nvSpPr>
        <p:spPr>
          <a:xfrm>
            <a:off x="1123950" y="48387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示意图：站点位于 Cedar Rapids 市区的 Cedar River 河段</a:t>
            </a:r>
          </a:p>
        </p:txBody>
      </p:sp>
      <p:sp>
        <p:nvSpPr>
          <p:cNvPr id="18" name="box-88">
            <a:extLst>
              <a:ext uri="{FF2B5EF4-FFF2-40B4-BE49-F238E27FC236}">
                <a16:creationId xmlns:a16="http://schemas.microsoft.com/office/drawing/2014/main" id="{3C0E3AE9-13C3-4F32-B8C1-9EE61367DC33}"/>
              </a:ext>
            </a:extLst>
          </p:cNvPr>
          <p:cNvSpPr>
            <a:spLocks noGrp="1"/>
          </p:cNvSpPr>
          <p:nvPr/>
        </p:nvSpPr>
        <p:spPr>
          <a:xfrm>
            <a:off x="6667500" y="1333500"/>
            <a:ext cx="4953000" cy="47625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9" name="text-89">
            <a:extLst>
              <a:ext uri="{FF2B5EF4-FFF2-40B4-BE49-F238E27FC236}">
                <a16:creationId xmlns:a16="http://schemas.microsoft.com/office/drawing/2014/main" id="{D082A5B5-77E7-4082-9DD2-0370DE1CE736}"/>
              </a:ext>
            </a:extLst>
          </p:cNvPr>
          <p:cNvSpPr>
            <a:spLocks noGrp="1"/>
          </p:cNvSpPr>
          <p:nvPr/>
        </p:nvSpPr>
        <p:spPr>
          <a:xfrm>
            <a:off x="6953250" y="15811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水文站信息</a:t>
            </a:r>
          </a:p>
        </p:txBody>
      </p:sp>
      <p:sp>
        <p:nvSpPr>
          <p:cNvPr id="20" name="box-90">
            <a:extLst>
              <a:ext uri="{FF2B5EF4-FFF2-40B4-BE49-F238E27FC236}">
                <a16:creationId xmlns:a16="http://schemas.microsoft.com/office/drawing/2014/main" id="{E7B0267F-99CA-4780-9F1C-3C03665D4AEF}"/>
              </a:ext>
            </a:extLst>
          </p:cNvPr>
          <p:cNvSpPr>
            <a:spLocks noGrp="1"/>
          </p:cNvSpPr>
          <p:nvPr/>
        </p:nvSpPr>
        <p:spPr>
          <a:xfrm>
            <a:off x="6953250" y="2038350"/>
            <a:ext cx="2095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rect-91">
            <a:extLst>
              <a:ext uri="{FF2B5EF4-FFF2-40B4-BE49-F238E27FC236}">
                <a16:creationId xmlns:a16="http://schemas.microsoft.com/office/drawing/2014/main" id="{D02FDF2B-1C99-4B16-B7CA-5D18305D37AD}"/>
              </a:ext>
            </a:extLst>
          </p:cNvPr>
          <p:cNvSpPr>
            <a:spLocks noGrp="1"/>
          </p:cNvSpPr>
          <p:nvPr/>
        </p:nvSpPr>
        <p:spPr>
          <a:xfrm>
            <a:off x="6953250" y="203835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22" name="text-92">
            <a:extLst>
              <a:ext uri="{FF2B5EF4-FFF2-40B4-BE49-F238E27FC236}">
                <a16:creationId xmlns:a16="http://schemas.microsoft.com/office/drawing/2014/main" id="{9E10700F-74D6-4CA8-B751-2B83F081BAA1}"/>
              </a:ext>
            </a:extLst>
          </p:cNvPr>
          <p:cNvSpPr>
            <a:spLocks noGrp="1"/>
          </p:cNvSpPr>
          <p:nvPr/>
        </p:nvSpPr>
        <p:spPr>
          <a:xfrm>
            <a:off x="7143750" y="217170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USGS 站点</a:t>
            </a:r>
          </a:p>
        </p:txBody>
      </p:sp>
      <p:sp>
        <p:nvSpPr>
          <p:cNvPr id="23" name="text-93">
            <a:extLst>
              <a:ext uri="{FF2B5EF4-FFF2-40B4-BE49-F238E27FC236}">
                <a16:creationId xmlns:a16="http://schemas.microsoft.com/office/drawing/2014/main" id="{D778B0FF-A39C-4A4E-A8B0-51F952D2619A}"/>
              </a:ext>
            </a:extLst>
          </p:cNvPr>
          <p:cNvSpPr>
            <a:spLocks noGrp="1"/>
          </p:cNvSpPr>
          <p:nvPr/>
        </p:nvSpPr>
        <p:spPr>
          <a:xfrm>
            <a:off x="7143750" y="24098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05464500</a:t>
            </a:r>
          </a:p>
        </p:txBody>
      </p:sp>
      <p:sp>
        <p:nvSpPr>
          <p:cNvPr id="24" name="text-94">
            <a:extLst>
              <a:ext uri="{FF2B5EF4-FFF2-40B4-BE49-F238E27FC236}">
                <a16:creationId xmlns:a16="http://schemas.microsoft.com/office/drawing/2014/main" id="{3A101B10-DC1A-4348-A190-A5CEC79D87FA}"/>
              </a:ext>
            </a:extLst>
          </p:cNvPr>
          <p:cNvSpPr>
            <a:spLocks noGrp="1"/>
          </p:cNvSpPr>
          <p:nvPr/>
        </p:nvSpPr>
        <p:spPr>
          <a:xfrm>
            <a:off x="7143750" y="2867025"/>
            <a:ext cx="1771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Cedar River at Cedar Rapids</a:t>
            </a:r>
          </a:p>
        </p:txBody>
      </p:sp>
      <p:sp>
        <p:nvSpPr>
          <p:cNvPr id="25" name="box-95">
            <a:extLst>
              <a:ext uri="{FF2B5EF4-FFF2-40B4-BE49-F238E27FC236}">
                <a16:creationId xmlns:a16="http://schemas.microsoft.com/office/drawing/2014/main" id="{A0E79111-1FCD-4BD8-ACD5-52620195FBD9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857250" cy="24765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降雨</a:t>
            </a:r>
          </a:p>
        </p:txBody>
      </p:sp>
      <p:sp>
        <p:nvSpPr>
          <p:cNvPr id="26" name="rect-96">
            <a:extLst>
              <a:ext uri="{FF2B5EF4-FFF2-40B4-BE49-F238E27FC236}">
                <a16:creationId xmlns:a16="http://schemas.microsoft.com/office/drawing/2014/main" id="{C9E65107-D386-4E39-864B-0BC04BBE35EA}"/>
              </a:ext>
            </a:extLst>
          </p:cNvPr>
          <p:cNvSpPr>
            <a:spLocks noGrp="1"/>
          </p:cNvSpPr>
          <p:nvPr/>
        </p:nvSpPr>
        <p:spPr>
          <a:xfrm>
            <a:off x="9239250" y="2038350"/>
            <a:ext cx="66675" cy="1104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7" name="text-97">
            <a:extLst>
              <a:ext uri="{FF2B5EF4-FFF2-40B4-BE49-F238E27FC236}">
                <a16:creationId xmlns:a16="http://schemas.microsoft.com/office/drawing/2014/main" id="{30819970-3F23-4114-9445-3ED8CA071B6E}"/>
              </a:ext>
            </a:extLst>
          </p:cNvPr>
          <p:cNvSpPr>
            <a:spLocks noGrp="1"/>
          </p:cNvSpPr>
          <p:nvPr/>
        </p:nvSpPr>
        <p:spPr>
          <a:xfrm>
            <a:off x="9429750" y="217170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经纬度</a:t>
            </a:r>
          </a:p>
        </p:txBody>
      </p:sp>
      <p:sp>
        <p:nvSpPr>
          <p:cNvPr id="28" name="text-98">
            <a:extLst>
              <a:ext uri="{FF2B5EF4-FFF2-40B4-BE49-F238E27FC236}">
                <a16:creationId xmlns:a16="http://schemas.microsoft.com/office/drawing/2014/main" id="{50DF6882-9B2B-4BF0-B87F-C8F3750EAFBD}"/>
              </a:ext>
            </a:extLst>
          </p:cNvPr>
          <p:cNvSpPr>
            <a:spLocks noGrp="1"/>
          </p:cNvSpPr>
          <p:nvPr/>
        </p:nvSpPr>
        <p:spPr>
          <a:xfrm>
            <a:off x="9429750" y="24098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41.9719°N</a:t>
            </a:r>
          </a:p>
        </p:txBody>
      </p:sp>
      <p:sp>
        <p:nvSpPr>
          <p:cNvPr id="29" name="text-99">
            <a:extLst>
              <a:ext uri="{FF2B5EF4-FFF2-40B4-BE49-F238E27FC236}">
                <a16:creationId xmlns:a16="http://schemas.microsoft.com/office/drawing/2014/main" id="{A156701F-25FA-4B67-A48E-B700F8043759}"/>
              </a:ext>
            </a:extLst>
          </p:cNvPr>
          <p:cNvSpPr>
            <a:spLocks noGrp="1"/>
          </p:cNvSpPr>
          <p:nvPr/>
        </p:nvSpPr>
        <p:spPr>
          <a:xfrm>
            <a:off x="9429750" y="2867025"/>
            <a:ext cx="1771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91.6671°W</a:t>
            </a:r>
          </a:p>
        </p:txBody>
      </p:sp>
      <p:sp>
        <p:nvSpPr>
          <p:cNvPr id="30" name="rect-100">
            <a:extLst>
              <a:ext uri="{FF2B5EF4-FFF2-40B4-BE49-F238E27FC236}">
                <a16:creationId xmlns:a16="http://schemas.microsoft.com/office/drawing/2014/main" id="{BA504784-4E51-4D74-AD70-B878E1F32B2C}"/>
              </a:ext>
            </a:extLst>
          </p:cNvPr>
          <p:cNvSpPr>
            <a:spLocks noGrp="1"/>
          </p:cNvSpPr>
          <p:nvPr/>
        </p:nvSpPr>
        <p:spPr>
          <a:xfrm>
            <a:off x="7010400" y="35814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1" name="text-101">
            <a:extLst>
              <a:ext uri="{FF2B5EF4-FFF2-40B4-BE49-F238E27FC236}">
                <a16:creationId xmlns:a16="http://schemas.microsoft.com/office/drawing/2014/main" id="{001262A0-5C2F-49FA-BC35-B4262F5A39CD}"/>
              </a:ext>
            </a:extLst>
          </p:cNvPr>
          <p:cNvSpPr>
            <a:spLocks noGrp="1"/>
          </p:cNvSpPr>
          <p:nvPr/>
        </p:nvSpPr>
        <p:spPr>
          <a:xfrm>
            <a:off x="7181850" y="3505200"/>
            <a:ext cx="4019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研究对象：Cedar River 河流水位变化与洪水风险。</a:t>
            </a:r>
          </a:p>
        </p:txBody>
      </p:sp>
      <p:sp>
        <p:nvSpPr>
          <p:cNvPr id="32" name="rect-102">
            <a:extLst>
              <a:ext uri="{FF2B5EF4-FFF2-40B4-BE49-F238E27FC236}">
                <a16:creationId xmlns:a16="http://schemas.microsoft.com/office/drawing/2014/main" id="{2C8AED57-0F62-468D-85BD-84FEBC0530EC}"/>
              </a:ext>
            </a:extLst>
          </p:cNvPr>
          <p:cNvSpPr>
            <a:spLocks noGrp="1"/>
          </p:cNvSpPr>
          <p:nvPr/>
        </p:nvSpPr>
        <p:spPr>
          <a:xfrm>
            <a:off x="7010400" y="40957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3" name="text-103">
            <a:extLst>
              <a:ext uri="{FF2B5EF4-FFF2-40B4-BE49-F238E27FC236}">
                <a16:creationId xmlns:a16="http://schemas.microsoft.com/office/drawing/2014/main" id="{FAD87CA9-1559-441B-88AF-2B589A5C0326}"/>
              </a:ext>
            </a:extLst>
          </p:cNvPr>
          <p:cNvSpPr>
            <a:spLocks noGrp="1"/>
          </p:cNvSpPr>
          <p:nvPr/>
        </p:nvSpPr>
        <p:spPr>
          <a:xfrm>
            <a:off x="7181850" y="4019550"/>
            <a:ext cx="4019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Cedar Rapids 曾经历 2008 年等显著洪水事件。</a:t>
            </a:r>
          </a:p>
        </p:txBody>
      </p:sp>
      <p:sp>
        <p:nvSpPr>
          <p:cNvPr id="34" name="rect-104">
            <a:extLst>
              <a:ext uri="{FF2B5EF4-FFF2-40B4-BE49-F238E27FC236}">
                <a16:creationId xmlns:a16="http://schemas.microsoft.com/office/drawing/2014/main" id="{4F8A4663-7B31-4FD5-8EB4-E4430928F294}"/>
              </a:ext>
            </a:extLst>
          </p:cNvPr>
          <p:cNvSpPr>
            <a:spLocks noGrp="1"/>
          </p:cNvSpPr>
          <p:nvPr/>
        </p:nvSpPr>
        <p:spPr>
          <a:xfrm>
            <a:off x="7010400" y="46101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5" name="text-105">
            <a:extLst>
              <a:ext uri="{FF2B5EF4-FFF2-40B4-BE49-F238E27FC236}">
                <a16:creationId xmlns:a16="http://schemas.microsoft.com/office/drawing/2014/main" id="{B9B09FBF-D53E-4AE7-BCCC-DE8BFA8204DF}"/>
              </a:ext>
            </a:extLst>
          </p:cNvPr>
          <p:cNvSpPr>
            <a:spLocks noGrp="1"/>
          </p:cNvSpPr>
          <p:nvPr/>
        </p:nvSpPr>
        <p:spPr>
          <a:xfrm>
            <a:off x="7181850" y="4533900"/>
            <a:ext cx="4019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单站点数据开放、时间跨度长，便于复现和模型评估。</a:t>
            </a:r>
          </a:p>
        </p:txBody>
      </p:sp>
      <p:sp>
        <p:nvSpPr>
          <p:cNvPr id="36" name="rect-106">
            <a:extLst>
              <a:ext uri="{FF2B5EF4-FFF2-40B4-BE49-F238E27FC236}">
                <a16:creationId xmlns:a16="http://schemas.microsoft.com/office/drawing/2014/main" id="{BEEBF0D1-C8C5-4A96-A766-CDC70C8DC5A8}"/>
              </a:ext>
            </a:extLst>
          </p:cNvPr>
          <p:cNvSpPr>
            <a:spLocks noGrp="1"/>
          </p:cNvSpPr>
          <p:nvPr/>
        </p:nvSpPr>
        <p:spPr>
          <a:xfrm>
            <a:off x="7010400" y="51244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7" name="text-107">
            <a:extLst>
              <a:ext uri="{FF2B5EF4-FFF2-40B4-BE49-F238E27FC236}">
                <a16:creationId xmlns:a16="http://schemas.microsoft.com/office/drawing/2014/main" id="{E212DB43-EAC3-458B-8FF7-7F69ED7BAEBA}"/>
              </a:ext>
            </a:extLst>
          </p:cNvPr>
          <p:cNvSpPr>
            <a:spLocks noGrp="1"/>
          </p:cNvSpPr>
          <p:nvPr/>
        </p:nvSpPr>
        <p:spPr>
          <a:xfrm>
            <a:off x="7181850" y="5048250"/>
            <a:ext cx="4019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历史最高水位 31.12 ft，发生于 2008-06-13。</a:t>
            </a:r>
          </a:p>
        </p:txBody>
      </p:sp>
      <p:sp>
        <p:nvSpPr>
          <p:cNvPr id="38" name="box-108">
            <a:extLst>
              <a:ext uri="{FF2B5EF4-FFF2-40B4-BE49-F238E27FC236}">
                <a16:creationId xmlns:a16="http://schemas.microsoft.com/office/drawing/2014/main" id="{3BE19182-46F8-4978-999C-479884EEDD62}"/>
              </a:ext>
            </a:extLst>
          </p:cNvPr>
          <p:cNvSpPr>
            <a:spLocks noGrp="1"/>
          </p:cNvSpPr>
          <p:nvPr/>
        </p:nvSpPr>
        <p:spPr>
          <a:xfrm>
            <a:off x="7010400" y="5581650"/>
            <a:ext cx="2095500" cy="26670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39" name="text-109">
            <a:extLst>
              <a:ext uri="{FF2B5EF4-FFF2-40B4-BE49-F238E27FC236}">
                <a16:creationId xmlns:a16="http://schemas.microsoft.com/office/drawing/2014/main" id="{CA1DA6BF-8D4B-464C-BB63-7438FAE4D1DC}"/>
              </a:ext>
            </a:extLst>
          </p:cNvPr>
          <p:cNvSpPr>
            <a:spLocks noGrp="1"/>
          </p:cNvSpPr>
          <p:nvPr/>
        </p:nvSpPr>
        <p:spPr>
          <a:xfrm>
            <a:off x="7010400" y="56197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统一时间基准：UTC</a:t>
            </a:r>
          </a:p>
        </p:txBody>
      </p:sp>
    </p:spTree>
    <p:extLst>
      <p:ext uri="{BB962C8B-B14F-4D97-AF65-F5344CB8AC3E}">
        <p14:creationId xmlns:p14="http://schemas.microsoft.com/office/powerpoint/2010/main" val="28827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-26">
            <a:extLst>
              <a:ext uri="{FF2B5EF4-FFF2-40B4-BE49-F238E27FC236}">
                <a16:creationId xmlns:a16="http://schemas.microsoft.com/office/drawing/2014/main" id="{F1EA448D-0989-418B-B9D8-69B2B5AF11AF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EXECUTIVE SUMMARY</a:t>
            </a:r>
          </a:p>
        </p:txBody>
      </p:sp>
      <p:sp>
        <p:nvSpPr>
          <p:cNvPr id="2" name="text-27">
            <a:extLst>
              <a:ext uri="{FF2B5EF4-FFF2-40B4-BE49-F238E27FC236}">
                <a16:creationId xmlns:a16="http://schemas.microsoft.com/office/drawing/2014/main" id="{AA55EFAF-6173-4BDF-B046-1FAE349DB4DA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项目概览：从多源数据到洪水风险等级</a:t>
            </a:r>
          </a:p>
        </p:txBody>
      </p:sp>
      <p:sp>
        <p:nvSpPr>
          <p:cNvPr id="3" name="rect-28">
            <a:extLst>
              <a:ext uri="{FF2B5EF4-FFF2-40B4-BE49-F238E27FC236}">
                <a16:creationId xmlns:a16="http://schemas.microsoft.com/office/drawing/2014/main" id="{1968DD4B-5DB5-4ECB-89C2-E1E21A516949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29">
            <a:extLst>
              <a:ext uri="{FF2B5EF4-FFF2-40B4-BE49-F238E27FC236}">
                <a16:creationId xmlns:a16="http://schemas.microsoft.com/office/drawing/2014/main" id="{7A639599-74AB-4EB0-AC0F-DA9E57E6AC60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USGS、Open-Meteo ERA5、项目模型输出</a:t>
            </a:r>
          </a:p>
        </p:txBody>
      </p:sp>
      <p:sp>
        <p:nvSpPr>
          <p:cNvPr id="5" name="text-30">
            <a:extLst>
              <a:ext uri="{FF2B5EF4-FFF2-40B4-BE49-F238E27FC236}">
                <a16:creationId xmlns:a16="http://schemas.microsoft.com/office/drawing/2014/main" id="{8500650D-7DC0-4C23-937F-0A9D9838E39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box-31">
            <a:extLst>
              <a:ext uri="{FF2B5EF4-FFF2-40B4-BE49-F238E27FC236}">
                <a16:creationId xmlns:a16="http://schemas.microsoft.com/office/drawing/2014/main" id="{2574CACB-E614-468B-832A-A25AE88663DB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rect-32">
            <a:extLst>
              <a:ext uri="{FF2B5EF4-FFF2-40B4-BE49-F238E27FC236}">
                <a16:creationId xmlns:a16="http://schemas.microsoft.com/office/drawing/2014/main" id="{B3108FB3-52D5-4178-AB82-3580366464C1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8" name="text-33">
            <a:extLst>
              <a:ext uri="{FF2B5EF4-FFF2-40B4-BE49-F238E27FC236}">
                <a16:creationId xmlns:a16="http://schemas.microsoft.com/office/drawing/2014/main" id="{FC42BF6D-B99B-4EE1-931E-FCCA23DBD105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最终数据量</a:t>
            </a:r>
          </a:p>
        </p:txBody>
      </p:sp>
      <p:sp>
        <p:nvSpPr>
          <p:cNvPr id="9" name="text-34">
            <a:extLst>
              <a:ext uri="{FF2B5EF4-FFF2-40B4-BE49-F238E27FC236}">
                <a16:creationId xmlns:a16="http://schemas.microsoft.com/office/drawing/2014/main" id="{B32D1394-3BD6-4415-8684-B18914B65913}"/>
              </a:ext>
            </a:extLst>
          </p:cNvPr>
          <p:cNvSpPr>
            <a:spLocks noGrp="1"/>
          </p:cNvSpPr>
          <p:nvPr/>
        </p:nvSpPr>
        <p:spPr>
          <a:xfrm>
            <a:off x="762000" y="17240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161,634 h</a:t>
            </a:r>
          </a:p>
        </p:txBody>
      </p:sp>
      <p:sp>
        <p:nvSpPr>
          <p:cNvPr id="10" name="text-35">
            <a:extLst>
              <a:ext uri="{FF2B5EF4-FFF2-40B4-BE49-F238E27FC236}">
                <a16:creationId xmlns:a16="http://schemas.microsoft.com/office/drawing/2014/main" id="{8F0978FC-612C-4144-B0DE-ABE823C99404}"/>
              </a:ext>
            </a:extLst>
          </p:cNvPr>
          <p:cNvSpPr>
            <a:spLocks noGrp="1"/>
          </p:cNvSpPr>
          <p:nvPr/>
        </p:nvSpPr>
        <p:spPr>
          <a:xfrm>
            <a:off x="762000" y="21812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约 18.4 年</a:t>
            </a:r>
          </a:p>
        </p:txBody>
      </p:sp>
      <p:sp>
        <p:nvSpPr>
          <p:cNvPr id="11" name="box-36">
            <a:extLst>
              <a:ext uri="{FF2B5EF4-FFF2-40B4-BE49-F238E27FC236}">
                <a16:creationId xmlns:a16="http://schemas.microsoft.com/office/drawing/2014/main" id="{55932D75-2CE3-4D6E-9EC8-47E9C7320292}"/>
              </a:ext>
            </a:extLst>
          </p:cNvPr>
          <p:cNvSpPr>
            <a:spLocks noGrp="1"/>
          </p:cNvSpPr>
          <p:nvPr/>
        </p:nvSpPr>
        <p:spPr>
          <a:xfrm>
            <a:off x="3238500" y="13525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2" name="rect-37">
            <a:extLst>
              <a:ext uri="{FF2B5EF4-FFF2-40B4-BE49-F238E27FC236}">
                <a16:creationId xmlns:a16="http://schemas.microsoft.com/office/drawing/2014/main" id="{7A177528-C2B4-4A5E-93C5-C9DF68B2FD61}"/>
              </a:ext>
            </a:extLst>
          </p:cNvPr>
          <p:cNvSpPr>
            <a:spLocks noGrp="1"/>
          </p:cNvSpPr>
          <p:nvPr/>
        </p:nvSpPr>
        <p:spPr>
          <a:xfrm>
            <a:off x="3238500" y="1352550"/>
            <a:ext cx="66675" cy="1104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3" name="text-38">
            <a:extLst>
              <a:ext uri="{FF2B5EF4-FFF2-40B4-BE49-F238E27FC236}">
                <a16:creationId xmlns:a16="http://schemas.microsoft.com/office/drawing/2014/main" id="{0A596CDE-F935-4C75-8F87-CC5F1E2E0F8F}"/>
              </a:ext>
            </a:extLst>
          </p:cNvPr>
          <p:cNvSpPr>
            <a:spLocks noGrp="1"/>
          </p:cNvSpPr>
          <p:nvPr/>
        </p:nvSpPr>
        <p:spPr>
          <a:xfrm>
            <a:off x="3429000" y="14859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输入张量</a:t>
            </a:r>
          </a:p>
        </p:txBody>
      </p:sp>
      <p:sp>
        <p:nvSpPr>
          <p:cNvPr id="14" name="text-39">
            <a:extLst>
              <a:ext uri="{FF2B5EF4-FFF2-40B4-BE49-F238E27FC236}">
                <a16:creationId xmlns:a16="http://schemas.microsoft.com/office/drawing/2014/main" id="{D121CD20-34F8-4C5F-B729-79AFCE7834BC}"/>
              </a:ext>
            </a:extLst>
          </p:cNvPr>
          <p:cNvSpPr>
            <a:spLocks noGrp="1"/>
          </p:cNvSpPr>
          <p:nvPr/>
        </p:nvSpPr>
        <p:spPr>
          <a:xfrm>
            <a:off x="3429000" y="17240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72 × 3</a:t>
            </a:r>
          </a:p>
        </p:txBody>
      </p:sp>
      <p:sp>
        <p:nvSpPr>
          <p:cNvPr id="15" name="text-40">
            <a:extLst>
              <a:ext uri="{FF2B5EF4-FFF2-40B4-BE49-F238E27FC236}">
                <a16:creationId xmlns:a16="http://schemas.microsoft.com/office/drawing/2014/main" id="{7E0ED32B-F233-4A8B-89CE-B9E95A457E2D}"/>
              </a:ext>
            </a:extLst>
          </p:cNvPr>
          <p:cNvSpPr>
            <a:spLocks noGrp="1"/>
          </p:cNvSpPr>
          <p:nvPr/>
        </p:nvSpPr>
        <p:spPr>
          <a:xfrm>
            <a:off x="3429000" y="21812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水位 / 流量 / 降雨</a:t>
            </a:r>
          </a:p>
        </p:txBody>
      </p:sp>
      <p:sp>
        <p:nvSpPr>
          <p:cNvPr id="16" name="box-41">
            <a:extLst>
              <a:ext uri="{FF2B5EF4-FFF2-40B4-BE49-F238E27FC236}">
                <a16:creationId xmlns:a16="http://schemas.microsoft.com/office/drawing/2014/main" id="{9A250B97-938D-4DD3-ACEF-BA27EF934AB8}"/>
              </a:ext>
            </a:extLst>
          </p:cNvPr>
          <p:cNvSpPr>
            <a:spLocks noGrp="1"/>
          </p:cNvSpPr>
          <p:nvPr/>
        </p:nvSpPr>
        <p:spPr>
          <a:xfrm>
            <a:off x="5905500" y="13525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rect-42">
            <a:extLst>
              <a:ext uri="{FF2B5EF4-FFF2-40B4-BE49-F238E27FC236}">
                <a16:creationId xmlns:a16="http://schemas.microsoft.com/office/drawing/2014/main" id="{3BA4832B-DF11-4E15-9149-8E5F72DA1111}"/>
              </a:ext>
            </a:extLst>
          </p:cNvPr>
          <p:cNvSpPr>
            <a:spLocks noGrp="1"/>
          </p:cNvSpPr>
          <p:nvPr/>
        </p:nvSpPr>
        <p:spPr>
          <a:xfrm>
            <a:off x="5905500" y="1352550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8" name="text-43">
            <a:extLst>
              <a:ext uri="{FF2B5EF4-FFF2-40B4-BE49-F238E27FC236}">
                <a16:creationId xmlns:a16="http://schemas.microsoft.com/office/drawing/2014/main" id="{A3074521-D4A3-4015-96C8-144649991CD7}"/>
              </a:ext>
            </a:extLst>
          </p:cNvPr>
          <p:cNvSpPr>
            <a:spLocks noGrp="1"/>
          </p:cNvSpPr>
          <p:nvPr/>
        </p:nvSpPr>
        <p:spPr>
          <a:xfrm>
            <a:off x="6096000" y="14859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输出向量</a:t>
            </a:r>
          </a:p>
        </p:txBody>
      </p:sp>
      <p:sp>
        <p:nvSpPr>
          <p:cNvPr id="19" name="text-44">
            <a:extLst>
              <a:ext uri="{FF2B5EF4-FFF2-40B4-BE49-F238E27FC236}">
                <a16:creationId xmlns:a16="http://schemas.microsoft.com/office/drawing/2014/main" id="{2F8F32E7-B643-4378-AC6D-0734B6A97FA1}"/>
              </a:ext>
            </a:extLst>
          </p:cNvPr>
          <p:cNvSpPr>
            <a:spLocks noGrp="1"/>
          </p:cNvSpPr>
          <p:nvPr/>
        </p:nvSpPr>
        <p:spPr>
          <a:xfrm>
            <a:off x="6096000" y="17240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24 h</a:t>
            </a:r>
          </a:p>
        </p:txBody>
      </p:sp>
      <p:sp>
        <p:nvSpPr>
          <p:cNvPr id="20" name="text-45">
            <a:extLst>
              <a:ext uri="{FF2B5EF4-FFF2-40B4-BE49-F238E27FC236}">
                <a16:creationId xmlns:a16="http://schemas.microsoft.com/office/drawing/2014/main" id="{3111DC81-BB99-4FCE-A818-3C2F4479CADC}"/>
              </a:ext>
            </a:extLst>
          </p:cNvPr>
          <p:cNvSpPr>
            <a:spLocks noGrp="1"/>
          </p:cNvSpPr>
          <p:nvPr/>
        </p:nvSpPr>
        <p:spPr>
          <a:xfrm>
            <a:off x="6096000" y="21812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未来逐小时水位</a:t>
            </a:r>
          </a:p>
        </p:txBody>
      </p:sp>
      <p:sp>
        <p:nvSpPr>
          <p:cNvPr id="21" name="box-46">
            <a:extLst>
              <a:ext uri="{FF2B5EF4-FFF2-40B4-BE49-F238E27FC236}">
                <a16:creationId xmlns:a16="http://schemas.microsoft.com/office/drawing/2014/main" id="{7DC884EB-1712-420D-B802-CE6D99798FA2}"/>
              </a:ext>
            </a:extLst>
          </p:cNvPr>
          <p:cNvSpPr>
            <a:spLocks noGrp="1"/>
          </p:cNvSpPr>
          <p:nvPr/>
        </p:nvSpPr>
        <p:spPr>
          <a:xfrm>
            <a:off x="8572500" y="13525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rect-47">
            <a:extLst>
              <a:ext uri="{FF2B5EF4-FFF2-40B4-BE49-F238E27FC236}">
                <a16:creationId xmlns:a16="http://schemas.microsoft.com/office/drawing/2014/main" id="{83F582F5-B940-4A78-AA9B-E467E726B099}"/>
              </a:ext>
            </a:extLst>
          </p:cNvPr>
          <p:cNvSpPr>
            <a:spLocks noGrp="1"/>
          </p:cNvSpPr>
          <p:nvPr/>
        </p:nvSpPr>
        <p:spPr>
          <a:xfrm>
            <a:off x="8572500" y="1352550"/>
            <a:ext cx="66675" cy="11049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3" name="text-48">
            <a:extLst>
              <a:ext uri="{FF2B5EF4-FFF2-40B4-BE49-F238E27FC236}">
                <a16:creationId xmlns:a16="http://schemas.microsoft.com/office/drawing/2014/main" id="{A68B672F-DD2E-41F1-B822-C7F9FC162920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平均 R²</a:t>
            </a:r>
          </a:p>
        </p:txBody>
      </p:sp>
      <p:sp>
        <p:nvSpPr>
          <p:cNvPr id="24" name="text-49">
            <a:extLst>
              <a:ext uri="{FF2B5EF4-FFF2-40B4-BE49-F238E27FC236}">
                <a16:creationId xmlns:a16="http://schemas.microsoft.com/office/drawing/2014/main" id="{D83D8A8B-8675-4C97-9E9F-79B7702D44AF}"/>
              </a:ext>
            </a:extLst>
          </p:cNvPr>
          <p:cNvSpPr>
            <a:spLocks noGrp="1"/>
          </p:cNvSpPr>
          <p:nvPr/>
        </p:nvSpPr>
        <p:spPr>
          <a:xfrm>
            <a:off x="8763000" y="17240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0.9886</a:t>
            </a:r>
          </a:p>
        </p:txBody>
      </p:sp>
      <p:sp>
        <p:nvSpPr>
          <p:cNvPr id="25" name="text-50">
            <a:extLst>
              <a:ext uri="{FF2B5EF4-FFF2-40B4-BE49-F238E27FC236}">
                <a16:creationId xmlns:a16="http://schemas.microsoft.com/office/drawing/2014/main" id="{F8DD24E0-B8E7-4EC9-BBD2-C850BEE4CC21}"/>
              </a:ext>
            </a:extLst>
          </p:cNvPr>
          <p:cNvSpPr>
            <a:spLocks noGrp="1"/>
          </p:cNvSpPr>
          <p:nvPr/>
        </p:nvSpPr>
        <p:spPr>
          <a:xfrm>
            <a:off x="8763000" y="21812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24 个预测步平均</a:t>
            </a:r>
          </a:p>
        </p:txBody>
      </p:sp>
      <p:sp>
        <p:nvSpPr>
          <p:cNvPr id="26" name="box-51">
            <a:extLst>
              <a:ext uri="{FF2B5EF4-FFF2-40B4-BE49-F238E27FC236}">
                <a16:creationId xmlns:a16="http://schemas.microsoft.com/office/drawing/2014/main" id="{50CC4EEE-70C9-43C7-BCFB-2A5F9E8B4B96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2476500" cy="361950"/>
          </a:xfrm>
          <a:prstGeom prst="roundRect">
            <a:avLst>
              <a:gd name="adj" fmla="val 26316"/>
            </a:avLst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27" name="text-52">
            <a:extLst>
              <a:ext uri="{FF2B5EF4-FFF2-40B4-BE49-F238E27FC236}">
                <a16:creationId xmlns:a16="http://schemas.microsoft.com/office/drawing/2014/main" id="{4EFC3FF7-C3C8-4784-94C0-00731775697D}"/>
              </a:ext>
            </a:extLst>
          </p:cNvPr>
          <p:cNvSpPr>
            <a:spLocks noGrp="1"/>
          </p:cNvSpPr>
          <p:nvPr/>
        </p:nvSpPr>
        <p:spPr>
          <a:xfrm>
            <a:off x="571500" y="28479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28" name="box-53">
            <a:extLst>
              <a:ext uri="{FF2B5EF4-FFF2-40B4-BE49-F238E27FC236}">
                <a16:creationId xmlns:a16="http://schemas.microsoft.com/office/drawing/2014/main" id="{C0BB32E1-1DF4-4362-86B4-F40E78263F64}"/>
              </a:ext>
            </a:extLst>
          </p:cNvPr>
          <p:cNvSpPr>
            <a:spLocks noGrp="1"/>
          </p:cNvSpPr>
          <p:nvPr/>
        </p:nvSpPr>
        <p:spPr>
          <a:xfrm>
            <a:off x="571500" y="3276600"/>
            <a:ext cx="5143500" cy="26098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9" name="rect-54">
            <a:extLst>
              <a:ext uri="{FF2B5EF4-FFF2-40B4-BE49-F238E27FC236}">
                <a16:creationId xmlns:a16="http://schemas.microsoft.com/office/drawing/2014/main" id="{6E7DE434-FCC3-44F2-898D-43AE22B8B91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0" name="text-55">
            <a:extLst>
              <a:ext uri="{FF2B5EF4-FFF2-40B4-BE49-F238E27FC236}">
                <a16:creationId xmlns:a16="http://schemas.microsoft.com/office/drawing/2014/main" id="{95128FDE-E161-42CC-99E9-F27FF09E24F5}"/>
              </a:ext>
            </a:extLst>
          </p:cNvPr>
          <p:cNvSpPr>
            <a:spLocks noGrp="1"/>
          </p:cNvSpPr>
          <p:nvPr/>
        </p:nvSpPr>
        <p:spPr>
          <a:xfrm>
            <a:off x="1009650" y="3562350"/>
            <a:ext cx="440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将水文站观测与再分析降雨按 UTC 小时严格对齐。</a:t>
            </a:r>
          </a:p>
        </p:txBody>
      </p:sp>
      <p:sp>
        <p:nvSpPr>
          <p:cNvPr id="31" name="rect-56">
            <a:extLst>
              <a:ext uri="{FF2B5EF4-FFF2-40B4-BE49-F238E27FC236}">
                <a16:creationId xmlns:a16="http://schemas.microsoft.com/office/drawing/2014/main" id="{A8F850C7-97B8-46D9-8FA3-BD2FC64868F8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2" name="text-57">
            <a:extLst>
              <a:ext uri="{FF2B5EF4-FFF2-40B4-BE49-F238E27FC236}">
                <a16:creationId xmlns:a16="http://schemas.microsoft.com/office/drawing/2014/main" id="{2A72995F-0A6D-4C1E-BCFD-B824343F77DA}"/>
              </a:ext>
            </a:extLst>
          </p:cNvPr>
          <p:cNvSpPr>
            <a:spLocks noGrp="1"/>
          </p:cNvSpPr>
          <p:nvPr/>
        </p:nvSpPr>
        <p:spPr>
          <a:xfrm>
            <a:off x="1009650" y="4095750"/>
            <a:ext cx="440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通过 72 小时历史窗口学习水位、流量和降雨的滞后响应。</a:t>
            </a:r>
          </a:p>
        </p:txBody>
      </p:sp>
      <p:sp>
        <p:nvSpPr>
          <p:cNvPr id="33" name="rect-58">
            <a:extLst>
              <a:ext uri="{FF2B5EF4-FFF2-40B4-BE49-F238E27FC236}">
                <a16:creationId xmlns:a16="http://schemas.microsoft.com/office/drawing/2014/main" id="{4F12B8AF-1162-4EF8-8B47-867560814F06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4" name="text-59">
            <a:extLst>
              <a:ext uri="{FF2B5EF4-FFF2-40B4-BE49-F238E27FC236}">
                <a16:creationId xmlns:a16="http://schemas.microsoft.com/office/drawing/2014/main" id="{E8312A26-B2A0-48D9-956F-AD2590427A54}"/>
              </a:ext>
            </a:extLst>
          </p:cNvPr>
          <p:cNvSpPr>
            <a:spLocks noGrp="1"/>
          </p:cNvSpPr>
          <p:nvPr/>
        </p:nvSpPr>
        <p:spPr>
          <a:xfrm>
            <a:off x="1009650" y="4629150"/>
            <a:ext cx="440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一次性输出未来 24 个水位值，避免递归预测误差累积。</a:t>
            </a:r>
          </a:p>
        </p:txBody>
      </p:sp>
      <p:sp>
        <p:nvSpPr>
          <p:cNvPr id="35" name="rect-60">
            <a:extLst>
              <a:ext uri="{FF2B5EF4-FFF2-40B4-BE49-F238E27FC236}">
                <a16:creationId xmlns:a16="http://schemas.microsoft.com/office/drawing/2014/main" id="{FF3C51BA-966F-4A7D-80F3-6BEC3009F18E}"/>
              </a:ext>
            </a:extLst>
          </p:cNvPr>
          <p:cNvSpPr>
            <a:spLocks noGrp="1"/>
          </p:cNvSpPr>
          <p:nvPr/>
        </p:nvSpPr>
        <p:spPr>
          <a:xfrm>
            <a:off x="838200" y="52387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6" name="text-61">
            <a:extLst>
              <a:ext uri="{FF2B5EF4-FFF2-40B4-BE49-F238E27FC236}">
                <a16:creationId xmlns:a16="http://schemas.microsoft.com/office/drawing/2014/main" id="{2B52B18E-5B5A-4C4E-86B6-8B1E14032AC7}"/>
              </a:ext>
            </a:extLst>
          </p:cNvPr>
          <p:cNvSpPr>
            <a:spLocks noGrp="1"/>
          </p:cNvSpPr>
          <p:nvPr/>
        </p:nvSpPr>
        <p:spPr>
          <a:xfrm>
            <a:off x="1009650" y="5162550"/>
            <a:ext cx="440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将预测水位映射为 normal / action / minor / moderate / major。</a:t>
            </a:r>
          </a:p>
        </p:txBody>
      </p:sp>
      <p:sp>
        <p:nvSpPr>
          <p:cNvPr id="37" name="box-62">
            <a:extLst>
              <a:ext uri="{FF2B5EF4-FFF2-40B4-BE49-F238E27FC236}">
                <a16:creationId xmlns:a16="http://schemas.microsoft.com/office/drawing/2014/main" id="{90B74714-55A5-41BC-99BE-89B0E27B981E}"/>
              </a:ext>
            </a:extLst>
          </p:cNvPr>
          <p:cNvSpPr>
            <a:spLocks noGrp="1"/>
          </p:cNvSpPr>
          <p:nvPr/>
        </p:nvSpPr>
        <p:spPr>
          <a:xfrm>
            <a:off x="6096000" y="2781300"/>
            <a:ext cx="2476500" cy="361950"/>
          </a:xfrm>
          <a:prstGeom prst="roundRect">
            <a:avLst>
              <a:gd name="adj" fmla="val 26316"/>
            </a:avLst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8" name="text-63">
            <a:extLst>
              <a:ext uri="{FF2B5EF4-FFF2-40B4-BE49-F238E27FC236}">
                <a16:creationId xmlns:a16="http://schemas.microsoft.com/office/drawing/2014/main" id="{8940387B-7BB7-4D4A-8203-AF54BCE59658}"/>
              </a:ext>
            </a:extLst>
          </p:cNvPr>
          <p:cNvSpPr>
            <a:spLocks noGrp="1"/>
          </p:cNvSpPr>
          <p:nvPr/>
        </p:nvSpPr>
        <p:spPr>
          <a:xfrm>
            <a:off x="6096000" y="28479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最终结果</a:t>
            </a:r>
          </a:p>
        </p:txBody>
      </p:sp>
      <p:sp>
        <p:nvSpPr>
          <p:cNvPr id="39" name="box-64">
            <a:extLst>
              <a:ext uri="{FF2B5EF4-FFF2-40B4-BE49-F238E27FC236}">
                <a16:creationId xmlns:a16="http://schemas.microsoft.com/office/drawing/2014/main" id="{2A923769-A24D-40C4-9883-AF05B44FB1AE}"/>
              </a:ext>
            </a:extLst>
          </p:cNvPr>
          <p:cNvSpPr>
            <a:spLocks noGrp="1"/>
          </p:cNvSpPr>
          <p:nvPr/>
        </p:nvSpPr>
        <p:spPr>
          <a:xfrm>
            <a:off x="6096000" y="3276600"/>
            <a:ext cx="5524500" cy="26098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0" name="text-65">
            <a:extLst>
              <a:ext uri="{FF2B5EF4-FFF2-40B4-BE49-F238E27FC236}">
                <a16:creationId xmlns:a16="http://schemas.microsoft.com/office/drawing/2014/main" id="{D13380AF-D892-4426-AC33-4B0C80C2E1C5}"/>
              </a:ext>
            </a:extLst>
          </p:cNvPr>
          <p:cNvSpPr>
            <a:spLocks noGrp="1"/>
          </p:cNvSpPr>
          <p:nvPr/>
        </p:nvSpPr>
        <p:spPr>
          <a:xfrm>
            <a:off x="6400800" y="356235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短时预测精度高</a:t>
            </a:r>
          </a:p>
        </p:txBody>
      </p:sp>
      <p:sp>
        <p:nvSpPr>
          <p:cNvPr id="41" name="text-66">
            <a:extLst>
              <a:ext uri="{FF2B5EF4-FFF2-40B4-BE49-F238E27FC236}">
                <a16:creationId xmlns:a16="http://schemas.microsoft.com/office/drawing/2014/main" id="{D0CA1846-728A-45A6-8F89-B3C03E3C4590}"/>
              </a:ext>
            </a:extLst>
          </p:cNvPr>
          <p:cNvSpPr>
            <a:spLocks noGrp="1"/>
          </p:cNvSpPr>
          <p:nvPr/>
        </p:nvSpPr>
        <p:spPr>
          <a:xfrm>
            <a:off x="6400800" y="39052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1 小时 MAE 仅 0.077 ft；第 24 小时仍保持 R²≈0.975。</a:t>
            </a:r>
          </a:p>
        </p:txBody>
      </p:sp>
      <p:sp>
        <p:nvSpPr>
          <p:cNvPr id="42" name="text-67">
            <a:extLst>
              <a:ext uri="{FF2B5EF4-FFF2-40B4-BE49-F238E27FC236}">
                <a16:creationId xmlns:a16="http://schemas.microsoft.com/office/drawing/2014/main" id="{4D22CBBE-3AA4-4EDB-915B-53862137C0E7}"/>
              </a:ext>
            </a:extLst>
          </p:cNvPr>
          <p:cNvSpPr>
            <a:spLocks noGrp="1"/>
          </p:cNvSpPr>
          <p:nvPr/>
        </p:nvSpPr>
        <p:spPr>
          <a:xfrm>
            <a:off x="6400800" y="455295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本次 24 小时预报</a:t>
            </a:r>
          </a:p>
        </p:txBody>
      </p:sp>
      <p:sp>
        <p:nvSpPr>
          <p:cNvPr id="43" name="text-68">
            <a:extLst>
              <a:ext uri="{FF2B5EF4-FFF2-40B4-BE49-F238E27FC236}">
                <a16:creationId xmlns:a16="http://schemas.microsoft.com/office/drawing/2014/main" id="{4FFEB3F8-9992-48B3-A3F2-6B605867D430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水位范围 7.828–7.920 ft，低于 10 ft 关注阈值，风险等级为 normal。</a:t>
            </a:r>
          </a:p>
        </p:txBody>
      </p:sp>
      <p:sp>
        <p:nvSpPr>
          <p:cNvPr id="44" name="box-69">
            <a:extLst>
              <a:ext uri="{FF2B5EF4-FFF2-40B4-BE49-F238E27FC236}">
                <a16:creationId xmlns:a16="http://schemas.microsoft.com/office/drawing/2014/main" id="{FDB83C84-2B0B-4A2B-AE31-E6A227ABE313}"/>
              </a:ext>
            </a:extLst>
          </p:cNvPr>
          <p:cNvSpPr>
            <a:spLocks noGrp="1"/>
          </p:cNvSpPr>
          <p:nvPr/>
        </p:nvSpPr>
        <p:spPr>
          <a:xfrm>
            <a:off x="6400800" y="5524500"/>
            <a:ext cx="3048000" cy="266700"/>
          </a:xfrm>
          <a:prstGeom prst="roundRect">
            <a:avLst>
              <a:gd name="adj" fmla="val 50000"/>
            </a:avLst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45" name="text-70">
            <a:extLst>
              <a:ext uri="{FF2B5EF4-FFF2-40B4-BE49-F238E27FC236}">
                <a16:creationId xmlns:a16="http://schemas.microsoft.com/office/drawing/2014/main" id="{9F66A0D7-7CE2-4B1B-B1E6-A30F701AC402}"/>
              </a:ext>
            </a:extLst>
          </p:cNvPr>
          <p:cNvSpPr>
            <a:spLocks noGrp="1"/>
          </p:cNvSpPr>
          <p:nvPr/>
        </p:nvSpPr>
        <p:spPr>
          <a:xfrm>
            <a:off x="6400800" y="55626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 → 模型 → 预测 → 风险</a:t>
            </a:r>
          </a:p>
        </p:txBody>
      </p:sp>
    </p:spTree>
    <p:extLst>
      <p:ext uri="{BB962C8B-B14F-4D97-AF65-F5344CB8AC3E}">
        <p14:creationId xmlns:p14="http://schemas.microsoft.com/office/powerpoint/2010/main" val="87546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248">
            <a:extLst>
              <a:ext uri="{FF2B5EF4-FFF2-40B4-BE49-F238E27FC236}">
                <a16:creationId xmlns:a16="http://schemas.microsoft.com/office/drawing/2014/main" id="{A743FFEC-3BA4-46D5-8CC4-425C5F4D57D9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DATASET PROFILE</a:t>
            </a:r>
          </a:p>
        </p:txBody>
      </p:sp>
      <p:sp>
        <p:nvSpPr>
          <p:cNvPr id="2" name="text-249">
            <a:extLst>
              <a:ext uri="{FF2B5EF4-FFF2-40B4-BE49-F238E27FC236}">
                <a16:creationId xmlns:a16="http://schemas.microsoft.com/office/drawing/2014/main" id="{A48FEBCC-6227-4E88-B900-FD5CAADB3D2D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最终建模数据：161,634 条连续小时记录</a:t>
            </a:r>
          </a:p>
        </p:txBody>
      </p:sp>
      <p:sp>
        <p:nvSpPr>
          <p:cNvPr id="3" name="rect-250">
            <a:extLst>
              <a:ext uri="{FF2B5EF4-FFF2-40B4-BE49-F238E27FC236}">
                <a16:creationId xmlns:a16="http://schemas.microsoft.com/office/drawing/2014/main" id="{4F752DEA-6E04-438A-954D-F48EE0379A18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251">
            <a:extLst>
              <a:ext uri="{FF2B5EF4-FFF2-40B4-BE49-F238E27FC236}">
                <a16:creationId xmlns:a16="http://schemas.microsoft.com/office/drawing/2014/main" id="{A36F716B-24DE-49CB-A06A-53A2A468E051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data/cedar_rapids_stage_hourly.csv</a:t>
            </a:r>
          </a:p>
        </p:txBody>
      </p:sp>
      <p:sp>
        <p:nvSpPr>
          <p:cNvPr id="5" name="text-252">
            <a:extLst>
              <a:ext uri="{FF2B5EF4-FFF2-40B4-BE49-F238E27FC236}">
                <a16:creationId xmlns:a16="http://schemas.microsoft.com/office/drawing/2014/main" id="{095BD881-10AC-47ED-AE8C-0908D1B00CB6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box-253">
            <a:extLst>
              <a:ext uri="{FF2B5EF4-FFF2-40B4-BE49-F238E27FC236}">
                <a16:creationId xmlns:a16="http://schemas.microsoft.com/office/drawing/2014/main" id="{6A189331-0DE9-4ACE-B164-7C63778A5A33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rect-254">
            <a:extLst>
              <a:ext uri="{FF2B5EF4-FFF2-40B4-BE49-F238E27FC236}">
                <a16:creationId xmlns:a16="http://schemas.microsoft.com/office/drawing/2014/main" id="{87D1C4EA-2DB8-4CDC-9072-6275736027EE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8" name="text-255">
            <a:extLst>
              <a:ext uri="{FF2B5EF4-FFF2-40B4-BE49-F238E27FC236}">
                <a16:creationId xmlns:a16="http://schemas.microsoft.com/office/drawing/2014/main" id="{7838C744-60A0-4882-9A9E-5DE8448C5805}"/>
              </a:ext>
            </a:extLst>
          </p:cNvPr>
          <p:cNvSpPr>
            <a:spLocks noGrp="1"/>
          </p:cNvSpPr>
          <p:nvPr/>
        </p:nvSpPr>
        <p:spPr>
          <a:xfrm>
            <a:off x="762000" y="14668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时间覆盖</a:t>
            </a:r>
          </a:p>
        </p:txBody>
      </p:sp>
      <p:sp>
        <p:nvSpPr>
          <p:cNvPr id="9" name="text-256">
            <a:extLst>
              <a:ext uri="{FF2B5EF4-FFF2-40B4-BE49-F238E27FC236}">
                <a16:creationId xmlns:a16="http://schemas.microsoft.com/office/drawing/2014/main" id="{A57EFAC9-6E3D-4201-9C3F-96025557235A}"/>
              </a:ext>
            </a:extLst>
          </p:cNvPr>
          <p:cNvSpPr>
            <a:spLocks noGrp="1"/>
          </p:cNvSpPr>
          <p:nvPr/>
        </p:nvSpPr>
        <p:spPr>
          <a:xfrm>
            <a:off x="762000" y="170497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18.4 年</a:t>
            </a:r>
          </a:p>
        </p:txBody>
      </p:sp>
      <p:sp>
        <p:nvSpPr>
          <p:cNvPr id="10" name="text-257">
            <a:extLst>
              <a:ext uri="{FF2B5EF4-FFF2-40B4-BE49-F238E27FC236}">
                <a16:creationId xmlns:a16="http://schemas.microsoft.com/office/drawing/2014/main" id="{0878C628-D03C-41FF-BEE9-511BB9A42961}"/>
              </a:ext>
            </a:extLst>
          </p:cNvPr>
          <p:cNvSpPr>
            <a:spLocks noGrp="1"/>
          </p:cNvSpPr>
          <p:nvPr/>
        </p:nvSpPr>
        <p:spPr>
          <a:xfrm>
            <a:off x="762000" y="216217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2008-01 至 2026-06</a:t>
            </a:r>
          </a:p>
        </p:txBody>
      </p:sp>
      <p:sp>
        <p:nvSpPr>
          <p:cNvPr id="11" name="box-258">
            <a:extLst>
              <a:ext uri="{FF2B5EF4-FFF2-40B4-BE49-F238E27FC236}">
                <a16:creationId xmlns:a16="http://schemas.microsoft.com/office/drawing/2014/main" id="{C6A8BC19-10FE-4424-9DB5-093E2261D369}"/>
              </a:ext>
            </a:extLst>
          </p:cNvPr>
          <p:cNvSpPr>
            <a:spLocks noGrp="1"/>
          </p:cNvSpPr>
          <p:nvPr/>
        </p:nvSpPr>
        <p:spPr>
          <a:xfrm>
            <a:off x="3238500" y="133350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2" name="rect-259">
            <a:extLst>
              <a:ext uri="{FF2B5EF4-FFF2-40B4-BE49-F238E27FC236}">
                <a16:creationId xmlns:a16="http://schemas.microsoft.com/office/drawing/2014/main" id="{6B590525-7FFD-4A33-9031-33A51604BCA9}"/>
              </a:ext>
            </a:extLst>
          </p:cNvPr>
          <p:cNvSpPr>
            <a:spLocks noGrp="1"/>
          </p:cNvSpPr>
          <p:nvPr/>
        </p:nvSpPr>
        <p:spPr>
          <a:xfrm>
            <a:off x="3238500" y="1333500"/>
            <a:ext cx="66675" cy="1104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3" name="text-260">
            <a:extLst>
              <a:ext uri="{FF2B5EF4-FFF2-40B4-BE49-F238E27FC236}">
                <a16:creationId xmlns:a16="http://schemas.microsoft.com/office/drawing/2014/main" id="{62E749F4-C8E0-45A8-8F7C-A8E0288165DF}"/>
              </a:ext>
            </a:extLst>
          </p:cNvPr>
          <p:cNvSpPr>
            <a:spLocks noGrp="1"/>
          </p:cNvSpPr>
          <p:nvPr/>
        </p:nvSpPr>
        <p:spPr>
          <a:xfrm>
            <a:off x="3429000" y="14668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总记录数</a:t>
            </a:r>
          </a:p>
        </p:txBody>
      </p:sp>
      <p:sp>
        <p:nvSpPr>
          <p:cNvPr id="14" name="text-261">
            <a:extLst>
              <a:ext uri="{FF2B5EF4-FFF2-40B4-BE49-F238E27FC236}">
                <a16:creationId xmlns:a16="http://schemas.microsoft.com/office/drawing/2014/main" id="{E467F7F2-0826-4500-A01E-4FAE3DAF0A4C}"/>
              </a:ext>
            </a:extLst>
          </p:cNvPr>
          <p:cNvSpPr>
            <a:spLocks noGrp="1"/>
          </p:cNvSpPr>
          <p:nvPr/>
        </p:nvSpPr>
        <p:spPr>
          <a:xfrm>
            <a:off x="3429000" y="170497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161,634</a:t>
            </a:r>
          </a:p>
        </p:txBody>
      </p:sp>
      <p:sp>
        <p:nvSpPr>
          <p:cNvPr id="15" name="text-262">
            <a:extLst>
              <a:ext uri="{FF2B5EF4-FFF2-40B4-BE49-F238E27FC236}">
                <a16:creationId xmlns:a16="http://schemas.microsoft.com/office/drawing/2014/main" id="{FE496CF9-6F6D-47D4-A381-D7D132582B7D}"/>
              </a:ext>
            </a:extLst>
          </p:cNvPr>
          <p:cNvSpPr>
            <a:spLocks noGrp="1"/>
          </p:cNvSpPr>
          <p:nvPr/>
        </p:nvSpPr>
        <p:spPr>
          <a:xfrm>
            <a:off x="3429000" y="216217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连续小时数据</a:t>
            </a:r>
          </a:p>
        </p:txBody>
      </p:sp>
      <p:sp>
        <p:nvSpPr>
          <p:cNvPr id="16" name="box-263">
            <a:extLst>
              <a:ext uri="{FF2B5EF4-FFF2-40B4-BE49-F238E27FC236}">
                <a16:creationId xmlns:a16="http://schemas.microsoft.com/office/drawing/2014/main" id="{4F7C96BE-79DF-4846-814B-4B6A09A0A67B}"/>
              </a:ext>
            </a:extLst>
          </p:cNvPr>
          <p:cNvSpPr>
            <a:spLocks noGrp="1"/>
          </p:cNvSpPr>
          <p:nvPr/>
        </p:nvSpPr>
        <p:spPr>
          <a:xfrm>
            <a:off x="5905500" y="133350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rect-264">
            <a:extLst>
              <a:ext uri="{FF2B5EF4-FFF2-40B4-BE49-F238E27FC236}">
                <a16:creationId xmlns:a16="http://schemas.microsoft.com/office/drawing/2014/main" id="{DDE03E8E-43C1-4D06-9BC3-8096AEC4BF7D}"/>
              </a:ext>
            </a:extLst>
          </p:cNvPr>
          <p:cNvSpPr>
            <a:spLocks noGrp="1"/>
          </p:cNvSpPr>
          <p:nvPr/>
        </p:nvSpPr>
        <p:spPr>
          <a:xfrm>
            <a:off x="5905500" y="1333500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8" name="text-265">
            <a:extLst>
              <a:ext uri="{FF2B5EF4-FFF2-40B4-BE49-F238E27FC236}">
                <a16:creationId xmlns:a16="http://schemas.microsoft.com/office/drawing/2014/main" id="{205701EE-EA0E-4E1F-9622-46696D64E1EE}"/>
              </a:ext>
            </a:extLst>
          </p:cNvPr>
          <p:cNvSpPr>
            <a:spLocks noGrp="1"/>
          </p:cNvSpPr>
          <p:nvPr/>
        </p:nvSpPr>
        <p:spPr>
          <a:xfrm>
            <a:off x="6096000" y="14668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有雨小时</a:t>
            </a:r>
          </a:p>
        </p:txBody>
      </p:sp>
      <p:sp>
        <p:nvSpPr>
          <p:cNvPr id="19" name="text-266">
            <a:extLst>
              <a:ext uri="{FF2B5EF4-FFF2-40B4-BE49-F238E27FC236}">
                <a16:creationId xmlns:a16="http://schemas.microsoft.com/office/drawing/2014/main" id="{4B73D94C-53C5-48C1-ADFC-6386309D9CF0}"/>
              </a:ext>
            </a:extLst>
          </p:cNvPr>
          <p:cNvSpPr>
            <a:spLocks noGrp="1"/>
          </p:cNvSpPr>
          <p:nvPr/>
        </p:nvSpPr>
        <p:spPr>
          <a:xfrm>
            <a:off x="6096000" y="170497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19,686</a:t>
            </a:r>
          </a:p>
        </p:txBody>
      </p:sp>
      <p:sp>
        <p:nvSpPr>
          <p:cNvPr id="20" name="text-267">
            <a:extLst>
              <a:ext uri="{FF2B5EF4-FFF2-40B4-BE49-F238E27FC236}">
                <a16:creationId xmlns:a16="http://schemas.microsoft.com/office/drawing/2014/main" id="{7A28A000-3BB9-46BE-9AE7-6B3AA83FDCFC}"/>
              </a:ext>
            </a:extLst>
          </p:cNvPr>
          <p:cNvSpPr>
            <a:spLocks noGrp="1"/>
          </p:cNvSpPr>
          <p:nvPr/>
        </p:nvSpPr>
        <p:spPr>
          <a:xfrm>
            <a:off x="6096000" y="216217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占比 12.18%</a:t>
            </a:r>
          </a:p>
        </p:txBody>
      </p:sp>
      <p:sp>
        <p:nvSpPr>
          <p:cNvPr id="21" name="box-268">
            <a:extLst>
              <a:ext uri="{FF2B5EF4-FFF2-40B4-BE49-F238E27FC236}">
                <a16:creationId xmlns:a16="http://schemas.microsoft.com/office/drawing/2014/main" id="{0CE8EC08-9C69-428A-B6E3-1FC7A4381D16}"/>
              </a:ext>
            </a:extLst>
          </p:cNvPr>
          <p:cNvSpPr>
            <a:spLocks noGrp="1"/>
          </p:cNvSpPr>
          <p:nvPr/>
        </p:nvSpPr>
        <p:spPr>
          <a:xfrm>
            <a:off x="8572500" y="133350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rect-269">
            <a:extLst>
              <a:ext uri="{FF2B5EF4-FFF2-40B4-BE49-F238E27FC236}">
                <a16:creationId xmlns:a16="http://schemas.microsoft.com/office/drawing/2014/main" id="{5AE4C53A-F33C-422C-AAA8-6434EF3F4F6B}"/>
              </a:ext>
            </a:extLst>
          </p:cNvPr>
          <p:cNvSpPr>
            <a:spLocks noGrp="1"/>
          </p:cNvSpPr>
          <p:nvPr/>
        </p:nvSpPr>
        <p:spPr>
          <a:xfrm>
            <a:off x="8572500" y="1333500"/>
            <a:ext cx="66675" cy="11049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3" name="text-270">
            <a:extLst>
              <a:ext uri="{FF2B5EF4-FFF2-40B4-BE49-F238E27FC236}">
                <a16:creationId xmlns:a16="http://schemas.microsoft.com/office/drawing/2014/main" id="{65360EBA-E0F3-4BD8-A82D-2954FD07EE2D}"/>
              </a:ext>
            </a:extLst>
          </p:cNvPr>
          <p:cNvSpPr>
            <a:spLocks noGrp="1"/>
          </p:cNvSpPr>
          <p:nvPr/>
        </p:nvSpPr>
        <p:spPr>
          <a:xfrm>
            <a:off x="8763000" y="14668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历史最高水位</a:t>
            </a:r>
          </a:p>
        </p:txBody>
      </p:sp>
      <p:sp>
        <p:nvSpPr>
          <p:cNvPr id="24" name="text-271">
            <a:extLst>
              <a:ext uri="{FF2B5EF4-FFF2-40B4-BE49-F238E27FC236}">
                <a16:creationId xmlns:a16="http://schemas.microsoft.com/office/drawing/2014/main" id="{6608962B-6016-4FB1-8DC3-E0C0E0C19CB9}"/>
              </a:ext>
            </a:extLst>
          </p:cNvPr>
          <p:cNvSpPr>
            <a:spLocks noGrp="1"/>
          </p:cNvSpPr>
          <p:nvPr/>
        </p:nvSpPr>
        <p:spPr>
          <a:xfrm>
            <a:off x="8763000" y="170497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31.12 ft</a:t>
            </a:r>
          </a:p>
        </p:txBody>
      </p:sp>
      <p:sp>
        <p:nvSpPr>
          <p:cNvPr id="25" name="text-272">
            <a:extLst>
              <a:ext uri="{FF2B5EF4-FFF2-40B4-BE49-F238E27FC236}">
                <a16:creationId xmlns:a16="http://schemas.microsoft.com/office/drawing/2014/main" id="{9BF61613-69C0-4047-A191-6E0AA22DB165}"/>
              </a:ext>
            </a:extLst>
          </p:cNvPr>
          <p:cNvSpPr>
            <a:spLocks noGrp="1"/>
          </p:cNvSpPr>
          <p:nvPr/>
        </p:nvSpPr>
        <p:spPr>
          <a:xfrm>
            <a:off x="8763000" y="216217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2008-06-13</a:t>
            </a:r>
          </a:p>
        </p:txBody>
      </p:sp>
      <p:sp>
        <p:nvSpPr>
          <p:cNvPr id="26" name="box-273">
            <a:extLst>
              <a:ext uri="{FF2B5EF4-FFF2-40B4-BE49-F238E27FC236}">
                <a16:creationId xmlns:a16="http://schemas.microsoft.com/office/drawing/2014/main" id="{BD93BFF1-4501-4190-B013-8A328D4D55AD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685800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7" name="text-274">
            <a:extLst>
              <a:ext uri="{FF2B5EF4-FFF2-40B4-BE49-F238E27FC236}">
                <a16:creationId xmlns:a16="http://schemas.microsoft.com/office/drawing/2014/main" id="{01A7A834-45D6-44CD-A97C-A45391A84015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字段字典</a:t>
            </a:r>
          </a:p>
        </p:txBody>
      </p:sp>
      <p:sp>
        <p:nvSpPr>
          <p:cNvPr id="28" name="rect-275">
            <a:extLst>
              <a:ext uri="{FF2B5EF4-FFF2-40B4-BE49-F238E27FC236}">
                <a16:creationId xmlns:a16="http://schemas.microsoft.com/office/drawing/2014/main" id="{E199CA91-43BA-431A-8707-562B5129036B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6400800" cy="381000"/>
          </a:xfrm>
          <a:prstGeom prst="rect">
            <a:avLst/>
          </a:prstGeom>
          <a:solidFill>
            <a:srgbClr val="F7FBFD"/>
          </a:solidFill>
          <a:ln w="0">
            <a:noFill/>
            <a:prstDash val="solid"/>
          </a:ln>
        </p:spPr>
      </p:sp>
      <p:sp>
        <p:nvSpPr>
          <p:cNvPr id="29" name="text-276">
            <a:extLst>
              <a:ext uri="{FF2B5EF4-FFF2-40B4-BE49-F238E27FC236}">
                <a16:creationId xmlns:a16="http://schemas.microsoft.com/office/drawing/2014/main" id="{40620016-A6B1-4B76-A828-19AF953BA57E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datetime</a:t>
            </a:r>
          </a:p>
        </p:txBody>
      </p:sp>
      <p:sp>
        <p:nvSpPr>
          <p:cNvPr id="30" name="text-277">
            <a:extLst>
              <a:ext uri="{FF2B5EF4-FFF2-40B4-BE49-F238E27FC236}">
                <a16:creationId xmlns:a16="http://schemas.microsoft.com/office/drawing/2014/main" id="{6928AE29-BA31-45D1-BED0-6C6EFE0577A1}"/>
              </a:ext>
            </a:extLst>
          </p:cNvPr>
          <p:cNvSpPr>
            <a:spLocks noGrp="1"/>
          </p:cNvSpPr>
          <p:nvPr/>
        </p:nvSpPr>
        <p:spPr>
          <a:xfrm>
            <a:off x="3028950" y="35052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UTC 小时时间戳</a:t>
            </a:r>
          </a:p>
        </p:txBody>
      </p:sp>
      <p:sp>
        <p:nvSpPr>
          <p:cNvPr id="31" name="text-278">
            <a:extLst>
              <a:ext uri="{FF2B5EF4-FFF2-40B4-BE49-F238E27FC236}">
                <a16:creationId xmlns:a16="http://schemas.microsoft.com/office/drawing/2014/main" id="{AE6EEC83-235A-41D4-9481-6B332C59A62E}"/>
              </a:ext>
            </a:extLst>
          </p:cNvPr>
          <p:cNvSpPr>
            <a:spLocks noGrp="1"/>
          </p:cNvSpPr>
          <p:nvPr/>
        </p:nvSpPr>
        <p:spPr>
          <a:xfrm>
            <a:off x="5962650" y="35052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datetime</a:t>
            </a:r>
          </a:p>
        </p:txBody>
      </p:sp>
      <p:sp>
        <p:nvSpPr>
          <p:cNvPr id="32" name="rect-279">
            <a:extLst>
              <a:ext uri="{FF2B5EF4-FFF2-40B4-BE49-F238E27FC236}">
                <a16:creationId xmlns:a16="http://schemas.microsoft.com/office/drawing/2014/main" id="{3B8BD84D-0282-4C14-A97D-C9F54DC01A5D}"/>
              </a:ext>
            </a:extLst>
          </p:cNvPr>
          <p:cNvSpPr>
            <a:spLocks noGrp="1"/>
          </p:cNvSpPr>
          <p:nvPr/>
        </p:nvSpPr>
        <p:spPr>
          <a:xfrm>
            <a:off x="800100" y="3886200"/>
            <a:ext cx="64008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3" name="text-280">
            <a:extLst>
              <a:ext uri="{FF2B5EF4-FFF2-40B4-BE49-F238E27FC236}">
                <a16:creationId xmlns:a16="http://schemas.microsoft.com/office/drawing/2014/main" id="{D311D32C-3B0B-4AEF-8129-CE029D283C82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stage_ft</a:t>
            </a:r>
          </a:p>
        </p:txBody>
      </p:sp>
      <p:sp>
        <p:nvSpPr>
          <p:cNvPr id="34" name="text-281">
            <a:extLst>
              <a:ext uri="{FF2B5EF4-FFF2-40B4-BE49-F238E27FC236}">
                <a16:creationId xmlns:a16="http://schemas.microsoft.com/office/drawing/2014/main" id="{82B3B2E2-C486-4152-9414-52E2C3B7347E}"/>
              </a:ext>
            </a:extLst>
          </p:cNvPr>
          <p:cNvSpPr>
            <a:spLocks noGrp="1"/>
          </p:cNvSpPr>
          <p:nvPr/>
        </p:nvSpPr>
        <p:spPr>
          <a:xfrm>
            <a:off x="3028950" y="39624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水位 / 测站标尺高度</a:t>
            </a:r>
          </a:p>
        </p:txBody>
      </p:sp>
      <p:sp>
        <p:nvSpPr>
          <p:cNvPr id="35" name="text-282">
            <a:extLst>
              <a:ext uri="{FF2B5EF4-FFF2-40B4-BE49-F238E27FC236}">
                <a16:creationId xmlns:a16="http://schemas.microsoft.com/office/drawing/2014/main" id="{785B3825-FB83-4468-9735-D0A82720933B}"/>
              </a:ext>
            </a:extLst>
          </p:cNvPr>
          <p:cNvSpPr>
            <a:spLocks noGrp="1"/>
          </p:cNvSpPr>
          <p:nvPr/>
        </p:nvSpPr>
        <p:spPr>
          <a:xfrm>
            <a:off x="5962650" y="39624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ft</a:t>
            </a:r>
          </a:p>
        </p:txBody>
      </p:sp>
      <p:sp>
        <p:nvSpPr>
          <p:cNvPr id="36" name="rect-283">
            <a:extLst>
              <a:ext uri="{FF2B5EF4-FFF2-40B4-BE49-F238E27FC236}">
                <a16:creationId xmlns:a16="http://schemas.microsoft.com/office/drawing/2014/main" id="{FAB972C8-367C-4708-B4A3-C713EF690DD0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6400800" cy="381000"/>
          </a:xfrm>
          <a:prstGeom prst="rect">
            <a:avLst/>
          </a:prstGeom>
          <a:solidFill>
            <a:srgbClr val="F7FBFD"/>
          </a:solidFill>
          <a:ln w="0">
            <a:noFill/>
            <a:prstDash val="solid"/>
          </a:ln>
        </p:spPr>
      </p:sp>
      <p:sp>
        <p:nvSpPr>
          <p:cNvPr id="37" name="text-284">
            <a:extLst>
              <a:ext uri="{FF2B5EF4-FFF2-40B4-BE49-F238E27FC236}">
                <a16:creationId xmlns:a16="http://schemas.microsoft.com/office/drawing/2014/main" id="{F6B42BDD-8E96-468B-A788-50B622BD4865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discharge_cfs</a:t>
            </a:r>
          </a:p>
        </p:txBody>
      </p:sp>
      <p:sp>
        <p:nvSpPr>
          <p:cNvPr id="38" name="text-285">
            <a:extLst>
              <a:ext uri="{FF2B5EF4-FFF2-40B4-BE49-F238E27FC236}">
                <a16:creationId xmlns:a16="http://schemas.microsoft.com/office/drawing/2014/main" id="{236ACAE0-8D20-4C47-8C4E-189D7B4A9572}"/>
              </a:ext>
            </a:extLst>
          </p:cNvPr>
          <p:cNvSpPr>
            <a:spLocks noGrp="1"/>
          </p:cNvSpPr>
          <p:nvPr/>
        </p:nvSpPr>
        <p:spPr>
          <a:xfrm>
            <a:off x="3028950" y="44196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河流流量</a:t>
            </a:r>
          </a:p>
        </p:txBody>
      </p:sp>
      <p:sp>
        <p:nvSpPr>
          <p:cNvPr id="39" name="text-286">
            <a:extLst>
              <a:ext uri="{FF2B5EF4-FFF2-40B4-BE49-F238E27FC236}">
                <a16:creationId xmlns:a16="http://schemas.microsoft.com/office/drawing/2014/main" id="{B075F527-B46A-4269-B04A-26101DF69AF7}"/>
              </a:ext>
            </a:extLst>
          </p:cNvPr>
          <p:cNvSpPr>
            <a:spLocks noGrp="1"/>
          </p:cNvSpPr>
          <p:nvPr/>
        </p:nvSpPr>
        <p:spPr>
          <a:xfrm>
            <a:off x="5962650" y="44196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ft³/s</a:t>
            </a:r>
          </a:p>
        </p:txBody>
      </p:sp>
      <p:sp>
        <p:nvSpPr>
          <p:cNvPr id="40" name="rect-287">
            <a:extLst>
              <a:ext uri="{FF2B5EF4-FFF2-40B4-BE49-F238E27FC236}">
                <a16:creationId xmlns:a16="http://schemas.microsoft.com/office/drawing/2014/main" id="{EDBEA554-7F8E-4426-9AE4-379C8D4B76D9}"/>
              </a:ext>
            </a:extLst>
          </p:cNvPr>
          <p:cNvSpPr>
            <a:spLocks noGrp="1"/>
          </p:cNvSpPr>
          <p:nvPr/>
        </p:nvSpPr>
        <p:spPr>
          <a:xfrm>
            <a:off x="800100" y="4800600"/>
            <a:ext cx="64008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text-288">
            <a:extLst>
              <a:ext uri="{FF2B5EF4-FFF2-40B4-BE49-F238E27FC236}">
                <a16:creationId xmlns:a16="http://schemas.microsoft.com/office/drawing/2014/main" id="{9277CFC1-CD45-4F68-9869-9CDB92030A75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precipitation_mm</a:t>
            </a:r>
          </a:p>
        </p:txBody>
      </p:sp>
      <p:sp>
        <p:nvSpPr>
          <p:cNvPr id="42" name="text-289">
            <a:extLst>
              <a:ext uri="{FF2B5EF4-FFF2-40B4-BE49-F238E27FC236}">
                <a16:creationId xmlns:a16="http://schemas.microsoft.com/office/drawing/2014/main" id="{17350501-66FC-476F-B95F-35F5415E8D94}"/>
              </a:ext>
            </a:extLst>
          </p:cNvPr>
          <p:cNvSpPr>
            <a:spLocks noGrp="1"/>
          </p:cNvSpPr>
          <p:nvPr/>
        </p:nvSpPr>
        <p:spPr>
          <a:xfrm>
            <a:off x="3028950" y="48768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前一小时累计降雨</a:t>
            </a:r>
          </a:p>
        </p:txBody>
      </p:sp>
      <p:sp>
        <p:nvSpPr>
          <p:cNvPr id="43" name="text-290">
            <a:extLst>
              <a:ext uri="{FF2B5EF4-FFF2-40B4-BE49-F238E27FC236}">
                <a16:creationId xmlns:a16="http://schemas.microsoft.com/office/drawing/2014/main" id="{F07022C2-C48D-4143-A071-F832ED23AF5C}"/>
              </a:ext>
            </a:extLst>
          </p:cNvPr>
          <p:cNvSpPr>
            <a:spLocks noGrp="1"/>
          </p:cNvSpPr>
          <p:nvPr/>
        </p:nvSpPr>
        <p:spPr>
          <a:xfrm>
            <a:off x="5962650" y="48768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mm</a:t>
            </a:r>
          </a:p>
        </p:txBody>
      </p:sp>
      <p:sp>
        <p:nvSpPr>
          <p:cNvPr id="44" name="rect-291">
            <a:extLst>
              <a:ext uri="{FF2B5EF4-FFF2-40B4-BE49-F238E27FC236}">
                <a16:creationId xmlns:a16="http://schemas.microsoft.com/office/drawing/2014/main" id="{C47C7AC5-2475-4158-B9F3-2D6C9D6A40D5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6400800" cy="381000"/>
          </a:xfrm>
          <a:prstGeom prst="rect">
            <a:avLst/>
          </a:prstGeom>
          <a:solidFill>
            <a:srgbClr val="F7FBFD"/>
          </a:solidFill>
          <a:ln w="0">
            <a:noFill/>
            <a:prstDash val="solid"/>
          </a:ln>
        </p:spPr>
      </p:sp>
      <p:sp>
        <p:nvSpPr>
          <p:cNvPr id="45" name="text-292">
            <a:extLst>
              <a:ext uri="{FF2B5EF4-FFF2-40B4-BE49-F238E27FC236}">
                <a16:creationId xmlns:a16="http://schemas.microsoft.com/office/drawing/2014/main" id="{F539A9B7-0B1A-4005-831D-62103F84256C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stage_m</a:t>
            </a:r>
          </a:p>
        </p:txBody>
      </p:sp>
      <p:sp>
        <p:nvSpPr>
          <p:cNvPr id="46" name="text-293">
            <a:extLst>
              <a:ext uri="{FF2B5EF4-FFF2-40B4-BE49-F238E27FC236}">
                <a16:creationId xmlns:a16="http://schemas.microsoft.com/office/drawing/2014/main" id="{FCD257E5-E05D-4477-A3BD-1E656244207A}"/>
              </a:ext>
            </a:extLst>
          </p:cNvPr>
          <p:cNvSpPr>
            <a:spLocks noGrp="1"/>
          </p:cNvSpPr>
          <p:nvPr/>
        </p:nvSpPr>
        <p:spPr>
          <a:xfrm>
            <a:off x="3028950" y="53340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水位换算值</a:t>
            </a:r>
          </a:p>
        </p:txBody>
      </p:sp>
      <p:sp>
        <p:nvSpPr>
          <p:cNvPr id="47" name="text-294">
            <a:extLst>
              <a:ext uri="{FF2B5EF4-FFF2-40B4-BE49-F238E27FC236}">
                <a16:creationId xmlns:a16="http://schemas.microsoft.com/office/drawing/2014/main" id="{FE416FCE-521A-4F9F-BBAF-65F5370C4F5B}"/>
              </a:ext>
            </a:extLst>
          </p:cNvPr>
          <p:cNvSpPr>
            <a:spLocks noGrp="1"/>
          </p:cNvSpPr>
          <p:nvPr/>
        </p:nvSpPr>
        <p:spPr>
          <a:xfrm>
            <a:off x="5962650" y="53340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m</a:t>
            </a:r>
          </a:p>
        </p:txBody>
      </p:sp>
      <p:sp>
        <p:nvSpPr>
          <p:cNvPr id="48" name="box-295">
            <a:extLst>
              <a:ext uri="{FF2B5EF4-FFF2-40B4-BE49-F238E27FC236}">
                <a16:creationId xmlns:a16="http://schemas.microsoft.com/office/drawing/2014/main" id="{3C7D47C7-9921-4681-AB1C-CF9A1F220877}"/>
              </a:ext>
            </a:extLst>
          </p:cNvPr>
          <p:cNvSpPr>
            <a:spLocks noGrp="1"/>
          </p:cNvSpPr>
          <p:nvPr/>
        </p:nvSpPr>
        <p:spPr>
          <a:xfrm>
            <a:off x="7810500" y="2781300"/>
            <a:ext cx="381000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9" name="text-296">
            <a:extLst>
              <a:ext uri="{FF2B5EF4-FFF2-40B4-BE49-F238E27FC236}">
                <a16:creationId xmlns:a16="http://schemas.microsoft.com/office/drawing/2014/main" id="{44921381-C058-4EBE-9B10-FCD8313B8E4A}"/>
              </a:ext>
            </a:extLst>
          </p:cNvPr>
          <p:cNvSpPr>
            <a:spLocks noGrp="1"/>
          </p:cNvSpPr>
          <p:nvPr/>
        </p:nvSpPr>
        <p:spPr>
          <a:xfrm>
            <a:off x="8039100" y="3009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降雨小时占比</a:t>
            </a:r>
          </a:p>
        </p:txBody>
      </p:sp>
      <p:graphicFrame>
        <p:nvGraphicFramePr>
          <p:cNvPr id="100" name="Chart"/>
          <p:cNvGraphicFramePr/>
          <p:nvPr/>
        </p:nvGraphicFramePr>
        <p:xfrm>
          <a:off x="8096250" y="3333750"/>
          <a:ext cx="3238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7678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-110">
            <a:extLst>
              <a:ext uri="{FF2B5EF4-FFF2-40B4-BE49-F238E27FC236}">
                <a16:creationId xmlns:a16="http://schemas.microsoft.com/office/drawing/2014/main" id="{AAF0D8C8-AF91-4991-B130-73C4718874B2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FORECAST TASK</a:t>
            </a:r>
          </a:p>
        </p:txBody>
      </p:sp>
      <p:sp>
        <p:nvSpPr>
          <p:cNvPr id="2" name="text-111">
            <a:extLst>
              <a:ext uri="{FF2B5EF4-FFF2-40B4-BE49-F238E27FC236}">
                <a16:creationId xmlns:a16="http://schemas.microsoft.com/office/drawing/2014/main" id="{39C28995-BE01-434C-B7E3-3BA5346F3F2F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预测任务定义：用历史 72 小时预测未来 24 小时</a:t>
            </a:r>
          </a:p>
        </p:txBody>
      </p:sp>
      <p:sp>
        <p:nvSpPr>
          <p:cNvPr id="3" name="rect-112">
            <a:extLst>
              <a:ext uri="{FF2B5EF4-FFF2-40B4-BE49-F238E27FC236}">
                <a16:creationId xmlns:a16="http://schemas.microsoft.com/office/drawing/2014/main" id="{39AEF486-6010-47E6-BC27-8AE5860C6758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113">
            <a:extLst>
              <a:ext uri="{FF2B5EF4-FFF2-40B4-BE49-F238E27FC236}">
                <a16:creationId xmlns:a16="http://schemas.microsoft.com/office/drawing/2014/main" id="{D8E32B51-6B03-42D6-A662-2F3DAFD63ACA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项目配置与训练代码</a:t>
            </a:r>
          </a:p>
        </p:txBody>
      </p:sp>
      <p:sp>
        <p:nvSpPr>
          <p:cNvPr id="5" name="text-114">
            <a:extLst>
              <a:ext uri="{FF2B5EF4-FFF2-40B4-BE49-F238E27FC236}">
                <a16:creationId xmlns:a16="http://schemas.microsoft.com/office/drawing/2014/main" id="{9AFCABAB-0FF3-4D6C-9BC5-24539C52B15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box-115">
            <a:extLst>
              <a:ext uri="{FF2B5EF4-FFF2-40B4-BE49-F238E27FC236}">
                <a16:creationId xmlns:a16="http://schemas.microsoft.com/office/drawing/2014/main" id="{773D588F-88C9-44F4-8129-760A645D610F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3143250" cy="4095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box-116">
            <a:extLst>
              <a:ext uri="{FF2B5EF4-FFF2-40B4-BE49-F238E27FC236}">
                <a16:creationId xmlns:a16="http://schemas.microsoft.com/office/drawing/2014/main" id="{5C8B9D13-16AB-4202-9A5D-0071F021B854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2609850" cy="361950"/>
          </a:xfrm>
          <a:prstGeom prst="roundRect">
            <a:avLst>
              <a:gd name="adj" fmla="val 26316"/>
            </a:avLst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8" name="text-117">
            <a:extLst>
              <a:ext uri="{FF2B5EF4-FFF2-40B4-BE49-F238E27FC236}">
                <a16:creationId xmlns:a16="http://schemas.microsoft.com/office/drawing/2014/main" id="{0F701003-863F-440D-8C16-E15635DFBD84}"/>
              </a:ext>
            </a:extLst>
          </p:cNvPr>
          <p:cNvSpPr>
            <a:spLocks noGrp="1"/>
          </p:cNvSpPr>
          <p:nvPr/>
        </p:nvSpPr>
        <p:spPr>
          <a:xfrm>
            <a:off x="838200" y="1743075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 X</a:t>
            </a:r>
          </a:p>
        </p:txBody>
      </p:sp>
      <p:sp>
        <p:nvSpPr>
          <p:cNvPr id="9" name="text-118">
            <a:extLst>
              <a:ext uri="{FF2B5EF4-FFF2-40B4-BE49-F238E27FC236}">
                <a16:creationId xmlns:a16="http://schemas.microsoft.com/office/drawing/2014/main" id="{DD6BCDEB-DCF1-440B-A108-926A3F0227CE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时间跨度</a:t>
            </a:r>
          </a:p>
        </p:txBody>
      </p:sp>
      <p:sp>
        <p:nvSpPr>
          <p:cNvPr id="10" name="text-119">
            <a:extLst>
              <a:ext uri="{FF2B5EF4-FFF2-40B4-BE49-F238E27FC236}">
                <a16:creationId xmlns:a16="http://schemas.microsoft.com/office/drawing/2014/main" id="{EC06F48A-8157-4417-B570-1FB1380717DA}"/>
              </a:ext>
            </a:extLst>
          </p:cNvPr>
          <p:cNvSpPr>
            <a:spLocks noGrp="1"/>
          </p:cNvSpPr>
          <p:nvPr/>
        </p:nvSpPr>
        <p:spPr>
          <a:xfrm>
            <a:off x="2000250" y="22098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过去 72 小时</a:t>
            </a:r>
          </a:p>
        </p:txBody>
      </p:sp>
      <p:sp>
        <p:nvSpPr>
          <p:cNvPr id="11" name="text-120">
            <a:extLst>
              <a:ext uri="{FF2B5EF4-FFF2-40B4-BE49-F238E27FC236}">
                <a16:creationId xmlns:a16="http://schemas.microsoft.com/office/drawing/2014/main" id="{6D099220-BEEB-47BC-AF42-88BC66AF9189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特征 1</a:t>
            </a:r>
          </a:p>
        </p:txBody>
      </p:sp>
      <p:sp>
        <p:nvSpPr>
          <p:cNvPr id="12" name="text-121">
            <a:extLst>
              <a:ext uri="{FF2B5EF4-FFF2-40B4-BE49-F238E27FC236}">
                <a16:creationId xmlns:a16="http://schemas.microsoft.com/office/drawing/2014/main" id="{908993E4-23A6-4047-B57B-2744B5B4EC70}"/>
              </a:ext>
            </a:extLst>
          </p:cNvPr>
          <p:cNvSpPr>
            <a:spLocks noGrp="1"/>
          </p:cNvSpPr>
          <p:nvPr/>
        </p:nvSpPr>
        <p:spPr>
          <a:xfrm>
            <a:off x="1866900" y="274320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水位 stage_ft</a:t>
            </a:r>
          </a:p>
        </p:txBody>
      </p:sp>
      <p:sp>
        <p:nvSpPr>
          <p:cNvPr id="13" name="text-122">
            <a:extLst>
              <a:ext uri="{FF2B5EF4-FFF2-40B4-BE49-F238E27FC236}">
                <a16:creationId xmlns:a16="http://schemas.microsoft.com/office/drawing/2014/main" id="{A87AB453-FE59-48FB-B239-F303D659020F}"/>
              </a:ext>
            </a:extLst>
          </p:cNvPr>
          <p:cNvSpPr>
            <a:spLocks noGrp="1"/>
          </p:cNvSpPr>
          <p:nvPr/>
        </p:nvSpPr>
        <p:spPr>
          <a:xfrm>
            <a:off x="838200" y="32575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特征 2</a:t>
            </a:r>
          </a:p>
        </p:txBody>
      </p:sp>
      <p:sp>
        <p:nvSpPr>
          <p:cNvPr id="14" name="text-123">
            <a:extLst>
              <a:ext uri="{FF2B5EF4-FFF2-40B4-BE49-F238E27FC236}">
                <a16:creationId xmlns:a16="http://schemas.microsoft.com/office/drawing/2014/main" id="{1039FA4B-81A8-4FC3-8110-275843FA764F}"/>
              </a:ext>
            </a:extLst>
          </p:cNvPr>
          <p:cNvSpPr>
            <a:spLocks noGrp="1"/>
          </p:cNvSpPr>
          <p:nvPr/>
        </p:nvSpPr>
        <p:spPr>
          <a:xfrm>
            <a:off x="1790700" y="321945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流量 discharge_cfs</a:t>
            </a:r>
          </a:p>
        </p:txBody>
      </p:sp>
      <p:sp>
        <p:nvSpPr>
          <p:cNvPr id="15" name="text-124">
            <a:extLst>
              <a:ext uri="{FF2B5EF4-FFF2-40B4-BE49-F238E27FC236}">
                <a16:creationId xmlns:a16="http://schemas.microsoft.com/office/drawing/2014/main" id="{17ED37C7-C60A-463A-9F61-6ED6549FFC61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特征 3</a:t>
            </a:r>
          </a:p>
        </p:txBody>
      </p:sp>
      <p:sp>
        <p:nvSpPr>
          <p:cNvPr id="16" name="text-125">
            <a:extLst>
              <a:ext uri="{FF2B5EF4-FFF2-40B4-BE49-F238E27FC236}">
                <a16:creationId xmlns:a16="http://schemas.microsoft.com/office/drawing/2014/main" id="{33410487-E712-471F-94BF-4F954AD20D91}"/>
              </a:ext>
            </a:extLst>
          </p:cNvPr>
          <p:cNvSpPr>
            <a:spLocks noGrp="1"/>
          </p:cNvSpPr>
          <p:nvPr/>
        </p:nvSpPr>
        <p:spPr>
          <a:xfrm>
            <a:off x="1619250" y="36957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降雨 precipitation_mm</a:t>
            </a:r>
          </a:p>
        </p:txBody>
      </p:sp>
      <p:sp>
        <p:nvSpPr>
          <p:cNvPr id="17" name="box-126">
            <a:extLst>
              <a:ext uri="{FF2B5EF4-FFF2-40B4-BE49-F238E27FC236}">
                <a16:creationId xmlns:a16="http://schemas.microsoft.com/office/drawing/2014/main" id="{192295BD-F4D0-4A20-9155-BBD4A9BEB39B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2381250" cy="666750"/>
          </a:xfrm>
          <a:prstGeom prst="roundRect">
            <a:avLst>
              <a:gd name="adj" fmla="val 17143"/>
            </a:avLst>
          </a:prstGeom>
          <a:solidFill>
            <a:srgbClr val="E8F3FA"/>
          </a:solidFill>
          <a:ln w="0">
            <a:noFill/>
            <a:prstDash val="solid"/>
          </a:ln>
        </p:spPr>
      </p:sp>
      <p:sp>
        <p:nvSpPr>
          <p:cNvPr id="18" name="text-127">
            <a:extLst>
              <a:ext uri="{FF2B5EF4-FFF2-40B4-BE49-F238E27FC236}">
                <a16:creationId xmlns:a16="http://schemas.microsoft.com/office/drawing/2014/main" id="{92EF0D9A-E279-4B58-B74E-194957A5517B}"/>
              </a:ext>
            </a:extLst>
          </p:cNvPr>
          <p:cNvSpPr>
            <a:spLocks noGrp="1"/>
          </p:cNvSpPr>
          <p:nvPr/>
        </p:nvSpPr>
        <p:spPr>
          <a:xfrm>
            <a:off x="952500" y="45720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X ∈ R^(72×3)</a:t>
            </a:r>
          </a:p>
        </p:txBody>
      </p:sp>
      <p:sp>
        <p:nvSpPr>
          <p:cNvPr id="19" name="arrow-128">
            <a:extLst>
              <a:ext uri="{FF2B5EF4-FFF2-40B4-BE49-F238E27FC236}">
                <a16:creationId xmlns:a16="http://schemas.microsoft.com/office/drawing/2014/main" id="{EA2A003A-A4AE-4CCE-A7BC-1D24D14C9794}"/>
              </a:ext>
            </a:extLst>
          </p:cNvPr>
          <p:cNvSpPr>
            <a:spLocks noGrp="1"/>
          </p:cNvSpPr>
          <p:nvPr/>
        </p:nvSpPr>
        <p:spPr>
          <a:xfrm>
            <a:off x="3981450" y="3228975"/>
            <a:ext cx="666750" cy="304800"/>
          </a:xfrm>
          <a:prstGeom prst="chevron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20" name="box-129">
            <a:extLst>
              <a:ext uri="{FF2B5EF4-FFF2-40B4-BE49-F238E27FC236}">
                <a16:creationId xmlns:a16="http://schemas.microsoft.com/office/drawing/2014/main" id="{5693BDC6-6719-4E08-A8FF-7E590EF9A95C}"/>
              </a:ext>
            </a:extLst>
          </p:cNvPr>
          <p:cNvSpPr>
            <a:spLocks noGrp="1"/>
          </p:cNvSpPr>
          <p:nvPr/>
        </p:nvSpPr>
        <p:spPr>
          <a:xfrm>
            <a:off x="4953000" y="1428750"/>
            <a:ext cx="3143250" cy="4095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box-130">
            <a:extLst>
              <a:ext uri="{FF2B5EF4-FFF2-40B4-BE49-F238E27FC236}">
                <a16:creationId xmlns:a16="http://schemas.microsoft.com/office/drawing/2014/main" id="{4972DA2D-2FA7-410C-B7F5-5A07B74C8E22}"/>
              </a:ext>
            </a:extLst>
          </p:cNvPr>
          <p:cNvSpPr>
            <a:spLocks noGrp="1"/>
          </p:cNvSpPr>
          <p:nvPr/>
        </p:nvSpPr>
        <p:spPr>
          <a:xfrm>
            <a:off x="5219700" y="1676400"/>
            <a:ext cx="2609850" cy="361950"/>
          </a:xfrm>
          <a:prstGeom prst="roundRect">
            <a:avLst>
              <a:gd name="adj" fmla="val 26316"/>
            </a:avLst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2" name="text-131">
            <a:extLst>
              <a:ext uri="{FF2B5EF4-FFF2-40B4-BE49-F238E27FC236}">
                <a16:creationId xmlns:a16="http://schemas.microsoft.com/office/drawing/2014/main" id="{CE888A01-7A38-4AF4-A461-13F029ABB819}"/>
              </a:ext>
            </a:extLst>
          </p:cNvPr>
          <p:cNvSpPr>
            <a:spLocks noGrp="1"/>
          </p:cNvSpPr>
          <p:nvPr/>
        </p:nvSpPr>
        <p:spPr>
          <a:xfrm>
            <a:off x="5219700" y="1743075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LSTM 映射</a:t>
            </a:r>
          </a:p>
        </p:txBody>
      </p:sp>
      <p:sp>
        <p:nvSpPr>
          <p:cNvPr id="23" name="text-132">
            <a:extLst>
              <a:ext uri="{FF2B5EF4-FFF2-40B4-BE49-F238E27FC236}">
                <a16:creationId xmlns:a16="http://schemas.microsoft.com/office/drawing/2014/main" id="{E493ABBF-84EB-4465-B741-45ED5ADA586F}"/>
              </a:ext>
            </a:extLst>
          </p:cNvPr>
          <p:cNvSpPr>
            <a:spLocks noGrp="1"/>
          </p:cNvSpPr>
          <p:nvPr/>
        </p:nvSpPr>
        <p:spPr>
          <a:xfrm>
            <a:off x="5219700" y="23050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时序编码</a:t>
            </a:r>
          </a:p>
        </p:txBody>
      </p:sp>
      <p:sp>
        <p:nvSpPr>
          <p:cNvPr id="24" name="text-133">
            <a:extLst>
              <a:ext uri="{FF2B5EF4-FFF2-40B4-BE49-F238E27FC236}">
                <a16:creationId xmlns:a16="http://schemas.microsoft.com/office/drawing/2014/main" id="{530D93AF-E332-412B-98AD-B0A4B77B8D74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2228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提取水位惯性、流量响应、</a:t>
            </a:r>
          </a:p>
          <a:p>
            <a:pPr algn="ctr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降雨滞后影响及洪峰演化模式</a:t>
            </a:r>
          </a:p>
        </p:txBody>
      </p:sp>
      <p:sp>
        <p:nvSpPr>
          <p:cNvPr id="25" name="box-134">
            <a:extLst>
              <a:ext uri="{FF2B5EF4-FFF2-40B4-BE49-F238E27FC236}">
                <a16:creationId xmlns:a16="http://schemas.microsoft.com/office/drawing/2014/main" id="{29DCD8F1-03AD-4F41-A8EF-0ADDAB920272}"/>
              </a:ext>
            </a:extLst>
          </p:cNvPr>
          <p:cNvSpPr>
            <a:spLocks noGrp="1"/>
          </p:cNvSpPr>
          <p:nvPr/>
        </p:nvSpPr>
        <p:spPr>
          <a:xfrm>
            <a:off x="5572125" y="3829050"/>
            <a:ext cx="1905000" cy="990600"/>
          </a:xfrm>
          <a:prstGeom prst="roundRect">
            <a:avLst>
              <a:gd name="adj" fmla="val 13462"/>
            </a:avLst>
          </a:prstGeom>
          <a:solidFill>
            <a:srgbClr val="E8F3FA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6" name="text-135">
            <a:extLst>
              <a:ext uri="{FF2B5EF4-FFF2-40B4-BE49-F238E27FC236}">
                <a16:creationId xmlns:a16="http://schemas.microsoft.com/office/drawing/2014/main" id="{BCC5C05A-214A-492E-8B69-25C6C043A5B6}"/>
              </a:ext>
            </a:extLst>
          </p:cNvPr>
          <p:cNvSpPr>
            <a:spLocks noGrp="1"/>
          </p:cNvSpPr>
          <p:nvPr/>
        </p:nvSpPr>
        <p:spPr>
          <a:xfrm>
            <a:off x="5572125" y="40005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fθ(X)</a:t>
            </a:r>
          </a:p>
        </p:txBody>
      </p:sp>
      <p:sp>
        <p:nvSpPr>
          <p:cNvPr id="27" name="text-136">
            <a:extLst>
              <a:ext uri="{FF2B5EF4-FFF2-40B4-BE49-F238E27FC236}">
                <a16:creationId xmlns:a16="http://schemas.microsoft.com/office/drawing/2014/main" id="{715F7F52-AD60-42A1-930B-ED15BD468C3B}"/>
              </a:ext>
            </a:extLst>
          </p:cNvPr>
          <p:cNvSpPr>
            <a:spLocks noGrp="1"/>
          </p:cNvSpPr>
          <p:nvPr/>
        </p:nvSpPr>
        <p:spPr>
          <a:xfrm>
            <a:off x="5572125" y="44196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非线性时序函数</a:t>
            </a:r>
          </a:p>
        </p:txBody>
      </p:sp>
      <p:sp>
        <p:nvSpPr>
          <p:cNvPr id="28" name="arrow-137">
            <a:extLst>
              <a:ext uri="{FF2B5EF4-FFF2-40B4-BE49-F238E27FC236}">
                <a16:creationId xmlns:a16="http://schemas.microsoft.com/office/drawing/2014/main" id="{41662630-4493-4743-9FB3-AB39C5E2AAFD}"/>
              </a:ext>
            </a:extLst>
          </p:cNvPr>
          <p:cNvSpPr>
            <a:spLocks noGrp="1"/>
          </p:cNvSpPr>
          <p:nvPr/>
        </p:nvSpPr>
        <p:spPr>
          <a:xfrm>
            <a:off x="8362950" y="3228975"/>
            <a:ext cx="666750" cy="304800"/>
          </a:xfrm>
          <a:prstGeom prst="chevron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9" name="box-138">
            <a:extLst>
              <a:ext uri="{FF2B5EF4-FFF2-40B4-BE49-F238E27FC236}">
                <a16:creationId xmlns:a16="http://schemas.microsoft.com/office/drawing/2014/main" id="{DBBB2E9F-C227-4631-BA7C-B50EF4766D97}"/>
              </a:ext>
            </a:extLst>
          </p:cNvPr>
          <p:cNvSpPr>
            <a:spLocks noGrp="1"/>
          </p:cNvSpPr>
          <p:nvPr/>
        </p:nvSpPr>
        <p:spPr>
          <a:xfrm>
            <a:off x="9334500" y="1428750"/>
            <a:ext cx="2286000" cy="409575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0" name="box-139">
            <a:extLst>
              <a:ext uri="{FF2B5EF4-FFF2-40B4-BE49-F238E27FC236}">
                <a16:creationId xmlns:a16="http://schemas.microsoft.com/office/drawing/2014/main" id="{F70FD036-B4D0-4B75-9F7C-E4D1A21105AC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1790700" cy="361950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1" name="text-140">
            <a:extLst>
              <a:ext uri="{FF2B5EF4-FFF2-40B4-BE49-F238E27FC236}">
                <a16:creationId xmlns:a16="http://schemas.microsoft.com/office/drawing/2014/main" id="{DEF0B917-5CFB-4A6B-8A2D-668556DC4DAD}"/>
              </a:ext>
            </a:extLst>
          </p:cNvPr>
          <p:cNvSpPr>
            <a:spLocks noGrp="1"/>
          </p:cNvSpPr>
          <p:nvPr/>
        </p:nvSpPr>
        <p:spPr>
          <a:xfrm>
            <a:off x="9582150" y="1743075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 y</a:t>
            </a:r>
          </a:p>
        </p:txBody>
      </p:sp>
      <p:sp>
        <p:nvSpPr>
          <p:cNvPr id="32" name="text-141">
            <a:extLst>
              <a:ext uri="{FF2B5EF4-FFF2-40B4-BE49-F238E27FC236}">
                <a16:creationId xmlns:a16="http://schemas.microsoft.com/office/drawing/2014/main" id="{D45AC8BB-A845-4180-B88C-0DE82A429CCD}"/>
              </a:ext>
            </a:extLst>
          </p:cNvPr>
          <p:cNvSpPr>
            <a:spLocks noGrp="1"/>
          </p:cNvSpPr>
          <p:nvPr/>
        </p:nvSpPr>
        <p:spPr>
          <a:xfrm>
            <a:off x="9582150" y="232410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未来 24 小时</a:t>
            </a:r>
          </a:p>
        </p:txBody>
      </p:sp>
      <p:sp>
        <p:nvSpPr>
          <p:cNvPr id="33" name="text-142">
            <a:extLst>
              <a:ext uri="{FF2B5EF4-FFF2-40B4-BE49-F238E27FC236}">
                <a16:creationId xmlns:a16="http://schemas.microsoft.com/office/drawing/2014/main" id="{2C0D0549-F523-4EB7-90B6-CE66357FA06C}"/>
              </a:ext>
            </a:extLst>
          </p:cNvPr>
          <p:cNvSpPr>
            <a:spLocks noGrp="1"/>
          </p:cNvSpPr>
          <p:nvPr/>
        </p:nvSpPr>
        <p:spPr>
          <a:xfrm>
            <a:off x="9582150" y="27813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h+1, h+2, …, h+24</a:t>
            </a:r>
          </a:p>
        </p:txBody>
      </p:sp>
      <p:sp>
        <p:nvSpPr>
          <p:cNvPr id="34" name="box-143">
            <a:extLst>
              <a:ext uri="{FF2B5EF4-FFF2-40B4-BE49-F238E27FC236}">
                <a16:creationId xmlns:a16="http://schemas.microsoft.com/office/drawing/2014/main" id="{D04EA005-9A7E-495B-82B0-88AE884A1BD9}"/>
              </a:ext>
            </a:extLst>
          </p:cNvPr>
          <p:cNvSpPr>
            <a:spLocks noGrp="1"/>
          </p:cNvSpPr>
          <p:nvPr/>
        </p:nvSpPr>
        <p:spPr>
          <a:xfrm>
            <a:off x="9639300" y="3467100"/>
            <a:ext cx="1676400" cy="933450"/>
          </a:xfrm>
          <a:prstGeom prst="roundRect">
            <a:avLst>
              <a:gd name="adj" fmla="val 14286"/>
            </a:avLst>
          </a:prstGeom>
          <a:solidFill>
            <a:srgbClr val="FFF4DF"/>
          </a:solidFill>
          <a:ln w="0">
            <a:noFill/>
            <a:prstDash val="solid"/>
          </a:ln>
        </p:spPr>
      </p:sp>
      <p:sp>
        <p:nvSpPr>
          <p:cNvPr id="35" name="text-144">
            <a:extLst>
              <a:ext uri="{FF2B5EF4-FFF2-40B4-BE49-F238E27FC236}">
                <a16:creationId xmlns:a16="http://schemas.microsoft.com/office/drawing/2014/main" id="{2A40B579-2933-4157-93A7-5625C0F30D19}"/>
              </a:ext>
            </a:extLst>
          </p:cNvPr>
          <p:cNvSpPr>
            <a:spLocks noGrp="1"/>
          </p:cNvSpPr>
          <p:nvPr/>
        </p:nvSpPr>
        <p:spPr>
          <a:xfrm>
            <a:off x="9639300" y="3676650"/>
            <a:ext cx="167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y ∈ R^24</a:t>
            </a:r>
          </a:p>
        </p:txBody>
      </p:sp>
      <p:sp>
        <p:nvSpPr>
          <p:cNvPr id="36" name="text-145">
            <a:extLst>
              <a:ext uri="{FF2B5EF4-FFF2-40B4-BE49-F238E27FC236}">
                <a16:creationId xmlns:a16="http://schemas.microsoft.com/office/drawing/2014/main" id="{DFA6E20A-DD18-4CD8-8261-E3EA58B74E4A}"/>
              </a:ext>
            </a:extLst>
          </p:cNvPr>
          <p:cNvSpPr>
            <a:spLocks noGrp="1"/>
          </p:cNvSpPr>
          <p:nvPr/>
        </p:nvSpPr>
        <p:spPr>
          <a:xfrm>
            <a:off x="9639300" y="4095750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逐小时水位（ft）</a:t>
            </a:r>
          </a:p>
        </p:txBody>
      </p:sp>
      <p:sp>
        <p:nvSpPr>
          <p:cNvPr id="37" name="text-146">
            <a:extLst>
              <a:ext uri="{FF2B5EF4-FFF2-40B4-BE49-F238E27FC236}">
                <a16:creationId xmlns:a16="http://schemas.microsoft.com/office/drawing/2014/main" id="{9D721470-D190-429E-A412-03FAE9C4F80E}"/>
              </a:ext>
            </a:extLst>
          </p:cNvPr>
          <p:cNvSpPr>
            <a:spLocks noGrp="1"/>
          </p:cNvSpPr>
          <p:nvPr/>
        </p:nvSpPr>
        <p:spPr>
          <a:xfrm>
            <a:off x="762000" y="59245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目标：提前识别水位上涨趋势，为短时洪水监测预警提供量化依据。</a:t>
            </a:r>
          </a:p>
        </p:txBody>
      </p:sp>
    </p:spTree>
    <p:extLst>
      <p:ext uri="{BB962C8B-B14F-4D97-AF65-F5344CB8AC3E}">
        <p14:creationId xmlns:p14="http://schemas.microsoft.com/office/powerpoint/2010/main" val="138456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-147">
            <a:extLst>
              <a:ext uri="{FF2B5EF4-FFF2-40B4-BE49-F238E27FC236}">
                <a16:creationId xmlns:a16="http://schemas.microsoft.com/office/drawing/2014/main" id="{31CA42BF-3D19-41E9-A64C-F27682CE6DD5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2" name="text-148">
            <a:extLst>
              <a:ext uri="{FF2B5EF4-FFF2-40B4-BE49-F238E27FC236}">
                <a16:creationId xmlns:a16="http://schemas.microsoft.com/office/drawing/2014/main" id="{ACD0FBEA-2A7F-42DF-90B0-F7FE159560D8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端到端技术路线：数据、建模、评估与风险输出</a:t>
            </a:r>
          </a:p>
        </p:txBody>
      </p:sp>
      <p:sp>
        <p:nvSpPr>
          <p:cNvPr id="3" name="rect-149">
            <a:extLst>
              <a:ext uri="{FF2B5EF4-FFF2-40B4-BE49-F238E27FC236}">
                <a16:creationId xmlns:a16="http://schemas.microsoft.com/office/drawing/2014/main" id="{E0DD7F51-3903-437E-917E-74E151C19C72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150">
            <a:extLst>
              <a:ext uri="{FF2B5EF4-FFF2-40B4-BE49-F238E27FC236}">
                <a16:creationId xmlns:a16="http://schemas.microsoft.com/office/drawing/2014/main" id="{FB0732BB-7FFE-4142-89C3-C8FB49C13D88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项目实现流程</a:t>
            </a:r>
          </a:p>
        </p:txBody>
      </p:sp>
      <p:sp>
        <p:nvSpPr>
          <p:cNvPr id="5" name="text-151">
            <a:extLst>
              <a:ext uri="{FF2B5EF4-FFF2-40B4-BE49-F238E27FC236}">
                <a16:creationId xmlns:a16="http://schemas.microsoft.com/office/drawing/2014/main" id="{89F95C23-43BB-4894-B1E4-5325036471A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box-152">
            <a:extLst>
              <a:ext uri="{FF2B5EF4-FFF2-40B4-BE49-F238E27FC236}">
                <a16:creationId xmlns:a16="http://schemas.microsoft.com/office/drawing/2014/main" id="{BF890D4C-5861-442D-9B46-59673A1D2002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16192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box-153">
            <a:extLst>
              <a:ext uri="{FF2B5EF4-FFF2-40B4-BE49-F238E27FC236}">
                <a16:creationId xmlns:a16="http://schemas.microsoft.com/office/drawing/2014/main" id="{C6C9194E-A01B-4157-A8EB-B98CBE4DD205}"/>
              </a:ext>
            </a:extLst>
          </p:cNvPr>
          <p:cNvSpPr>
            <a:spLocks noGrp="1"/>
          </p:cNvSpPr>
          <p:nvPr/>
        </p:nvSpPr>
        <p:spPr>
          <a:xfrm>
            <a:off x="657225" y="1943100"/>
            <a:ext cx="323850" cy="266700"/>
          </a:xfrm>
          <a:prstGeom prst="roundRect">
            <a:avLst>
              <a:gd name="adj" fmla="val 50000"/>
            </a:avLst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8" name="text-154">
            <a:extLst>
              <a:ext uri="{FF2B5EF4-FFF2-40B4-BE49-F238E27FC236}">
                <a16:creationId xmlns:a16="http://schemas.microsoft.com/office/drawing/2014/main" id="{5CCBD677-4D85-4990-9947-4E7C31485B0B}"/>
              </a:ext>
            </a:extLst>
          </p:cNvPr>
          <p:cNvSpPr>
            <a:spLocks noGrp="1"/>
          </p:cNvSpPr>
          <p:nvPr/>
        </p:nvSpPr>
        <p:spPr>
          <a:xfrm>
            <a:off x="657225" y="1981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-155">
            <a:extLst>
              <a:ext uri="{FF2B5EF4-FFF2-40B4-BE49-F238E27FC236}">
                <a16:creationId xmlns:a16="http://schemas.microsoft.com/office/drawing/2014/main" id="{60424C5A-2A5E-4791-BB94-3CB92F1A81CA}"/>
              </a:ext>
            </a:extLst>
          </p:cNvPr>
          <p:cNvSpPr>
            <a:spLocks noGrp="1"/>
          </p:cNvSpPr>
          <p:nvPr/>
        </p:nvSpPr>
        <p:spPr>
          <a:xfrm>
            <a:off x="1076325" y="1943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多源下载</a:t>
            </a:r>
          </a:p>
        </p:txBody>
      </p:sp>
      <p:sp>
        <p:nvSpPr>
          <p:cNvPr id="10" name="text-156">
            <a:extLst>
              <a:ext uri="{FF2B5EF4-FFF2-40B4-BE49-F238E27FC236}">
                <a16:creationId xmlns:a16="http://schemas.microsoft.com/office/drawing/2014/main" id="{3B91CB1A-4EAC-42B7-BFC4-6D1059385F27}"/>
              </a:ext>
            </a:extLst>
          </p:cNvPr>
          <p:cNvSpPr>
            <a:spLocks noGrp="1"/>
          </p:cNvSpPr>
          <p:nvPr/>
        </p:nvSpPr>
        <p:spPr>
          <a:xfrm>
            <a:off x="676275" y="2314575"/>
            <a:ext cx="13144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USGS 水位/流量</a:t>
            </a:r>
          </a:p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ERA5 降雨</a:t>
            </a:r>
          </a:p>
        </p:txBody>
      </p:sp>
      <p:sp>
        <p:nvSpPr>
          <p:cNvPr id="11" name="arrow-157">
            <a:extLst>
              <a:ext uri="{FF2B5EF4-FFF2-40B4-BE49-F238E27FC236}">
                <a16:creationId xmlns:a16="http://schemas.microsoft.com/office/drawing/2014/main" id="{9DB29023-C0BD-4B93-B02C-6757BA65F7C2}"/>
              </a:ext>
            </a:extLst>
          </p:cNvPr>
          <p:cNvSpPr>
            <a:spLocks noGrp="1"/>
          </p:cNvSpPr>
          <p:nvPr/>
        </p:nvSpPr>
        <p:spPr>
          <a:xfrm>
            <a:off x="2200275" y="2381250"/>
            <a:ext cx="28575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12" name="box-158">
            <a:extLst>
              <a:ext uri="{FF2B5EF4-FFF2-40B4-BE49-F238E27FC236}">
                <a16:creationId xmlns:a16="http://schemas.microsoft.com/office/drawing/2014/main" id="{028948E3-9ECD-45C4-A33E-245976E4B8E1}"/>
              </a:ext>
            </a:extLst>
          </p:cNvPr>
          <p:cNvSpPr>
            <a:spLocks noGrp="1"/>
          </p:cNvSpPr>
          <p:nvPr/>
        </p:nvSpPr>
        <p:spPr>
          <a:xfrm>
            <a:off x="2438400" y="1809750"/>
            <a:ext cx="16192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3" name="box-159">
            <a:extLst>
              <a:ext uri="{FF2B5EF4-FFF2-40B4-BE49-F238E27FC236}">
                <a16:creationId xmlns:a16="http://schemas.microsoft.com/office/drawing/2014/main" id="{0649DA7E-758F-4FA4-B0A7-CE34B7157020}"/>
              </a:ext>
            </a:extLst>
          </p:cNvPr>
          <p:cNvSpPr>
            <a:spLocks noGrp="1"/>
          </p:cNvSpPr>
          <p:nvPr/>
        </p:nvSpPr>
        <p:spPr>
          <a:xfrm>
            <a:off x="2571750" y="1943100"/>
            <a:ext cx="323850" cy="2667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4" name="text-160">
            <a:extLst>
              <a:ext uri="{FF2B5EF4-FFF2-40B4-BE49-F238E27FC236}">
                <a16:creationId xmlns:a16="http://schemas.microsoft.com/office/drawing/2014/main" id="{2CC8638C-E044-4E37-8746-5C1D8B7249D3}"/>
              </a:ext>
            </a:extLst>
          </p:cNvPr>
          <p:cNvSpPr>
            <a:spLocks noGrp="1"/>
          </p:cNvSpPr>
          <p:nvPr/>
        </p:nvSpPr>
        <p:spPr>
          <a:xfrm>
            <a:off x="2571750" y="1981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-161">
            <a:extLst>
              <a:ext uri="{FF2B5EF4-FFF2-40B4-BE49-F238E27FC236}">
                <a16:creationId xmlns:a16="http://schemas.microsoft.com/office/drawing/2014/main" id="{666B4B01-0BFF-487E-9927-7E4F64BFACDC}"/>
              </a:ext>
            </a:extLst>
          </p:cNvPr>
          <p:cNvSpPr>
            <a:spLocks noGrp="1"/>
          </p:cNvSpPr>
          <p:nvPr/>
        </p:nvSpPr>
        <p:spPr>
          <a:xfrm>
            <a:off x="2990850" y="1943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小时对齐</a:t>
            </a:r>
          </a:p>
        </p:txBody>
      </p:sp>
      <p:sp>
        <p:nvSpPr>
          <p:cNvPr id="16" name="text-162">
            <a:extLst>
              <a:ext uri="{FF2B5EF4-FFF2-40B4-BE49-F238E27FC236}">
                <a16:creationId xmlns:a16="http://schemas.microsoft.com/office/drawing/2014/main" id="{CE9644D4-5BA6-4026-AB7B-BF6CC5E052EC}"/>
              </a:ext>
            </a:extLst>
          </p:cNvPr>
          <p:cNvSpPr>
            <a:spLocks noGrp="1"/>
          </p:cNvSpPr>
          <p:nvPr/>
        </p:nvSpPr>
        <p:spPr>
          <a:xfrm>
            <a:off x="2590800" y="2314575"/>
            <a:ext cx="13144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UTC 重采样</a:t>
            </a:r>
          </a:p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按时间连接</a:t>
            </a:r>
          </a:p>
        </p:txBody>
      </p:sp>
      <p:sp>
        <p:nvSpPr>
          <p:cNvPr id="17" name="arrow-163">
            <a:extLst>
              <a:ext uri="{FF2B5EF4-FFF2-40B4-BE49-F238E27FC236}">
                <a16:creationId xmlns:a16="http://schemas.microsoft.com/office/drawing/2014/main" id="{D4FFFE32-63A6-4792-9488-94284722C847}"/>
              </a:ext>
            </a:extLst>
          </p:cNvPr>
          <p:cNvSpPr>
            <a:spLocks noGrp="1"/>
          </p:cNvSpPr>
          <p:nvPr/>
        </p:nvSpPr>
        <p:spPr>
          <a:xfrm>
            <a:off x="4114800" y="2381250"/>
            <a:ext cx="28575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18" name="box-164">
            <a:extLst>
              <a:ext uri="{FF2B5EF4-FFF2-40B4-BE49-F238E27FC236}">
                <a16:creationId xmlns:a16="http://schemas.microsoft.com/office/drawing/2014/main" id="{48155310-F198-4DA0-BA6E-D20E33400351}"/>
              </a:ext>
            </a:extLst>
          </p:cNvPr>
          <p:cNvSpPr>
            <a:spLocks noGrp="1"/>
          </p:cNvSpPr>
          <p:nvPr/>
        </p:nvSpPr>
        <p:spPr>
          <a:xfrm>
            <a:off x="4352925" y="1809750"/>
            <a:ext cx="16192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9" name="box-165">
            <a:extLst>
              <a:ext uri="{FF2B5EF4-FFF2-40B4-BE49-F238E27FC236}">
                <a16:creationId xmlns:a16="http://schemas.microsoft.com/office/drawing/2014/main" id="{FEF60371-89E9-4222-8723-741D26F336F5}"/>
              </a:ext>
            </a:extLst>
          </p:cNvPr>
          <p:cNvSpPr>
            <a:spLocks noGrp="1"/>
          </p:cNvSpPr>
          <p:nvPr/>
        </p:nvSpPr>
        <p:spPr>
          <a:xfrm>
            <a:off x="4486275" y="1943100"/>
            <a:ext cx="323850" cy="2667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0" name="text-166">
            <a:extLst>
              <a:ext uri="{FF2B5EF4-FFF2-40B4-BE49-F238E27FC236}">
                <a16:creationId xmlns:a16="http://schemas.microsoft.com/office/drawing/2014/main" id="{64D73B84-30CA-45B8-B73D-84134F5D7895}"/>
              </a:ext>
            </a:extLst>
          </p:cNvPr>
          <p:cNvSpPr>
            <a:spLocks noGrp="1"/>
          </p:cNvSpPr>
          <p:nvPr/>
        </p:nvSpPr>
        <p:spPr>
          <a:xfrm>
            <a:off x="4486275" y="1981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-167">
            <a:extLst>
              <a:ext uri="{FF2B5EF4-FFF2-40B4-BE49-F238E27FC236}">
                <a16:creationId xmlns:a16="http://schemas.microsoft.com/office/drawing/2014/main" id="{16ABC2FA-4E47-4E5A-8346-D4C674099398}"/>
              </a:ext>
            </a:extLst>
          </p:cNvPr>
          <p:cNvSpPr>
            <a:spLocks noGrp="1"/>
          </p:cNvSpPr>
          <p:nvPr/>
        </p:nvSpPr>
        <p:spPr>
          <a:xfrm>
            <a:off x="4905375" y="1943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质量处理</a:t>
            </a:r>
          </a:p>
        </p:txBody>
      </p:sp>
      <p:sp>
        <p:nvSpPr>
          <p:cNvPr id="22" name="text-168">
            <a:extLst>
              <a:ext uri="{FF2B5EF4-FFF2-40B4-BE49-F238E27FC236}">
                <a16:creationId xmlns:a16="http://schemas.microsoft.com/office/drawing/2014/main" id="{059A6B6E-DF49-49BD-9A1E-CB69930C9DB7}"/>
              </a:ext>
            </a:extLst>
          </p:cNvPr>
          <p:cNvSpPr>
            <a:spLocks noGrp="1"/>
          </p:cNvSpPr>
          <p:nvPr/>
        </p:nvSpPr>
        <p:spPr>
          <a:xfrm>
            <a:off x="4505325" y="2314575"/>
            <a:ext cx="13144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去重、插值</a:t>
            </a:r>
          </a:p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完整性检查</a:t>
            </a:r>
          </a:p>
        </p:txBody>
      </p:sp>
      <p:sp>
        <p:nvSpPr>
          <p:cNvPr id="23" name="arrow-169">
            <a:extLst>
              <a:ext uri="{FF2B5EF4-FFF2-40B4-BE49-F238E27FC236}">
                <a16:creationId xmlns:a16="http://schemas.microsoft.com/office/drawing/2014/main" id="{1F76322D-CD35-402D-8FFF-912CA48F2F5E}"/>
              </a:ext>
            </a:extLst>
          </p:cNvPr>
          <p:cNvSpPr>
            <a:spLocks noGrp="1"/>
          </p:cNvSpPr>
          <p:nvPr/>
        </p:nvSpPr>
        <p:spPr>
          <a:xfrm>
            <a:off x="6029325" y="2381250"/>
            <a:ext cx="28575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24" name="box-170">
            <a:extLst>
              <a:ext uri="{FF2B5EF4-FFF2-40B4-BE49-F238E27FC236}">
                <a16:creationId xmlns:a16="http://schemas.microsoft.com/office/drawing/2014/main" id="{A2D6E997-1998-4DE2-89FA-C25AB1C7358F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16192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5" name="box-171">
            <a:extLst>
              <a:ext uri="{FF2B5EF4-FFF2-40B4-BE49-F238E27FC236}">
                <a16:creationId xmlns:a16="http://schemas.microsoft.com/office/drawing/2014/main" id="{DE3E41BE-00B9-4481-9F7F-5AF3D140861A}"/>
              </a:ext>
            </a:extLst>
          </p:cNvPr>
          <p:cNvSpPr>
            <a:spLocks noGrp="1"/>
          </p:cNvSpPr>
          <p:nvPr/>
        </p:nvSpPr>
        <p:spPr>
          <a:xfrm>
            <a:off x="6400800" y="1943100"/>
            <a:ext cx="323850" cy="2667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6" name="text-172">
            <a:extLst>
              <a:ext uri="{FF2B5EF4-FFF2-40B4-BE49-F238E27FC236}">
                <a16:creationId xmlns:a16="http://schemas.microsoft.com/office/drawing/2014/main" id="{7C86C7F4-E8D6-4A87-B395-137DE49E0409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-173">
            <a:extLst>
              <a:ext uri="{FF2B5EF4-FFF2-40B4-BE49-F238E27FC236}">
                <a16:creationId xmlns:a16="http://schemas.microsoft.com/office/drawing/2014/main" id="{750B680C-B9E8-42EC-B459-D3AB38741C8E}"/>
              </a:ext>
            </a:extLst>
          </p:cNvPr>
          <p:cNvSpPr>
            <a:spLocks noGrp="1"/>
          </p:cNvSpPr>
          <p:nvPr/>
        </p:nvSpPr>
        <p:spPr>
          <a:xfrm>
            <a:off x="6819900" y="1943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样本构造</a:t>
            </a:r>
          </a:p>
        </p:txBody>
      </p:sp>
      <p:sp>
        <p:nvSpPr>
          <p:cNvPr id="28" name="text-174">
            <a:extLst>
              <a:ext uri="{FF2B5EF4-FFF2-40B4-BE49-F238E27FC236}">
                <a16:creationId xmlns:a16="http://schemas.microsoft.com/office/drawing/2014/main" id="{FDA05FD5-ECB3-4067-B7B4-B6D6B839FF08}"/>
              </a:ext>
            </a:extLst>
          </p:cNvPr>
          <p:cNvSpPr>
            <a:spLocks noGrp="1"/>
          </p:cNvSpPr>
          <p:nvPr/>
        </p:nvSpPr>
        <p:spPr>
          <a:xfrm>
            <a:off x="6419850" y="2314575"/>
            <a:ext cx="13144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72h 输入</a:t>
            </a:r>
          </a:p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24h 标签</a:t>
            </a:r>
          </a:p>
        </p:txBody>
      </p:sp>
      <p:sp>
        <p:nvSpPr>
          <p:cNvPr id="29" name="arrow-175">
            <a:extLst>
              <a:ext uri="{FF2B5EF4-FFF2-40B4-BE49-F238E27FC236}">
                <a16:creationId xmlns:a16="http://schemas.microsoft.com/office/drawing/2014/main" id="{84B808F6-8A8D-4D35-947B-04CF415AE771}"/>
              </a:ext>
            </a:extLst>
          </p:cNvPr>
          <p:cNvSpPr>
            <a:spLocks noGrp="1"/>
          </p:cNvSpPr>
          <p:nvPr/>
        </p:nvSpPr>
        <p:spPr>
          <a:xfrm>
            <a:off x="7943850" y="2381250"/>
            <a:ext cx="28575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30" name="box-176">
            <a:extLst>
              <a:ext uri="{FF2B5EF4-FFF2-40B4-BE49-F238E27FC236}">
                <a16:creationId xmlns:a16="http://schemas.microsoft.com/office/drawing/2014/main" id="{43DA2733-A2F6-4877-AC48-DC7C391E0CDD}"/>
              </a:ext>
            </a:extLst>
          </p:cNvPr>
          <p:cNvSpPr>
            <a:spLocks noGrp="1"/>
          </p:cNvSpPr>
          <p:nvPr/>
        </p:nvSpPr>
        <p:spPr>
          <a:xfrm>
            <a:off x="8181975" y="1809750"/>
            <a:ext cx="16192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1" name="box-177">
            <a:extLst>
              <a:ext uri="{FF2B5EF4-FFF2-40B4-BE49-F238E27FC236}">
                <a16:creationId xmlns:a16="http://schemas.microsoft.com/office/drawing/2014/main" id="{8723947A-9B89-4EEA-A505-7ECB7C0C1FA3}"/>
              </a:ext>
            </a:extLst>
          </p:cNvPr>
          <p:cNvSpPr>
            <a:spLocks noGrp="1"/>
          </p:cNvSpPr>
          <p:nvPr/>
        </p:nvSpPr>
        <p:spPr>
          <a:xfrm>
            <a:off x="8315325" y="1943100"/>
            <a:ext cx="323850" cy="2667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32" name="text-178">
            <a:extLst>
              <a:ext uri="{FF2B5EF4-FFF2-40B4-BE49-F238E27FC236}">
                <a16:creationId xmlns:a16="http://schemas.microsoft.com/office/drawing/2014/main" id="{5CFC97B9-C23A-4A7F-AA86-ADE93B89D082}"/>
              </a:ext>
            </a:extLst>
          </p:cNvPr>
          <p:cNvSpPr>
            <a:spLocks noGrp="1"/>
          </p:cNvSpPr>
          <p:nvPr/>
        </p:nvSpPr>
        <p:spPr>
          <a:xfrm>
            <a:off x="8315325" y="1981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-179">
            <a:extLst>
              <a:ext uri="{FF2B5EF4-FFF2-40B4-BE49-F238E27FC236}">
                <a16:creationId xmlns:a16="http://schemas.microsoft.com/office/drawing/2014/main" id="{F2CC9DA8-E2F7-49E0-A8F1-D37C04F6B3D9}"/>
              </a:ext>
            </a:extLst>
          </p:cNvPr>
          <p:cNvSpPr>
            <a:spLocks noGrp="1"/>
          </p:cNvSpPr>
          <p:nvPr/>
        </p:nvSpPr>
        <p:spPr>
          <a:xfrm>
            <a:off x="8734425" y="1943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LSTM 训练</a:t>
            </a:r>
          </a:p>
        </p:txBody>
      </p:sp>
      <p:sp>
        <p:nvSpPr>
          <p:cNvPr id="34" name="text-180">
            <a:extLst>
              <a:ext uri="{FF2B5EF4-FFF2-40B4-BE49-F238E27FC236}">
                <a16:creationId xmlns:a16="http://schemas.microsoft.com/office/drawing/2014/main" id="{63DA6C1C-0BB0-4375-97EB-AA80C4E4D6E0}"/>
              </a:ext>
            </a:extLst>
          </p:cNvPr>
          <p:cNvSpPr>
            <a:spLocks noGrp="1"/>
          </p:cNvSpPr>
          <p:nvPr/>
        </p:nvSpPr>
        <p:spPr>
          <a:xfrm>
            <a:off x="8334375" y="2314575"/>
            <a:ext cx="13144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早停优化</a:t>
            </a:r>
          </a:p>
        </p:txBody>
      </p:sp>
      <p:sp>
        <p:nvSpPr>
          <p:cNvPr id="35" name="arrow-181">
            <a:extLst>
              <a:ext uri="{FF2B5EF4-FFF2-40B4-BE49-F238E27FC236}">
                <a16:creationId xmlns:a16="http://schemas.microsoft.com/office/drawing/2014/main" id="{1E3B2B13-F2DC-4E95-AAD2-50AB0E512918}"/>
              </a:ext>
            </a:extLst>
          </p:cNvPr>
          <p:cNvSpPr>
            <a:spLocks noGrp="1"/>
          </p:cNvSpPr>
          <p:nvPr/>
        </p:nvSpPr>
        <p:spPr>
          <a:xfrm>
            <a:off x="9858375" y="2381250"/>
            <a:ext cx="28575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36" name="box-182">
            <a:extLst>
              <a:ext uri="{FF2B5EF4-FFF2-40B4-BE49-F238E27FC236}">
                <a16:creationId xmlns:a16="http://schemas.microsoft.com/office/drawing/2014/main" id="{DBC6E916-C675-479A-9BB1-D6A9F1F94927}"/>
              </a:ext>
            </a:extLst>
          </p:cNvPr>
          <p:cNvSpPr>
            <a:spLocks noGrp="1"/>
          </p:cNvSpPr>
          <p:nvPr/>
        </p:nvSpPr>
        <p:spPr>
          <a:xfrm>
            <a:off x="10096500" y="1809750"/>
            <a:ext cx="16192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7" name="box-183">
            <a:extLst>
              <a:ext uri="{FF2B5EF4-FFF2-40B4-BE49-F238E27FC236}">
                <a16:creationId xmlns:a16="http://schemas.microsoft.com/office/drawing/2014/main" id="{C39EF2C2-B94B-49F7-B026-BE1D36BD3C96}"/>
              </a:ext>
            </a:extLst>
          </p:cNvPr>
          <p:cNvSpPr>
            <a:spLocks noGrp="1"/>
          </p:cNvSpPr>
          <p:nvPr/>
        </p:nvSpPr>
        <p:spPr>
          <a:xfrm>
            <a:off x="10229850" y="1943100"/>
            <a:ext cx="323850" cy="266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38" name="text-184">
            <a:extLst>
              <a:ext uri="{FF2B5EF4-FFF2-40B4-BE49-F238E27FC236}">
                <a16:creationId xmlns:a16="http://schemas.microsoft.com/office/drawing/2014/main" id="{58142BD2-77A1-408A-BF9E-202930E410AD}"/>
              </a:ext>
            </a:extLst>
          </p:cNvPr>
          <p:cNvSpPr>
            <a:spLocks noGrp="1"/>
          </p:cNvSpPr>
          <p:nvPr/>
        </p:nvSpPr>
        <p:spPr>
          <a:xfrm>
            <a:off x="10229850" y="19812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text-185">
            <a:extLst>
              <a:ext uri="{FF2B5EF4-FFF2-40B4-BE49-F238E27FC236}">
                <a16:creationId xmlns:a16="http://schemas.microsoft.com/office/drawing/2014/main" id="{F7DDD892-FD53-4261-AA7B-851921B4401F}"/>
              </a:ext>
            </a:extLst>
          </p:cNvPr>
          <p:cNvSpPr>
            <a:spLocks noGrp="1"/>
          </p:cNvSpPr>
          <p:nvPr/>
        </p:nvSpPr>
        <p:spPr>
          <a:xfrm>
            <a:off x="10648950" y="1943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评估预测</a:t>
            </a:r>
          </a:p>
        </p:txBody>
      </p:sp>
      <p:sp>
        <p:nvSpPr>
          <p:cNvPr id="40" name="text-186">
            <a:extLst>
              <a:ext uri="{FF2B5EF4-FFF2-40B4-BE49-F238E27FC236}">
                <a16:creationId xmlns:a16="http://schemas.microsoft.com/office/drawing/2014/main" id="{DAA33864-BBFF-4BD1-985E-9A49BC2F7AEE}"/>
              </a:ext>
            </a:extLst>
          </p:cNvPr>
          <p:cNvSpPr>
            <a:spLocks noGrp="1"/>
          </p:cNvSpPr>
          <p:nvPr/>
        </p:nvSpPr>
        <p:spPr>
          <a:xfrm>
            <a:off x="10248900" y="2314575"/>
            <a:ext cx="13144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MAE/RMSE/R²</a:t>
            </a:r>
          </a:p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24h 风险</a:t>
            </a:r>
          </a:p>
        </p:txBody>
      </p:sp>
      <p:sp>
        <p:nvSpPr>
          <p:cNvPr id="41" name="box-187">
            <a:extLst>
              <a:ext uri="{FF2B5EF4-FFF2-40B4-BE49-F238E27FC236}">
                <a16:creationId xmlns:a16="http://schemas.microsoft.com/office/drawing/2014/main" id="{007A9636-A9FD-4085-A6CE-FB2EF97B006E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11049000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2" name="text-188">
            <a:extLst>
              <a:ext uri="{FF2B5EF4-FFF2-40B4-BE49-F238E27FC236}">
                <a16:creationId xmlns:a16="http://schemas.microsoft.com/office/drawing/2014/main" id="{6BEC020A-A572-4AC6-BB7A-3B1B1A500DB4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关键设计原则</a:t>
            </a:r>
          </a:p>
        </p:txBody>
      </p:sp>
      <p:sp>
        <p:nvSpPr>
          <p:cNvPr id="43" name="rect-189">
            <a:extLst>
              <a:ext uri="{FF2B5EF4-FFF2-40B4-BE49-F238E27FC236}">
                <a16:creationId xmlns:a16="http://schemas.microsoft.com/office/drawing/2014/main" id="{700B56D7-0B26-4B8C-A7F3-B2D8765D36A0}"/>
              </a:ext>
            </a:extLst>
          </p:cNvPr>
          <p:cNvSpPr>
            <a:spLocks noGrp="1"/>
          </p:cNvSpPr>
          <p:nvPr/>
        </p:nvSpPr>
        <p:spPr>
          <a:xfrm>
            <a:off x="819150" y="4524375"/>
            <a:ext cx="76200" cy="3810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44" name="text-190">
            <a:extLst>
              <a:ext uri="{FF2B5EF4-FFF2-40B4-BE49-F238E27FC236}">
                <a16:creationId xmlns:a16="http://schemas.microsoft.com/office/drawing/2014/main" id="{A265493D-6127-4E88-90E8-FBE6436F1850}"/>
              </a:ext>
            </a:extLst>
          </p:cNvPr>
          <p:cNvSpPr>
            <a:spLocks noGrp="1"/>
          </p:cNvSpPr>
          <p:nvPr/>
        </p:nvSpPr>
        <p:spPr>
          <a:xfrm>
            <a:off x="1009650" y="44767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时间顺序不能打乱</a:t>
            </a:r>
          </a:p>
        </p:txBody>
      </p:sp>
      <p:sp>
        <p:nvSpPr>
          <p:cNvPr id="45" name="text-191">
            <a:extLst>
              <a:ext uri="{FF2B5EF4-FFF2-40B4-BE49-F238E27FC236}">
                <a16:creationId xmlns:a16="http://schemas.microsoft.com/office/drawing/2014/main" id="{E0A6DAE0-07C9-4AAB-94E5-11FC40DB48A3}"/>
              </a:ext>
            </a:extLst>
          </p:cNvPr>
          <p:cNvSpPr>
            <a:spLocks noGrp="1"/>
          </p:cNvSpPr>
          <p:nvPr/>
        </p:nvSpPr>
        <p:spPr>
          <a:xfrm>
            <a:off x="3009900" y="44767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训练集与测试集按时间前后切分，避免未来信息泄漏。</a:t>
            </a:r>
          </a:p>
        </p:txBody>
      </p:sp>
      <p:sp>
        <p:nvSpPr>
          <p:cNvPr id="46" name="rect-192">
            <a:extLst>
              <a:ext uri="{FF2B5EF4-FFF2-40B4-BE49-F238E27FC236}">
                <a16:creationId xmlns:a16="http://schemas.microsoft.com/office/drawing/2014/main" id="{39B2CB60-B471-4837-96E0-A2C089143218}"/>
              </a:ext>
            </a:extLst>
          </p:cNvPr>
          <p:cNvSpPr>
            <a:spLocks noGrp="1"/>
          </p:cNvSpPr>
          <p:nvPr/>
        </p:nvSpPr>
        <p:spPr>
          <a:xfrm>
            <a:off x="6153150" y="4524375"/>
            <a:ext cx="76200" cy="3810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47" name="text-193">
            <a:extLst>
              <a:ext uri="{FF2B5EF4-FFF2-40B4-BE49-F238E27FC236}">
                <a16:creationId xmlns:a16="http://schemas.microsoft.com/office/drawing/2014/main" id="{94CC045C-3719-4453-A2DA-727DE69E3786}"/>
              </a:ext>
            </a:extLst>
          </p:cNvPr>
          <p:cNvSpPr>
            <a:spLocks noGrp="1"/>
          </p:cNvSpPr>
          <p:nvPr/>
        </p:nvSpPr>
        <p:spPr>
          <a:xfrm>
            <a:off x="6343650" y="44767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降雨缺测不能当作 0</a:t>
            </a:r>
          </a:p>
        </p:txBody>
      </p:sp>
      <p:sp>
        <p:nvSpPr>
          <p:cNvPr id="48" name="text-194">
            <a:extLst>
              <a:ext uri="{FF2B5EF4-FFF2-40B4-BE49-F238E27FC236}">
                <a16:creationId xmlns:a16="http://schemas.microsoft.com/office/drawing/2014/main" id="{7E20BF3D-FB83-4565-AE97-E258BE352B97}"/>
              </a:ext>
            </a:extLst>
          </p:cNvPr>
          <p:cNvSpPr>
            <a:spLocks noGrp="1"/>
          </p:cNvSpPr>
          <p:nvPr/>
        </p:nvSpPr>
        <p:spPr>
          <a:xfrm>
            <a:off x="8343900" y="44767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仅保留水文和降雨共同覆盖时段；中间缺测直接报错。</a:t>
            </a:r>
          </a:p>
        </p:txBody>
      </p:sp>
      <p:sp>
        <p:nvSpPr>
          <p:cNvPr id="49" name="rect-195">
            <a:extLst>
              <a:ext uri="{FF2B5EF4-FFF2-40B4-BE49-F238E27FC236}">
                <a16:creationId xmlns:a16="http://schemas.microsoft.com/office/drawing/2014/main" id="{7E9B12CC-2D47-49F3-8C34-B9E791091D91}"/>
              </a:ext>
            </a:extLst>
          </p:cNvPr>
          <p:cNvSpPr>
            <a:spLocks noGrp="1"/>
          </p:cNvSpPr>
          <p:nvPr/>
        </p:nvSpPr>
        <p:spPr>
          <a:xfrm>
            <a:off x="819150" y="5114925"/>
            <a:ext cx="76200" cy="3810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50" name="text-196">
            <a:extLst>
              <a:ext uri="{FF2B5EF4-FFF2-40B4-BE49-F238E27FC236}">
                <a16:creationId xmlns:a16="http://schemas.microsoft.com/office/drawing/2014/main" id="{A3C38C9A-C57C-4590-AEC3-CE352EE8137F}"/>
              </a:ext>
            </a:extLst>
          </p:cNvPr>
          <p:cNvSpPr>
            <a:spLocks noGrp="1"/>
          </p:cNvSpPr>
          <p:nvPr/>
        </p:nvSpPr>
        <p:spPr>
          <a:xfrm>
            <a:off x="1009650" y="50673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缩放器只在训练集拟合</a:t>
            </a:r>
          </a:p>
        </p:txBody>
      </p:sp>
      <p:sp>
        <p:nvSpPr>
          <p:cNvPr id="51" name="text-197">
            <a:extLst>
              <a:ext uri="{FF2B5EF4-FFF2-40B4-BE49-F238E27FC236}">
                <a16:creationId xmlns:a16="http://schemas.microsoft.com/office/drawing/2014/main" id="{857F192A-C58E-4B85-8822-DD8BED831B81}"/>
              </a:ext>
            </a:extLst>
          </p:cNvPr>
          <p:cNvSpPr>
            <a:spLocks noGrp="1"/>
          </p:cNvSpPr>
          <p:nvPr/>
        </p:nvSpPr>
        <p:spPr>
          <a:xfrm>
            <a:off x="3009900" y="506730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MinMaxScaler 不使用测试期极值，保证评估可信。</a:t>
            </a:r>
          </a:p>
        </p:txBody>
      </p:sp>
      <p:sp>
        <p:nvSpPr>
          <p:cNvPr id="52" name="rect-198">
            <a:extLst>
              <a:ext uri="{FF2B5EF4-FFF2-40B4-BE49-F238E27FC236}">
                <a16:creationId xmlns:a16="http://schemas.microsoft.com/office/drawing/2014/main" id="{5BB232FD-B483-4D69-945A-8E6DB5729182}"/>
              </a:ext>
            </a:extLst>
          </p:cNvPr>
          <p:cNvSpPr>
            <a:spLocks noGrp="1"/>
          </p:cNvSpPr>
          <p:nvPr/>
        </p:nvSpPr>
        <p:spPr>
          <a:xfrm>
            <a:off x="6153150" y="5114925"/>
            <a:ext cx="76200" cy="3810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53" name="text-199">
            <a:extLst>
              <a:ext uri="{FF2B5EF4-FFF2-40B4-BE49-F238E27FC236}">
                <a16:creationId xmlns:a16="http://schemas.microsoft.com/office/drawing/2014/main" id="{52D0246E-C2A8-4441-877D-0D97EE96F4B7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多步直接输出</a:t>
            </a:r>
          </a:p>
        </p:txBody>
      </p:sp>
      <p:sp>
        <p:nvSpPr>
          <p:cNvPr id="54" name="text-200">
            <a:extLst>
              <a:ext uri="{FF2B5EF4-FFF2-40B4-BE49-F238E27FC236}">
                <a16:creationId xmlns:a16="http://schemas.microsoft.com/office/drawing/2014/main" id="{29C2DBE4-9666-41A9-846D-C7B885D6577D}"/>
              </a:ext>
            </a:extLst>
          </p:cNvPr>
          <p:cNvSpPr>
            <a:spLocks noGrp="1"/>
          </p:cNvSpPr>
          <p:nvPr/>
        </p:nvSpPr>
        <p:spPr>
          <a:xfrm>
            <a:off x="8343900" y="506730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Dense(24) 一次预测 24 个时刻，减少递归误差累积。</a:t>
            </a:r>
          </a:p>
        </p:txBody>
      </p:sp>
    </p:spTree>
    <p:extLst>
      <p:ext uri="{BB962C8B-B14F-4D97-AF65-F5344CB8AC3E}">
        <p14:creationId xmlns:p14="http://schemas.microsoft.com/office/powerpoint/2010/main" val="33331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-297">
            <a:extLst>
              <a:ext uri="{FF2B5EF4-FFF2-40B4-BE49-F238E27FC236}">
                <a16:creationId xmlns:a16="http://schemas.microsoft.com/office/drawing/2014/main" id="{19D48F73-32F6-4F75-BF05-996DF78D4813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DATA QUALITY</a:t>
            </a:r>
          </a:p>
        </p:txBody>
      </p:sp>
      <p:sp>
        <p:nvSpPr>
          <p:cNvPr id="2" name="text-298">
            <a:extLst>
              <a:ext uri="{FF2B5EF4-FFF2-40B4-BE49-F238E27FC236}">
                <a16:creationId xmlns:a16="http://schemas.microsoft.com/office/drawing/2014/main" id="{9D615206-BDF2-41A6-922E-5B9466C5EF88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数据质量审计：连续、无缺失、无重复</a:t>
            </a:r>
          </a:p>
        </p:txBody>
      </p:sp>
      <p:sp>
        <p:nvSpPr>
          <p:cNvPr id="3" name="rect-299">
            <a:extLst>
              <a:ext uri="{FF2B5EF4-FFF2-40B4-BE49-F238E27FC236}">
                <a16:creationId xmlns:a16="http://schemas.microsoft.com/office/drawing/2014/main" id="{98B78F57-ADB3-4064-83B3-7ED58806A0CE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300">
            <a:extLst>
              <a:ext uri="{FF2B5EF4-FFF2-40B4-BE49-F238E27FC236}">
                <a16:creationId xmlns:a16="http://schemas.microsoft.com/office/drawing/2014/main" id="{C02EE4BC-9A19-46A3-9280-A3B49072F41A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最终小时级数据集检查结果</a:t>
            </a:r>
          </a:p>
        </p:txBody>
      </p:sp>
      <p:sp>
        <p:nvSpPr>
          <p:cNvPr id="5" name="text-301">
            <a:extLst>
              <a:ext uri="{FF2B5EF4-FFF2-40B4-BE49-F238E27FC236}">
                <a16:creationId xmlns:a16="http://schemas.microsoft.com/office/drawing/2014/main" id="{EA84BB56-1D05-476A-A46B-F7E0BBE8BA0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box-302">
            <a:extLst>
              <a:ext uri="{FF2B5EF4-FFF2-40B4-BE49-F238E27FC236}">
                <a16:creationId xmlns:a16="http://schemas.microsoft.com/office/drawing/2014/main" id="{A7D410A2-28D0-4A68-8734-216D05A20F2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rect-303">
            <a:extLst>
              <a:ext uri="{FF2B5EF4-FFF2-40B4-BE49-F238E27FC236}">
                <a16:creationId xmlns:a16="http://schemas.microsoft.com/office/drawing/2014/main" id="{E383F4F2-8983-457B-990C-C2684CBCAFD4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66675" cy="11049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8" name="text-304">
            <a:extLst>
              <a:ext uri="{FF2B5EF4-FFF2-40B4-BE49-F238E27FC236}">
                <a16:creationId xmlns:a16="http://schemas.microsoft.com/office/drawing/2014/main" id="{5B5441F4-8EEE-49A2-8E48-24FD6D33FEE4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缺失值</a:t>
            </a:r>
          </a:p>
        </p:txBody>
      </p:sp>
      <p:sp>
        <p:nvSpPr>
          <p:cNvPr id="9" name="text-305">
            <a:extLst>
              <a:ext uri="{FF2B5EF4-FFF2-40B4-BE49-F238E27FC236}">
                <a16:creationId xmlns:a16="http://schemas.microsoft.com/office/drawing/2014/main" id="{85EC90C5-1467-4921-A7A8-AA14CE37C82F}"/>
              </a:ext>
            </a:extLst>
          </p:cNvPr>
          <p:cNvSpPr>
            <a:spLocks noGrp="1"/>
          </p:cNvSpPr>
          <p:nvPr/>
        </p:nvSpPr>
        <p:spPr>
          <a:xfrm>
            <a:off x="762000" y="17240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" name="text-306">
            <a:extLst>
              <a:ext uri="{FF2B5EF4-FFF2-40B4-BE49-F238E27FC236}">
                <a16:creationId xmlns:a16="http://schemas.microsoft.com/office/drawing/2014/main" id="{CCC5138C-DF89-434A-9E8E-98125EE3F0DA}"/>
              </a:ext>
            </a:extLst>
          </p:cNvPr>
          <p:cNvSpPr>
            <a:spLocks noGrp="1"/>
          </p:cNvSpPr>
          <p:nvPr/>
        </p:nvSpPr>
        <p:spPr>
          <a:xfrm>
            <a:off x="762000" y="21812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所有 5 个字段</a:t>
            </a:r>
          </a:p>
        </p:txBody>
      </p:sp>
      <p:sp>
        <p:nvSpPr>
          <p:cNvPr id="11" name="box-307">
            <a:extLst>
              <a:ext uri="{FF2B5EF4-FFF2-40B4-BE49-F238E27FC236}">
                <a16:creationId xmlns:a16="http://schemas.microsoft.com/office/drawing/2014/main" id="{81B2F360-E8F3-4DCD-A51A-CA2BB6278922}"/>
              </a:ext>
            </a:extLst>
          </p:cNvPr>
          <p:cNvSpPr>
            <a:spLocks noGrp="1"/>
          </p:cNvSpPr>
          <p:nvPr/>
        </p:nvSpPr>
        <p:spPr>
          <a:xfrm>
            <a:off x="3333750" y="13525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2" name="rect-308">
            <a:extLst>
              <a:ext uri="{FF2B5EF4-FFF2-40B4-BE49-F238E27FC236}">
                <a16:creationId xmlns:a16="http://schemas.microsoft.com/office/drawing/2014/main" id="{6D038001-C01F-4C1F-9DFA-E1D45024DE2C}"/>
              </a:ext>
            </a:extLst>
          </p:cNvPr>
          <p:cNvSpPr>
            <a:spLocks noGrp="1"/>
          </p:cNvSpPr>
          <p:nvPr/>
        </p:nvSpPr>
        <p:spPr>
          <a:xfrm>
            <a:off x="3333750" y="135255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13" name="text-309">
            <a:extLst>
              <a:ext uri="{FF2B5EF4-FFF2-40B4-BE49-F238E27FC236}">
                <a16:creationId xmlns:a16="http://schemas.microsoft.com/office/drawing/2014/main" id="{C343B022-4802-48CB-B535-756C175BA74D}"/>
              </a:ext>
            </a:extLst>
          </p:cNvPr>
          <p:cNvSpPr>
            <a:spLocks noGrp="1"/>
          </p:cNvSpPr>
          <p:nvPr/>
        </p:nvSpPr>
        <p:spPr>
          <a:xfrm>
            <a:off x="3524250" y="14859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重复时间戳</a:t>
            </a:r>
          </a:p>
        </p:txBody>
      </p:sp>
      <p:sp>
        <p:nvSpPr>
          <p:cNvPr id="14" name="text-310">
            <a:extLst>
              <a:ext uri="{FF2B5EF4-FFF2-40B4-BE49-F238E27FC236}">
                <a16:creationId xmlns:a16="http://schemas.microsoft.com/office/drawing/2014/main" id="{B507EC2E-2BA9-4E1B-90E3-3E8B00FC5992}"/>
              </a:ext>
            </a:extLst>
          </p:cNvPr>
          <p:cNvSpPr>
            <a:spLocks noGrp="1"/>
          </p:cNvSpPr>
          <p:nvPr/>
        </p:nvSpPr>
        <p:spPr>
          <a:xfrm>
            <a:off x="3524250" y="17240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text-311">
            <a:extLst>
              <a:ext uri="{FF2B5EF4-FFF2-40B4-BE49-F238E27FC236}">
                <a16:creationId xmlns:a16="http://schemas.microsoft.com/office/drawing/2014/main" id="{7AC2AE07-7312-4F12-A4F7-215A54619E8A}"/>
              </a:ext>
            </a:extLst>
          </p:cNvPr>
          <p:cNvSpPr>
            <a:spLocks noGrp="1"/>
          </p:cNvSpPr>
          <p:nvPr/>
        </p:nvSpPr>
        <p:spPr>
          <a:xfrm>
            <a:off x="3524250" y="21812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datetime 唯一</a:t>
            </a:r>
          </a:p>
        </p:txBody>
      </p:sp>
      <p:sp>
        <p:nvSpPr>
          <p:cNvPr id="16" name="box-312">
            <a:extLst>
              <a:ext uri="{FF2B5EF4-FFF2-40B4-BE49-F238E27FC236}">
                <a16:creationId xmlns:a16="http://schemas.microsoft.com/office/drawing/2014/main" id="{D02A0719-6E96-47AB-8C34-26445BE783DF}"/>
              </a:ext>
            </a:extLst>
          </p:cNvPr>
          <p:cNvSpPr>
            <a:spLocks noGrp="1"/>
          </p:cNvSpPr>
          <p:nvPr/>
        </p:nvSpPr>
        <p:spPr>
          <a:xfrm>
            <a:off x="6096000" y="13525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rect-313">
            <a:extLst>
              <a:ext uri="{FF2B5EF4-FFF2-40B4-BE49-F238E27FC236}">
                <a16:creationId xmlns:a16="http://schemas.microsoft.com/office/drawing/2014/main" id="{5B4292F3-9DC7-4D45-AE1B-3F76C0202E4A}"/>
              </a:ext>
            </a:extLst>
          </p:cNvPr>
          <p:cNvSpPr>
            <a:spLocks noGrp="1"/>
          </p:cNvSpPr>
          <p:nvPr/>
        </p:nvSpPr>
        <p:spPr>
          <a:xfrm>
            <a:off x="6096000" y="1352550"/>
            <a:ext cx="66675" cy="1104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8" name="text-314">
            <a:extLst>
              <a:ext uri="{FF2B5EF4-FFF2-40B4-BE49-F238E27FC236}">
                <a16:creationId xmlns:a16="http://schemas.microsoft.com/office/drawing/2014/main" id="{4AAC7DE2-E1A1-4986-B6F4-4C440F4E2462}"/>
              </a:ext>
            </a:extLst>
          </p:cNvPr>
          <p:cNvSpPr>
            <a:spLocks noGrp="1"/>
          </p:cNvSpPr>
          <p:nvPr/>
        </p:nvSpPr>
        <p:spPr>
          <a:xfrm>
            <a:off x="6286500" y="14859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非 1 小时步长</a:t>
            </a:r>
          </a:p>
        </p:txBody>
      </p:sp>
      <p:sp>
        <p:nvSpPr>
          <p:cNvPr id="19" name="text-315">
            <a:extLst>
              <a:ext uri="{FF2B5EF4-FFF2-40B4-BE49-F238E27FC236}">
                <a16:creationId xmlns:a16="http://schemas.microsoft.com/office/drawing/2014/main" id="{D9EDB58A-6C7D-4D0F-BFB2-C7BCE60DA813}"/>
              </a:ext>
            </a:extLst>
          </p:cNvPr>
          <p:cNvSpPr>
            <a:spLocks noGrp="1"/>
          </p:cNvSpPr>
          <p:nvPr/>
        </p:nvSpPr>
        <p:spPr>
          <a:xfrm>
            <a:off x="6286500" y="17240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0" name="text-316">
            <a:extLst>
              <a:ext uri="{FF2B5EF4-FFF2-40B4-BE49-F238E27FC236}">
                <a16:creationId xmlns:a16="http://schemas.microsoft.com/office/drawing/2014/main" id="{C89125AE-BA3A-4E89-AD42-AFA4A0D10D5D}"/>
              </a:ext>
            </a:extLst>
          </p:cNvPr>
          <p:cNvSpPr>
            <a:spLocks noGrp="1"/>
          </p:cNvSpPr>
          <p:nvPr/>
        </p:nvSpPr>
        <p:spPr>
          <a:xfrm>
            <a:off x="6286500" y="21812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时间轴连续</a:t>
            </a:r>
          </a:p>
        </p:txBody>
      </p:sp>
      <p:sp>
        <p:nvSpPr>
          <p:cNvPr id="21" name="box-317">
            <a:extLst>
              <a:ext uri="{FF2B5EF4-FFF2-40B4-BE49-F238E27FC236}">
                <a16:creationId xmlns:a16="http://schemas.microsoft.com/office/drawing/2014/main" id="{55BE8E0B-93E1-4D57-A304-FCB9944548AE}"/>
              </a:ext>
            </a:extLst>
          </p:cNvPr>
          <p:cNvSpPr>
            <a:spLocks noGrp="1"/>
          </p:cNvSpPr>
          <p:nvPr/>
        </p:nvSpPr>
        <p:spPr>
          <a:xfrm>
            <a:off x="8858250" y="13525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rect-318">
            <a:extLst>
              <a:ext uri="{FF2B5EF4-FFF2-40B4-BE49-F238E27FC236}">
                <a16:creationId xmlns:a16="http://schemas.microsoft.com/office/drawing/2014/main" id="{4CF34F24-6F5A-4FFB-B474-22301E8A46D6}"/>
              </a:ext>
            </a:extLst>
          </p:cNvPr>
          <p:cNvSpPr>
            <a:spLocks noGrp="1"/>
          </p:cNvSpPr>
          <p:nvPr/>
        </p:nvSpPr>
        <p:spPr>
          <a:xfrm>
            <a:off x="8858250" y="1352550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3" name="text-319">
            <a:extLst>
              <a:ext uri="{FF2B5EF4-FFF2-40B4-BE49-F238E27FC236}">
                <a16:creationId xmlns:a16="http://schemas.microsoft.com/office/drawing/2014/main" id="{EFAFF53D-F160-42AD-BACB-28B11CF5C03D}"/>
              </a:ext>
            </a:extLst>
          </p:cNvPr>
          <p:cNvSpPr>
            <a:spLocks noGrp="1"/>
          </p:cNvSpPr>
          <p:nvPr/>
        </p:nvSpPr>
        <p:spPr>
          <a:xfrm>
            <a:off x="9048750" y="14859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负降雨值</a:t>
            </a:r>
          </a:p>
        </p:txBody>
      </p:sp>
      <p:sp>
        <p:nvSpPr>
          <p:cNvPr id="24" name="text-320">
            <a:extLst>
              <a:ext uri="{FF2B5EF4-FFF2-40B4-BE49-F238E27FC236}">
                <a16:creationId xmlns:a16="http://schemas.microsoft.com/office/drawing/2014/main" id="{AF275FBF-3D90-4F07-963E-2CE3E86F2BB3}"/>
              </a:ext>
            </a:extLst>
          </p:cNvPr>
          <p:cNvSpPr>
            <a:spLocks noGrp="1"/>
          </p:cNvSpPr>
          <p:nvPr/>
        </p:nvSpPr>
        <p:spPr>
          <a:xfrm>
            <a:off x="9048750" y="17240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5" name="text-321">
            <a:extLst>
              <a:ext uri="{FF2B5EF4-FFF2-40B4-BE49-F238E27FC236}">
                <a16:creationId xmlns:a16="http://schemas.microsoft.com/office/drawing/2014/main" id="{CD53E220-2357-4148-8962-D5FB3A822B14}"/>
              </a:ext>
            </a:extLst>
          </p:cNvPr>
          <p:cNvSpPr>
            <a:spLocks noGrp="1"/>
          </p:cNvSpPr>
          <p:nvPr/>
        </p:nvSpPr>
        <p:spPr>
          <a:xfrm>
            <a:off x="9048750" y="21812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已裁剪至 ≥0</a:t>
            </a:r>
          </a:p>
        </p:txBody>
      </p:sp>
      <p:sp>
        <p:nvSpPr>
          <p:cNvPr id="26" name="box-322">
            <a:extLst>
              <a:ext uri="{FF2B5EF4-FFF2-40B4-BE49-F238E27FC236}">
                <a16:creationId xmlns:a16="http://schemas.microsoft.com/office/drawing/2014/main" id="{7217B334-D1F9-4D45-B0D8-23030F7D508D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5334000" cy="302895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7" name="text-323">
            <a:extLst>
              <a:ext uri="{FF2B5EF4-FFF2-40B4-BE49-F238E27FC236}">
                <a16:creationId xmlns:a16="http://schemas.microsoft.com/office/drawing/2014/main" id="{B86CB23F-D702-49B4-9FC8-C75076A6ECDF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原始到最终数据量变化</a:t>
            </a:r>
          </a:p>
        </p:txBody>
      </p:sp>
      <p:sp>
        <p:nvSpPr>
          <p:cNvPr id="28" name="rect-324">
            <a:extLst>
              <a:ext uri="{FF2B5EF4-FFF2-40B4-BE49-F238E27FC236}">
                <a16:creationId xmlns:a16="http://schemas.microsoft.com/office/drawing/2014/main" id="{5C86D8E2-7AE1-482B-B2AA-59E755A1CDF6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4762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text-325">
            <a:extLst>
              <a:ext uri="{FF2B5EF4-FFF2-40B4-BE49-F238E27FC236}">
                <a16:creationId xmlns:a16="http://schemas.microsoft.com/office/drawing/2014/main" id="{A10E47A3-3E52-45AA-B6E0-B7792C16BA75}"/>
              </a:ext>
            </a:extLst>
          </p:cNvPr>
          <p:cNvSpPr>
            <a:spLocks noGrp="1"/>
          </p:cNvSpPr>
          <p:nvPr/>
        </p:nvSpPr>
        <p:spPr>
          <a:xfrm>
            <a:off x="990600" y="364807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USGS 小时水文序列</a:t>
            </a:r>
          </a:p>
        </p:txBody>
      </p:sp>
      <p:sp>
        <p:nvSpPr>
          <p:cNvPr id="30" name="text-326">
            <a:extLst>
              <a:ext uri="{FF2B5EF4-FFF2-40B4-BE49-F238E27FC236}">
                <a16:creationId xmlns:a16="http://schemas.microsoft.com/office/drawing/2014/main" id="{ECA2457D-FFC6-4A00-A3CB-DAD479109038}"/>
              </a:ext>
            </a:extLst>
          </p:cNvPr>
          <p:cNvSpPr>
            <a:spLocks noGrp="1"/>
          </p:cNvSpPr>
          <p:nvPr/>
        </p:nvSpPr>
        <p:spPr>
          <a:xfrm>
            <a:off x="4095750" y="362902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161,663</a:t>
            </a:r>
          </a:p>
        </p:txBody>
      </p:sp>
      <p:sp>
        <p:nvSpPr>
          <p:cNvPr id="31" name="rect-327">
            <a:extLst>
              <a:ext uri="{FF2B5EF4-FFF2-40B4-BE49-F238E27FC236}">
                <a16:creationId xmlns:a16="http://schemas.microsoft.com/office/drawing/2014/main" id="{736B7EA6-F825-4AAB-B612-C83A21A2EFB4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4762500" cy="400050"/>
          </a:xfrm>
          <a:prstGeom prst="rect">
            <a:avLst/>
          </a:prstGeom>
          <a:solidFill>
            <a:srgbClr val="F7FBFD"/>
          </a:solidFill>
          <a:ln w="0">
            <a:noFill/>
            <a:prstDash val="solid"/>
          </a:ln>
        </p:spPr>
      </p:sp>
      <p:sp>
        <p:nvSpPr>
          <p:cNvPr id="32" name="text-328">
            <a:extLst>
              <a:ext uri="{FF2B5EF4-FFF2-40B4-BE49-F238E27FC236}">
                <a16:creationId xmlns:a16="http://schemas.microsoft.com/office/drawing/2014/main" id="{463B07F1-E375-40ED-8F40-1EB7F063E442}"/>
              </a:ext>
            </a:extLst>
          </p:cNvPr>
          <p:cNvSpPr>
            <a:spLocks noGrp="1"/>
          </p:cNvSpPr>
          <p:nvPr/>
        </p:nvSpPr>
        <p:spPr>
          <a:xfrm>
            <a:off x="1143000" y="422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流量</a:t>
            </a:r>
            <a:endParaRPr sz="1125" b="1" dirty="0">
              <a:solidFill>
                <a:srgbClr val="0F766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text-329">
            <a:extLst>
              <a:ext uri="{FF2B5EF4-FFF2-40B4-BE49-F238E27FC236}">
                <a16:creationId xmlns:a16="http://schemas.microsoft.com/office/drawing/2014/main" id="{CEB06534-5344-4CF9-AFD7-7C882F1AF32C}"/>
              </a:ext>
            </a:extLst>
          </p:cNvPr>
          <p:cNvSpPr>
            <a:spLocks noGrp="1"/>
          </p:cNvSpPr>
          <p:nvPr/>
        </p:nvSpPr>
        <p:spPr>
          <a:xfrm>
            <a:off x="4095750" y="4143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−24 h</a:t>
            </a:r>
          </a:p>
        </p:txBody>
      </p:sp>
      <p:sp>
        <p:nvSpPr>
          <p:cNvPr id="34" name="rect-330">
            <a:extLst>
              <a:ext uri="{FF2B5EF4-FFF2-40B4-BE49-F238E27FC236}">
                <a16:creationId xmlns:a16="http://schemas.microsoft.com/office/drawing/2014/main" id="{527CBCB6-7A19-4863-9F93-1CB6702F8C10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4762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text-331">
            <a:extLst>
              <a:ext uri="{FF2B5EF4-FFF2-40B4-BE49-F238E27FC236}">
                <a16:creationId xmlns:a16="http://schemas.microsoft.com/office/drawing/2014/main" id="{74ABDE46-7AA2-46E0-B1BF-0280B2999D0F}"/>
              </a:ext>
            </a:extLst>
          </p:cNvPr>
          <p:cNvSpPr>
            <a:spLocks noGrp="1"/>
          </p:cNvSpPr>
          <p:nvPr/>
        </p:nvSpPr>
        <p:spPr>
          <a:xfrm>
            <a:off x="990600" y="467677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共同覆盖裁剪</a:t>
            </a:r>
          </a:p>
        </p:txBody>
      </p:sp>
      <p:sp>
        <p:nvSpPr>
          <p:cNvPr id="36" name="text-332">
            <a:extLst>
              <a:ext uri="{FF2B5EF4-FFF2-40B4-BE49-F238E27FC236}">
                <a16:creationId xmlns:a16="http://schemas.microsoft.com/office/drawing/2014/main" id="{323F1F71-A841-44CC-96FB-040BF6AF7FAB}"/>
              </a:ext>
            </a:extLst>
          </p:cNvPr>
          <p:cNvSpPr>
            <a:spLocks noGrp="1"/>
          </p:cNvSpPr>
          <p:nvPr/>
        </p:nvSpPr>
        <p:spPr>
          <a:xfrm>
            <a:off x="4095750" y="465772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−5 h</a:t>
            </a:r>
          </a:p>
        </p:txBody>
      </p:sp>
      <p:sp>
        <p:nvSpPr>
          <p:cNvPr id="37" name="rect-333">
            <a:extLst>
              <a:ext uri="{FF2B5EF4-FFF2-40B4-BE49-F238E27FC236}">
                <a16:creationId xmlns:a16="http://schemas.microsoft.com/office/drawing/2014/main" id="{02440BCA-0815-4D36-93D7-C320FFC21DD2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4762500" cy="400050"/>
          </a:xfrm>
          <a:prstGeom prst="rect">
            <a:avLst/>
          </a:prstGeom>
          <a:solidFill>
            <a:srgbClr val="E8F3FA"/>
          </a:solidFill>
          <a:ln w="0">
            <a:noFill/>
            <a:prstDash val="solid"/>
          </a:ln>
        </p:spPr>
      </p:sp>
      <p:sp>
        <p:nvSpPr>
          <p:cNvPr id="38" name="text-334">
            <a:extLst>
              <a:ext uri="{FF2B5EF4-FFF2-40B4-BE49-F238E27FC236}">
                <a16:creationId xmlns:a16="http://schemas.microsoft.com/office/drawing/2014/main" id="{BAD774F5-1181-4CDE-A859-9FE38DD430BF}"/>
              </a:ext>
            </a:extLst>
          </p:cNvPr>
          <p:cNvSpPr>
            <a:spLocks noGrp="1"/>
          </p:cNvSpPr>
          <p:nvPr/>
        </p:nvSpPr>
        <p:spPr>
          <a:xfrm>
            <a:off x="990600" y="51911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最终建模数据</a:t>
            </a:r>
          </a:p>
        </p:txBody>
      </p:sp>
      <p:sp>
        <p:nvSpPr>
          <p:cNvPr id="39" name="text-335">
            <a:extLst>
              <a:ext uri="{FF2B5EF4-FFF2-40B4-BE49-F238E27FC236}">
                <a16:creationId xmlns:a16="http://schemas.microsoft.com/office/drawing/2014/main" id="{E37A3446-2020-4508-AEA7-A3F62C10D5FB}"/>
              </a:ext>
            </a:extLst>
          </p:cNvPr>
          <p:cNvSpPr>
            <a:spLocks noGrp="1"/>
          </p:cNvSpPr>
          <p:nvPr/>
        </p:nvSpPr>
        <p:spPr>
          <a:xfrm>
            <a:off x="4095750" y="51720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161,634</a:t>
            </a:r>
          </a:p>
        </p:txBody>
      </p:sp>
      <p:sp>
        <p:nvSpPr>
          <p:cNvPr id="40" name="box-336">
            <a:extLst>
              <a:ext uri="{FF2B5EF4-FFF2-40B4-BE49-F238E27FC236}">
                <a16:creationId xmlns:a16="http://schemas.microsoft.com/office/drawing/2014/main" id="{B181AA0A-ABC2-46F6-9FB2-7C6E95119B69}"/>
              </a:ext>
            </a:extLst>
          </p:cNvPr>
          <p:cNvSpPr>
            <a:spLocks noGrp="1"/>
          </p:cNvSpPr>
          <p:nvPr/>
        </p:nvSpPr>
        <p:spPr>
          <a:xfrm>
            <a:off x="6286500" y="2895600"/>
            <a:ext cx="5334000" cy="302895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1" name="text-337">
            <a:extLst>
              <a:ext uri="{FF2B5EF4-FFF2-40B4-BE49-F238E27FC236}">
                <a16:creationId xmlns:a16="http://schemas.microsoft.com/office/drawing/2014/main" id="{784A883F-627B-48BB-BA9E-A39F63FC18B5}"/>
              </a:ext>
            </a:extLst>
          </p:cNvPr>
          <p:cNvSpPr>
            <a:spLocks noGrp="1"/>
          </p:cNvSpPr>
          <p:nvPr/>
        </p:nvSpPr>
        <p:spPr>
          <a:xfrm>
            <a:off x="6534150" y="3086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质量控制规则</a:t>
            </a:r>
          </a:p>
        </p:txBody>
      </p:sp>
      <p:sp>
        <p:nvSpPr>
          <p:cNvPr id="42" name="rect-338">
            <a:extLst>
              <a:ext uri="{FF2B5EF4-FFF2-40B4-BE49-F238E27FC236}">
                <a16:creationId xmlns:a16="http://schemas.microsoft.com/office/drawing/2014/main" id="{AFD9F00E-CBEE-40CD-886A-109F5DD97910}"/>
              </a:ext>
            </a:extLst>
          </p:cNvPr>
          <p:cNvSpPr>
            <a:spLocks noGrp="1"/>
          </p:cNvSpPr>
          <p:nvPr/>
        </p:nvSpPr>
        <p:spPr>
          <a:xfrm>
            <a:off x="6572250" y="36385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43" name="text-339">
            <a:extLst>
              <a:ext uri="{FF2B5EF4-FFF2-40B4-BE49-F238E27FC236}">
                <a16:creationId xmlns:a16="http://schemas.microsoft.com/office/drawing/2014/main" id="{0FDFB99C-18EB-4375-8188-C48CEA338C37}"/>
              </a:ext>
            </a:extLst>
          </p:cNvPr>
          <p:cNvSpPr>
            <a:spLocks noGrp="1"/>
          </p:cNvSpPr>
          <p:nvPr/>
        </p:nvSpPr>
        <p:spPr>
          <a:xfrm>
            <a:off x="6743700" y="3562350"/>
            <a:ext cx="440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水位和流量：小时均值后使用线性插值补齐少量缺口。</a:t>
            </a:r>
          </a:p>
        </p:txBody>
      </p:sp>
      <p:sp>
        <p:nvSpPr>
          <p:cNvPr id="44" name="rect-340">
            <a:extLst>
              <a:ext uri="{FF2B5EF4-FFF2-40B4-BE49-F238E27FC236}">
                <a16:creationId xmlns:a16="http://schemas.microsoft.com/office/drawing/2014/main" id="{B8FC76D3-384C-4036-96CE-1F9F9B4449CB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46" name="rect-342">
            <a:extLst>
              <a:ext uri="{FF2B5EF4-FFF2-40B4-BE49-F238E27FC236}">
                <a16:creationId xmlns:a16="http://schemas.microsoft.com/office/drawing/2014/main" id="{1AA79DDC-3CFD-402D-B551-8F4A57BB96BB}"/>
              </a:ext>
            </a:extLst>
          </p:cNvPr>
          <p:cNvSpPr>
            <a:spLocks noGrp="1"/>
          </p:cNvSpPr>
          <p:nvPr/>
        </p:nvSpPr>
        <p:spPr>
          <a:xfrm>
            <a:off x="6572250" y="47053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47" name="text-343">
            <a:extLst>
              <a:ext uri="{FF2B5EF4-FFF2-40B4-BE49-F238E27FC236}">
                <a16:creationId xmlns:a16="http://schemas.microsoft.com/office/drawing/2014/main" id="{D9AE36FE-C04C-488F-9CB5-E5251853F7D5}"/>
              </a:ext>
            </a:extLst>
          </p:cNvPr>
          <p:cNvSpPr>
            <a:spLocks noGrp="1"/>
          </p:cNvSpPr>
          <p:nvPr/>
        </p:nvSpPr>
        <p:spPr>
          <a:xfrm>
            <a:off x="6743700" y="4629150"/>
            <a:ext cx="440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共同覆盖：inner join，仅保留三类数据同时存在的时刻。</a:t>
            </a:r>
          </a:p>
        </p:txBody>
      </p:sp>
      <p:sp>
        <p:nvSpPr>
          <p:cNvPr id="48" name="rect-344">
            <a:extLst>
              <a:ext uri="{FF2B5EF4-FFF2-40B4-BE49-F238E27FC236}">
                <a16:creationId xmlns:a16="http://schemas.microsoft.com/office/drawing/2014/main" id="{787FD2AE-E232-413F-890C-354192361F00}"/>
              </a:ext>
            </a:extLst>
          </p:cNvPr>
          <p:cNvSpPr>
            <a:spLocks noGrp="1"/>
          </p:cNvSpPr>
          <p:nvPr/>
        </p:nvSpPr>
        <p:spPr>
          <a:xfrm>
            <a:off x="6572250" y="523875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49" name="text-345">
            <a:extLst>
              <a:ext uri="{FF2B5EF4-FFF2-40B4-BE49-F238E27FC236}">
                <a16:creationId xmlns:a16="http://schemas.microsoft.com/office/drawing/2014/main" id="{6B51C575-4202-4BEF-B7C9-FE56EE962E11}"/>
              </a:ext>
            </a:extLst>
          </p:cNvPr>
          <p:cNvSpPr>
            <a:spLocks noGrp="1"/>
          </p:cNvSpPr>
          <p:nvPr/>
        </p:nvSpPr>
        <p:spPr>
          <a:xfrm>
            <a:off x="6743700" y="5162550"/>
            <a:ext cx="440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建模前再次 dropna，并按时间顺序保留记录。</a:t>
            </a:r>
          </a:p>
        </p:txBody>
      </p:sp>
      <p:sp>
        <p:nvSpPr>
          <p:cNvPr id="51" name="text-347">
            <a:extLst>
              <a:ext uri="{FF2B5EF4-FFF2-40B4-BE49-F238E27FC236}">
                <a16:creationId xmlns:a16="http://schemas.microsoft.com/office/drawing/2014/main" id="{4859AACA-A1AD-4942-96B6-CEC6AD65DA85}"/>
              </a:ext>
            </a:extLst>
          </p:cNvPr>
          <p:cNvSpPr>
            <a:spLocks noGrp="1"/>
          </p:cNvSpPr>
          <p:nvPr/>
        </p:nvSpPr>
        <p:spPr>
          <a:xfrm>
            <a:off x="8477250" y="55816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完整性优先于数据量</a:t>
            </a:r>
            <a:endParaRPr sz="9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84534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-445">
            <a:extLst>
              <a:ext uri="{FF2B5EF4-FFF2-40B4-BE49-F238E27FC236}">
                <a16:creationId xmlns:a16="http://schemas.microsoft.com/office/drawing/2014/main" id="{A1135FE2-3A06-468A-9C66-917D14EB3177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SEQUENCE CONSTRUCTION</a:t>
            </a:r>
          </a:p>
        </p:txBody>
      </p:sp>
      <p:sp>
        <p:nvSpPr>
          <p:cNvPr id="2" name="text-446">
            <a:extLst>
              <a:ext uri="{FF2B5EF4-FFF2-40B4-BE49-F238E27FC236}">
                <a16:creationId xmlns:a16="http://schemas.microsoft.com/office/drawing/2014/main" id="{04DF41E3-2126-4C36-8E1A-8F824FDDA39B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滑动窗口构造：每个样本包含 72 小时历史和 24 小时标签</a:t>
            </a:r>
          </a:p>
        </p:txBody>
      </p:sp>
      <p:sp>
        <p:nvSpPr>
          <p:cNvPr id="3" name="rect-447">
            <a:extLst>
              <a:ext uri="{FF2B5EF4-FFF2-40B4-BE49-F238E27FC236}">
                <a16:creationId xmlns:a16="http://schemas.microsoft.com/office/drawing/2014/main" id="{54A79E7F-40D4-40F2-AF56-187F41BD0301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448">
            <a:extLst>
              <a:ext uri="{FF2B5EF4-FFF2-40B4-BE49-F238E27FC236}">
                <a16:creationId xmlns:a16="http://schemas.microsoft.com/office/drawing/2014/main" id="{7F6E4FBF-0DC4-484A-BF13-6C2E450F3D29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create_sequences()</a:t>
            </a:r>
          </a:p>
        </p:txBody>
      </p:sp>
      <p:sp>
        <p:nvSpPr>
          <p:cNvPr id="5" name="text-449">
            <a:extLst>
              <a:ext uri="{FF2B5EF4-FFF2-40B4-BE49-F238E27FC236}">
                <a16:creationId xmlns:a16="http://schemas.microsoft.com/office/drawing/2014/main" id="{221D593A-5F7E-40F2-AEBF-0EDA1969E57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-450">
            <a:extLst>
              <a:ext uri="{FF2B5EF4-FFF2-40B4-BE49-F238E27FC236}">
                <a16:creationId xmlns:a16="http://schemas.microsoft.com/office/drawing/2014/main" id="{69D8619A-7B61-422A-B291-D68796399464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连续时间序列</a:t>
            </a:r>
          </a:p>
        </p:txBody>
      </p:sp>
      <p:sp>
        <p:nvSpPr>
          <p:cNvPr id="7" name="text-451">
            <a:extLst>
              <a:ext uri="{FF2B5EF4-FFF2-40B4-BE49-F238E27FC236}">
                <a16:creationId xmlns:a16="http://schemas.microsoft.com/office/drawing/2014/main" id="{2E6FCF36-3E4F-465F-A230-FC5EA1F4336A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stage_ft</a:t>
            </a:r>
          </a:p>
        </p:txBody>
      </p:sp>
      <p:sp>
        <p:nvSpPr>
          <p:cNvPr id="8" name="rect-452">
            <a:extLst>
              <a:ext uri="{FF2B5EF4-FFF2-40B4-BE49-F238E27FC236}">
                <a16:creationId xmlns:a16="http://schemas.microsoft.com/office/drawing/2014/main" id="{5E9CC1D1-25FA-4D38-BF4C-83A7339F1CE7}"/>
              </a:ext>
            </a:extLst>
          </p:cNvPr>
          <p:cNvSpPr>
            <a:spLocks noGrp="1"/>
          </p:cNvSpPr>
          <p:nvPr/>
        </p:nvSpPr>
        <p:spPr>
          <a:xfrm>
            <a:off x="21907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rect-453">
            <a:extLst>
              <a:ext uri="{FF2B5EF4-FFF2-40B4-BE49-F238E27FC236}">
                <a16:creationId xmlns:a16="http://schemas.microsoft.com/office/drawing/2014/main" id="{10B54FFC-627F-47EB-B9D6-ED91E8A80FCE}"/>
              </a:ext>
            </a:extLst>
          </p:cNvPr>
          <p:cNvSpPr>
            <a:spLocks noGrp="1"/>
          </p:cNvSpPr>
          <p:nvPr/>
        </p:nvSpPr>
        <p:spPr>
          <a:xfrm>
            <a:off x="26479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rect-454">
            <a:extLst>
              <a:ext uri="{FF2B5EF4-FFF2-40B4-BE49-F238E27FC236}">
                <a16:creationId xmlns:a16="http://schemas.microsoft.com/office/drawing/2014/main" id="{45C4DE62-1F80-45F8-A3E7-E0A6D9D3C2A8}"/>
              </a:ext>
            </a:extLst>
          </p:cNvPr>
          <p:cNvSpPr>
            <a:spLocks noGrp="1"/>
          </p:cNvSpPr>
          <p:nvPr/>
        </p:nvSpPr>
        <p:spPr>
          <a:xfrm>
            <a:off x="31051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rect-455">
            <a:extLst>
              <a:ext uri="{FF2B5EF4-FFF2-40B4-BE49-F238E27FC236}">
                <a16:creationId xmlns:a16="http://schemas.microsoft.com/office/drawing/2014/main" id="{527A4F0E-216C-4CA2-AE9D-062EC97CD130}"/>
              </a:ext>
            </a:extLst>
          </p:cNvPr>
          <p:cNvSpPr>
            <a:spLocks noGrp="1"/>
          </p:cNvSpPr>
          <p:nvPr/>
        </p:nvSpPr>
        <p:spPr>
          <a:xfrm>
            <a:off x="35623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rect-456">
            <a:extLst>
              <a:ext uri="{FF2B5EF4-FFF2-40B4-BE49-F238E27FC236}">
                <a16:creationId xmlns:a16="http://schemas.microsoft.com/office/drawing/2014/main" id="{E2EDB82F-0177-486B-A375-559290AD6604}"/>
              </a:ext>
            </a:extLst>
          </p:cNvPr>
          <p:cNvSpPr>
            <a:spLocks noGrp="1"/>
          </p:cNvSpPr>
          <p:nvPr/>
        </p:nvSpPr>
        <p:spPr>
          <a:xfrm>
            <a:off x="40195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rect-457">
            <a:extLst>
              <a:ext uri="{FF2B5EF4-FFF2-40B4-BE49-F238E27FC236}">
                <a16:creationId xmlns:a16="http://schemas.microsoft.com/office/drawing/2014/main" id="{86F37A9C-2ABB-4FF1-9920-E8AE8D50D009}"/>
              </a:ext>
            </a:extLst>
          </p:cNvPr>
          <p:cNvSpPr>
            <a:spLocks noGrp="1"/>
          </p:cNvSpPr>
          <p:nvPr/>
        </p:nvSpPr>
        <p:spPr>
          <a:xfrm>
            <a:off x="44767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rect-458">
            <a:extLst>
              <a:ext uri="{FF2B5EF4-FFF2-40B4-BE49-F238E27FC236}">
                <a16:creationId xmlns:a16="http://schemas.microsoft.com/office/drawing/2014/main" id="{845CC89D-35FF-494E-AC4F-DCECB9C28BB2}"/>
              </a:ext>
            </a:extLst>
          </p:cNvPr>
          <p:cNvSpPr>
            <a:spLocks noGrp="1"/>
          </p:cNvSpPr>
          <p:nvPr/>
        </p:nvSpPr>
        <p:spPr>
          <a:xfrm>
            <a:off x="49339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rect-459">
            <a:extLst>
              <a:ext uri="{FF2B5EF4-FFF2-40B4-BE49-F238E27FC236}">
                <a16:creationId xmlns:a16="http://schemas.microsoft.com/office/drawing/2014/main" id="{23538884-1B8D-4290-AD99-DD8572FD75CC}"/>
              </a:ext>
            </a:extLst>
          </p:cNvPr>
          <p:cNvSpPr>
            <a:spLocks noGrp="1"/>
          </p:cNvSpPr>
          <p:nvPr/>
        </p:nvSpPr>
        <p:spPr>
          <a:xfrm>
            <a:off x="53911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rect-460">
            <a:extLst>
              <a:ext uri="{FF2B5EF4-FFF2-40B4-BE49-F238E27FC236}">
                <a16:creationId xmlns:a16="http://schemas.microsoft.com/office/drawing/2014/main" id="{A4FD5FE9-D398-4FE0-B78A-29C1908305BE}"/>
              </a:ext>
            </a:extLst>
          </p:cNvPr>
          <p:cNvSpPr>
            <a:spLocks noGrp="1"/>
          </p:cNvSpPr>
          <p:nvPr/>
        </p:nvSpPr>
        <p:spPr>
          <a:xfrm>
            <a:off x="58483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rect-461">
            <a:extLst>
              <a:ext uri="{FF2B5EF4-FFF2-40B4-BE49-F238E27FC236}">
                <a16:creationId xmlns:a16="http://schemas.microsoft.com/office/drawing/2014/main" id="{ED4BFC4D-15FB-47B8-ADA5-2AC709E9D87A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rect-462">
            <a:extLst>
              <a:ext uri="{FF2B5EF4-FFF2-40B4-BE49-F238E27FC236}">
                <a16:creationId xmlns:a16="http://schemas.microsoft.com/office/drawing/2014/main" id="{B1D0B36B-441E-4478-BAB3-E2E7D741F531}"/>
              </a:ext>
            </a:extLst>
          </p:cNvPr>
          <p:cNvSpPr>
            <a:spLocks noGrp="1"/>
          </p:cNvSpPr>
          <p:nvPr/>
        </p:nvSpPr>
        <p:spPr>
          <a:xfrm>
            <a:off x="67627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rect-463">
            <a:extLst>
              <a:ext uri="{FF2B5EF4-FFF2-40B4-BE49-F238E27FC236}">
                <a16:creationId xmlns:a16="http://schemas.microsoft.com/office/drawing/2014/main" id="{2D28ADB9-CCB2-417B-A533-9907F21EC45C}"/>
              </a:ext>
            </a:extLst>
          </p:cNvPr>
          <p:cNvSpPr>
            <a:spLocks noGrp="1"/>
          </p:cNvSpPr>
          <p:nvPr/>
        </p:nvSpPr>
        <p:spPr>
          <a:xfrm>
            <a:off x="7219950" y="1752600"/>
            <a:ext cx="381000" cy="323850"/>
          </a:xfrm>
          <a:prstGeom prst="rect">
            <a:avLst/>
          </a:prstGeom>
          <a:solidFill>
            <a:srgbClr val="1261A6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rect-464">
            <a:extLst>
              <a:ext uri="{FF2B5EF4-FFF2-40B4-BE49-F238E27FC236}">
                <a16:creationId xmlns:a16="http://schemas.microsoft.com/office/drawing/2014/main" id="{E47F1DAD-D40B-4C39-BFA8-D3241BE2BDBB}"/>
              </a:ext>
            </a:extLst>
          </p:cNvPr>
          <p:cNvSpPr>
            <a:spLocks noGrp="1"/>
          </p:cNvSpPr>
          <p:nvPr/>
        </p:nvSpPr>
        <p:spPr>
          <a:xfrm>
            <a:off x="7677150" y="17526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rect-465">
            <a:extLst>
              <a:ext uri="{FF2B5EF4-FFF2-40B4-BE49-F238E27FC236}">
                <a16:creationId xmlns:a16="http://schemas.microsoft.com/office/drawing/2014/main" id="{F08B582C-CE85-4D67-928D-E6E0A01384AD}"/>
              </a:ext>
            </a:extLst>
          </p:cNvPr>
          <p:cNvSpPr>
            <a:spLocks noGrp="1"/>
          </p:cNvSpPr>
          <p:nvPr/>
        </p:nvSpPr>
        <p:spPr>
          <a:xfrm>
            <a:off x="8134350" y="17526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rect-466">
            <a:extLst>
              <a:ext uri="{FF2B5EF4-FFF2-40B4-BE49-F238E27FC236}">
                <a16:creationId xmlns:a16="http://schemas.microsoft.com/office/drawing/2014/main" id="{CA5E32BB-ACFE-4353-9D06-C66431A7A38C}"/>
              </a:ext>
            </a:extLst>
          </p:cNvPr>
          <p:cNvSpPr>
            <a:spLocks noGrp="1"/>
          </p:cNvSpPr>
          <p:nvPr/>
        </p:nvSpPr>
        <p:spPr>
          <a:xfrm>
            <a:off x="8591550" y="17526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rect-467">
            <a:extLst>
              <a:ext uri="{FF2B5EF4-FFF2-40B4-BE49-F238E27FC236}">
                <a16:creationId xmlns:a16="http://schemas.microsoft.com/office/drawing/2014/main" id="{D06697B2-427C-44D0-8BFC-C887EDE306B8}"/>
              </a:ext>
            </a:extLst>
          </p:cNvPr>
          <p:cNvSpPr>
            <a:spLocks noGrp="1"/>
          </p:cNvSpPr>
          <p:nvPr/>
        </p:nvSpPr>
        <p:spPr>
          <a:xfrm>
            <a:off x="9048750" y="17526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rect-468">
            <a:extLst>
              <a:ext uri="{FF2B5EF4-FFF2-40B4-BE49-F238E27FC236}">
                <a16:creationId xmlns:a16="http://schemas.microsoft.com/office/drawing/2014/main" id="{EC18C462-FE84-4270-8EC6-67EF47723650}"/>
              </a:ext>
            </a:extLst>
          </p:cNvPr>
          <p:cNvSpPr>
            <a:spLocks noGrp="1"/>
          </p:cNvSpPr>
          <p:nvPr/>
        </p:nvSpPr>
        <p:spPr>
          <a:xfrm>
            <a:off x="9505950" y="17526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rect-469">
            <a:extLst>
              <a:ext uri="{FF2B5EF4-FFF2-40B4-BE49-F238E27FC236}">
                <a16:creationId xmlns:a16="http://schemas.microsoft.com/office/drawing/2014/main" id="{C58EE15F-36E2-410A-8C24-B66D914C83FB}"/>
              </a:ext>
            </a:extLst>
          </p:cNvPr>
          <p:cNvSpPr>
            <a:spLocks noGrp="1"/>
          </p:cNvSpPr>
          <p:nvPr/>
        </p:nvSpPr>
        <p:spPr>
          <a:xfrm>
            <a:off x="9963150" y="17526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-470">
            <a:extLst>
              <a:ext uri="{FF2B5EF4-FFF2-40B4-BE49-F238E27FC236}">
                <a16:creationId xmlns:a16="http://schemas.microsoft.com/office/drawing/2014/main" id="{32A46B82-0F6E-48C2-AE41-CBC9EB6862BA}"/>
              </a:ext>
            </a:extLst>
          </p:cNvPr>
          <p:cNvSpPr>
            <a:spLocks noGrp="1"/>
          </p:cNvSpPr>
          <p:nvPr/>
        </p:nvSpPr>
        <p:spPr>
          <a:xfrm>
            <a:off x="571500" y="24193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discharge_cfs</a:t>
            </a:r>
          </a:p>
        </p:txBody>
      </p:sp>
      <p:sp>
        <p:nvSpPr>
          <p:cNvPr id="27" name="rect-471">
            <a:extLst>
              <a:ext uri="{FF2B5EF4-FFF2-40B4-BE49-F238E27FC236}">
                <a16:creationId xmlns:a16="http://schemas.microsoft.com/office/drawing/2014/main" id="{0D97B7B6-E39E-4A63-B3E0-AAF8AEDBF626}"/>
              </a:ext>
            </a:extLst>
          </p:cNvPr>
          <p:cNvSpPr>
            <a:spLocks noGrp="1"/>
          </p:cNvSpPr>
          <p:nvPr/>
        </p:nvSpPr>
        <p:spPr>
          <a:xfrm>
            <a:off x="21907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rect-472">
            <a:extLst>
              <a:ext uri="{FF2B5EF4-FFF2-40B4-BE49-F238E27FC236}">
                <a16:creationId xmlns:a16="http://schemas.microsoft.com/office/drawing/2014/main" id="{D02FC31D-802B-4C64-BA1F-F2401626EB75}"/>
              </a:ext>
            </a:extLst>
          </p:cNvPr>
          <p:cNvSpPr>
            <a:spLocks noGrp="1"/>
          </p:cNvSpPr>
          <p:nvPr/>
        </p:nvSpPr>
        <p:spPr>
          <a:xfrm>
            <a:off x="26479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rect-473">
            <a:extLst>
              <a:ext uri="{FF2B5EF4-FFF2-40B4-BE49-F238E27FC236}">
                <a16:creationId xmlns:a16="http://schemas.microsoft.com/office/drawing/2014/main" id="{9AA405D0-5FF3-487B-AB0C-19E80C7316AA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rect-474">
            <a:extLst>
              <a:ext uri="{FF2B5EF4-FFF2-40B4-BE49-F238E27FC236}">
                <a16:creationId xmlns:a16="http://schemas.microsoft.com/office/drawing/2014/main" id="{DA94995B-075F-489F-BFAF-5011F71BDB2E}"/>
              </a:ext>
            </a:extLst>
          </p:cNvPr>
          <p:cNvSpPr>
            <a:spLocks noGrp="1"/>
          </p:cNvSpPr>
          <p:nvPr/>
        </p:nvSpPr>
        <p:spPr>
          <a:xfrm>
            <a:off x="35623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rect-475">
            <a:extLst>
              <a:ext uri="{FF2B5EF4-FFF2-40B4-BE49-F238E27FC236}">
                <a16:creationId xmlns:a16="http://schemas.microsoft.com/office/drawing/2014/main" id="{C3DDD5F4-649C-4DA0-B799-A7D282FA6560}"/>
              </a:ext>
            </a:extLst>
          </p:cNvPr>
          <p:cNvSpPr>
            <a:spLocks noGrp="1"/>
          </p:cNvSpPr>
          <p:nvPr/>
        </p:nvSpPr>
        <p:spPr>
          <a:xfrm>
            <a:off x="40195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rect-476">
            <a:extLst>
              <a:ext uri="{FF2B5EF4-FFF2-40B4-BE49-F238E27FC236}">
                <a16:creationId xmlns:a16="http://schemas.microsoft.com/office/drawing/2014/main" id="{EAB8CCAB-332B-4E9D-858D-BB3E9AA2984C}"/>
              </a:ext>
            </a:extLst>
          </p:cNvPr>
          <p:cNvSpPr>
            <a:spLocks noGrp="1"/>
          </p:cNvSpPr>
          <p:nvPr/>
        </p:nvSpPr>
        <p:spPr>
          <a:xfrm>
            <a:off x="44767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rect-477">
            <a:extLst>
              <a:ext uri="{FF2B5EF4-FFF2-40B4-BE49-F238E27FC236}">
                <a16:creationId xmlns:a16="http://schemas.microsoft.com/office/drawing/2014/main" id="{79704177-EE71-4E38-8C8E-B9F7D289ED83}"/>
              </a:ext>
            </a:extLst>
          </p:cNvPr>
          <p:cNvSpPr>
            <a:spLocks noGrp="1"/>
          </p:cNvSpPr>
          <p:nvPr/>
        </p:nvSpPr>
        <p:spPr>
          <a:xfrm>
            <a:off x="49339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rect-478">
            <a:extLst>
              <a:ext uri="{FF2B5EF4-FFF2-40B4-BE49-F238E27FC236}">
                <a16:creationId xmlns:a16="http://schemas.microsoft.com/office/drawing/2014/main" id="{62C25B43-E54F-4FC9-AD67-E28449FE7A12}"/>
              </a:ext>
            </a:extLst>
          </p:cNvPr>
          <p:cNvSpPr>
            <a:spLocks noGrp="1"/>
          </p:cNvSpPr>
          <p:nvPr/>
        </p:nvSpPr>
        <p:spPr>
          <a:xfrm>
            <a:off x="53911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rect-479">
            <a:extLst>
              <a:ext uri="{FF2B5EF4-FFF2-40B4-BE49-F238E27FC236}">
                <a16:creationId xmlns:a16="http://schemas.microsoft.com/office/drawing/2014/main" id="{07647728-A906-43A7-A64C-560BF23BA6FB}"/>
              </a:ext>
            </a:extLst>
          </p:cNvPr>
          <p:cNvSpPr>
            <a:spLocks noGrp="1"/>
          </p:cNvSpPr>
          <p:nvPr/>
        </p:nvSpPr>
        <p:spPr>
          <a:xfrm>
            <a:off x="58483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rect-480">
            <a:extLst>
              <a:ext uri="{FF2B5EF4-FFF2-40B4-BE49-F238E27FC236}">
                <a16:creationId xmlns:a16="http://schemas.microsoft.com/office/drawing/2014/main" id="{EB3231B4-5295-4D14-B983-08568B1F8533}"/>
              </a:ext>
            </a:extLst>
          </p:cNvPr>
          <p:cNvSpPr>
            <a:spLocks noGrp="1"/>
          </p:cNvSpPr>
          <p:nvPr/>
        </p:nvSpPr>
        <p:spPr>
          <a:xfrm>
            <a:off x="63055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rect-481">
            <a:extLst>
              <a:ext uri="{FF2B5EF4-FFF2-40B4-BE49-F238E27FC236}">
                <a16:creationId xmlns:a16="http://schemas.microsoft.com/office/drawing/2014/main" id="{CFD82CBC-6E24-4D87-96D2-7614E66B548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rect-482">
            <a:extLst>
              <a:ext uri="{FF2B5EF4-FFF2-40B4-BE49-F238E27FC236}">
                <a16:creationId xmlns:a16="http://schemas.microsoft.com/office/drawing/2014/main" id="{43FCD42A-4631-4638-BD51-4483B7B64DFC}"/>
              </a:ext>
            </a:extLst>
          </p:cNvPr>
          <p:cNvSpPr>
            <a:spLocks noGrp="1"/>
          </p:cNvSpPr>
          <p:nvPr/>
        </p:nvSpPr>
        <p:spPr>
          <a:xfrm>
            <a:off x="7219950" y="2362200"/>
            <a:ext cx="381000" cy="323850"/>
          </a:xfrm>
          <a:prstGeom prst="rect">
            <a:avLst/>
          </a:prstGeom>
          <a:solidFill>
            <a:srgbClr val="0F766E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rect-483">
            <a:extLst>
              <a:ext uri="{FF2B5EF4-FFF2-40B4-BE49-F238E27FC236}">
                <a16:creationId xmlns:a16="http://schemas.microsoft.com/office/drawing/2014/main" id="{948900C0-9D6C-41A2-8382-22A400EADC83}"/>
              </a:ext>
            </a:extLst>
          </p:cNvPr>
          <p:cNvSpPr>
            <a:spLocks noGrp="1"/>
          </p:cNvSpPr>
          <p:nvPr/>
        </p:nvSpPr>
        <p:spPr>
          <a:xfrm>
            <a:off x="7677150" y="23622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rect-484">
            <a:extLst>
              <a:ext uri="{FF2B5EF4-FFF2-40B4-BE49-F238E27FC236}">
                <a16:creationId xmlns:a16="http://schemas.microsoft.com/office/drawing/2014/main" id="{47B59E0D-59D0-4867-BCB6-37428F484D19}"/>
              </a:ext>
            </a:extLst>
          </p:cNvPr>
          <p:cNvSpPr>
            <a:spLocks noGrp="1"/>
          </p:cNvSpPr>
          <p:nvPr/>
        </p:nvSpPr>
        <p:spPr>
          <a:xfrm>
            <a:off x="8134350" y="23622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rect-485">
            <a:extLst>
              <a:ext uri="{FF2B5EF4-FFF2-40B4-BE49-F238E27FC236}">
                <a16:creationId xmlns:a16="http://schemas.microsoft.com/office/drawing/2014/main" id="{B33E329A-C23C-45FA-8697-849C7F9F2994}"/>
              </a:ext>
            </a:extLst>
          </p:cNvPr>
          <p:cNvSpPr>
            <a:spLocks noGrp="1"/>
          </p:cNvSpPr>
          <p:nvPr/>
        </p:nvSpPr>
        <p:spPr>
          <a:xfrm>
            <a:off x="8591550" y="23622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rect-486">
            <a:extLst>
              <a:ext uri="{FF2B5EF4-FFF2-40B4-BE49-F238E27FC236}">
                <a16:creationId xmlns:a16="http://schemas.microsoft.com/office/drawing/2014/main" id="{5204AC7C-3EAC-4DE4-8911-041B835E6FBE}"/>
              </a:ext>
            </a:extLst>
          </p:cNvPr>
          <p:cNvSpPr>
            <a:spLocks noGrp="1"/>
          </p:cNvSpPr>
          <p:nvPr/>
        </p:nvSpPr>
        <p:spPr>
          <a:xfrm>
            <a:off x="9048750" y="23622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rect-487">
            <a:extLst>
              <a:ext uri="{FF2B5EF4-FFF2-40B4-BE49-F238E27FC236}">
                <a16:creationId xmlns:a16="http://schemas.microsoft.com/office/drawing/2014/main" id="{270CC545-F89C-40BF-9D7E-C11C402BF054}"/>
              </a:ext>
            </a:extLst>
          </p:cNvPr>
          <p:cNvSpPr>
            <a:spLocks noGrp="1"/>
          </p:cNvSpPr>
          <p:nvPr/>
        </p:nvSpPr>
        <p:spPr>
          <a:xfrm>
            <a:off x="9505950" y="23622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rect-488">
            <a:extLst>
              <a:ext uri="{FF2B5EF4-FFF2-40B4-BE49-F238E27FC236}">
                <a16:creationId xmlns:a16="http://schemas.microsoft.com/office/drawing/2014/main" id="{0F4EA37D-C87C-4637-9A72-DF00B68B4FBC}"/>
              </a:ext>
            </a:extLst>
          </p:cNvPr>
          <p:cNvSpPr>
            <a:spLocks noGrp="1"/>
          </p:cNvSpPr>
          <p:nvPr/>
        </p:nvSpPr>
        <p:spPr>
          <a:xfrm>
            <a:off x="9963150" y="23622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-489">
            <a:extLst>
              <a:ext uri="{FF2B5EF4-FFF2-40B4-BE49-F238E27FC236}">
                <a16:creationId xmlns:a16="http://schemas.microsoft.com/office/drawing/2014/main" id="{40A5BE65-A761-4167-B5A4-41BFD230287F}"/>
              </a:ext>
            </a:extLst>
          </p:cNvPr>
          <p:cNvSpPr>
            <a:spLocks noGrp="1"/>
          </p:cNvSpPr>
          <p:nvPr/>
        </p:nvSpPr>
        <p:spPr>
          <a:xfrm>
            <a:off x="571500" y="3028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precipitation_mm</a:t>
            </a:r>
          </a:p>
        </p:txBody>
      </p:sp>
      <p:sp>
        <p:nvSpPr>
          <p:cNvPr id="46" name="rect-490">
            <a:extLst>
              <a:ext uri="{FF2B5EF4-FFF2-40B4-BE49-F238E27FC236}">
                <a16:creationId xmlns:a16="http://schemas.microsoft.com/office/drawing/2014/main" id="{60162E99-6741-4F51-8621-AF7F9DE45962}"/>
              </a:ext>
            </a:extLst>
          </p:cNvPr>
          <p:cNvSpPr>
            <a:spLocks noGrp="1"/>
          </p:cNvSpPr>
          <p:nvPr/>
        </p:nvSpPr>
        <p:spPr>
          <a:xfrm>
            <a:off x="21907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rect-491">
            <a:extLst>
              <a:ext uri="{FF2B5EF4-FFF2-40B4-BE49-F238E27FC236}">
                <a16:creationId xmlns:a16="http://schemas.microsoft.com/office/drawing/2014/main" id="{6507AB6D-30C5-4930-8E33-F3E5F9757812}"/>
              </a:ext>
            </a:extLst>
          </p:cNvPr>
          <p:cNvSpPr>
            <a:spLocks noGrp="1"/>
          </p:cNvSpPr>
          <p:nvPr/>
        </p:nvSpPr>
        <p:spPr>
          <a:xfrm>
            <a:off x="26479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rect-492">
            <a:extLst>
              <a:ext uri="{FF2B5EF4-FFF2-40B4-BE49-F238E27FC236}">
                <a16:creationId xmlns:a16="http://schemas.microsoft.com/office/drawing/2014/main" id="{BA28B382-4179-4177-B800-DBBE2B34C36C}"/>
              </a:ext>
            </a:extLst>
          </p:cNvPr>
          <p:cNvSpPr>
            <a:spLocks noGrp="1"/>
          </p:cNvSpPr>
          <p:nvPr/>
        </p:nvSpPr>
        <p:spPr>
          <a:xfrm>
            <a:off x="31051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rect-493">
            <a:extLst>
              <a:ext uri="{FF2B5EF4-FFF2-40B4-BE49-F238E27FC236}">
                <a16:creationId xmlns:a16="http://schemas.microsoft.com/office/drawing/2014/main" id="{AF39BBC2-95A9-4814-92C7-E1DA376DC274}"/>
              </a:ext>
            </a:extLst>
          </p:cNvPr>
          <p:cNvSpPr>
            <a:spLocks noGrp="1"/>
          </p:cNvSpPr>
          <p:nvPr/>
        </p:nvSpPr>
        <p:spPr>
          <a:xfrm>
            <a:off x="35623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rect-494">
            <a:extLst>
              <a:ext uri="{FF2B5EF4-FFF2-40B4-BE49-F238E27FC236}">
                <a16:creationId xmlns:a16="http://schemas.microsoft.com/office/drawing/2014/main" id="{786A6E78-DA24-486E-B0CF-073C0769EAFF}"/>
              </a:ext>
            </a:extLst>
          </p:cNvPr>
          <p:cNvSpPr>
            <a:spLocks noGrp="1"/>
          </p:cNvSpPr>
          <p:nvPr/>
        </p:nvSpPr>
        <p:spPr>
          <a:xfrm>
            <a:off x="40195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rect-495">
            <a:extLst>
              <a:ext uri="{FF2B5EF4-FFF2-40B4-BE49-F238E27FC236}">
                <a16:creationId xmlns:a16="http://schemas.microsoft.com/office/drawing/2014/main" id="{EFBA22BC-089F-48A3-8A51-07C0D97D250A}"/>
              </a:ext>
            </a:extLst>
          </p:cNvPr>
          <p:cNvSpPr>
            <a:spLocks noGrp="1"/>
          </p:cNvSpPr>
          <p:nvPr/>
        </p:nvSpPr>
        <p:spPr>
          <a:xfrm>
            <a:off x="44767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rect-496">
            <a:extLst>
              <a:ext uri="{FF2B5EF4-FFF2-40B4-BE49-F238E27FC236}">
                <a16:creationId xmlns:a16="http://schemas.microsoft.com/office/drawing/2014/main" id="{7FF8B080-DF8B-4690-8580-FCAC0F37315B}"/>
              </a:ext>
            </a:extLst>
          </p:cNvPr>
          <p:cNvSpPr>
            <a:spLocks noGrp="1"/>
          </p:cNvSpPr>
          <p:nvPr/>
        </p:nvSpPr>
        <p:spPr>
          <a:xfrm>
            <a:off x="49339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rect-497">
            <a:extLst>
              <a:ext uri="{FF2B5EF4-FFF2-40B4-BE49-F238E27FC236}">
                <a16:creationId xmlns:a16="http://schemas.microsoft.com/office/drawing/2014/main" id="{CD8B03A3-C7C0-45D0-8A16-3136D2C28D2C}"/>
              </a:ext>
            </a:extLst>
          </p:cNvPr>
          <p:cNvSpPr>
            <a:spLocks noGrp="1"/>
          </p:cNvSpPr>
          <p:nvPr/>
        </p:nvSpPr>
        <p:spPr>
          <a:xfrm>
            <a:off x="53911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rect-498">
            <a:extLst>
              <a:ext uri="{FF2B5EF4-FFF2-40B4-BE49-F238E27FC236}">
                <a16:creationId xmlns:a16="http://schemas.microsoft.com/office/drawing/2014/main" id="{194DEC14-00F4-43F2-A0CB-624B803385B0}"/>
              </a:ext>
            </a:extLst>
          </p:cNvPr>
          <p:cNvSpPr>
            <a:spLocks noGrp="1"/>
          </p:cNvSpPr>
          <p:nvPr/>
        </p:nvSpPr>
        <p:spPr>
          <a:xfrm>
            <a:off x="58483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rect-499">
            <a:extLst>
              <a:ext uri="{FF2B5EF4-FFF2-40B4-BE49-F238E27FC236}">
                <a16:creationId xmlns:a16="http://schemas.microsoft.com/office/drawing/2014/main" id="{7F25C9D3-41FE-4C05-A806-4C1F08DD0A48}"/>
              </a:ext>
            </a:extLst>
          </p:cNvPr>
          <p:cNvSpPr>
            <a:spLocks noGrp="1"/>
          </p:cNvSpPr>
          <p:nvPr/>
        </p:nvSpPr>
        <p:spPr>
          <a:xfrm>
            <a:off x="63055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rect-500">
            <a:extLst>
              <a:ext uri="{FF2B5EF4-FFF2-40B4-BE49-F238E27FC236}">
                <a16:creationId xmlns:a16="http://schemas.microsoft.com/office/drawing/2014/main" id="{178DE575-3B6F-424C-97B8-BD3F32981EEA}"/>
              </a:ext>
            </a:extLst>
          </p:cNvPr>
          <p:cNvSpPr>
            <a:spLocks noGrp="1"/>
          </p:cNvSpPr>
          <p:nvPr/>
        </p:nvSpPr>
        <p:spPr>
          <a:xfrm>
            <a:off x="67627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rect-501">
            <a:extLst>
              <a:ext uri="{FF2B5EF4-FFF2-40B4-BE49-F238E27FC236}">
                <a16:creationId xmlns:a16="http://schemas.microsoft.com/office/drawing/2014/main" id="{C1B5B82F-67C4-442F-9721-E1D3C2986F56}"/>
              </a:ext>
            </a:extLst>
          </p:cNvPr>
          <p:cNvSpPr>
            <a:spLocks noGrp="1"/>
          </p:cNvSpPr>
          <p:nvPr/>
        </p:nvSpPr>
        <p:spPr>
          <a:xfrm>
            <a:off x="7219950" y="2971800"/>
            <a:ext cx="381000" cy="323850"/>
          </a:xfrm>
          <a:prstGeom prst="rect">
            <a:avLst/>
          </a:prstGeom>
          <a:solidFill>
            <a:srgbClr val="F59E0B">
              <a:alpha val="15686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rect-502">
            <a:extLst>
              <a:ext uri="{FF2B5EF4-FFF2-40B4-BE49-F238E27FC236}">
                <a16:creationId xmlns:a16="http://schemas.microsoft.com/office/drawing/2014/main" id="{3C12555F-483D-49F6-B294-88201F2AF0C7}"/>
              </a:ext>
            </a:extLst>
          </p:cNvPr>
          <p:cNvSpPr>
            <a:spLocks noGrp="1"/>
          </p:cNvSpPr>
          <p:nvPr/>
        </p:nvSpPr>
        <p:spPr>
          <a:xfrm>
            <a:off x="7677150" y="29718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rect-503">
            <a:extLst>
              <a:ext uri="{FF2B5EF4-FFF2-40B4-BE49-F238E27FC236}">
                <a16:creationId xmlns:a16="http://schemas.microsoft.com/office/drawing/2014/main" id="{416E2B61-0AA6-4523-952C-DE998CEA050E}"/>
              </a:ext>
            </a:extLst>
          </p:cNvPr>
          <p:cNvSpPr>
            <a:spLocks noGrp="1"/>
          </p:cNvSpPr>
          <p:nvPr/>
        </p:nvSpPr>
        <p:spPr>
          <a:xfrm>
            <a:off x="8134350" y="29718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rect-504">
            <a:extLst>
              <a:ext uri="{FF2B5EF4-FFF2-40B4-BE49-F238E27FC236}">
                <a16:creationId xmlns:a16="http://schemas.microsoft.com/office/drawing/2014/main" id="{12135DB3-EC2C-456B-B6E3-996ACACCD0F8}"/>
              </a:ext>
            </a:extLst>
          </p:cNvPr>
          <p:cNvSpPr>
            <a:spLocks noGrp="1"/>
          </p:cNvSpPr>
          <p:nvPr/>
        </p:nvSpPr>
        <p:spPr>
          <a:xfrm>
            <a:off x="8591550" y="29718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rect-505">
            <a:extLst>
              <a:ext uri="{FF2B5EF4-FFF2-40B4-BE49-F238E27FC236}">
                <a16:creationId xmlns:a16="http://schemas.microsoft.com/office/drawing/2014/main" id="{0BEFBCC3-AD11-450C-B888-0B58F0380478}"/>
              </a:ext>
            </a:extLst>
          </p:cNvPr>
          <p:cNvSpPr>
            <a:spLocks noGrp="1"/>
          </p:cNvSpPr>
          <p:nvPr/>
        </p:nvSpPr>
        <p:spPr>
          <a:xfrm>
            <a:off x="9048750" y="29718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rect-506">
            <a:extLst>
              <a:ext uri="{FF2B5EF4-FFF2-40B4-BE49-F238E27FC236}">
                <a16:creationId xmlns:a16="http://schemas.microsoft.com/office/drawing/2014/main" id="{2EE906B1-398A-44F4-86F5-2838D475936A}"/>
              </a:ext>
            </a:extLst>
          </p:cNvPr>
          <p:cNvSpPr>
            <a:spLocks noGrp="1"/>
          </p:cNvSpPr>
          <p:nvPr/>
        </p:nvSpPr>
        <p:spPr>
          <a:xfrm>
            <a:off x="9505950" y="29718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rect-507">
            <a:extLst>
              <a:ext uri="{FF2B5EF4-FFF2-40B4-BE49-F238E27FC236}">
                <a16:creationId xmlns:a16="http://schemas.microsoft.com/office/drawing/2014/main" id="{9561F99A-3EC3-4B75-83E7-9BE66D951D68}"/>
              </a:ext>
            </a:extLst>
          </p:cNvPr>
          <p:cNvSpPr>
            <a:spLocks noGrp="1"/>
          </p:cNvSpPr>
          <p:nvPr/>
        </p:nvSpPr>
        <p:spPr>
          <a:xfrm>
            <a:off x="9963150" y="2971800"/>
            <a:ext cx="381000" cy="323850"/>
          </a:xfrm>
          <a:prstGeom prst="rect">
            <a:avLst/>
          </a:prstGeom>
          <a:solidFill>
            <a:srgbClr val="E5EA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box-508">
            <a:extLst>
              <a:ext uri="{FF2B5EF4-FFF2-40B4-BE49-F238E27FC236}">
                <a16:creationId xmlns:a16="http://schemas.microsoft.com/office/drawing/2014/main" id="{24216B88-2FDB-4C01-A57C-4F1FEC749CB2}"/>
              </a:ext>
            </a:extLst>
          </p:cNvPr>
          <p:cNvSpPr>
            <a:spLocks noGrp="1"/>
          </p:cNvSpPr>
          <p:nvPr/>
        </p:nvSpPr>
        <p:spPr>
          <a:xfrm>
            <a:off x="2057400" y="1619250"/>
            <a:ext cx="5619750" cy="2209800"/>
          </a:xfrm>
          <a:prstGeom prst="roundRect">
            <a:avLst>
              <a:gd name="adj" fmla="val 6034"/>
            </a:avLst>
          </a:prstGeom>
          <a:solidFill>
            <a:srgbClr val="000000">
              <a:alpha val="0"/>
            </a:srgbClr>
          </a:solidFill>
          <a:ln w="9525">
            <a:solidFill>
              <a:srgbClr val="1261A6"/>
            </a:solidFill>
            <a:prstDash val="solid"/>
          </a:ln>
        </p:spPr>
      </p:sp>
      <p:sp>
        <p:nvSpPr>
          <p:cNvPr id="65" name="text-509">
            <a:extLst>
              <a:ext uri="{FF2B5EF4-FFF2-40B4-BE49-F238E27FC236}">
                <a16:creationId xmlns:a16="http://schemas.microsoft.com/office/drawing/2014/main" id="{09B0EA71-0CDB-4410-92FC-EEFE69E2585D}"/>
              </a:ext>
            </a:extLst>
          </p:cNvPr>
          <p:cNvSpPr>
            <a:spLocks noGrp="1"/>
          </p:cNvSpPr>
          <p:nvPr/>
        </p:nvSpPr>
        <p:spPr>
          <a:xfrm>
            <a:off x="3543300" y="39433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输入窗口：72 h × 3</a:t>
            </a:r>
          </a:p>
        </p:txBody>
      </p:sp>
      <p:sp>
        <p:nvSpPr>
          <p:cNvPr id="66" name="box-510">
            <a:extLst>
              <a:ext uri="{FF2B5EF4-FFF2-40B4-BE49-F238E27FC236}">
                <a16:creationId xmlns:a16="http://schemas.microsoft.com/office/drawing/2014/main" id="{9115C040-1E94-4239-B1A0-19A31910B239}"/>
              </a:ext>
            </a:extLst>
          </p:cNvPr>
          <p:cNvSpPr>
            <a:spLocks noGrp="1"/>
          </p:cNvSpPr>
          <p:nvPr/>
        </p:nvSpPr>
        <p:spPr>
          <a:xfrm>
            <a:off x="7772400" y="1619250"/>
            <a:ext cx="3390900" cy="2209800"/>
          </a:xfrm>
          <a:prstGeom prst="roundRect">
            <a:avLst>
              <a:gd name="adj" fmla="val 6034"/>
            </a:avLst>
          </a:prstGeom>
          <a:solidFill>
            <a:srgbClr val="000000">
              <a:alpha val="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7" name="text-511">
            <a:extLst>
              <a:ext uri="{FF2B5EF4-FFF2-40B4-BE49-F238E27FC236}">
                <a16:creationId xmlns:a16="http://schemas.microsoft.com/office/drawing/2014/main" id="{B282DE03-0CEE-4226-8A30-DEE2921CAD2E}"/>
              </a:ext>
            </a:extLst>
          </p:cNvPr>
          <p:cNvSpPr>
            <a:spLocks noGrp="1"/>
          </p:cNvSpPr>
          <p:nvPr/>
        </p:nvSpPr>
        <p:spPr>
          <a:xfrm>
            <a:off x="8077200" y="39433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标签窗口：未来 24 h 水位</a:t>
            </a:r>
          </a:p>
        </p:txBody>
      </p:sp>
      <p:sp>
        <p:nvSpPr>
          <p:cNvPr id="68" name="arrow-512">
            <a:extLst>
              <a:ext uri="{FF2B5EF4-FFF2-40B4-BE49-F238E27FC236}">
                <a16:creationId xmlns:a16="http://schemas.microsoft.com/office/drawing/2014/main" id="{ADA0CC59-58F4-4EE1-AD48-F1E79722B5AE}"/>
              </a:ext>
            </a:extLst>
          </p:cNvPr>
          <p:cNvSpPr>
            <a:spLocks noGrp="1"/>
          </p:cNvSpPr>
          <p:nvPr/>
        </p:nvSpPr>
        <p:spPr>
          <a:xfrm>
            <a:off x="7353300" y="2571750"/>
            <a:ext cx="34290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69" name="box-513">
            <a:extLst>
              <a:ext uri="{FF2B5EF4-FFF2-40B4-BE49-F238E27FC236}">
                <a16:creationId xmlns:a16="http://schemas.microsoft.com/office/drawing/2014/main" id="{752A89C6-FEAA-4352-8762-4F43929A5D1E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11049000" cy="14859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0" name="box-514">
            <a:extLst>
              <a:ext uri="{FF2B5EF4-FFF2-40B4-BE49-F238E27FC236}">
                <a16:creationId xmlns:a16="http://schemas.microsoft.com/office/drawing/2014/main" id="{EFF9BAB7-744A-42CB-A257-BBCD597CA961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23812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1" name="rect-515">
            <a:extLst>
              <a:ext uri="{FF2B5EF4-FFF2-40B4-BE49-F238E27FC236}">
                <a16:creationId xmlns:a16="http://schemas.microsoft.com/office/drawing/2014/main" id="{FC57AF51-09BD-4236-86B0-5909FE860741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72" name="text-516">
            <a:extLst>
              <a:ext uri="{FF2B5EF4-FFF2-40B4-BE49-F238E27FC236}">
                <a16:creationId xmlns:a16="http://schemas.microsoft.com/office/drawing/2014/main" id="{BBC802D8-41FE-4E5F-8438-8EA87AAA8BA5}"/>
              </a:ext>
            </a:extLst>
          </p:cNvPr>
          <p:cNvSpPr>
            <a:spLocks noGrp="1"/>
          </p:cNvSpPr>
          <p:nvPr/>
        </p:nvSpPr>
        <p:spPr>
          <a:xfrm>
            <a:off x="1028700" y="499110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总序列样本</a:t>
            </a:r>
          </a:p>
        </p:txBody>
      </p:sp>
      <p:sp>
        <p:nvSpPr>
          <p:cNvPr id="73" name="text-517">
            <a:extLst>
              <a:ext uri="{FF2B5EF4-FFF2-40B4-BE49-F238E27FC236}">
                <a16:creationId xmlns:a16="http://schemas.microsoft.com/office/drawing/2014/main" id="{0BDCFC22-C658-4336-B665-A3B4B657EC9C}"/>
              </a:ext>
            </a:extLst>
          </p:cNvPr>
          <p:cNvSpPr>
            <a:spLocks noGrp="1"/>
          </p:cNvSpPr>
          <p:nvPr/>
        </p:nvSpPr>
        <p:spPr>
          <a:xfrm>
            <a:off x="1028700" y="5229225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161,539</a:t>
            </a:r>
          </a:p>
        </p:txBody>
      </p:sp>
      <p:sp>
        <p:nvSpPr>
          <p:cNvPr id="74" name="text-518">
            <a:extLst>
              <a:ext uri="{FF2B5EF4-FFF2-40B4-BE49-F238E27FC236}">
                <a16:creationId xmlns:a16="http://schemas.microsoft.com/office/drawing/2014/main" id="{CF3B1D15-6B0F-4682-B63A-05DEFBDE5C45}"/>
              </a:ext>
            </a:extLst>
          </p:cNvPr>
          <p:cNvSpPr>
            <a:spLocks noGrp="1"/>
          </p:cNvSpPr>
          <p:nvPr/>
        </p:nvSpPr>
        <p:spPr>
          <a:xfrm>
            <a:off x="1028700" y="56864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N−72−24+1</a:t>
            </a:r>
          </a:p>
        </p:txBody>
      </p:sp>
      <p:sp>
        <p:nvSpPr>
          <p:cNvPr id="75" name="box-519">
            <a:extLst>
              <a:ext uri="{FF2B5EF4-FFF2-40B4-BE49-F238E27FC236}">
                <a16:creationId xmlns:a16="http://schemas.microsoft.com/office/drawing/2014/main" id="{DD6FDA2D-BF64-463B-B861-6941D30F56E0}"/>
              </a:ext>
            </a:extLst>
          </p:cNvPr>
          <p:cNvSpPr>
            <a:spLocks noGrp="1"/>
          </p:cNvSpPr>
          <p:nvPr/>
        </p:nvSpPr>
        <p:spPr>
          <a:xfrm>
            <a:off x="3505200" y="4857750"/>
            <a:ext cx="23812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6" name="rect-520">
            <a:extLst>
              <a:ext uri="{FF2B5EF4-FFF2-40B4-BE49-F238E27FC236}">
                <a16:creationId xmlns:a16="http://schemas.microsoft.com/office/drawing/2014/main" id="{A26A47C0-6FFC-4A80-98DD-330C49AB3777}"/>
              </a:ext>
            </a:extLst>
          </p:cNvPr>
          <p:cNvSpPr>
            <a:spLocks noGrp="1"/>
          </p:cNvSpPr>
          <p:nvPr/>
        </p:nvSpPr>
        <p:spPr>
          <a:xfrm>
            <a:off x="3505200" y="4857750"/>
            <a:ext cx="66675" cy="1104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77" name="text-521">
            <a:extLst>
              <a:ext uri="{FF2B5EF4-FFF2-40B4-BE49-F238E27FC236}">
                <a16:creationId xmlns:a16="http://schemas.microsoft.com/office/drawing/2014/main" id="{2451CD2E-FC8B-49DA-B207-1CB06E689845}"/>
              </a:ext>
            </a:extLst>
          </p:cNvPr>
          <p:cNvSpPr>
            <a:spLocks noGrp="1"/>
          </p:cNvSpPr>
          <p:nvPr/>
        </p:nvSpPr>
        <p:spPr>
          <a:xfrm>
            <a:off x="3695700" y="499110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训练序列</a:t>
            </a:r>
          </a:p>
        </p:txBody>
      </p:sp>
      <p:sp>
        <p:nvSpPr>
          <p:cNvPr id="78" name="text-522">
            <a:extLst>
              <a:ext uri="{FF2B5EF4-FFF2-40B4-BE49-F238E27FC236}">
                <a16:creationId xmlns:a16="http://schemas.microsoft.com/office/drawing/2014/main" id="{0E5FC8CB-67FD-499E-989F-81928A8B5A56}"/>
              </a:ext>
            </a:extLst>
          </p:cNvPr>
          <p:cNvSpPr>
            <a:spLocks noGrp="1"/>
          </p:cNvSpPr>
          <p:nvPr/>
        </p:nvSpPr>
        <p:spPr>
          <a:xfrm>
            <a:off x="3695700" y="5229225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129,231</a:t>
            </a:r>
          </a:p>
        </p:txBody>
      </p:sp>
      <p:sp>
        <p:nvSpPr>
          <p:cNvPr id="79" name="text-523">
            <a:extLst>
              <a:ext uri="{FF2B5EF4-FFF2-40B4-BE49-F238E27FC236}">
                <a16:creationId xmlns:a16="http://schemas.microsoft.com/office/drawing/2014/main" id="{CB564C40-E6A7-4ADA-A092-29B192A3346A}"/>
              </a:ext>
            </a:extLst>
          </p:cNvPr>
          <p:cNvSpPr>
            <a:spLocks noGrp="1"/>
          </p:cNvSpPr>
          <p:nvPr/>
        </p:nvSpPr>
        <p:spPr>
          <a:xfrm>
            <a:off x="3695700" y="56864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前 80%</a:t>
            </a:r>
          </a:p>
        </p:txBody>
      </p:sp>
      <p:sp>
        <p:nvSpPr>
          <p:cNvPr id="80" name="box-524">
            <a:extLst>
              <a:ext uri="{FF2B5EF4-FFF2-40B4-BE49-F238E27FC236}">
                <a16:creationId xmlns:a16="http://schemas.microsoft.com/office/drawing/2014/main" id="{AAEB1EE7-533C-4F43-8D8E-A7692C9469A7}"/>
              </a:ext>
            </a:extLst>
          </p:cNvPr>
          <p:cNvSpPr>
            <a:spLocks noGrp="1"/>
          </p:cNvSpPr>
          <p:nvPr/>
        </p:nvSpPr>
        <p:spPr>
          <a:xfrm>
            <a:off x="6172200" y="4857750"/>
            <a:ext cx="23812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1" name="rect-525">
            <a:extLst>
              <a:ext uri="{FF2B5EF4-FFF2-40B4-BE49-F238E27FC236}">
                <a16:creationId xmlns:a16="http://schemas.microsoft.com/office/drawing/2014/main" id="{B8D74979-8B7C-41AA-9BEF-7264BA6D06D0}"/>
              </a:ext>
            </a:extLst>
          </p:cNvPr>
          <p:cNvSpPr>
            <a:spLocks noGrp="1"/>
          </p:cNvSpPr>
          <p:nvPr/>
        </p:nvSpPr>
        <p:spPr>
          <a:xfrm>
            <a:off x="6172200" y="4857750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82" name="text-526">
            <a:extLst>
              <a:ext uri="{FF2B5EF4-FFF2-40B4-BE49-F238E27FC236}">
                <a16:creationId xmlns:a16="http://schemas.microsoft.com/office/drawing/2014/main" id="{2C3EDE61-1B0D-4A85-96EC-FF74C6AC60C8}"/>
              </a:ext>
            </a:extLst>
          </p:cNvPr>
          <p:cNvSpPr>
            <a:spLocks noGrp="1"/>
          </p:cNvSpPr>
          <p:nvPr/>
        </p:nvSpPr>
        <p:spPr>
          <a:xfrm>
            <a:off x="6362700" y="499110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测试序列</a:t>
            </a:r>
          </a:p>
        </p:txBody>
      </p:sp>
      <p:sp>
        <p:nvSpPr>
          <p:cNvPr id="83" name="text-527">
            <a:extLst>
              <a:ext uri="{FF2B5EF4-FFF2-40B4-BE49-F238E27FC236}">
                <a16:creationId xmlns:a16="http://schemas.microsoft.com/office/drawing/2014/main" id="{0DCB8EF1-91BE-4AF5-A733-DC3C9F785B68}"/>
              </a:ext>
            </a:extLst>
          </p:cNvPr>
          <p:cNvSpPr>
            <a:spLocks noGrp="1"/>
          </p:cNvSpPr>
          <p:nvPr/>
        </p:nvSpPr>
        <p:spPr>
          <a:xfrm>
            <a:off x="6362700" y="5229225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32,308</a:t>
            </a:r>
          </a:p>
        </p:txBody>
      </p:sp>
      <p:sp>
        <p:nvSpPr>
          <p:cNvPr id="84" name="text-528">
            <a:extLst>
              <a:ext uri="{FF2B5EF4-FFF2-40B4-BE49-F238E27FC236}">
                <a16:creationId xmlns:a16="http://schemas.microsoft.com/office/drawing/2014/main" id="{1D0E049D-052A-49DD-B896-3C99F6385BA1}"/>
              </a:ext>
            </a:extLst>
          </p:cNvPr>
          <p:cNvSpPr>
            <a:spLocks noGrp="1"/>
          </p:cNvSpPr>
          <p:nvPr/>
        </p:nvSpPr>
        <p:spPr>
          <a:xfrm>
            <a:off x="6362700" y="56864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后 20%</a:t>
            </a:r>
          </a:p>
        </p:txBody>
      </p:sp>
      <p:sp>
        <p:nvSpPr>
          <p:cNvPr id="85" name="box-529">
            <a:extLst>
              <a:ext uri="{FF2B5EF4-FFF2-40B4-BE49-F238E27FC236}">
                <a16:creationId xmlns:a16="http://schemas.microsoft.com/office/drawing/2014/main" id="{EBC388EA-BC0C-4789-A32F-6AA1FDA64764}"/>
              </a:ext>
            </a:extLst>
          </p:cNvPr>
          <p:cNvSpPr>
            <a:spLocks noGrp="1"/>
          </p:cNvSpPr>
          <p:nvPr/>
        </p:nvSpPr>
        <p:spPr>
          <a:xfrm>
            <a:off x="8839200" y="4857750"/>
            <a:ext cx="23812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6" name="rect-530">
            <a:extLst>
              <a:ext uri="{FF2B5EF4-FFF2-40B4-BE49-F238E27FC236}">
                <a16:creationId xmlns:a16="http://schemas.microsoft.com/office/drawing/2014/main" id="{2E5E6F3D-3774-4747-A6ED-0EAFDBD98547}"/>
              </a:ext>
            </a:extLst>
          </p:cNvPr>
          <p:cNvSpPr>
            <a:spLocks noGrp="1"/>
          </p:cNvSpPr>
          <p:nvPr/>
        </p:nvSpPr>
        <p:spPr>
          <a:xfrm>
            <a:off x="8839200" y="4857750"/>
            <a:ext cx="66675" cy="11049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87" name="text-531">
            <a:extLst>
              <a:ext uri="{FF2B5EF4-FFF2-40B4-BE49-F238E27FC236}">
                <a16:creationId xmlns:a16="http://schemas.microsoft.com/office/drawing/2014/main" id="{B15E1719-9A5E-467F-A67F-C65C24F7AEA9}"/>
              </a:ext>
            </a:extLst>
          </p:cNvPr>
          <p:cNvSpPr>
            <a:spLocks noGrp="1"/>
          </p:cNvSpPr>
          <p:nvPr/>
        </p:nvSpPr>
        <p:spPr>
          <a:xfrm>
            <a:off x="9029700" y="499110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预测方式</a:t>
            </a:r>
          </a:p>
        </p:txBody>
      </p:sp>
      <p:sp>
        <p:nvSpPr>
          <p:cNvPr id="88" name="text-532">
            <a:extLst>
              <a:ext uri="{FF2B5EF4-FFF2-40B4-BE49-F238E27FC236}">
                <a16:creationId xmlns:a16="http://schemas.microsoft.com/office/drawing/2014/main" id="{22B999D9-8744-4BBD-A357-A9E282E7624B}"/>
              </a:ext>
            </a:extLst>
          </p:cNvPr>
          <p:cNvSpPr>
            <a:spLocks noGrp="1"/>
          </p:cNvSpPr>
          <p:nvPr/>
        </p:nvSpPr>
        <p:spPr>
          <a:xfrm>
            <a:off x="9029700" y="5229225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Direct</a:t>
            </a:r>
          </a:p>
        </p:txBody>
      </p:sp>
      <p:sp>
        <p:nvSpPr>
          <p:cNvPr id="89" name="text-533">
            <a:extLst>
              <a:ext uri="{FF2B5EF4-FFF2-40B4-BE49-F238E27FC236}">
                <a16:creationId xmlns:a16="http://schemas.microsoft.com/office/drawing/2014/main" id="{1845E8EA-2FE8-44B8-ADD9-3F20DE9E0F80}"/>
              </a:ext>
            </a:extLst>
          </p:cNvPr>
          <p:cNvSpPr>
            <a:spLocks noGrp="1"/>
          </p:cNvSpPr>
          <p:nvPr/>
        </p:nvSpPr>
        <p:spPr>
          <a:xfrm>
            <a:off x="9029700" y="56864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一次输出 24 步</a:t>
            </a:r>
          </a:p>
        </p:txBody>
      </p:sp>
    </p:spTree>
    <p:extLst>
      <p:ext uri="{BB962C8B-B14F-4D97-AF65-F5344CB8AC3E}">
        <p14:creationId xmlns:p14="http://schemas.microsoft.com/office/powerpoint/2010/main" val="1160162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-615">
            <a:extLst>
              <a:ext uri="{FF2B5EF4-FFF2-40B4-BE49-F238E27FC236}">
                <a16:creationId xmlns:a16="http://schemas.microsoft.com/office/drawing/2014/main" id="{C00A038D-EDE5-4A4A-9586-83833E56D953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TRAINING SETUP</a:t>
            </a:r>
          </a:p>
        </p:txBody>
      </p:sp>
      <p:sp>
        <p:nvSpPr>
          <p:cNvPr id="2" name="text-616">
            <a:extLst>
              <a:ext uri="{FF2B5EF4-FFF2-40B4-BE49-F238E27FC236}">
                <a16:creationId xmlns:a16="http://schemas.microsoft.com/office/drawing/2014/main" id="{C35DD254-F5F0-4637-B1E6-5BC93F11AC90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训练策略：时间顺序切分、训练集缩放与早停</a:t>
            </a:r>
          </a:p>
        </p:txBody>
      </p:sp>
      <p:sp>
        <p:nvSpPr>
          <p:cNvPr id="3" name="rect-617">
            <a:extLst>
              <a:ext uri="{FF2B5EF4-FFF2-40B4-BE49-F238E27FC236}">
                <a16:creationId xmlns:a16="http://schemas.microsoft.com/office/drawing/2014/main" id="{4B984007-F9EB-4AF6-B40B-E291F00B32DB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618">
            <a:extLst>
              <a:ext uri="{FF2B5EF4-FFF2-40B4-BE49-F238E27FC236}">
                <a16:creationId xmlns:a16="http://schemas.microsoft.com/office/drawing/2014/main" id="{2976334F-F226-4256-95AD-3BAF91EFFC03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TensorFlow/Keras training configuration</a:t>
            </a:r>
          </a:p>
        </p:txBody>
      </p:sp>
      <p:sp>
        <p:nvSpPr>
          <p:cNvPr id="5" name="text-619">
            <a:extLst>
              <a:ext uri="{FF2B5EF4-FFF2-40B4-BE49-F238E27FC236}">
                <a16:creationId xmlns:a16="http://schemas.microsoft.com/office/drawing/2014/main" id="{D7525E10-18B3-4DA6-AECD-20EE6F68924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box-620">
            <a:extLst>
              <a:ext uri="{FF2B5EF4-FFF2-40B4-BE49-F238E27FC236}">
                <a16:creationId xmlns:a16="http://schemas.microsoft.com/office/drawing/2014/main" id="{2F0B98DE-FDC0-47A8-8D0A-70B74D5D1230}"/>
              </a:ext>
            </a:extLst>
          </p:cNvPr>
          <p:cNvSpPr>
            <a:spLocks noGrp="1"/>
          </p:cNvSpPr>
          <p:nvPr/>
        </p:nvSpPr>
        <p:spPr>
          <a:xfrm>
            <a:off x="571500" y="1371600"/>
            <a:ext cx="11049000" cy="100965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text-621">
            <a:extLst>
              <a:ext uri="{FF2B5EF4-FFF2-40B4-BE49-F238E27FC236}">
                <a16:creationId xmlns:a16="http://schemas.microsoft.com/office/drawing/2014/main" id="{B9FEEF22-1522-4A13-861A-ADD117F0A391}"/>
              </a:ext>
            </a:extLst>
          </p:cNvPr>
          <p:cNvSpPr>
            <a:spLocks noGrp="1"/>
          </p:cNvSpPr>
          <p:nvPr/>
        </p:nvSpPr>
        <p:spPr>
          <a:xfrm>
            <a:off x="819150" y="15621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时间顺序切分</a:t>
            </a:r>
          </a:p>
        </p:txBody>
      </p:sp>
      <p:sp>
        <p:nvSpPr>
          <p:cNvPr id="8" name="rect-622">
            <a:extLst>
              <a:ext uri="{FF2B5EF4-FFF2-40B4-BE49-F238E27FC236}">
                <a16:creationId xmlns:a16="http://schemas.microsoft.com/office/drawing/2014/main" id="{643F76C4-3F68-4CD5-9569-58AE7A43D5BC}"/>
              </a:ext>
            </a:extLst>
          </p:cNvPr>
          <p:cNvSpPr>
            <a:spLocks noGrp="1"/>
          </p:cNvSpPr>
          <p:nvPr/>
        </p:nvSpPr>
        <p:spPr>
          <a:xfrm>
            <a:off x="2571750" y="1638300"/>
            <a:ext cx="6858000" cy="3238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9" name="rect-623">
            <a:extLst>
              <a:ext uri="{FF2B5EF4-FFF2-40B4-BE49-F238E27FC236}">
                <a16:creationId xmlns:a16="http://schemas.microsoft.com/office/drawing/2014/main" id="{386C725F-0E6A-4022-8BF1-E07A08459566}"/>
              </a:ext>
            </a:extLst>
          </p:cNvPr>
          <p:cNvSpPr>
            <a:spLocks noGrp="1"/>
          </p:cNvSpPr>
          <p:nvPr/>
        </p:nvSpPr>
        <p:spPr>
          <a:xfrm>
            <a:off x="8058150" y="1638300"/>
            <a:ext cx="1371600" cy="3238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text-624">
            <a:extLst>
              <a:ext uri="{FF2B5EF4-FFF2-40B4-BE49-F238E27FC236}">
                <a16:creationId xmlns:a16="http://schemas.microsoft.com/office/drawing/2014/main" id="{BEDF4189-D283-49CF-9DDD-2EF6B1B4DF69}"/>
              </a:ext>
            </a:extLst>
          </p:cNvPr>
          <p:cNvSpPr>
            <a:spLocks noGrp="1"/>
          </p:cNvSpPr>
          <p:nvPr/>
        </p:nvSpPr>
        <p:spPr>
          <a:xfrm>
            <a:off x="2571750" y="1695450"/>
            <a:ext cx="548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训练区间 80%</a:t>
            </a:r>
          </a:p>
        </p:txBody>
      </p:sp>
      <p:sp>
        <p:nvSpPr>
          <p:cNvPr id="11" name="text-625">
            <a:extLst>
              <a:ext uri="{FF2B5EF4-FFF2-40B4-BE49-F238E27FC236}">
                <a16:creationId xmlns:a16="http://schemas.microsoft.com/office/drawing/2014/main" id="{72B8B40B-B2F6-42F1-9FCB-D6A17C39D991}"/>
              </a:ext>
            </a:extLst>
          </p:cNvPr>
          <p:cNvSpPr>
            <a:spLocks noGrp="1"/>
          </p:cNvSpPr>
          <p:nvPr/>
        </p:nvSpPr>
        <p:spPr>
          <a:xfrm>
            <a:off x="8058150" y="169545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 20%</a:t>
            </a:r>
          </a:p>
        </p:txBody>
      </p:sp>
      <p:sp>
        <p:nvSpPr>
          <p:cNvPr id="12" name="text-626">
            <a:extLst>
              <a:ext uri="{FF2B5EF4-FFF2-40B4-BE49-F238E27FC236}">
                <a16:creationId xmlns:a16="http://schemas.microsoft.com/office/drawing/2014/main" id="{F2239075-9079-4E39-984B-ABB77A0B4782}"/>
              </a:ext>
            </a:extLst>
          </p:cNvPr>
          <p:cNvSpPr>
            <a:spLocks noGrp="1"/>
          </p:cNvSpPr>
          <p:nvPr/>
        </p:nvSpPr>
        <p:spPr>
          <a:xfrm>
            <a:off x="2571750" y="20193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2008-01</a:t>
            </a:r>
          </a:p>
        </p:txBody>
      </p:sp>
      <p:sp>
        <p:nvSpPr>
          <p:cNvPr id="13" name="text-627">
            <a:extLst>
              <a:ext uri="{FF2B5EF4-FFF2-40B4-BE49-F238E27FC236}">
                <a16:creationId xmlns:a16="http://schemas.microsoft.com/office/drawing/2014/main" id="{85C33C15-AD90-4669-A7B9-B6DAFBB85306}"/>
              </a:ext>
            </a:extLst>
          </p:cNvPr>
          <p:cNvSpPr>
            <a:spLocks noGrp="1"/>
          </p:cNvSpPr>
          <p:nvPr/>
        </p:nvSpPr>
        <p:spPr>
          <a:xfrm>
            <a:off x="7524750" y="20193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约 2022-10</a:t>
            </a:r>
          </a:p>
        </p:txBody>
      </p:sp>
      <p:sp>
        <p:nvSpPr>
          <p:cNvPr id="14" name="text-628">
            <a:extLst>
              <a:ext uri="{FF2B5EF4-FFF2-40B4-BE49-F238E27FC236}">
                <a16:creationId xmlns:a16="http://schemas.microsoft.com/office/drawing/2014/main" id="{03733D14-9C93-41C2-994B-E06A5B7B302E}"/>
              </a:ext>
            </a:extLst>
          </p:cNvPr>
          <p:cNvSpPr>
            <a:spLocks noGrp="1"/>
          </p:cNvSpPr>
          <p:nvPr/>
        </p:nvSpPr>
        <p:spPr>
          <a:xfrm>
            <a:off x="8858250" y="20193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2026-06</a:t>
            </a:r>
          </a:p>
        </p:txBody>
      </p:sp>
      <p:sp>
        <p:nvSpPr>
          <p:cNvPr id="15" name="box-629">
            <a:extLst>
              <a:ext uri="{FF2B5EF4-FFF2-40B4-BE49-F238E27FC236}">
                <a16:creationId xmlns:a16="http://schemas.microsoft.com/office/drawing/2014/main" id="{72A7FC47-A469-4CDA-9F38-B5EA8862CB3E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33337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6" name="rect-630">
            <a:extLst>
              <a:ext uri="{FF2B5EF4-FFF2-40B4-BE49-F238E27FC236}">
                <a16:creationId xmlns:a16="http://schemas.microsoft.com/office/drawing/2014/main" id="{92601076-EF82-4BFB-A7D3-0F3D2CDAD188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17" name="text-631">
            <a:extLst>
              <a:ext uri="{FF2B5EF4-FFF2-40B4-BE49-F238E27FC236}">
                <a16:creationId xmlns:a16="http://schemas.microsoft.com/office/drawing/2014/main" id="{C972C7A7-5740-4226-9DA1-81251EFE5B61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300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优化器</a:t>
            </a:r>
          </a:p>
        </p:txBody>
      </p:sp>
      <p:sp>
        <p:nvSpPr>
          <p:cNvPr id="18" name="text-632">
            <a:extLst>
              <a:ext uri="{FF2B5EF4-FFF2-40B4-BE49-F238E27FC236}">
                <a16:creationId xmlns:a16="http://schemas.microsoft.com/office/drawing/2014/main" id="{4F261810-7405-477F-8BB4-29C0510E0CA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Adam</a:t>
            </a:r>
          </a:p>
        </p:txBody>
      </p:sp>
      <p:sp>
        <p:nvSpPr>
          <p:cNvPr id="19" name="text-633">
            <a:extLst>
              <a:ext uri="{FF2B5EF4-FFF2-40B4-BE49-F238E27FC236}">
                <a16:creationId xmlns:a16="http://schemas.microsoft.com/office/drawing/2014/main" id="{9D93D0FB-2677-472C-BCAC-5D5770BF121A}"/>
              </a:ext>
            </a:extLst>
          </p:cNvPr>
          <p:cNvSpPr>
            <a:spLocks noGrp="1"/>
          </p:cNvSpPr>
          <p:nvPr/>
        </p:nvSpPr>
        <p:spPr>
          <a:xfrm>
            <a:off x="762000" y="3552825"/>
            <a:ext cx="3009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learning rate = 0.001</a:t>
            </a:r>
          </a:p>
        </p:txBody>
      </p:sp>
      <p:sp>
        <p:nvSpPr>
          <p:cNvPr id="20" name="box-634">
            <a:extLst>
              <a:ext uri="{FF2B5EF4-FFF2-40B4-BE49-F238E27FC236}">
                <a16:creationId xmlns:a16="http://schemas.microsoft.com/office/drawing/2014/main" id="{9CA365AC-C707-4E73-8256-BC22B9F59B32}"/>
              </a:ext>
            </a:extLst>
          </p:cNvPr>
          <p:cNvSpPr>
            <a:spLocks noGrp="1"/>
          </p:cNvSpPr>
          <p:nvPr/>
        </p:nvSpPr>
        <p:spPr>
          <a:xfrm>
            <a:off x="4286250" y="2724150"/>
            <a:ext cx="33337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rect-635">
            <a:extLst>
              <a:ext uri="{FF2B5EF4-FFF2-40B4-BE49-F238E27FC236}">
                <a16:creationId xmlns:a16="http://schemas.microsoft.com/office/drawing/2014/main" id="{65100E5B-F494-44AD-A66D-76C17303F883}"/>
              </a:ext>
            </a:extLst>
          </p:cNvPr>
          <p:cNvSpPr>
            <a:spLocks noGrp="1"/>
          </p:cNvSpPr>
          <p:nvPr/>
        </p:nvSpPr>
        <p:spPr>
          <a:xfrm>
            <a:off x="4286250" y="2724150"/>
            <a:ext cx="66675" cy="11049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2" name="text-636">
            <a:extLst>
              <a:ext uri="{FF2B5EF4-FFF2-40B4-BE49-F238E27FC236}">
                <a16:creationId xmlns:a16="http://schemas.microsoft.com/office/drawing/2014/main" id="{B7853966-E5FA-461B-986B-6A88C28A274D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300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损失函数</a:t>
            </a:r>
          </a:p>
        </p:txBody>
      </p:sp>
      <p:sp>
        <p:nvSpPr>
          <p:cNvPr id="23" name="text-637">
            <a:extLst>
              <a:ext uri="{FF2B5EF4-FFF2-40B4-BE49-F238E27FC236}">
                <a16:creationId xmlns:a16="http://schemas.microsoft.com/office/drawing/2014/main" id="{A464B8CB-5F26-45FB-8555-E9869229C06E}"/>
              </a:ext>
            </a:extLst>
          </p:cNvPr>
          <p:cNvSpPr>
            <a:spLocks noGrp="1"/>
          </p:cNvSpPr>
          <p:nvPr/>
        </p:nvSpPr>
        <p:spPr>
          <a:xfrm>
            <a:off x="4476750" y="3095625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24" name="text-638">
            <a:extLst>
              <a:ext uri="{FF2B5EF4-FFF2-40B4-BE49-F238E27FC236}">
                <a16:creationId xmlns:a16="http://schemas.microsoft.com/office/drawing/2014/main" id="{B5AC95DD-1600-4E6F-8950-BF8EA3F70FEC}"/>
              </a:ext>
            </a:extLst>
          </p:cNvPr>
          <p:cNvSpPr>
            <a:spLocks noGrp="1"/>
          </p:cNvSpPr>
          <p:nvPr/>
        </p:nvSpPr>
        <p:spPr>
          <a:xfrm>
            <a:off x="4476750" y="3552825"/>
            <a:ext cx="3009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多步水位均方误差</a:t>
            </a:r>
          </a:p>
        </p:txBody>
      </p:sp>
      <p:sp>
        <p:nvSpPr>
          <p:cNvPr id="25" name="box-639">
            <a:extLst>
              <a:ext uri="{FF2B5EF4-FFF2-40B4-BE49-F238E27FC236}">
                <a16:creationId xmlns:a16="http://schemas.microsoft.com/office/drawing/2014/main" id="{04A4B33E-4A5E-4EFA-8679-C43EC5DF6B63}"/>
              </a:ext>
            </a:extLst>
          </p:cNvPr>
          <p:cNvSpPr>
            <a:spLocks noGrp="1"/>
          </p:cNvSpPr>
          <p:nvPr/>
        </p:nvSpPr>
        <p:spPr>
          <a:xfrm>
            <a:off x="8001000" y="2724150"/>
            <a:ext cx="33337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6" name="rect-640">
            <a:extLst>
              <a:ext uri="{FF2B5EF4-FFF2-40B4-BE49-F238E27FC236}">
                <a16:creationId xmlns:a16="http://schemas.microsoft.com/office/drawing/2014/main" id="{9A597467-B59E-4828-9C3C-7C8978E27FC7}"/>
              </a:ext>
            </a:extLst>
          </p:cNvPr>
          <p:cNvSpPr>
            <a:spLocks noGrp="1"/>
          </p:cNvSpPr>
          <p:nvPr/>
        </p:nvSpPr>
        <p:spPr>
          <a:xfrm>
            <a:off x="8001000" y="2724150"/>
            <a:ext cx="66675" cy="11049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7" name="text-641">
            <a:extLst>
              <a:ext uri="{FF2B5EF4-FFF2-40B4-BE49-F238E27FC236}">
                <a16:creationId xmlns:a16="http://schemas.microsoft.com/office/drawing/2014/main" id="{0C2568C8-FDEF-424F-821A-A63E8B88C2B7}"/>
              </a:ext>
            </a:extLst>
          </p:cNvPr>
          <p:cNvSpPr>
            <a:spLocks noGrp="1"/>
          </p:cNvSpPr>
          <p:nvPr/>
        </p:nvSpPr>
        <p:spPr>
          <a:xfrm>
            <a:off x="8191500" y="2857500"/>
            <a:ext cx="300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Batch size</a:t>
            </a:r>
          </a:p>
        </p:txBody>
      </p:sp>
      <p:sp>
        <p:nvSpPr>
          <p:cNvPr id="28" name="text-642">
            <a:extLst>
              <a:ext uri="{FF2B5EF4-FFF2-40B4-BE49-F238E27FC236}">
                <a16:creationId xmlns:a16="http://schemas.microsoft.com/office/drawing/2014/main" id="{13573D5E-C14F-4999-B422-343A092AC0FC}"/>
              </a:ext>
            </a:extLst>
          </p:cNvPr>
          <p:cNvSpPr>
            <a:spLocks noGrp="1"/>
          </p:cNvSpPr>
          <p:nvPr/>
        </p:nvSpPr>
        <p:spPr>
          <a:xfrm>
            <a:off x="8191500" y="3095625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128</a:t>
            </a:r>
          </a:p>
        </p:txBody>
      </p:sp>
      <p:sp>
        <p:nvSpPr>
          <p:cNvPr id="29" name="text-643">
            <a:extLst>
              <a:ext uri="{FF2B5EF4-FFF2-40B4-BE49-F238E27FC236}">
                <a16:creationId xmlns:a16="http://schemas.microsoft.com/office/drawing/2014/main" id="{5B2A9DEC-6E2D-43E4-9928-66785228395E}"/>
              </a:ext>
            </a:extLst>
          </p:cNvPr>
          <p:cNvSpPr>
            <a:spLocks noGrp="1"/>
          </p:cNvSpPr>
          <p:nvPr/>
        </p:nvSpPr>
        <p:spPr>
          <a:xfrm>
            <a:off x="8191500" y="3552825"/>
            <a:ext cx="3009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每批训练序列数</a:t>
            </a:r>
          </a:p>
        </p:txBody>
      </p:sp>
      <p:sp>
        <p:nvSpPr>
          <p:cNvPr id="30" name="box-644">
            <a:extLst>
              <a:ext uri="{FF2B5EF4-FFF2-40B4-BE49-F238E27FC236}">
                <a16:creationId xmlns:a16="http://schemas.microsoft.com/office/drawing/2014/main" id="{D27EC2E9-D187-4F84-B2A2-3B756A24B5DB}"/>
              </a:ext>
            </a:extLst>
          </p:cNvPr>
          <p:cNvSpPr>
            <a:spLocks noGrp="1"/>
          </p:cNvSpPr>
          <p:nvPr/>
        </p:nvSpPr>
        <p:spPr>
          <a:xfrm>
            <a:off x="571500" y="4105275"/>
            <a:ext cx="33337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1" name="rect-645">
            <a:extLst>
              <a:ext uri="{FF2B5EF4-FFF2-40B4-BE49-F238E27FC236}">
                <a16:creationId xmlns:a16="http://schemas.microsoft.com/office/drawing/2014/main" id="{CE3F0874-8ADF-4398-A8E2-3869EBC95F9E}"/>
              </a:ext>
            </a:extLst>
          </p:cNvPr>
          <p:cNvSpPr>
            <a:spLocks noGrp="1"/>
          </p:cNvSpPr>
          <p:nvPr/>
        </p:nvSpPr>
        <p:spPr>
          <a:xfrm>
            <a:off x="571500" y="4105275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2" name="text-646">
            <a:extLst>
              <a:ext uri="{FF2B5EF4-FFF2-40B4-BE49-F238E27FC236}">
                <a16:creationId xmlns:a16="http://schemas.microsoft.com/office/drawing/2014/main" id="{E6E7FBCA-B724-4D01-9B14-FF6064070A1E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300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最大轮数</a:t>
            </a:r>
          </a:p>
        </p:txBody>
      </p:sp>
      <p:sp>
        <p:nvSpPr>
          <p:cNvPr id="33" name="text-647">
            <a:extLst>
              <a:ext uri="{FF2B5EF4-FFF2-40B4-BE49-F238E27FC236}">
                <a16:creationId xmlns:a16="http://schemas.microsoft.com/office/drawing/2014/main" id="{DD2DB79B-F229-48CD-9528-8722E960C23A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4" name="text-648">
            <a:extLst>
              <a:ext uri="{FF2B5EF4-FFF2-40B4-BE49-F238E27FC236}">
                <a16:creationId xmlns:a16="http://schemas.microsoft.com/office/drawing/2014/main" id="{FE5D796F-DD09-4D27-B429-A390188A34DE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3009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EarlyStopping 可提前结束</a:t>
            </a:r>
          </a:p>
        </p:txBody>
      </p:sp>
      <p:sp>
        <p:nvSpPr>
          <p:cNvPr id="35" name="box-649">
            <a:extLst>
              <a:ext uri="{FF2B5EF4-FFF2-40B4-BE49-F238E27FC236}">
                <a16:creationId xmlns:a16="http://schemas.microsoft.com/office/drawing/2014/main" id="{5A103AB4-6802-4047-832F-CEE4C4165222}"/>
              </a:ext>
            </a:extLst>
          </p:cNvPr>
          <p:cNvSpPr>
            <a:spLocks noGrp="1"/>
          </p:cNvSpPr>
          <p:nvPr/>
        </p:nvSpPr>
        <p:spPr>
          <a:xfrm>
            <a:off x="4286250" y="4105275"/>
            <a:ext cx="33337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6" name="rect-650">
            <a:extLst>
              <a:ext uri="{FF2B5EF4-FFF2-40B4-BE49-F238E27FC236}">
                <a16:creationId xmlns:a16="http://schemas.microsoft.com/office/drawing/2014/main" id="{03242C3B-A354-4189-880C-98879C996FC0}"/>
              </a:ext>
            </a:extLst>
          </p:cNvPr>
          <p:cNvSpPr>
            <a:spLocks noGrp="1"/>
          </p:cNvSpPr>
          <p:nvPr/>
        </p:nvSpPr>
        <p:spPr>
          <a:xfrm>
            <a:off x="4286250" y="4105275"/>
            <a:ext cx="66675" cy="11049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37" name="text-651">
            <a:extLst>
              <a:ext uri="{FF2B5EF4-FFF2-40B4-BE49-F238E27FC236}">
                <a16:creationId xmlns:a16="http://schemas.microsoft.com/office/drawing/2014/main" id="{A9DF4CF7-2DCF-47EF-9BEC-82C7966DF3EA}"/>
              </a:ext>
            </a:extLst>
          </p:cNvPr>
          <p:cNvSpPr>
            <a:spLocks noGrp="1"/>
          </p:cNvSpPr>
          <p:nvPr/>
        </p:nvSpPr>
        <p:spPr>
          <a:xfrm>
            <a:off x="4476750" y="4238625"/>
            <a:ext cx="300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38" name="text-652">
            <a:extLst>
              <a:ext uri="{FF2B5EF4-FFF2-40B4-BE49-F238E27FC236}">
                <a16:creationId xmlns:a16="http://schemas.microsoft.com/office/drawing/2014/main" id="{5A569971-0966-4842-B724-2F11B625196E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39" name="text-653">
            <a:extLst>
              <a:ext uri="{FF2B5EF4-FFF2-40B4-BE49-F238E27FC236}">
                <a16:creationId xmlns:a16="http://schemas.microsoft.com/office/drawing/2014/main" id="{F982E38E-24C1-498D-8E77-A05F852D4D88}"/>
              </a:ext>
            </a:extLst>
          </p:cNvPr>
          <p:cNvSpPr>
            <a:spLocks noGrp="1"/>
          </p:cNvSpPr>
          <p:nvPr/>
        </p:nvSpPr>
        <p:spPr>
          <a:xfrm>
            <a:off x="4476750" y="4933950"/>
            <a:ext cx="3009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从训练序列尾部划分</a:t>
            </a:r>
          </a:p>
        </p:txBody>
      </p:sp>
      <p:sp>
        <p:nvSpPr>
          <p:cNvPr id="40" name="box-654">
            <a:extLst>
              <a:ext uri="{FF2B5EF4-FFF2-40B4-BE49-F238E27FC236}">
                <a16:creationId xmlns:a16="http://schemas.microsoft.com/office/drawing/2014/main" id="{FD750187-3968-4BC7-B75D-12C94FE14B1F}"/>
              </a:ext>
            </a:extLst>
          </p:cNvPr>
          <p:cNvSpPr>
            <a:spLocks noGrp="1"/>
          </p:cNvSpPr>
          <p:nvPr/>
        </p:nvSpPr>
        <p:spPr>
          <a:xfrm>
            <a:off x="8001000" y="4105275"/>
            <a:ext cx="333375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1" name="rect-655">
            <a:extLst>
              <a:ext uri="{FF2B5EF4-FFF2-40B4-BE49-F238E27FC236}">
                <a16:creationId xmlns:a16="http://schemas.microsoft.com/office/drawing/2014/main" id="{35D6CCD4-FB91-4AFB-BADE-6CFF46706E44}"/>
              </a:ext>
            </a:extLst>
          </p:cNvPr>
          <p:cNvSpPr>
            <a:spLocks noGrp="1"/>
          </p:cNvSpPr>
          <p:nvPr/>
        </p:nvSpPr>
        <p:spPr>
          <a:xfrm>
            <a:off x="8001000" y="4105275"/>
            <a:ext cx="66675" cy="11049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42" name="text-656">
            <a:extLst>
              <a:ext uri="{FF2B5EF4-FFF2-40B4-BE49-F238E27FC236}">
                <a16:creationId xmlns:a16="http://schemas.microsoft.com/office/drawing/2014/main" id="{D671C7E5-EDCC-49AD-965D-EE079615C190}"/>
              </a:ext>
            </a:extLst>
          </p:cNvPr>
          <p:cNvSpPr>
            <a:spLocks noGrp="1"/>
          </p:cNvSpPr>
          <p:nvPr/>
        </p:nvSpPr>
        <p:spPr>
          <a:xfrm>
            <a:off x="8191500" y="4238625"/>
            <a:ext cx="300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早停耐心</a:t>
            </a:r>
          </a:p>
        </p:txBody>
      </p:sp>
      <p:sp>
        <p:nvSpPr>
          <p:cNvPr id="43" name="text-657">
            <a:extLst>
              <a:ext uri="{FF2B5EF4-FFF2-40B4-BE49-F238E27FC236}">
                <a16:creationId xmlns:a16="http://schemas.microsoft.com/office/drawing/2014/main" id="{0DF9A9A5-18CE-4851-AFB4-02E03028A0E2}"/>
              </a:ext>
            </a:extLst>
          </p:cNvPr>
          <p:cNvSpPr>
            <a:spLocks noGrp="1"/>
          </p:cNvSpPr>
          <p:nvPr/>
        </p:nvSpPr>
        <p:spPr>
          <a:xfrm>
            <a:off x="8191500" y="447675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4" name="text-658">
            <a:extLst>
              <a:ext uri="{FF2B5EF4-FFF2-40B4-BE49-F238E27FC236}">
                <a16:creationId xmlns:a16="http://schemas.microsoft.com/office/drawing/2014/main" id="{3E7EBF7A-C304-4BF8-B636-1C83FB53FF94}"/>
              </a:ext>
            </a:extLst>
          </p:cNvPr>
          <p:cNvSpPr>
            <a:spLocks noGrp="1"/>
          </p:cNvSpPr>
          <p:nvPr/>
        </p:nvSpPr>
        <p:spPr>
          <a:xfrm>
            <a:off x="8191500" y="4933950"/>
            <a:ext cx="3009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恢复验证损失最佳权重</a:t>
            </a:r>
          </a:p>
        </p:txBody>
      </p:sp>
      <p:sp>
        <p:nvSpPr>
          <p:cNvPr id="45" name="box-659">
            <a:extLst>
              <a:ext uri="{FF2B5EF4-FFF2-40B4-BE49-F238E27FC236}">
                <a16:creationId xmlns:a16="http://schemas.microsoft.com/office/drawing/2014/main" id="{9039BDD9-AF6C-467D-95AD-D2458FAA264F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1049000" cy="533400"/>
          </a:xfrm>
          <a:prstGeom prst="roundRect">
            <a:avLst>
              <a:gd name="adj" fmla="val 21429"/>
            </a:avLst>
          </a:prstGeom>
          <a:solidFill>
            <a:srgbClr val="E8F3FA"/>
          </a:solidFill>
          <a:ln w="0">
            <a:noFill/>
            <a:prstDash val="solid"/>
          </a:ln>
        </p:spPr>
      </p:sp>
      <p:sp>
        <p:nvSpPr>
          <p:cNvPr id="46" name="text-660">
            <a:extLst>
              <a:ext uri="{FF2B5EF4-FFF2-40B4-BE49-F238E27FC236}">
                <a16:creationId xmlns:a16="http://schemas.microsoft.com/office/drawing/2014/main" id="{08C3B4D0-7BDC-43EE-98D0-882F8E737F29}"/>
              </a:ext>
            </a:extLst>
          </p:cNvPr>
          <p:cNvSpPr>
            <a:spLocks noGrp="1"/>
          </p:cNvSpPr>
          <p:nvPr/>
        </p:nvSpPr>
        <p:spPr>
          <a:xfrm>
            <a:off x="781050" y="5772150"/>
            <a:ext cx="1062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MinMaxScaler 只在训练期数据上拟合，再用于完整序列转换，避免测试区间统计信息泄漏到模型训练。</a:t>
            </a:r>
          </a:p>
        </p:txBody>
      </p:sp>
    </p:spTree>
    <p:extLst>
      <p:ext uri="{BB962C8B-B14F-4D97-AF65-F5344CB8AC3E}">
        <p14:creationId xmlns:p14="http://schemas.microsoft.com/office/powerpoint/2010/main" val="148600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566">
            <a:extLst>
              <a:ext uri="{FF2B5EF4-FFF2-40B4-BE49-F238E27FC236}">
                <a16:creationId xmlns:a16="http://schemas.microsoft.com/office/drawing/2014/main" id="{1025E065-EADB-4682-AF85-97FDB33E9ECE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MODEL ARCHITECTURE</a:t>
            </a:r>
          </a:p>
        </p:txBody>
      </p:sp>
      <p:sp>
        <p:nvSpPr>
          <p:cNvPr id="2" name="text-567">
            <a:extLst>
              <a:ext uri="{FF2B5EF4-FFF2-40B4-BE49-F238E27FC236}">
                <a16:creationId xmlns:a16="http://schemas.microsoft.com/office/drawing/2014/main" id="{6D00A8A4-E3D4-4E1B-A082-52A350334570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模型结构：双层 LSTM 编码 + Dense 多步输出</a:t>
            </a:r>
          </a:p>
        </p:txBody>
      </p:sp>
      <p:sp>
        <p:nvSpPr>
          <p:cNvPr id="3" name="rect-568">
            <a:extLst>
              <a:ext uri="{FF2B5EF4-FFF2-40B4-BE49-F238E27FC236}">
                <a16:creationId xmlns:a16="http://schemas.microsoft.com/office/drawing/2014/main" id="{C5F0F78B-670B-4460-8FC4-D033BC37875C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569">
            <a:extLst>
              <a:ext uri="{FF2B5EF4-FFF2-40B4-BE49-F238E27FC236}">
                <a16:creationId xmlns:a16="http://schemas.microsoft.com/office/drawing/2014/main" id="{DF7CD279-BE81-4E57-8BA3-31D6AC37343F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src/train_lstm.py</a:t>
            </a:r>
          </a:p>
        </p:txBody>
      </p:sp>
      <p:sp>
        <p:nvSpPr>
          <p:cNvPr id="5" name="text-570">
            <a:extLst>
              <a:ext uri="{FF2B5EF4-FFF2-40B4-BE49-F238E27FC236}">
                <a16:creationId xmlns:a16="http://schemas.microsoft.com/office/drawing/2014/main" id="{554E675C-08CC-4192-B269-47DB2D9C6FC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box-571">
            <a:extLst>
              <a:ext uri="{FF2B5EF4-FFF2-40B4-BE49-F238E27FC236}">
                <a16:creationId xmlns:a16="http://schemas.microsoft.com/office/drawing/2014/main" id="{29905B79-FF5C-46E9-881C-CA00DF4898A1}"/>
              </a:ext>
            </a:extLst>
          </p:cNvPr>
          <p:cNvSpPr>
            <a:spLocks noGrp="1"/>
          </p:cNvSpPr>
          <p:nvPr/>
        </p:nvSpPr>
        <p:spPr>
          <a:xfrm>
            <a:off x="400050" y="1943100"/>
            <a:ext cx="1409700" cy="1428750"/>
          </a:xfrm>
          <a:prstGeom prst="roundRect">
            <a:avLst>
              <a:gd name="adj" fmla="val 10811"/>
            </a:avLst>
          </a:prstGeom>
          <a:solidFill>
            <a:srgbClr val="1261A6">
              <a:alpha val="8627"/>
            </a:srgbClr>
          </a:solidFill>
          <a:ln w="9525">
            <a:solidFill>
              <a:srgbClr val="1261A6"/>
            </a:solidFill>
            <a:prstDash val="solid"/>
          </a:ln>
        </p:spPr>
      </p:sp>
      <p:sp>
        <p:nvSpPr>
          <p:cNvPr id="7" name="text-572">
            <a:extLst>
              <a:ext uri="{FF2B5EF4-FFF2-40B4-BE49-F238E27FC236}">
                <a16:creationId xmlns:a16="http://schemas.microsoft.com/office/drawing/2014/main" id="{BD153490-3CF1-4657-BB53-AF21BB6E4803}"/>
              </a:ext>
            </a:extLst>
          </p:cNvPr>
          <p:cNvSpPr>
            <a:spLocks noGrp="1"/>
          </p:cNvSpPr>
          <p:nvPr/>
        </p:nvSpPr>
        <p:spPr>
          <a:xfrm>
            <a:off x="495300" y="21526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8" name="text-573">
            <a:extLst>
              <a:ext uri="{FF2B5EF4-FFF2-40B4-BE49-F238E27FC236}">
                <a16:creationId xmlns:a16="http://schemas.microsoft.com/office/drawing/2014/main" id="{25B427D5-0637-41D5-A502-5831F9A050B6}"/>
              </a:ext>
            </a:extLst>
          </p:cNvPr>
          <p:cNvSpPr>
            <a:spLocks noGrp="1"/>
          </p:cNvSpPr>
          <p:nvPr/>
        </p:nvSpPr>
        <p:spPr>
          <a:xfrm>
            <a:off x="495300" y="25527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72 × 3</a:t>
            </a:r>
          </a:p>
        </p:txBody>
      </p:sp>
      <p:sp>
        <p:nvSpPr>
          <p:cNvPr id="9" name="text-574">
            <a:extLst>
              <a:ext uri="{FF2B5EF4-FFF2-40B4-BE49-F238E27FC236}">
                <a16:creationId xmlns:a16="http://schemas.microsoft.com/office/drawing/2014/main" id="{D90E2C0C-E625-4FB4-9B85-D4A29FAA16C9}"/>
              </a:ext>
            </a:extLst>
          </p:cNvPr>
          <p:cNvSpPr>
            <a:spLocks noGrp="1"/>
          </p:cNvSpPr>
          <p:nvPr/>
        </p:nvSpPr>
        <p:spPr>
          <a:xfrm>
            <a:off x="495300" y="2952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历史窗口</a:t>
            </a:r>
          </a:p>
        </p:txBody>
      </p:sp>
      <p:sp>
        <p:nvSpPr>
          <p:cNvPr id="10" name="arrow-575">
            <a:extLst>
              <a:ext uri="{FF2B5EF4-FFF2-40B4-BE49-F238E27FC236}">
                <a16:creationId xmlns:a16="http://schemas.microsoft.com/office/drawing/2014/main" id="{8F10FDB4-D664-4C7C-A773-B87EE72D9693}"/>
              </a:ext>
            </a:extLst>
          </p:cNvPr>
          <p:cNvSpPr>
            <a:spLocks noGrp="1"/>
          </p:cNvSpPr>
          <p:nvPr/>
        </p:nvSpPr>
        <p:spPr>
          <a:xfrm>
            <a:off x="1828800" y="2495550"/>
            <a:ext cx="22860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11" name="box-576">
            <a:extLst>
              <a:ext uri="{FF2B5EF4-FFF2-40B4-BE49-F238E27FC236}">
                <a16:creationId xmlns:a16="http://schemas.microsoft.com/office/drawing/2014/main" id="{E96C00B7-D967-4497-8DEC-8C31D58E34B7}"/>
              </a:ext>
            </a:extLst>
          </p:cNvPr>
          <p:cNvSpPr>
            <a:spLocks noGrp="1"/>
          </p:cNvSpPr>
          <p:nvPr/>
        </p:nvSpPr>
        <p:spPr>
          <a:xfrm>
            <a:off x="2076450" y="1943100"/>
            <a:ext cx="1409700" cy="1428750"/>
          </a:xfrm>
          <a:prstGeom prst="roundRect">
            <a:avLst>
              <a:gd name="adj" fmla="val 10811"/>
            </a:avLst>
          </a:prstGeom>
          <a:solidFill>
            <a:srgbClr val="0F766E">
              <a:alpha val="8627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text-577">
            <a:extLst>
              <a:ext uri="{FF2B5EF4-FFF2-40B4-BE49-F238E27FC236}">
                <a16:creationId xmlns:a16="http://schemas.microsoft.com/office/drawing/2014/main" id="{1E88CD37-6674-48F4-A11B-D3637AFEE2B4}"/>
              </a:ext>
            </a:extLst>
          </p:cNvPr>
          <p:cNvSpPr>
            <a:spLocks noGrp="1"/>
          </p:cNvSpPr>
          <p:nvPr/>
        </p:nvSpPr>
        <p:spPr>
          <a:xfrm>
            <a:off x="2171700" y="21526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LSTM</a:t>
            </a:r>
          </a:p>
        </p:txBody>
      </p:sp>
      <p:sp>
        <p:nvSpPr>
          <p:cNvPr id="13" name="text-578">
            <a:extLst>
              <a:ext uri="{FF2B5EF4-FFF2-40B4-BE49-F238E27FC236}">
                <a16:creationId xmlns:a16="http://schemas.microsoft.com/office/drawing/2014/main" id="{81736316-C3CC-4020-9985-B8C972204CD2}"/>
              </a:ext>
            </a:extLst>
          </p:cNvPr>
          <p:cNvSpPr>
            <a:spLocks noGrp="1"/>
          </p:cNvSpPr>
          <p:nvPr/>
        </p:nvSpPr>
        <p:spPr>
          <a:xfrm>
            <a:off x="2171700" y="25527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64 units</a:t>
            </a:r>
          </a:p>
        </p:txBody>
      </p:sp>
      <p:sp>
        <p:nvSpPr>
          <p:cNvPr id="14" name="text-579">
            <a:extLst>
              <a:ext uri="{FF2B5EF4-FFF2-40B4-BE49-F238E27FC236}">
                <a16:creationId xmlns:a16="http://schemas.microsoft.com/office/drawing/2014/main" id="{064EDCB8-24D5-4C07-B64B-A6016AC208C4}"/>
              </a:ext>
            </a:extLst>
          </p:cNvPr>
          <p:cNvSpPr>
            <a:spLocks noGrp="1"/>
          </p:cNvSpPr>
          <p:nvPr/>
        </p:nvSpPr>
        <p:spPr>
          <a:xfrm>
            <a:off x="2171700" y="2952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return_sequences=True</a:t>
            </a:r>
          </a:p>
        </p:txBody>
      </p:sp>
      <p:sp>
        <p:nvSpPr>
          <p:cNvPr id="15" name="arrow-580">
            <a:extLst>
              <a:ext uri="{FF2B5EF4-FFF2-40B4-BE49-F238E27FC236}">
                <a16:creationId xmlns:a16="http://schemas.microsoft.com/office/drawing/2014/main" id="{1E2396D2-0DFF-4A5D-9D8F-28F704E60BA0}"/>
              </a:ext>
            </a:extLst>
          </p:cNvPr>
          <p:cNvSpPr>
            <a:spLocks noGrp="1"/>
          </p:cNvSpPr>
          <p:nvPr/>
        </p:nvSpPr>
        <p:spPr>
          <a:xfrm>
            <a:off x="3505200" y="2495550"/>
            <a:ext cx="22860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16" name="box-581">
            <a:extLst>
              <a:ext uri="{FF2B5EF4-FFF2-40B4-BE49-F238E27FC236}">
                <a16:creationId xmlns:a16="http://schemas.microsoft.com/office/drawing/2014/main" id="{FB9B1C86-1A39-4CCC-9D57-1FA92BB425C0}"/>
              </a:ext>
            </a:extLst>
          </p:cNvPr>
          <p:cNvSpPr>
            <a:spLocks noGrp="1"/>
          </p:cNvSpPr>
          <p:nvPr/>
        </p:nvSpPr>
        <p:spPr>
          <a:xfrm>
            <a:off x="3752850" y="1943100"/>
            <a:ext cx="1409700" cy="1428750"/>
          </a:xfrm>
          <a:prstGeom prst="roundRect">
            <a:avLst>
              <a:gd name="adj" fmla="val 10811"/>
            </a:avLst>
          </a:prstGeom>
          <a:solidFill>
            <a:srgbClr val="F59E0B">
              <a:alpha val="8627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text-582">
            <a:extLst>
              <a:ext uri="{FF2B5EF4-FFF2-40B4-BE49-F238E27FC236}">
                <a16:creationId xmlns:a16="http://schemas.microsoft.com/office/drawing/2014/main" id="{916AD0BB-0CCB-4979-819C-16034405DDCF}"/>
              </a:ext>
            </a:extLst>
          </p:cNvPr>
          <p:cNvSpPr>
            <a:spLocks noGrp="1"/>
          </p:cNvSpPr>
          <p:nvPr/>
        </p:nvSpPr>
        <p:spPr>
          <a:xfrm>
            <a:off x="3848100" y="21526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Dropout</a:t>
            </a:r>
          </a:p>
        </p:txBody>
      </p:sp>
      <p:sp>
        <p:nvSpPr>
          <p:cNvPr id="18" name="text-583">
            <a:extLst>
              <a:ext uri="{FF2B5EF4-FFF2-40B4-BE49-F238E27FC236}">
                <a16:creationId xmlns:a16="http://schemas.microsoft.com/office/drawing/2014/main" id="{16F5F95C-C2C5-434C-8567-73E3B14A8272}"/>
              </a:ext>
            </a:extLst>
          </p:cNvPr>
          <p:cNvSpPr>
            <a:spLocks noGrp="1"/>
          </p:cNvSpPr>
          <p:nvPr/>
        </p:nvSpPr>
        <p:spPr>
          <a:xfrm>
            <a:off x="3848100" y="25527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19" name="text-584">
            <a:extLst>
              <a:ext uri="{FF2B5EF4-FFF2-40B4-BE49-F238E27FC236}">
                <a16:creationId xmlns:a16="http://schemas.microsoft.com/office/drawing/2014/main" id="{DCD96510-2977-4839-B59A-195E1C40B818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抑制过拟合</a:t>
            </a:r>
          </a:p>
        </p:txBody>
      </p:sp>
      <p:sp>
        <p:nvSpPr>
          <p:cNvPr id="20" name="arrow-585">
            <a:extLst>
              <a:ext uri="{FF2B5EF4-FFF2-40B4-BE49-F238E27FC236}">
                <a16:creationId xmlns:a16="http://schemas.microsoft.com/office/drawing/2014/main" id="{4E468466-9E60-437A-9ED2-08271248914B}"/>
              </a:ext>
            </a:extLst>
          </p:cNvPr>
          <p:cNvSpPr>
            <a:spLocks noGrp="1"/>
          </p:cNvSpPr>
          <p:nvPr/>
        </p:nvSpPr>
        <p:spPr>
          <a:xfrm>
            <a:off x="5181600" y="2495550"/>
            <a:ext cx="22860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21" name="box-586">
            <a:extLst>
              <a:ext uri="{FF2B5EF4-FFF2-40B4-BE49-F238E27FC236}">
                <a16:creationId xmlns:a16="http://schemas.microsoft.com/office/drawing/2014/main" id="{2AFE8473-2708-47B4-B31B-84CC1E9FA9A0}"/>
              </a:ext>
            </a:extLst>
          </p:cNvPr>
          <p:cNvSpPr>
            <a:spLocks noGrp="1"/>
          </p:cNvSpPr>
          <p:nvPr/>
        </p:nvSpPr>
        <p:spPr>
          <a:xfrm>
            <a:off x="5429250" y="1943100"/>
            <a:ext cx="1409700" cy="1428750"/>
          </a:xfrm>
          <a:prstGeom prst="roundRect">
            <a:avLst>
              <a:gd name="adj" fmla="val 10811"/>
            </a:avLst>
          </a:prstGeom>
          <a:solidFill>
            <a:srgbClr val="0F766E">
              <a:alpha val="8627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2" name="text-587">
            <a:extLst>
              <a:ext uri="{FF2B5EF4-FFF2-40B4-BE49-F238E27FC236}">
                <a16:creationId xmlns:a16="http://schemas.microsoft.com/office/drawing/2014/main" id="{AA509161-A526-449C-95AD-92FE7C2FF1CB}"/>
              </a:ext>
            </a:extLst>
          </p:cNvPr>
          <p:cNvSpPr>
            <a:spLocks noGrp="1"/>
          </p:cNvSpPr>
          <p:nvPr/>
        </p:nvSpPr>
        <p:spPr>
          <a:xfrm>
            <a:off x="5524500" y="21526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LSTM</a:t>
            </a:r>
          </a:p>
        </p:txBody>
      </p:sp>
      <p:sp>
        <p:nvSpPr>
          <p:cNvPr id="23" name="text-588">
            <a:extLst>
              <a:ext uri="{FF2B5EF4-FFF2-40B4-BE49-F238E27FC236}">
                <a16:creationId xmlns:a16="http://schemas.microsoft.com/office/drawing/2014/main" id="{F9D264B6-2702-4D08-8903-F53A994295C0}"/>
              </a:ext>
            </a:extLst>
          </p:cNvPr>
          <p:cNvSpPr>
            <a:spLocks noGrp="1"/>
          </p:cNvSpPr>
          <p:nvPr/>
        </p:nvSpPr>
        <p:spPr>
          <a:xfrm>
            <a:off x="5524500" y="25527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32 units</a:t>
            </a:r>
          </a:p>
        </p:txBody>
      </p:sp>
      <p:sp>
        <p:nvSpPr>
          <p:cNvPr id="24" name="text-589">
            <a:extLst>
              <a:ext uri="{FF2B5EF4-FFF2-40B4-BE49-F238E27FC236}">
                <a16:creationId xmlns:a16="http://schemas.microsoft.com/office/drawing/2014/main" id="{BD3F935E-7FB8-4560-AC23-5E845E3F969E}"/>
              </a:ext>
            </a:extLst>
          </p:cNvPr>
          <p:cNvSpPr>
            <a:spLocks noGrp="1"/>
          </p:cNvSpPr>
          <p:nvPr/>
        </p:nvSpPr>
        <p:spPr>
          <a:xfrm>
            <a:off x="5524500" y="2952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序列编码</a:t>
            </a:r>
          </a:p>
        </p:txBody>
      </p:sp>
      <p:sp>
        <p:nvSpPr>
          <p:cNvPr id="25" name="arrow-590">
            <a:extLst>
              <a:ext uri="{FF2B5EF4-FFF2-40B4-BE49-F238E27FC236}">
                <a16:creationId xmlns:a16="http://schemas.microsoft.com/office/drawing/2014/main" id="{E8688277-BEB2-4AE1-9555-7EAA682D280B}"/>
              </a:ext>
            </a:extLst>
          </p:cNvPr>
          <p:cNvSpPr>
            <a:spLocks noGrp="1"/>
          </p:cNvSpPr>
          <p:nvPr/>
        </p:nvSpPr>
        <p:spPr>
          <a:xfrm>
            <a:off x="6858000" y="2495550"/>
            <a:ext cx="22860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26" name="box-591">
            <a:extLst>
              <a:ext uri="{FF2B5EF4-FFF2-40B4-BE49-F238E27FC236}">
                <a16:creationId xmlns:a16="http://schemas.microsoft.com/office/drawing/2014/main" id="{FAB5914B-7074-4BDB-A238-45A5B68B0351}"/>
              </a:ext>
            </a:extLst>
          </p:cNvPr>
          <p:cNvSpPr>
            <a:spLocks noGrp="1"/>
          </p:cNvSpPr>
          <p:nvPr/>
        </p:nvSpPr>
        <p:spPr>
          <a:xfrm>
            <a:off x="7105650" y="1943100"/>
            <a:ext cx="1409700" cy="1428750"/>
          </a:xfrm>
          <a:prstGeom prst="roundRect">
            <a:avLst>
              <a:gd name="adj" fmla="val 10811"/>
            </a:avLst>
          </a:prstGeom>
          <a:solidFill>
            <a:srgbClr val="F59E0B">
              <a:alpha val="8627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text-592">
            <a:extLst>
              <a:ext uri="{FF2B5EF4-FFF2-40B4-BE49-F238E27FC236}">
                <a16:creationId xmlns:a16="http://schemas.microsoft.com/office/drawing/2014/main" id="{514C518B-7402-4E05-BEF6-E47E72B2E533}"/>
              </a:ext>
            </a:extLst>
          </p:cNvPr>
          <p:cNvSpPr>
            <a:spLocks noGrp="1"/>
          </p:cNvSpPr>
          <p:nvPr/>
        </p:nvSpPr>
        <p:spPr>
          <a:xfrm>
            <a:off x="7200900" y="21526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Dropout</a:t>
            </a:r>
          </a:p>
        </p:txBody>
      </p:sp>
      <p:sp>
        <p:nvSpPr>
          <p:cNvPr id="28" name="text-593">
            <a:extLst>
              <a:ext uri="{FF2B5EF4-FFF2-40B4-BE49-F238E27FC236}">
                <a16:creationId xmlns:a16="http://schemas.microsoft.com/office/drawing/2014/main" id="{54C075EC-829D-4694-BE09-206DFBDE5EFD}"/>
              </a:ext>
            </a:extLst>
          </p:cNvPr>
          <p:cNvSpPr>
            <a:spLocks noGrp="1"/>
          </p:cNvSpPr>
          <p:nvPr/>
        </p:nvSpPr>
        <p:spPr>
          <a:xfrm>
            <a:off x="7200900" y="25527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29" name="text-594">
            <a:extLst>
              <a:ext uri="{FF2B5EF4-FFF2-40B4-BE49-F238E27FC236}">
                <a16:creationId xmlns:a16="http://schemas.microsoft.com/office/drawing/2014/main" id="{796A7CD7-8534-48E5-A9C4-2FBF52362833}"/>
              </a:ext>
            </a:extLst>
          </p:cNvPr>
          <p:cNvSpPr>
            <a:spLocks noGrp="1"/>
          </p:cNvSpPr>
          <p:nvPr/>
        </p:nvSpPr>
        <p:spPr>
          <a:xfrm>
            <a:off x="7200900" y="2952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抑制过拟合</a:t>
            </a:r>
          </a:p>
        </p:txBody>
      </p:sp>
      <p:sp>
        <p:nvSpPr>
          <p:cNvPr id="30" name="arrow-595">
            <a:extLst>
              <a:ext uri="{FF2B5EF4-FFF2-40B4-BE49-F238E27FC236}">
                <a16:creationId xmlns:a16="http://schemas.microsoft.com/office/drawing/2014/main" id="{515A2B43-A1C3-46E5-A09A-45D17DEE7F72}"/>
              </a:ext>
            </a:extLst>
          </p:cNvPr>
          <p:cNvSpPr>
            <a:spLocks noGrp="1"/>
          </p:cNvSpPr>
          <p:nvPr/>
        </p:nvSpPr>
        <p:spPr>
          <a:xfrm>
            <a:off x="8534400" y="2495550"/>
            <a:ext cx="22860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31" name="box-596">
            <a:extLst>
              <a:ext uri="{FF2B5EF4-FFF2-40B4-BE49-F238E27FC236}">
                <a16:creationId xmlns:a16="http://schemas.microsoft.com/office/drawing/2014/main" id="{9BFA5AF1-9366-492C-951A-478F274740F2}"/>
              </a:ext>
            </a:extLst>
          </p:cNvPr>
          <p:cNvSpPr>
            <a:spLocks noGrp="1"/>
          </p:cNvSpPr>
          <p:nvPr/>
        </p:nvSpPr>
        <p:spPr>
          <a:xfrm>
            <a:off x="8782050" y="1943100"/>
            <a:ext cx="1409700" cy="1428750"/>
          </a:xfrm>
          <a:prstGeom prst="roundRect">
            <a:avLst>
              <a:gd name="adj" fmla="val 10811"/>
            </a:avLst>
          </a:prstGeom>
          <a:solidFill>
            <a:srgbClr val="7C3AED">
              <a:alpha val="8627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2" name="text-597">
            <a:extLst>
              <a:ext uri="{FF2B5EF4-FFF2-40B4-BE49-F238E27FC236}">
                <a16:creationId xmlns:a16="http://schemas.microsoft.com/office/drawing/2014/main" id="{9E1B61CA-C291-4988-98E1-0BA05C3DDABC}"/>
              </a:ext>
            </a:extLst>
          </p:cNvPr>
          <p:cNvSpPr>
            <a:spLocks noGrp="1"/>
          </p:cNvSpPr>
          <p:nvPr/>
        </p:nvSpPr>
        <p:spPr>
          <a:xfrm>
            <a:off x="8877300" y="21526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Dense</a:t>
            </a:r>
          </a:p>
        </p:txBody>
      </p:sp>
      <p:sp>
        <p:nvSpPr>
          <p:cNvPr id="33" name="text-598">
            <a:extLst>
              <a:ext uri="{FF2B5EF4-FFF2-40B4-BE49-F238E27FC236}">
                <a16:creationId xmlns:a16="http://schemas.microsoft.com/office/drawing/2014/main" id="{9ECA26C1-5715-4CC0-9E35-9E1EFF0B2A7C}"/>
              </a:ext>
            </a:extLst>
          </p:cNvPr>
          <p:cNvSpPr>
            <a:spLocks noGrp="1"/>
          </p:cNvSpPr>
          <p:nvPr/>
        </p:nvSpPr>
        <p:spPr>
          <a:xfrm>
            <a:off x="8877300" y="25527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32 ReLU</a:t>
            </a:r>
          </a:p>
        </p:txBody>
      </p:sp>
      <p:sp>
        <p:nvSpPr>
          <p:cNvPr id="34" name="text-599">
            <a:extLst>
              <a:ext uri="{FF2B5EF4-FFF2-40B4-BE49-F238E27FC236}">
                <a16:creationId xmlns:a16="http://schemas.microsoft.com/office/drawing/2014/main" id="{036D55DF-4FF4-4F46-AB8B-EA8C913509C8}"/>
              </a:ext>
            </a:extLst>
          </p:cNvPr>
          <p:cNvSpPr>
            <a:spLocks noGrp="1"/>
          </p:cNvSpPr>
          <p:nvPr/>
        </p:nvSpPr>
        <p:spPr>
          <a:xfrm>
            <a:off x="8877300" y="2952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非线性映射</a:t>
            </a:r>
          </a:p>
        </p:txBody>
      </p:sp>
      <p:sp>
        <p:nvSpPr>
          <p:cNvPr id="35" name="arrow-600">
            <a:extLst>
              <a:ext uri="{FF2B5EF4-FFF2-40B4-BE49-F238E27FC236}">
                <a16:creationId xmlns:a16="http://schemas.microsoft.com/office/drawing/2014/main" id="{4F50E469-5E33-42EC-AB90-682EE049730E}"/>
              </a:ext>
            </a:extLst>
          </p:cNvPr>
          <p:cNvSpPr>
            <a:spLocks noGrp="1"/>
          </p:cNvSpPr>
          <p:nvPr/>
        </p:nvSpPr>
        <p:spPr>
          <a:xfrm>
            <a:off x="10210800" y="2495550"/>
            <a:ext cx="228600" cy="304800"/>
          </a:xfrm>
          <a:prstGeom prst="chevron">
            <a:avLst/>
          </a:prstGeom>
          <a:solidFill>
            <a:srgbClr val="607085"/>
          </a:solidFill>
          <a:ln w="0">
            <a:noFill/>
            <a:prstDash val="solid"/>
          </a:ln>
        </p:spPr>
      </p:sp>
      <p:sp>
        <p:nvSpPr>
          <p:cNvPr id="36" name="box-601">
            <a:extLst>
              <a:ext uri="{FF2B5EF4-FFF2-40B4-BE49-F238E27FC236}">
                <a16:creationId xmlns:a16="http://schemas.microsoft.com/office/drawing/2014/main" id="{ECEA2C33-A623-4C9C-A76F-7DAFB0DD7230}"/>
              </a:ext>
            </a:extLst>
          </p:cNvPr>
          <p:cNvSpPr>
            <a:spLocks noGrp="1"/>
          </p:cNvSpPr>
          <p:nvPr/>
        </p:nvSpPr>
        <p:spPr>
          <a:xfrm>
            <a:off x="10458450" y="1943100"/>
            <a:ext cx="1409700" cy="1428750"/>
          </a:xfrm>
          <a:prstGeom prst="roundRect">
            <a:avLst>
              <a:gd name="adj" fmla="val 10811"/>
            </a:avLst>
          </a:prstGeom>
          <a:solidFill>
            <a:srgbClr val="DC2626">
              <a:alpha val="8627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7" name="text-602">
            <a:extLst>
              <a:ext uri="{FF2B5EF4-FFF2-40B4-BE49-F238E27FC236}">
                <a16:creationId xmlns:a16="http://schemas.microsoft.com/office/drawing/2014/main" id="{85105D0B-F503-4432-80D8-3D900200CA9E}"/>
              </a:ext>
            </a:extLst>
          </p:cNvPr>
          <p:cNvSpPr>
            <a:spLocks noGrp="1"/>
          </p:cNvSpPr>
          <p:nvPr/>
        </p:nvSpPr>
        <p:spPr>
          <a:xfrm>
            <a:off x="10553700" y="21526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Dense</a:t>
            </a:r>
          </a:p>
        </p:txBody>
      </p:sp>
      <p:sp>
        <p:nvSpPr>
          <p:cNvPr id="38" name="text-603">
            <a:extLst>
              <a:ext uri="{FF2B5EF4-FFF2-40B4-BE49-F238E27FC236}">
                <a16:creationId xmlns:a16="http://schemas.microsoft.com/office/drawing/2014/main" id="{2C6B795A-4A60-4108-8699-602853FFE611}"/>
              </a:ext>
            </a:extLst>
          </p:cNvPr>
          <p:cNvSpPr>
            <a:spLocks noGrp="1"/>
          </p:cNvSpPr>
          <p:nvPr/>
        </p:nvSpPr>
        <p:spPr>
          <a:xfrm>
            <a:off x="10553700" y="25527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9" name="text-604">
            <a:extLst>
              <a:ext uri="{FF2B5EF4-FFF2-40B4-BE49-F238E27FC236}">
                <a16:creationId xmlns:a16="http://schemas.microsoft.com/office/drawing/2014/main" id="{A93E3C53-576B-45CC-9879-25EC2B2B489E}"/>
              </a:ext>
            </a:extLst>
          </p:cNvPr>
          <p:cNvSpPr>
            <a:spLocks noGrp="1"/>
          </p:cNvSpPr>
          <p:nvPr/>
        </p:nvSpPr>
        <p:spPr>
          <a:xfrm>
            <a:off x="10553700" y="2952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未来 24h 水位</a:t>
            </a:r>
          </a:p>
        </p:txBody>
      </p:sp>
      <p:sp>
        <p:nvSpPr>
          <p:cNvPr id="40" name="box-605">
            <a:extLst>
              <a:ext uri="{FF2B5EF4-FFF2-40B4-BE49-F238E27FC236}">
                <a16:creationId xmlns:a16="http://schemas.microsoft.com/office/drawing/2014/main" id="{3E9E1041-7B89-4DAC-B3C9-A01E1BD78065}"/>
              </a:ext>
            </a:extLst>
          </p:cNvPr>
          <p:cNvSpPr>
            <a:spLocks noGrp="1"/>
          </p:cNvSpPr>
          <p:nvPr/>
        </p:nvSpPr>
        <p:spPr>
          <a:xfrm>
            <a:off x="571500" y="3943350"/>
            <a:ext cx="110490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1" name="text-606">
            <a:extLst>
              <a:ext uri="{FF2B5EF4-FFF2-40B4-BE49-F238E27FC236}">
                <a16:creationId xmlns:a16="http://schemas.microsoft.com/office/drawing/2014/main" id="{08A03C2B-6D74-494A-AE78-475E7FC98211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层级作用说明</a:t>
            </a:r>
          </a:p>
        </p:txBody>
      </p:sp>
      <p:sp>
        <p:nvSpPr>
          <p:cNvPr id="42" name="text-607">
            <a:extLst>
              <a:ext uri="{FF2B5EF4-FFF2-40B4-BE49-F238E27FC236}">
                <a16:creationId xmlns:a16="http://schemas.microsoft.com/office/drawing/2014/main" id="{E367737C-CE53-4EA7-BD19-4357DD07CDEA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第一层 LSTM</a:t>
            </a:r>
          </a:p>
        </p:txBody>
      </p:sp>
      <p:sp>
        <p:nvSpPr>
          <p:cNvPr id="43" name="text-608">
            <a:extLst>
              <a:ext uri="{FF2B5EF4-FFF2-40B4-BE49-F238E27FC236}">
                <a16:creationId xmlns:a16="http://schemas.microsoft.com/office/drawing/2014/main" id="{211DC0F1-4152-494B-A739-DA53268AB7CA}"/>
              </a:ext>
            </a:extLst>
          </p:cNvPr>
          <p:cNvSpPr>
            <a:spLocks noGrp="1"/>
          </p:cNvSpPr>
          <p:nvPr/>
        </p:nvSpPr>
        <p:spPr>
          <a:xfrm>
            <a:off x="2314575" y="462915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保留 72 个时间步的序列表示，为下一层提供完整时序特征。</a:t>
            </a:r>
          </a:p>
        </p:txBody>
      </p:sp>
      <p:sp>
        <p:nvSpPr>
          <p:cNvPr id="44" name="text-609">
            <a:extLst>
              <a:ext uri="{FF2B5EF4-FFF2-40B4-BE49-F238E27FC236}">
                <a16:creationId xmlns:a16="http://schemas.microsoft.com/office/drawing/2014/main" id="{C20B3033-268F-4DA7-A949-D0FD5CA92931}"/>
              </a:ext>
            </a:extLst>
          </p:cNvPr>
          <p:cNvSpPr>
            <a:spLocks noGrp="1"/>
          </p:cNvSpPr>
          <p:nvPr/>
        </p:nvSpPr>
        <p:spPr>
          <a:xfrm>
            <a:off x="6172200" y="462915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第二层 LSTM</a:t>
            </a:r>
          </a:p>
        </p:txBody>
      </p:sp>
      <p:sp>
        <p:nvSpPr>
          <p:cNvPr id="45" name="text-610">
            <a:extLst>
              <a:ext uri="{FF2B5EF4-FFF2-40B4-BE49-F238E27FC236}">
                <a16:creationId xmlns:a16="http://schemas.microsoft.com/office/drawing/2014/main" id="{C6DD2E1C-A13C-4ED5-BB76-E3809840ADE2}"/>
              </a:ext>
            </a:extLst>
          </p:cNvPr>
          <p:cNvSpPr>
            <a:spLocks noGrp="1"/>
          </p:cNvSpPr>
          <p:nvPr/>
        </p:nvSpPr>
        <p:spPr>
          <a:xfrm>
            <a:off x="7648575" y="462915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压缩整个历史窗口为固定长度状态向量。</a:t>
            </a:r>
          </a:p>
        </p:txBody>
      </p:sp>
      <p:sp>
        <p:nvSpPr>
          <p:cNvPr id="46" name="text-611">
            <a:extLst>
              <a:ext uri="{FF2B5EF4-FFF2-40B4-BE49-F238E27FC236}">
                <a16:creationId xmlns:a16="http://schemas.microsoft.com/office/drawing/2014/main" id="{E34EC57E-C980-42B7-A103-433C977E27E7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Dense(32)</a:t>
            </a:r>
          </a:p>
        </p:txBody>
      </p:sp>
      <p:sp>
        <p:nvSpPr>
          <p:cNvPr id="47" name="text-612">
            <a:extLst>
              <a:ext uri="{FF2B5EF4-FFF2-40B4-BE49-F238E27FC236}">
                <a16:creationId xmlns:a16="http://schemas.microsoft.com/office/drawing/2014/main" id="{88E28A9C-EE09-4067-BDE3-F80DDD7A16BE}"/>
              </a:ext>
            </a:extLst>
          </p:cNvPr>
          <p:cNvSpPr>
            <a:spLocks noGrp="1"/>
          </p:cNvSpPr>
          <p:nvPr/>
        </p:nvSpPr>
        <p:spPr>
          <a:xfrm>
            <a:off x="2314575" y="518160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融合水位、流量和降雨形成的抽象特征。</a:t>
            </a:r>
          </a:p>
        </p:txBody>
      </p:sp>
      <p:sp>
        <p:nvSpPr>
          <p:cNvPr id="48" name="text-613">
            <a:extLst>
              <a:ext uri="{FF2B5EF4-FFF2-40B4-BE49-F238E27FC236}">
                <a16:creationId xmlns:a16="http://schemas.microsoft.com/office/drawing/2014/main" id="{DE9F38B8-811A-4693-A09D-43117F1B6605}"/>
              </a:ext>
            </a:extLst>
          </p:cNvPr>
          <p:cNvSpPr>
            <a:spLocks noGrp="1"/>
          </p:cNvSpPr>
          <p:nvPr/>
        </p:nvSpPr>
        <p:spPr>
          <a:xfrm>
            <a:off x="6172200" y="51816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Dense(24)</a:t>
            </a:r>
          </a:p>
        </p:txBody>
      </p:sp>
      <p:sp>
        <p:nvSpPr>
          <p:cNvPr id="49" name="text-614">
            <a:extLst>
              <a:ext uri="{FF2B5EF4-FFF2-40B4-BE49-F238E27FC236}">
                <a16:creationId xmlns:a16="http://schemas.microsoft.com/office/drawing/2014/main" id="{8CDC50F7-57FF-4683-9E8D-71640D6A0CEC}"/>
              </a:ext>
            </a:extLst>
          </p:cNvPr>
          <p:cNvSpPr>
            <a:spLocks noGrp="1"/>
          </p:cNvSpPr>
          <p:nvPr/>
        </p:nvSpPr>
        <p:spPr>
          <a:xfrm>
            <a:off x="7648575" y="518160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直接输出 24 个连续预测步，不需要逐小时递归。</a:t>
            </a:r>
          </a:p>
        </p:txBody>
      </p:sp>
    </p:spTree>
    <p:extLst>
      <p:ext uri="{BB962C8B-B14F-4D97-AF65-F5344CB8AC3E}">
        <p14:creationId xmlns:p14="http://schemas.microsoft.com/office/powerpoint/2010/main" val="984161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661">
            <a:extLst>
              <a:ext uri="{FF2B5EF4-FFF2-40B4-BE49-F238E27FC236}">
                <a16:creationId xmlns:a16="http://schemas.microsoft.com/office/drawing/2014/main" id="{E7A488F2-8FF1-475B-B9FC-6AE931C2A752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PREDICTION RESULT</a:t>
            </a:r>
          </a:p>
        </p:txBody>
      </p:sp>
      <p:sp>
        <p:nvSpPr>
          <p:cNvPr id="2" name="text-662">
            <a:extLst>
              <a:ext uri="{FF2B5EF4-FFF2-40B4-BE49-F238E27FC236}">
                <a16:creationId xmlns:a16="http://schemas.microsoft.com/office/drawing/2014/main" id="{F63600D3-D609-4F94-8627-A3B18CD62A64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测试集预测曲线：整体趋势、峰谷与洪水过程高度吻合</a:t>
            </a:r>
          </a:p>
        </p:txBody>
      </p:sp>
      <p:sp>
        <p:nvSpPr>
          <p:cNvPr id="3" name="rect-663">
            <a:extLst>
              <a:ext uri="{FF2B5EF4-FFF2-40B4-BE49-F238E27FC236}">
                <a16:creationId xmlns:a16="http://schemas.microsoft.com/office/drawing/2014/main" id="{EF4A764B-B25E-4C30-B43F-E7A7425F08E4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664">
            <a:extLst>
              <a:ext uri="{FF2B5EF4-FFF2-40B4-BE49-F238E27FC236}">
                <a16:creationId xmlns:a16="http://schemas.microsoft.com/office/drawing/2014/main" id="{0B1F78ED-E73A-48B3-A620-3DB3E7AA7FB4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outputs/prediction_plot.png · 第 1 小时预测</a:t>
            </a:r>
          </a:p>
        </p:txBody>
      </p:sp>
      <p:sp>
        <p:nvSpPr>
          <p:cNvPr id="5" name="text-665">
            <a:extLst>
              <a:ext uri="{FF2B5EF4-FFF2-40B4-BE49-F238E27FC236}">
                <a16:creationId xmlns:a16="http://schemas.microsoft.com/office/drawing/2014/main" id="{FAD72BFD-4851-4BFF-AF14-2A9FFED2966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box-666">
            <a:extLst>
              <a:ext uri="{FF2B5EF4-FFF2-40B4-BE49-F238E27FC236}">
                <a16:creationId xmlns:a16="http://schemas.microsoft.com/office/drawing/2014/main" id="{78C9A289-D67A-43A2-B34D-4D5D17CE78CE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11049000" cy="455295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" y="1466850"/>
            <a:ext cx="10012680" cy="4171950"/>
          </a:xfrm>
          <a:prstGeom prst="rect">
            <a:avLst/>
          </a:prstGeom>
        </p:spPr>
      </p:pic>
      <p:sp>
        <p:nvSpPr>
          <p:cNvPr id="8" name="box-667">
            <a:extLst>
              <a:ext uri="{FF2B5EF4-FFF2-40B4-BE49-F238E27FC236}">
                <a16:creationId xmlns:a16="http://schemas.microsoft.com/office/drawing/2014/main" id="{DEDED6CA-F015-4EED-B4DF-6BA57F84C52B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9" name="text-668">
            <a:extLst>
              <a:ext uri="{FF2B5EF4-FFF2-40B4-BE49-F238E27FC236}">
                <a16:creationId xmlns:a16="http://schemas.microsoft.com/office/drawing/2014/main" id="{494AA975-43E5-4816-982F-9B58C69DFB43}"/>
              </a:ext>
            </a:extLst>
          </p:cNvPr>
          <p:cNvSpPr>
            <a:spLocks noGrp="1"/>
          </p:cNvSpPr>
          <p:nvPr/>
        </p:nvSpPr>
        <p:spPr>
          <a:xfrm>
            <a:off x="742950" y="59436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蓝线：真实值</a:t>
            </a:r>
          </a:p>
        </p:txBody>
      </p:sp>
      <p:sp>
        <p:nvSpPr>
          <p:cNvPr id="10" name="box-669">
            <a:extLst>
              <a:ext uri="{FF2B5EF4-FFF2-40B4-BE49-F238E27FC236}">
                <a16:creationId xmlns:a16="http://schemas.microsoft.com/office/drawing/2014/main" id="{D482FF90-2415-4448-BE0F-793175EAC2F8}"/>
              </a:ext>
            </a:extLst>
          </p:cNvPr>
          <p:cNvSpPr>
            <a:spLocks noGrp="1"/>
          </p:cNvSpPr>
          <p:nvPr/>
        </p:nvSpPr>
        <p:spPr>
          <a:xfrm>
            <a:off x="2286000" y="590550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1" name="text-670">
            <a:extLst>
              <a:ext uri="{FF2B5EF4-FFF2-40B4-BE49-F238E27FC236}">
                <a16:creationId xmlns:a16="http://schemas.microsoft.com/office/drawing/2014/main" id="{E7E2A1FB-A96A-4998-B9BB-2BA01DB1572E}"/>
              </a:ext>
            </a:extLst>
          </p:cNvPr>
          <p:cNvSpPr>
            <a:spLocks noGrp="1"/>
          </p:cNvSpPr>
          <p:nvPr/>
        </p:nvSpPr>
        <p:spPr>
          <a:xfrm>
            <a:off x="2286000" y="59436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橙线：预测值</a:t>
            </a:r>
          </a:p>
        </p:txBody>
      </p:sp>
      <p:sp>
        <p:nvSpPr>
          <p:cNvPr id="12" name="box-671">
            <a:extLst>
              <a:ext uri="{FF2B5EF4-FFF2-40B4-BE49-F238E27FC236}">
                <a16:creationId xmlns:a16="http://schemas.microsoft.com/office/drawing/2014/main" id="{06321380-FC7F-4C56-9A08-4EF13D7698F1}"/>
              </a:ext>
            </a:extLst>
          </p:cNvPr>
          <p:cNvSpPr>
            <a:spLocks noGrp="1"/>
          </p:cNvSpPr>
          <p:nvPr/>
        </p:nvSpPr>
        <p:spPr>
          <a:xfrm>
            <a:off x="3829050" y="5905500"/>
            <a:ext cx="2286000" cy="266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3" name="text-672">
            <a:extLst>
              <a:ext uri="{FF2B5EF4-FFF2-40B4-BE49-F238E27FC236}">
                <a16:creationId xmlns:a16="http://schemas.microsoft.com/office/drawing/2014/main" id="{59F8979E-B999-41FE-998D-6796020DABFC}"/>
              </a:ext>
            </a:extLst>
          </p:cNvPr>
          <p:cNvSpPr>
            <a:spLocks noGrp="1"/>
          </p:cNvSpPr>
          <p:nvPr/>
        </p:nvSpPr>
        <p:spPr>
          <a:xfrm>
            <a:off x="3829050" y="594360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虚线：12 ft 轻度洪水阈值</a:t>
            </a:r>
          </a:p>
        </p:txBody>
      </p:sp>
      <p:sp>
        <p:nvSpPr>
          <p:cNvPr id="14" name="text-673">
            <a:extLst>
              <a:ext uri="{FF2B5EF4-FFF2-40B4-BE49-F238E27FC236}">
                <a16:creationId xmlns:a16="http://schemas.microsoft.com/office/drawing/2014/main" id="{F4EC5649-4E49-4829-8911-628C6125B91A}"/>
              </a:ext>
            </a:extLst>
          </p:cNvPr>
          <p:cNvSpPr>
            <a:spLocks noGrp="1"/>
          </p:cNvSpPr>
          <p:nvPr/>
        </p:nvSpPr>
        <p:spPr>
          <a:xfrm>
            <a:off x="6381750" y="59055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观察：模型能跟踪长期趋势和多数水位峰值；极端尖峰附近仍可能出现低估或短时偏差。</a:t>
            </a:r>
          </a:p>
        </p:txBody>
      </p:sp>
    </p:spTree>
    <p:extLst>
      <p:ext uri="{BB962C8B-B14F-4D97-AF65-F5344CB8AC3E}">
        <p14:creationId xmlns:p14="http://schemas.microsoft.com/office/powerpoint/2010/main" val="126223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674">
            <a:extLst>
              <a:ext uri="{FF2B5EF4-FFF2-40B4-BE49-F238E27FC236}">
                <a16:creationId xmlns:a16="http://schemas.microsoft.com/office/drawing/2014/main" id="{A6594B02-8840-4084-B723-A360BB613D53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EVALUATION METRICS</a:t>
            </a:r>
          </a:p>
        </p:txBody>
      </p:sp>
      <p:sp>
        <p:nvSpPr>
          <p:cNvPr id="2" name="text-675">
            <a:extLst>
              <a:ext uri="{FF2B5EF4-FFF2-40B4-BE49-F238E27FC236}">
                <a16:creationId xmlns:a16="http://schemas.microsoft.com/office/drawing/2014/main" id="{03CE04FD-97EF-4AA3-B80D-C6326BD5399C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最终评价指标：预测步长增加，误差平稳上升</a:t>
            </a:r>
          </a:p>
        </p:txBody>
      </p:sp>
      <p:sp>
        <p:nvSpPr>
          <p:cNvPr id="3" name="rect-676">
            <a:extLst>
              <a:ext uri="{FF2B5EF4-FFF2-40B4-BE49-F238E27FC236}">
                <a16:creationId xmlns:a16="http://schemas.microsoft.com/office/drawing/2014/main" id="{1F041D49-B32A-45C0-9C68-40585F3A86CA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677">
            <a:extLst>
              <a:ext uri="{FF2B5EF4-FFF2-40B4-BE49-F238E27FC236}">
                <a16:creationId xmlns:a16="http://schemas.microsoft.com/office/drawing/2014/main" id="{408380DD-59D3-4D7F-A2DD-F6C61D0E70C9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outputs/evaluation_metrics.csv</a:t>
            </a:r>
          </a:p>
        </p:txBody>
      </p:sp>
      <p:sp>
        <p:nvSpPr>
          <p:cNvPr id="5" name="text-678">
            <a:extLst>
              <a:ext uri="{FF2B5EF4-FFF2-40B4-BE49-F238E27FC236}">
                <a16:creationId xmlns:a16="http://schemas.microsoft.com/office/drawing/2014/main" id="{1E449EB8-4AD5-4EB1-B488-401B78AD7CFA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box-679">
            <a:extLst>
              <a:ext uri="{FF2B5EF4-FFF2-40B4-BE49-F238E27FC236}">
                <a16:creationId xmlns:a16="http://schemas.microsoft.com/office/drawing/2014/main" id="{B4E4C8F0-A242-404A-9BC8-E7B6C5DA61F8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rect-680">
            <a:extLst>
              <a:ext uri="{FF2B5EF4-FFF2-40B4-BE49-F238E27FC236}">
                <a16:creationId xmlns:a16="http://schemas.microsoft.com/office/drawing/2014/main" id="{B4374447-2249-417B-9A33-58EFB8BB59D7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8" name="text-681">
            <a:extLst>
              <a:ext uri="{FF2B5EF4-FFF2-40B4-BE49-F238E27FC236}">
                <a16:creationId xmlns:a16="http://schemas.microsoft.com/office/drawing/2014/main" id="{C089B095-8A42-43A8-AA40-FF214F72089B}"/>
              </a:ext>
            </a:extLst>
          </p:cNvPr>
          <p:cNvSpPr>
            <a:spLocks noGrp="1"/>
          </p:cNvSpPr>
          <p:nvPr/>
        </p:nvSpPr>
        <p:spPr>
          <a:xfrm>
            <a:off x="762000" y="14478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第 1 小时 MAE</a:t>
            </a:r>
          </a:p>
        </p:txBody>
      </p:sp>
      <p:sp>
        <p:nvSpPr>
          <p:cNvPr id="9" name="text-682">
            <a:extLst>
              <a:ext uri="{FF2B5EF4-FFF2-40B4-BE49-F238E27FC236}">
                <a16:creationId xmlns:a16="http://schemas.microsoft.com/office/drawing/2014/main" id="{320CAC95-9667-415E-8F68-CD5B13D84283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0.077 ft</a:t>
            </a:r>
          </a:p>
        </p:txBody>
      </p:sp>
      <p:sp>
        <p:nvSpPr>
          <p:cNvPr id="10" name="text-683">
            <a:extLst>
              <a:ext uri="{FF2B5EF4-FFF2-40B4-BE49-F238E27FC236}">
                <a16:creationId xmlns:a16="http://schemas.microsoft.com/office/drawing/2014/main" id="{F3CC2241-4803-4588-A1D8-F415B60EA54B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约 2.35 cm</a:t>
            </a:r>
          </a:p>
        </p:txBody>
      </p:sp>
      <p:sp>
        <p:nvSpPr>
          <p:cNvPr id="11" name="box-684">
            <a:extLst>
              <a:ext uri="{FF2B5EF4-FFF2-40B4-BE49-F238E27FC236}">
                <a16:creationId xmlns:a16="http://schemas.microsoft.com/office/drawing/2014/main" id="{773B316F-3C02-41BF-810B-41C49EA01075}"/>
              </a:ext>
            </a:extLst>
          </p:cNvPr>
          <p:cNvSpPr>
            <a:spLocks noGrp="1"/>
          </p:cNvSpPr>
          <p:nvPr/>
        </p:nvSpPr>
        <p:spPr>
          <a:xfrm>
            <a:off x="3238500" y="13144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2" name="rect-685">
            <a:extLst>
              <a:ext uri="{FF2B5EF4-FFF2-40B4-BE49-F238E27FC236}">
                <a16:creationId xmlns:a16="http://schemas.microsoft.com/office/drawing/2014/main" id="{F07E98DA-C6C0-4F2B-8E00-4A474F8D1EAA}"/>
              </a:ext>
            </a:extLst>
          </p:cNvPr>
          <p:cNvSpPr>
            <a:spLocks noGrp="1"/>
          </p:cNvSpPr>
          <p:nvPr/>
        </p:nvSpPr>
        <p:spPr>
          <a:xfrm>
            <a:off x="3238500" y="1314450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3" name="text-686">
            <a:extLst>
              <a:ext uri="{FF2B5EF4-FFF2-40B4-BE49-F238E27FC236}">
                <a16:creationId xmlns:a16="http://schemas.microsoft.com/office/drawing/2014/main" id="{80BF36E9-CFC4-4128-ACB2-BF8A022EBEE0}"/>
              </a:ext>
            </a:extLst>
          </p:cNvPr>
          <p:cNvSpPr>
            <a:spLocks noGrp="1"/>
          </p:cNvSpPr>
          <p:nvPr/>
        </p:nvSpPr>
        <p:spPr>
          <a:xfrm>
            <a:off x="3429000" y="14478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第 24 小时 MAE</a:t>
            </a:r>
          </a:p>
        </p:txBody>
      </p:sp>
      <p:sp>
        <p:nvSpPr>
          <p:cNvPr id="14" name="text-687">
            <a:extLst>
              <a:ext uri="{FF2B5EF4-FFF2-40B4-BE49-F238E27FC236}">
                <a16:creationId xmlns:a16="http://schemas.microsoft.com/office/drawing/2014/main" id="{4C875418-F8A3-455E-B0E7-BE2BA87C883C}"/>
              </a:ext>
            </a:extLst>
          </p:cNvPr>
          <p:cNvSpPr>
            <a:spLocks noGrp="1"/>
          </p:cNvSpPr>
          <p:nvPr/>
        </p:nvSpPr>
        <p:spPr>
          <a:xfrm>
            <a:off x="3429000" y="16859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0.181 ft</a:t>
            </a:r>
          </a:p>
        </p:txBody>
      </p:sp>
      <p:sp>
        <p:nvSpPr>
          <p:cNvPr id="15" name="text-688">
            <a:extLst>
              <a:ext uri="{FF2B5EF4-FFF2-40B4-BE49-F238E27FC236}">
                <a16:creationId xmlns:a16="http://schemas.microsoft.com/office/drawing/2014/main" id="{2CFF8015-7324-439F-8F49-242C9BF3ADEC}"/>
              </a:ext>
            </a:extLst>
          </p:cNvPr>
          <p:cNvSpPr>
            <a:spLocks noGrp="1"/>
          </p:cNvSpPr>
          <p:nvPr/>
        </p:nvSpPr>
        <p:spPr>
          <a:xfrm>
            <a:off x="3429000" y="21431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约 5.50 cm</a:t>
            </a:r>
          </a:p>
        </p:txBody>
      </p:sp>
      <p:sp>
        <p:nvSpPr>
          <p:cNvPr id="16" name="box-689">
            <a:extLst>
              <a:ext uri="{FF2B5EF4-FFF2-40B4-BE49-F238E27FC236}">
                <a16:creationId xmlns:a16="http://schemas.microsoft.com/office/drawing/2014/main" id="{A312AFC4-7098-4D5F-9CE8-D8D88B513F38}"/>
              </a:ext>
            </a:extLst>
          </p:cNvPr>
          <p:cNvSpPr>
            <a:spLocks noGrp="1"/>
          </p:cNvSpPr>
          <p:nvPr/>
        </p:nvSpPr>
        <p:spPr>
          <a:xfrm>
            <a:off x="5905500" y="13144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rect-690">
            <a:extLst>
              <a:ext uri="{FF2B5EF4-FFF2-40B4-BE49-F238E27FC236}">
                <a16:creationId xmlns:a16="http://schemas.microsoft.com/office/drawing/2014/main" id="{B49ED158-D2AF-4814-B4E6-1C1056A28BEF}"/>
              </a:ext>
            </a:extLst>
          </p:cNvPr>
          <p:cNvSpPr>
            <a:spLocks noGrp="1"/>
          </p:cNvSpPr>
          <p:nvPr/>
        </p:nvSpPr>
        <p:spPr>
          <a:xfrm>
            <a:off x="5905500" y="1314450"/>
            <a:ext cx="66675" cy="11049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8" name="text-691">
            <a:extLst>
              <a:ext uri="{FF2B5EF4-FFF2-40B4-BE49-F238E27FC236}">
                <a16:creationId xmlns:a16="http://schemas.microsoft.com/office/drawing/2014/main" id="{097774D8-5640-4746-AD81-AE48502D2DDD}"/>
              </a:ext>
            </a:extLst>
          </p:cNvPr>
          <p:cNvSpPr>
            <a:spLocks noGrp="1"/>
          </p:cNvSpPr>
          <p:nvPr/>
        </p:nvSpPr>
        <p:spPr>
          <a:xfrm>
            <a:off x="6096000" y="14478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第 24 小时 RMSE</a:t>
            </a:r>
          </a:p>
        </p:txBody>
      </p:sp>
      <p:sp>
        <p:nvSpPr>
          <p:cNvPr id="19" name="text-692">
            <a:extLst>
              <a:ext uri="{FF2B5EF4-FFF2-40B4-BE49-F238E27FC236}">
                <a16:creationId xmlns:a16="http://schemas.microsoft.com/office/drawing/2014/main" id="{FAAAEBB9-2DDC-48CD-8FD9-71456AA9B3BC}"/>
              </a:ext>
            </a:extLst>
          </p:cNvPr>
          <p:cNvSpPr>
            <a:spLocks noGrp="1"/>
          </p:cNvSpPr>
          <p:nvPr/>
        </p:nvSpPr>
        <p:spPr>
          <a:xfrm>
            <a:off x="6096000" y="16859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0.299 ft</a:t>
            </a:r>
          </a:p>
        </p:txBody>
      </p:sp>
      <p:sp>
        <p:nvSpPr>
          <p:cNvPr id="20" name="text-693">
            <a:extLst>
              <a:ext uri="{FF2B5EF4-FFF2-40B4-BE49-F238E27FC236}">
                <a16:creationId xmlns:a16="http://schemas.microsoft.com/office/drawing/2014/main" id="{1026E712-E333-476A-8FB5-38757EA7096D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约 9.11 cm</a:t>
            </a:r>
          </a:p>
        </p:txBody>
      </p:sp>
      <p:sp>
        <p:nvSpPr>
          <p:cNvPr id="21" name="box-694">
            <a:extLst>
              <a:ext uri="{FF2B5EF4-FFF2-40B4-BE49-F238E27FC236}">
                <a16:creationId xmlns:a16="http://schemas.microsoft.com/office/drawing/2014/main" id="{0F905C4A-6168-414A-A16D-DD36B36578D9}"/>
              </a:ext>
            </a:extLst>
          </p:cNvPr>
          <p:cNvSpPr>
            <a:spLocks noGrp="1"/>
          </p:cNvSpPr>
          <p:nvPr/>
        </p:nvSpPr>
        <p:spPr>
          <a:xfrm>
            <a:off x="8572500" y="13144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rect-695">
            <a:extLst>
              <a:ext uri="{FF2B5EF4-FFF2-40B4-BE49-F238E27FC236}">
                <a16:creationId xmlns:a16="http://schemas.microsoft.com/office/drawing/2014/main" id="{2D090FE9-3D58-4B90-9E0B-7CB2931807ED}"/>
              </a:ext>
            </a:extLst>
          </p:cNvPr>
          <p:cNvSpPr>
            <a:spLocks noGrp="1"/>
          </p:cNvSpPr>
          <p:nvPr/>
        </p:nvSpPr>
        <p:spPr>
          <a:xfrm>
            <a:off x="8572500" y="1314450"/>
            <a:ext cx="66675" cy="11049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3" name="text-696">
            <a:extLst>
              <a:ext uri="{FF2B5EF4-FFF2-40B4-BE49-F238E27FC236}">
                <a16:creationId xmlns:a16="http://schemas.microsoft.com/office/drawing/2014/main" id="{F7FA3037-6447-49B0-9B49-3DF45294CEFE}"/>
              </a:ext>
            </a:extLst>
          </p:cNvPr>
          <p:cNvSpPr>
            <a:spLocks noGrp="1"/>
          </p:cNvSpPr>
          <p:nvPr/>
        </p:nvSpPr>
        <p:spPr>
          <a:xfrm>
            <a:off x="8763000" y="14478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24 步平均 R²</a:t>
            </a:r>
          </a:p>
        </p:txBody>
      </p:sp>
      <p:sp>
        <p:nvSpPr>
          <p:cNvPr id="24" name="text-697">
            <a:extLst>
              <a:ext uri="{FF2B5EF4-FFF2-40B4-BE49-F238E27FC236}">
                <a16:creationId xmlns:a16="http://schemas.microsoft.com/office/drawing/2014/main" id="{C77CFE3A-C7D5-4515-B7A9-43BAF281DE52}"/>
              </a:ext>
            </a:extLst>
          </p:cNvPr>
          <p:cNvSpPr>
            <a:spLocks noGrp="1"/>
          </p:cNvSpPr>
          <p:nvPr/>
        </p:nvSpPr>
        <p:spPr>
          <a:xfrm>
            <a:off x="8763000" y="1685925"/>
            <a:ext cx="2152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0.9886</a:t>
            </a:r>
          </a:p>
        </p:txBody>
      </p:sp>
      <p:sp>
        <p:nvSpPr>
          <p:cNvPr id="25" name="text-698">
            <a:extLst>
              <a:ext uri="{FF2B5EF4-FFF2-40B4-BE49-F238E27FC236}">
                <a16:creationId xmlns:a16="http://schemas.microsoft.com/office/drawing/2014/main" id="{87E11156-DE08-45EC-BB6B-E668CD94CF1B}"/>
              </a:ext>
            </a:extLst>
          </p:cNvPr>
          <p:cNvSpPr>
            <a:spLocks noGrp="1"/>
          </p:cNvSpPr>
          <p:nvPr/>
        </p:nvSpPr>
        <p:spPr>
          <a:xfrm>
            <a:off x="8763000" y="2143125"/>
            <a:ext cx="2152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整体拟合度高</a:t>
            </a:r>
          </a:p>
        </p:txBody>
      </p:sp>
      <p:sp>
        <p:nvSpPr>
          <p:cNvPr id="26" name="box-699">
            <a:extLst>
              <a:ext uri="{FF2B5EF4-FFF2-40B4-BE49-F238E27FC236}">
                <a16:creationId xmlns:a16="http://schemas.microsoft.com/office/drawing/2014/main" id="{696539D1-B3B6-4A41-AF54-E3FB5F1F6524}"/>
              </a:ext>
            </a:extLst>
          </p:cNvPr>
          <p:cNvSpPr>
            <a:spLocks noGrp="1"/>
          </p:cNvSpPr>
          <p:nvPr/>
        </p:nvSpPr>
        <p:spPr>
          <a:xfrm>
            <a:off x="571500" y="2686050"/>
            <a:ext cx="5334000" cy="3200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7" name="text-700">
            <a:extLst>
              <a:ext uri="{FF2B5EF4-FFF2-40B4-BE49-F238E27FC236}">
                <a16:creationId xmlns:a16="http://schemas.microsoft.com/office/drawing/2014/main" id="{82BE21B7-B11B-4044-A8B5-BD0E561EF16F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MAE / RMSE 随预测时距变化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762000" y="3238500"/>
          <a:ext cx="49530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box-701">
            <a:extLst>
              <a:ext uri="{FF2B5EF4-FFF2-40B4-BE49-F238E27FC236}">
                <a16:creationId xmlns:a16="http://schemas.microsoft.com/office/drawing/2014/main" id="{97968125-D8D8-484A-81DA-68CB05C75EF9}"/>
              </a:ext>
            </a:extLst>
          </p:cNvPr>
          <p:cNvSpPr>
            <a:spLocks noGrp="1"/>
          </p:cNvSpPr>
          <p:nvPr/>
        </p:nvSpPr>
        <p:spPr>
          <a:xfrm>
            <a:off x="6286500" y="2686050"/>
            <a:ext cx="5334000" cy="3200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0" name="text-702">
            <a:extLst>
              <a:ext uri="{FF2B5EF4-FFF2-40B4-BE49-F238E27FC236}">
                <a16:creationId xmlns:a16="http://schemas.microsoft.com/office/drawing/2014/main" id="{06F76DB1-DC2C-4421-8C3C-0BE3E95462CB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R² 随预测时距变化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="6477000" y="3238500"/>
          <a:ext cx="49530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616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703">
            <a:extLst>
              <a:ext uri="{FF2B5EF4-FFF2-40B4-BE49-F238E27FC236}">
                <a16:creationId xmlns:a16="http://schemas.microsoft.com/office/drawing/2014/main" id="{FA305ABE-7916-47DF-81CD-E34E7A6C1671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24-HOUR FORECAST</a:t>
            </a:r>
          </a:p>
        </p:txBody>
      </p:sp>
      <p:sp>
        <p:nvSpPr>
          <p:cNvPr id="2" name="text-704">
            <a:extLst>
              <a:ext uri="{FF2B5EF4-FFF2-40B4-BE49-F238E27FC236}">
                <a16:creationId xmlns:a16="http://schemas.microsoft.com/office/drawing/2014/main" id="{356A8C66-E3CB-4FCC-A14E-6FBF1E6FC0B8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最新</a:t>
            </a:r>
            <a:r>
              <a:rPr sz="2400" b="1" dirty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 24 </a:t>
            </a:r>
            <a:r>
              <a:rPr sz="2400" b="1" dirty="0" err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小时预测：水位约</a:t>
            </a:r>
            <a:r>
              <a:rPr sz="2400" b="1" dirty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 7.83–7.92 </a:t>
            </a:r>
            <a:r>
              <a:rPr sz="2400" b="1" dirty="0" err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ft，风险正常</a:t>
            </a:r>
            <a:endParaRPr sz="2400" b="1" dirty="0">
              <a:solidFill>
                <a:srgbClr val="0B1F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ect-705">
            <a:extLst>
              <a:ext uri="{FF2B5EF4-FFF2-40B4-BE49-F238E27FC236}">
                <a16:creationId xmlns:a16="http://schemas.microsoft.com/office/drawing/2014/main" id="{2E87FCD1-B555-4D62-A6B3-F17837DC6639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706">
            <a:extLst>
              <a:ext uri="{FF2B5EF4-FFF2-40B4-BE49-F238E27FC236}">
                <a16:creationId xmlns:a16="http://schemas.microsoft.com/office/drawing/2014/main" id="{D0387EEB-78BC-48B9-AB30-488866BAFDD4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outputs/future_forecast.csv；outputs/risk_plot.png</a:t>
            </a:r>
          </a:p>
        </p:txBody>
      </p:sp>
      <p:sp>
        <p:nvSpPr>
          <p:cNvPr id="5" name="text-707">
            <a:extLst>
              <a:ext uri="{FF2B5EF4-FFF2-40B4-BE49-F238E27FC236}">
                <a16:creationId xmlns:a16="http://schemas.microsoft.com/office/drawing/2014/main" id="{17555F96-02AE-4E87-9918-2506E949FE9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box-708">
            <a:extLst>
              <a:ext uri="{FF2B5EF4-FFF2-40B4-BE49-F238E27FC236}">
                <a16:creationId xmlns:a16="http://schemas.microsoft.com/office/drawing/2014/main" id="{CD24F264-7FEE-4C55-A63A-3DF1926443EC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8096250" cy="46482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1997869"/>
            <a:ext cx="7829550" cy="3262313"/>
          </a:xfrm>
          <a:prstGeom prst="rect">
            <a:avLst/>
          </a:prstGeom>
        </p:spPr>
      </p:pic>
      <p:sp>
        <p:nvSpPr>
          <p:cNvPr id="8" name="box-709">
            <a:extLst>
              <a:ext uri="{FF2B5EF4-FFF2-40B4-BE49-F238E27FC236}">
                <a16:creationId xmlns:a16="http://schemas.microsoft.com/office/drawing/2014/main" id="{DFBACB03-DD81-402A-8819-328BFE01C2EC}"/>
              </a:ext>
            </a:extLst>
          </p:cNvPr>
          <p:cNvSpPr>
            <a:spLocks noGrp="1"/>
          </p:cNvSpPr>
          <p:nvPr/>
        </p:nvSpPr>
        <p:spPr>
          <a:xfrm>
            <a:off x="8953500" y="1314450"/>
            <a:ext cx="2667000" cy="4648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9" name="text-710">
            <a:extLst>
              <a:ext uri="{FF2B5EF4-FFF2-40B4-BE49-F238E27FC236}">
                <a16:creationId xmlns:a16="http://schemas.microsoft.com/office/drawing/2014/main" id="{7E8497F5-94AE-4D15-B226-9938CBA7DD14}"/>
              </a:ext>
            </a:extLst>
          </p:cNvPr>
          <p:cNvSpPr>
            <a:spLocks noGrp="1"/>
          </p:cNvSpPr>
          <p:nvPr/>
        </p:nvSpPr>
        <p:spPr>
          <a:xfrm>
            <a:off x="9201150" y="15811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预测摘要</a:t>
            </a:r>
          </a:p>
        </p:txBody>
      </p:sp>
      <p:sp>
        <p:nvSpPr>
          <p:cNvPr id="10" name="box-711">
            <a:extLst>
              <a:ext uri="{FF2B5EF4-FFF2-40B4-BE49-F238E27FC236}">
                <a16:creationId xmlns:a16="http://schemas.microsoft.com/office/drawing/2014/main" id="{680D619E-0782-4BF9-87F6-B2DC95B9B91C}"/>
              </a:ext>
            </a:extLst>
          </p:cNvPr>
          <p:cNvSpPr>
            <a:spLocks noGrp="1"/>
          </p:cNvSpPr>
          <p:nvPr/>
        </p:nvSpPr>
        <p:spPr>
          <a:xfrm>
            <a:off x="9201150" y="2038350"/>
            <a:ext cx="21717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1" name="rect-712">
            <a:extLst>
              <a:ext uri="{FF2B5EF4-FFF2-40B4-BE49-F238E27FC236}">
                <a16:creationId xmlns:a16="http://schemas.microsoft.com/office/drawing/2014/main" id="{942BEAE9-B04D-4021-B130-4D3E0EE76171}"/>
              </a:ext>
            </a:extLst>
          </p:cNvPr>
          <p:cNvSpPr>
            <a:spLocks noGrp="1"/>
          </p:cNvSpPr>
          <p:nvPr/>
        </p:nvSpPr>
        <p:spPr>
          <a:xfrm>
            <a:off x="9201150" y="2038350"/>
            <a:ext cx="66675" cy="11049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12" name="text-713">
            <a:extLst>
              <a:ext uri="{FF2B5EF4-FFF2-40B4-BE49-F238E27FC236}">
                <a16:creationId xmlns:a16="http://schemas.microsoft.com/office/drawing/2014/main" id="{5F2F5B8C-DF32-4750-B6BA-B33B1C79A8B8}"/>
              </a:ext>
            </a:extLst>
          </p:cNvPr>
          <p:cNvSpPr>
            <a:spLocks noGrp="1"/>
          </p:cNvSpPr>
          <p:nvPr/>
        </p:nvSpPr>
        <p:spPr>
          <a:xfrm>
            <a:off x="9391650" y="217170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最低水位</a:t>
            </a:r>
          </a:p>
        </p:txBody>
      </p:sp>
      <p:sp>
        <p:nvSpPr>
          <p:cNvPr id="13" name="text-714">
            <a:extLst>
              <a:ext uri="{FF2B5EF4-FFF2-40B4-BE49-F238E27FC236}">
                <a16:creationId xmlns:a16="http://schemas.microsoft.com/office/drawing/2014/main" id="{6313D629-64C0-4A52-BB6B-438BCE28856F}"/>
              </a:ext>
            </a:extLst>
          </p:cNvPr>
          <p:cNvSpPr>
            <a:spLocks noGrp="1"/>
          </p:cNvSpPr>
          <p:nvPr/>
        </p:nvSpPr>
        <p:spPr>
          <a:xfrm>
            <a:off x="9391650" y="2409825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7.828 ft</a:t>
            </a:r>
          </a:p>
        </p:txBody>
      </p:sp>
      <p:sp>
        <p:nvSpPr>
          <p:cNvPr id="14" name="text-715">
            <a:extLst>
              <a:ext uri="{FF2B5EF4-FFF2-40B4-BE49-F238E27FC236}">
                <a16:creationId xmlns:a16="http://schemas.microsoft.com/office/drawing/2014/main" id="{F6A04CB5-BC7C-4519-86C0-2C743D6E335B}"/>
              </a:ext>
            </a:extLst>
          </p:cNvPr>
          <p:cNvSpPr>
            <a:spLocks noGrp="1"/>
          </p:cNvSpPr>
          <p:nvPr/>
        </p:nvSpPr>
        <p:spPr>
          <a:xfrm>
            <a:off x="9391650" y="2867025"/>
            <a:ext cx="1847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2.386 m</a:t>
            </a:r>
          </a:p>
        </p:txBody>
      </p:sp>
      <p:sp>
        <p:nvSpPr>
          <p:cNvPr id="15" name="box-716">
            <a:extLst>
              <a:ext uri="{FF2B5EF4-FFF2-40B4-BE49-F238E27FC236}">
                <a16:creationId xmlns:a16="http://schemas.microsoft.com/office/drawing/2014/main" id="{0D31417F-DE16-462F-962B-1CF1F0D6E470}"/>
              </a:ext>
            </a:extLst>
          </p:cNvPr>
          <p:cNvSpPr>
            <a:spLocks noGrp="1"/>
          </p:cNvSpPr>
          <p:nvPr/>
        </p:nvSpPr>
        <p:spPr>
          <a:xfrm>
            <a:off x="9201150" y="3333750"/>
            <a:ext cx="21717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6" name="rect-717">
            <a:extLst>
              <a:ext uri="{FF2B5EF4-FFF2-40B4-BE49-F238E27FC236}">
                <a16:creationId xmlns:a16="http://schemas.microsoft.com/office/drawing/2014/main" id="{05937830-7091-4618-A921-D658ECF3DC8A}"/>
              </a:ext>
            </a:extLst>
          </p:cNvPr>
          <p:cNvSpPr>
            <a:spLocks noGrp="1"/>
          </p:cNvSpPr>
          <p:nvPr/>
        </p:nvSpPr>
        <p:spPr>
          <a:xfrm>
            <a:off x="9201150" y="3333750"/>
            <a:ext cx="66675" cy="11049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7" name="text-718">
            <a:extLst>
              <a:ext uri="{FF2B5EF4-FFF2-40B4-BE49-F238E27FC236}">
                <a16:creationId xmlns:a16="http://schemas.microsoft.com/office/drawing/2014/main" id="{7EA21C78-B965-454F-865D-CC9587C3A5CF}"/>
              </a:ext>
            </a:extLst>
          </p:cNvPr>
          <p:cNvSpPr>
            <a:spLocks noGrp="1"/>
          </p:cNvSpPr>
          <p:nvPr/>
        </p:nvSpPr>
        <p:spPr>
          <a:xfrm>
            <a:off x="9391650" y="346710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最高水位</a:t>
            </a:r>
          </a:p>
        </p:txBody>
      </p:sp>
      <p:sp>
        <p:nvSpPr>
          <p:cNvPr id="18" name="text-719">
            <a:extLst>
              <a:ext uri="{FF2B5EF4-FFF2-40B4-BE49-F238E27FC236}">
                <a16:creationId xmlns:a16="http://schemas.microsoft.com/office/drawing/2014/main" id="{F78B6EA5-C7BF-405D-B1AC-934416582968}"/>
              </a:ext>
            </a:extLst>
          </p:cNvPr>
          <p:cNvSpPr>
            <a:spLocks noGrp="1"/>
          </p:cNvSpPr>
          <p:nvPr/>
        </p:nvSpPr>
        <p:spPr>
          <a:xfrm>
            <a:off x="9391650" y="3705225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7.920 ft</a:t>
            </a:r>
          </a:p>
        </p:txBody>
      </p:sp>
      <p:sp>
        <p:nvSpPr>
          <p:cNvPr id="19" name="text-720">
            <a:extLst>
              <a:ext uri="{FF2B5EF4-FFF2-40B4-BE49-F238E27FC236}">
                <a16:creationId xmlns:a16="http://schemas.microsoft.com/office/drawing/2014/main" id="{A052E7AF-6A49-4BE8-9364-DF87ADC730AF}"/>
              </a:ext>
            </a:extLst>
          </p:cNvPr>
          <p:cNvSpPr>
            <a:spLocks noGrp="1"/>
          </p:cNvSpPr>
          <p:nvPr/>
        </p:nvSpPr>
        <p:spPr>
          <a:xfrm>
            <a:off x="9391650" y="4162425"/>
            <a:ext cx="1847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2.414 m</a:t>
            </a:r>
          </a:p>
        </p:txBody>
      </p:sp>
      <p:sp>
        <p:nvSpPr>
          <p:cNvPr id="20" name="text-721">
            <a:extLst>
              <a:ext uri="{FF2B5EF4-FFF2-40B4-BE49-F238E27FC236}">
                <a16:creationId xmlns:a16="http://schemas.microsoft.com/office/drawing/2014/main" id="{A4A7EF07-7809-421F-A5F9-F5479C3071F0}"/>
              </a:ext>
            </a:extLst>
          </p:cNvPr>
          <p:cNvSpPr>
            <a:spLocks noGrp="1"/>
          </p:cNvSpPr>
          <p:nvPr/>
        </p:nvSpPr>
        <p:spPr>
          <a:xfrm>
            <a:off x="9201150" y="46863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风险判断</a:t>
            </a:r>
          </a:p>
        </p:txBody>
      </p:sp>
      <p:sp>
        <p:nvSpPr>
          <p:cNvPr id="21" name="box-722">
            <a:extLst>
              <a:ext uri="{FF2B5EF4-FFF2-40B4-BE49-F238E27FC236}">
                <a16:creationId xmlns:a16="http://schemas.microsoft.com/office/drawing/2014/main" id="{B815CDB9-165F-4CE5-9473-EB6DEF2F94D2}"/>
              </a:ext>
            </a:extLst>
          </p:cNvPr>
          <p:cNvSpPr>
            <a:spLocks noGrp="1"/>
          </p:cNvSpPr>
          <p:nvPr/>
        </p:nvSpPr>
        <p:spPr>
          <a:xfrm>
            <a:off x="9201150" y="4991100"/>
            <a:ext cx="2171700" cy="2667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2" name="text-723">
            <a:extLst>
              <a:ext uri="{FF2B5EF4-FFF2-40B4-BE49-F238E27FC236}">
                <a16:creationId xmlns:a16="http://schemas.microsoft.com/office/drawing/2014/main" id="{2C1E95F1-9F8C-4B62-A8A2-BC9C048E58FE}"/>
              </a:ext>
            </a:extLst>
          </p:cNvPr>
          <p:cNvSpPr>
            <a:spLocks noGrp="1"/>
          </p:cNvSpPr>
          <p:nvPr/>
        </p:nvSpPr>
        <p:spPr>
          <a:xfrm>
            <a:off x="9201150" y="5029200"/>
            <a:ext cx="2171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NORMAL</a:t>
            </a:r>
          </a:p>
        </p:txBody>
      </p:sp>
      <p:sp>
        <p:nvSpPr>
          <p:cNvPr id="23" name="text-724">
            <a:extLst>
              <a:ext uri="{FF2B5EF4-FFF2-40B4-BE49-F238E27FC236}">
                <a16:creationId xmlns:a16="http://schemas.microsoft.com/office/drawing/2014/main" id="{6597BD6B-78AF-49B9-A046-76F55BA58C4A}"/>
              </a:ext>
            </a:extLst>
          </p:cNvPr>
          <p:cNvSpPr>
            <a:spLocks noGrp="1"/>
          </p:cNvSpPr>
          <p:nvPr/>
        </p:nvSpPr>
        <p:spPr>
          <a:xfrm>
            <a:off x="9201150" y="5410200"/>
            <a:ext cx="217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全部 24 个时刻均低于 10 ft 关注阈值。</a:t>
            </a:r>
          </a:p>
        </p:txBody>
      </p:sp>
    </p:spTree>
    <p:extLst>
      <p:ext uri="{BB962C8B-B14F-4D97-AF65-F5344CB8AC3E}">
        <p14:creationId xmlns:p14="http://schemas.microsoft.com/office/powerpoint/2010/main" val="1381607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-725">
            <a:extLst>
              <a:ext uri="{FF2B5EF4-FFF2-40B4-BE49-F238E27FC236}">
                <a16:creationId xmlns:a16="http://schemas.microsoft.com/office/drawing/2014/main" id="{18C35CF1-CBD5-43EB-93A8-1FD1D3F0654C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RISK CLASSIFICATION</a:t>
            </a:r>
          </a:p>
        </p:txBody>
      </p:sp>
      <p:sp>
        <p:nvSpPr>
          <p:cNvPr id="2" name="text-726">
            <a:extLst>
              <a:ext uri="{FF2B5EF4-FFF2-40B4-BE49-F238E27FC236}">
                <a16:creationId xmlns:a16="http://schemas.microsoft.com/office/drawing/2014/main" id="{A4D74D4A-9D61-4892-9FD4-864ED2524CEC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风险等级划分：把连续预测值转换为可解释预警信号</a:t>
            </a:r>
          </a:p>
        </p:txBody>
      </p:sp>
      <p:sp>
        <p:nvSpPr>
          <p:cNvPr id="3" name="rect-727">
            <a:extLst>
              <a:ext uri="{FF2B5EF4-FFF2-40B4-BE49-F238E27FC236}">
                <a16:creationId xmlns:a16="http://schemas.microsoft.com/office/drawing/2014/main" id="{42D133CD-1601-4C0F-8ABD-F8921098F5D3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728">
            <a:extLst>
              <a:ext uri="{FF2B5EF4-FFF2-40B4-BE49-F238E27FC236}">
                <a16:creationId xmlns:a16="http://schemas.microsoft.com/office/drawing/2014/main" id="{DA6EC611-B6A3-457C-8336-29C3014A931E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dirty="0" err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项目配置</a:t>
            </a:r>
            <a:r>
              <a:rPr sz="750" b="0" dirty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 RISK_THRESHOLDS_FT</a:t>
            </a:r>
          </a:p>
        </p:txBody>
      </p:sp>
      <p:sp>
        <p:nvSpPr>
          <p:cNvPr id="5" name="text-729">
            <a:extLst>
              <a:ext uri="{FF2B5EF4-FFF2-40B4-BE49-F238E27FC236}">
                <a16:creationId xmlns:a16="http://schemas.microsoft.com/office/drawing/2014/main" id="{4F997D31-25EA-4143-B34A-D41C3DC74A9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box-730">
            <a:extLst>
              <a:ext uri="{FF2B5EF4-FFF2-40B4-BE49-F238E27FC236}">
                <a16:creationId xmlns:a16="http://schemas.microsoft.com/office/drawing/2014/main" id="{61C8FAFC-39D5-440C-8900-850D4E5C3282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rect-731">
            <a:extLst>
              <a:ext uri="{FF2B5EF4-FFF2-40B4-BE49-F238E27FC236}">
                <a16:creationId xmlns:a16="http://schemas.microsoft.com/office/drawing/2014/main" id="{67F141B2-7489-419E-B16D-B44315A45B1B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4300" cy="666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8" name="box-732">
            <a:extLst>
              <a:ext uri="{FF2B5EF4-FFF2-40B4-BE49-F238E27FC236}">
                <a16:creationId xmlns:a16="http://schemas.microsoft.com/office/drawing/2014/main" id="{35DAF6C1-2E9F-4003-9F2D-F4B87BB9D9F6}"/>
              </a:ext>
            </a:extLst>
          </p:cNvPr>
          <p:cNvSpPr>
            <a:spLocks noGrp="1"/>
          </p:cNvSpPr>
          <p:nvPr/>
        </p:nvSpPr>
        <p:spPr>
          <a:xfrm>
            <a:off x="876300" y="16002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9" name="text-733">
            <a:extLst>
              <a:ext uri="{FF2B5EF4-FFF2-40B4-BE49-F238E27FC236}">
                <a16:creationId xmlns:a16="http://schemas.microsoft.com/office/drawing/2014/main" id="{AAF81F73-9912-4E8B-AAAF-4EBD27D7331E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NORMAL</a:t>
            </a:r>
          </a:p>
        </p:txBody>
      </p:sp>
      <p:sp>
        <p:nvSpPr>
          <p:cNvPr id="10" name="text-734">
            <a:extLst>
              <a:ext uri="{FF2B5EF4-FFF2-40B4-BE49-F238E27FC236}">
                <a16:creationId xmlns:a16="http://schemas.microsoft.com/office/drawing/2014/main" id="{ABCB68B6-FC23-4F8C-868B-5E4B7AD58B8C}"/>
              </a:ext>
            </a:extLst>
          </p:cNvPr>
          <p:cNvSpPr>
            <a:spLocks noGrp="1"/>
          </p:cNvSpPr>
          <p:nvPr/>
        </p:nvSpPr>
        <p:spPr>
          <a:xfrm>
            <a:off x="2571750" y="1581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&lt; 10 ft</a:t>
            </a:r>
          </a:p>
        </p:txBody>
      </p:sp>
      <p:sp>
        <p:nvSpPr>
          <p:cNvPr id="11" name="text-735">
            <a:extLst>
              <a:ext uri="{FF2B5EF4-FFF2-40B4-BE49-F238E27FC236}">
                <a16:creationId xmlns:a16="http://schemas.microsoft.com/office/drawing/2014/main" id="{DBD59A84-300F-4F85-9878-AB366C75A3EE}"/>
              </a:ext>
            </a:extLst>
          </p:cNvPr>
          <p:cNvSpPr>
            <a:spLocks noGrp="1"/>
          </p:cNvSpPr>
          <p:nvPr/>
        </p:nvSpPr>
        <p:spPr>
          <a:xfrm>
            <a:off x="4572000" y="1581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12" name="text-736">
            <a:extLst>
              <a:ext uri="{FF2B5EF4-FFF2-40B4-BE49-F238E27FC236}">
                <a16:creationId xmlns:a16="http://schemas.microsoft.com/office/drawing/2014/main" id="{B1412813-C9C7-4439-ACB7-3DB25AF93662}"/>
              </a:ext>
            </a:extLst>
          </p:cNvPr>
          <p:cNvSpPr>
            <a:spLocks noGrp="1"/>
          </p:cNvSpPr>
          <p:nvPr/>
        </p:nvSpPr>
        <p:spPr>
          <a:xfrm>
            <a:off x="6667500" y="1581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常规监测</a:t>
            </a:r>
          </a:p>
        </p:txBody>
      </p:sp>
      <p:sp>
        <p:nvSpPr>
          <p:cNvPr id="13" name="text-737">
            <a:extLst>
              <a:ext uri="{FF2B5EF4-FFF2-40B4-BE49-F238E27FC236}">
                <a16:creationId xmlns:a16="http://schemas.microsoft.com/office/drawing/2014/main" id="{5D3E01BD-D4FA-4076-B9D0-76C29511D39A}"/>
              </a:ext>
            </a:extLst>
          </p:cNvPr>
          <p:cNvSpPr>
            <a:spLocks noGrp="1"/>
          </p:cNvSpPr>
          <p:nvPr/>
        </p:nvSpPr>
        <p:spPr>
          <a:xfrm>
            <a:off x="10858500" y="159067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box-738">
            <a:extLst>
              <a:ext uri="{FF2B5EF4-FFF2-40B4-BE49-F238E27FC236}">
                <a16:creationId xmlns:a16="http://schemas.microsoft.com/office/drawing/2014/main" id="{AA3A1D3E-742C-4751-9B7F-3435FF55B9C2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11049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rect-739">
            <a:extLst>
              <a:ext uri="{FF2B5EF4-FFF2-40B4-BE49-F238E27FC236}">
                <a16:creationId xmlns:a16="http://schemas.microsoft.com/office/drawing/2014/main" id="{4EBF432F-581E-4508-B0B0-43C10DB03E5D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114300" cy="666750"/>
          </a:xfrm>
          <a:prstGeom prst="rect">
            <a:avLst/>
          </a:prstGeom>
          <a:solidFill>
            <a:srgbClr val="FACC15"/>
          </a:solidFill>
          <a:ln w="0">
            <a:noFill/>
            <a:prstDash val="solid"/>
          </a:ln>
        </p:spPr>
      </p:sp>
      <p:sp>
        <p:nvSpPr>
          <p:cNvPr id="16" name="box-740">
            <a:extLst>
              <a:ext uri="{FF2B5EF4-FFF2-40B4-BE49-F238E27FC236}">
                <a16:creationId xmlns:a16="http://schemas.microsoft.com/office/drawing/2014/main" id="{0BD485F2-128E-4584-BE4D-3746FD33FD98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 w="0">
            <a:noFill/>
            <a:prstDash val="solid"/>
          </a:ln>
        </p:spPr>
      </p:sp>
      <p:sp>
        <p:nvSpPr>
          <p:cNvPr id="17" name="text-741">
            <a:extLst>
              <a:ext uri="{FF2B5EF4-FFF2-40B4-BE49-F238E27FC236}">
                <a16:creationId xmlns:a16="http://schemas.microsoft.com/office/drawing/2014/main" id="{CE8A1770-E693-4B6F-8DD7-21BFDF410A24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18" name="text-742">
            <a:extLst>
              <a:ext uri="{FF2B5EF4-FFF2-40B4-BE49-F238E27FC236}">
                <a16:creationId xmlns:a16="http://schemas.microsoft.com/office/drawing/2014/main" id="{85EC248C-3227-46A0-8662-BB5534D92B7A}"/>
              </a:ext>
            </a:extLst>
          </p:cNvPr>
          <p:cNvSpPr>
            <a:spLocks noGrp="1"/>
          </p:cNvSpPr>
          <p:nvPr/>
        </p:nvSpPr>
        <p:spPr>
          <a:xfrm>
            <a:off x="2571750" y="24193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10–12 ft</a:t>
            </a:r>
          </a:p>
        </p:txBody>
      </p:sp>
      <p:sp>
        <p:nvSpPr>
          <p:cNvPr id="19" name="text-743">
            <a:extLst>
              <a:ext uri="{FF2B5EF4-FFF2-40B4-BE49-F238E27FC236}">
                <a16:creationId xmlns:a16="http://schemas.microsoft.com/office/drawing/2014/main" id="{CEC8591E-3245-4144-842C-5EE889A59914}"/>
              </a:ext>
            </a:extLst>
          </p:cNvPr>
          <p:cNvSpPr>
            <a:spLocks noGrp="1"/>
          </p:cNvSpPr>
          <p:nvPr/>
        </p:nvSpPr>
        <p:spPr>
          <a:xfrm>
            <a:off x="4572000" y="24193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rPr>
              <a:t>关注</a:t>
            </a:r>
          </a:p>
        </p:txBody>
      </p:sp>
      <p:sp>
        <p:nvSpPr>
          <p:cNvPr id="20" name="text-744">
            <a:extLst>
              <a:ext uri="{FF2B5EF4-FFF2-40B4-BE49-F238E27FC236}">
                <a16:creationId xmlns:a16="http://schemas.microsoft.com/office/drawing/2014/main" id="{437D80BC-1840-47E9-BA28-7FA2D361F0CB}"/>
              </a:ext>
            </a:extLst>
          </p:cNvPr>
          <p:cNvSpPr>
            <a:spLocks noGrp="1"/>
          </p:cNvSpPr>
          <p:nvPr/>
        </p:nvSpPr>
        <p:spPr>
          <a:xfrm>
            <a:off x="6667500" y="24193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提高监测频次</a:t>
            </a:r>
          </a:p>
        </p:txBody>
      </p:sp>
      <p:sp>
        <p:nvSpPr>
          <p:cNvPr id="21" name="text-745">
            <a:extLst>
              <a:ext uri="{FF2B5EF4-FFF2-40B4-BE49-F238E27FC236}">
                <a16:creationId xmlns:a16="http://schemas.microsoft.com/office/drawing/2014/main" id="{073A627B-3786-45F0-BC71-33E66AB84A76}"/>
              </a:ext>
            </a:extLst>
          </p:cNvPr>
          <p:cNvSpPr>
            <a:spLocks noGrp="1"/>
          </p:cNvSpPr>
          <p:nvPr/>
        </p:nvSpPr>
        <p:spPr>
          <a:xfrm>
            <a:off x="10858500" y="242887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box-746">
            <a:extLst>
              <a:ext uri="{FF2B5EF4-FFF2-40B4-BE49-F238E27FC236}">
                <a16:creationId xmlns:a16="http://schemas.microsoft.com/office/drawing/2014/main" id="{C527569F-B06E-4992-9FAF-AEF0A2E7BC45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11049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3" name="rect-747">
            <a:extLst>
              <a:ext uri="{FF2B5EF4-FFF2-40B4-BE49-F238E27FC236}">
                <a16:creationId xmlns:a16="http://schemas.microsoft.com/office/drawing/2014/main" id="{F56F7E04-6AF4-4C79-87B2-AD027E4C1813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114300" cy="6667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4" name="box-748">
            <a:extLst>
              <a:ext uri="{FF2B5EF4-FFF2-40B4-BE49-F238E27FC236}">
                <a16:creationId xmlns:a16="http://schemas.microsoft.com/office/drawing/2014/main" id="{C2B657F0-BD40-4501-A07A-37CA259D1760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5" name="text-749">
            <a:extLst>
              <a:ext uri="{FF2B5EF4-FFF2-40B4-BE49-F238E27FC236}">
                <a16:creationId xmlns:a16="http://schemas.microsoft.com/office/drawing/2014/main" id="{891F56F8-7BAF-435A-9CEA-B77631E882FB}"/>
              </a:ext>
            </a:extLst>
          </p:cNvPr>
          <p:cNvSpPr>
            <a:spLocks noGrp="1"/>
          </p:cNvSpPr>
          <p:nvPr/>
        </p:nvSpPr>
        <p:spPr>
          <a:xfrm>
            <a:off x="876300" y="33147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MINOR</a:t>
            </a:r>
          </a:p>
        </p:txBody>
      </p:sp>
      <p:sp>
        <p:nvSpPr>
          <p:cNvPr id="26" name="text-750">
            <a:extLst>
              <a:ext uri="{FF2B5EF4-FFF2-40B4-BE49-F238E27FC236}">
                <a16:creationId xmlns:a16="http://schemas.microsoft.com/office/drawing/2014/main" id="{442DFB91-CCDE-4763-BEA2-69FD7A74CC85}"/>
              </a:ext>
            </a:extLst>
          </p:cNvPr>
          <p:cNvSpPr>
            <a:spLocks noGrp="1"/>
          </p:cNvSpPr>
          <p:nvPr/>
        </p:nvSpPr>
        <p:spPr>
          <a:xfrm>
            <a:off x="2571750" y="32575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12–14 ft</a:t>
            </a:r>
          </a:p>
        </p:txBody>
      </p:sp>
      <p:sp>
        <p:nvSpPr>
          <p:cNvPr id="27" name="text-751">
            <a:extLst>
              <a:ext uri="{FF2B5EF4-FFF2-40B4-BE49-F238E27FC236}">
                <a16:creationId xmlns:a16="http://schemas.microsoft.com/office/drawing/2014/main" id="{E0BFDA0C-6550-4179-BE6F-A9FB6F9E324A}"/>
              </a:ext>
            </a:extLst>
          </p:cNvPr>
          <p:cNvSpPr>
            <a:spLocks noGrp="1"/>
          </p:cNvSpPr>
          <p:nvPr/>
        </p:nvSpPr>
        <p:spPr>
          <a:xfrm>
            <a:off x="4572000" y="3257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轻度洪水</a:t>
            </a:r>
          </a:p>
        </p:txBody>
      </p:sp>
      <p:sp>
        <p:nvSpPr>
          <p:cNvPr id="28" name="text-752">
            <a:extLst>
              <a:ext uri="{FF2B5EF4-FFF2-40B4-BE49-F238E27FC236}">
                <a16:creationId xmlns:a16="http://schemas.microsoft.com/office/drawing/2014/main" id="{4EE942FD-D1A0-4F9F-9FE5-D864E756A57B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启动初步响应</a:t>
            </a:r>
          </a:p>
        </p:txBody>
      </p:sp>
      <p:sp>
        <p:nvSpPr>
          <p:cNvPr id="29" name="text-753">
            <a:extLst>
              <a:ext uri="{FF2B5EF4-FFF2-40B4-BE49-F238E27FC236}">
                <a16:creationId xmlns:a16="http://schemas.microsoft.com/office/drawing/2014/main" id="{4BAC1CE8-53B4-47DC-A6AD-7CFA5F378755}"/>
              </a:ext>
            </a:extLst>
          </p:cNvPr>
          <p:cNvSpPr>
            <a:spLocks noGrp="1"/>
          </p:cNvSpPr>
          <p:nvPr/>
        </p:nvSpPr>
        <p:spPr>
          <a:xfrm>
            <a:off x="10858500" y="326707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box-754">
            <a:extLst>
              <a:ext uri="{FF2B5EF4-FFF2-40B4-BE49-F238E27FC236}">
                <a16:creationId xmlns:a16="http://schemas.microsoft.com/office/drawing/2014/main" id="{55AA4B93-5CBD-4F61-BB75-962A2FCD2D55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11049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1" name="rect-755">
            <a:extLst>
              <a:ext uri="{FF2B5EF4-FFF2-40B4-BE49-F238E27FC236}">
                <a16:creationId xmlns:a16="http://schemas.microsoft.com/office/drawing/2014/main" id="{80FD9F11-E1E7-403D-97E4-5E157CD03C63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114300" cy="66675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32" name="box-756">
            <a:extLst>
              <a:ext uri="{FF2B5EF4-FFF2-40B4-BE49-F238E27FC236}">
                <a16:creationId xmlns:a16="http://schemas.microsoft.com/office/drawing/2014/main" id="{BBD752CD-DFE6-481C-B116-067FE78D5F33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33" name="text-757">
            <a:extLst>
              <a:ext uri="{FF2B5EF4-FFF2-40B4-BE49-F238E27FC236}">
                <a16:creationId xmlns:a16="http://schemas.microsoft.com/office/drawing/2014/main" id="{CDCFC3EC-F46C-49EA-9D5F-1D6C38754EE7}"/>
              </a:ext>
            </a:extLst>
          </p:cNvPr>
          <p:cNvSpPr>
            <a:spLocks noGrp="1"/>
          </p:cNvSpPr>
          <p:nvPr/>
        </p:nvSpPr>
        <p:spPr>
          <a:xfrm>
            <a:off x="876300" y="41529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MODERATE</a:t>
            </a:r>
          </a:p>
        </p:txBody>
      </p:sp>
      <p:sp>
        <p:nvSpPr>
          <p:cNvPr id="34" name="text-758">
            <a:extLst>
              <a:ext uri="{FF2B5EF4-FFF2-40B4-BE49-F238E27FC236}">
                <a16:creationId xmlns:a16="http://schemas.microsoft.com/office/drawing/2014/main" id="{7475DCCE-9150-4F7E-8B10-6E29372B4186}"/>
              </a:ext>
            </a:extLst>
          </p:cNvPr>
          <p:cNvSpPr>
            <a:spLocks noGrp="1"/>
          </p:cNvSpPr>
          <p:nvPr/>
        </p:nvSpPr>
        <p:spPr>
          <a:xfrm>
            <a:off x="2571750" y="4095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14–16 ft</a:t>
            </a:r>
          </a:p>
        </p:txBody>
      </p:sp>
      <p:sp>
        <p:nvSpPr>
          <p:cNvPr id="35" name="text-759">
            <a:extLst>
              <a:ext uri="{FF2B5EF4-FFF2-40B4-BE49-F238E27FC236}">
                <a16:creationId xmlns:a16="http://schemas.microsoft.com/office/drawing/2014/main" id="{96DEFF9E-646A-463E-A7D8-210978B1F662}"/>
              </a:ext>
            </a:extLst>
          </p:cNvPr>
          <p:cNvSpPr>
            <a:spLocks noGrp="1"/>
          </p:cNvSpPr>
          <p:nvPr/>
        </p:nvSpPr>
        <p:spPr>
          <a:xfrm>
            <a:off x="4572000" y="4095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中度洪水</a:t>
            </a:r>
          </a:p>
        </p:txBody>
      </p:sp>
      <p:sp>
        <p:nvSpPr>
          <p:cNvPr id="36" name="text-760">
            <a:extLst>
              <a:ext uri="{FF2B5EF4-FFF2-40B4-BE49-F238E27FC236}">
                <a16:creationId xmlns:a16="http://schemas.microsoft.com/office/drawing/2014/main" id="{77073476-3498-42D6-8894-96380EDB2199}"/>
              </a:ext>
            </a:extLst>
          </p:cNvPr>
          <p:cNvSpPr>
            <a:spLocks noGrp="1"/>
          </p:cNvSpPr>
          <p:nvPr/>
        </p:nvSpPr>
        <p:spPr>
          <a:xfrm>
            <a:off x="6667500" y="40957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加强应急调度</a:t>
            </a:r>
          </a:p>
        </p:txBody>
      </p:sp>
      <p:sp>
        <p:nvSpPr>
          <p:cNvPr id="37" name="text-761">
            <a:extLst>
              <a:ext uri="{FF2B5EF4-FFF2-40B4-BE49-F238E27FC236}">
                <a16:creationId xmlns:a16="http://schemas.microsoft.com/office/drawing/2014/main" id="{AD59D15C-C96D-439D-ADB6-7148F0952D96}"/>
              </a:ext>
            </a:extLst>
          </p:cNvPr>
          <p:cNvSpPr>
            <a:spLocks noGrp="1"/>
          </p:cNvSpPr>
          <p:nvPr/>
        </p:nvSpPr>
        <p:spPr>
          <a:xfrm>
            <a:off x="10858500" y="410527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box-762">
            <a:extLst>
              <a:ext uri="{FF2B5EF4-FFF2-40B4-BE49-F238E27FC236}">
                <a16:creationId xmlns:a16="http://schemas.microsoft.com/office/drawing/2014/main" id="{D2DF380A-FE11-4CA8-8EE9-945D5A5B761F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11049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9" name="rect-763">
            <a:extLst>
              <a:ext uri="{FF2B5EF4-FFF2-40B4-BE49-F238E27FC236}">
                <a16:creationId xmlns:a16="http://schemas.microsoft.com/office/drawing/2014/main" id="{FBD56FB9-03F9-4D25-A208-4CE0C0606DDF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114300" cy="666750"/>
          </a:xfrm>
          <a:prstGeom prst="rect">
            <a:avLst/>
          </a:prstGeom>
          <a:solidFill>
            <a:srgbClr val="7F1D1D"/>
          </a:solidFill>
          <a:ln w="0">
            <a:noFill/>
            <a:prstDash val="solid"/>
          </a:ln>
        </p:spPr>
      </p:sp>
      <p:sp>
        <p:nvSpPr>
          <p:cNvPr id="40" name="box-764">
            <a:extLst>
              <a:ext uri="{FF2B5EF4-FFF2-40B4-BE49-F238E27FC236}">
                <a16:creationId xmlns:a16="http://schemas.microsoft.com/office/drawing/2014/main" id="{03A1C271-9F91-4E23-BF86-13CB69A88586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7F1D1D"/>
          </a:solidFill>
          <a:ln w="0">
            <a:noFill/>
            <a:prstDash val="solid"/>
          </a:ln>
        </p:spPr>
      </p:sp>
      <p:sp>
        <p:nvSpPr>
          <p:cNvPr id="41" name="text-765">
            <a:extLst>
              <a:ext uri="{FF2B5EF4-FFF2-40B4-BE49-F238E27FC236}">
                <a16:creationId xmlns:a16="http://schemas.microsoft.com/office/drawing/2014/main" id="{EC911A2A-93A9-487D-BA80-FEDF40674CE6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MAJOR</a:t>
            </a:r>
          </a:p>
        </p:txBody>
      </p:sp>
      <p:sp>
        <p:nvSpPr>
          <p:cNvPr id="42" name="text-766">
            <a:extLst>
              <a:ext uri="{FF2B5EF4-FFF2-40B4-BE49-F238E27FC236}">
                <a16:creationId xmlns:a16="http://schemas.microsoft.com/office/drawing/2014/main" id="{A5345E95-C690-4A10-AF3F-6F7F6FE80247}"/>
              </a:ext>
            </a:extLst>
          </p:cNvPr>
          <p:cNvSpPr>
            <a:spLocks noGrp="1"/>
          </p:cNvSpPr>
          <p:nvPr/>
        </p:nvSpPr>
        <p:spPr>
          <a:xfrm>
            <a:off x="2571750" y="4933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≥ 16 ft</a:t>
            </a:r>
          </a:p>
        </p:txBody>
      </p:sp>
      <p:sp>
        <p:nvSpPr>
          <p:cNvPr id="43" name="text-767">
            <a:extLst>
              <a:ext uri="{FF2B5EF4-FFF2-40B4-BE49-F238E27FC236}">
                <a16:creationId xmlns:a16="http://schemas.microsoft.com/office/drawing/2014/main" id="{3B626626-436C-4DB1-B15C-CDDAB595F9C2}"/>
              </a:ext>
            </a:extLst>
          </p:cNvPr>
          <p:cNvSpPr>
            <a:spLocks noGrp="1"/>
          </p:cNvSpPr>
          <p:nvPr/>
        </p:nvSpPr>
        <p:spPr>
          <a:xfrm>
            <a:off x="4572000" y="49339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7F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F1D1D"/>
                </a:solidFill>
                <a:latin typeface="Microsoft YaHei"/>
                <a:ea typeface="Microsoft YaHei"/>
                <a:cs typeface="Microsoft YaHei"/>
              </a:rPr>
              <a:t>严重洪水</a:t>
            </a:r>
          </a:p>
        </p:txBody>
      </p:sp>
      <p:sp>
        <p:nvSpPr>
          <p:cNvPr id="44" name="text-768">
            <a:extLst>
              <a:ext uri="{FF2B5EF4-FFF2-40B4-BE49-F238E27FC236}">
                <a16:creationId xmlns:a16="http://schemas.microsoft.com/office/drawing/2014/main" id="{94FD340C-F6DE-467A-9B13-B2C9B80536C5}"/>
              </a:ext>
            </a:extLst>
          </p:cNvPr>
          <p:cNvSpPr>
            <a:spLocks noGrp="1"/>
          </p:cNvSpPr>
          <p:nvPr/>
        </p:nvSpPr>
        <p:spPr>
          <a:xfrm>
            <a:off x="6667500" y="49339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最高等级响应</a:t>
            </a:r>
          </a:p>
        </p:txBody>
      </p:sp>
      <p:sp>
        <p:nvSpPr>
          <p:cNvPr id="45" name="text-769">
            <a:extLst>
              <a:ext uri="{FF2B5EF4-FFF2-40B4-BE49-F238E27FC236}">
                <a16:creationId xmlns:a16="http://schemas.microsoft.com/office/drawing/2014/main" id="{B8608FF3-725F-4960-B2D7-B4297CB9A36B}"/>
              </a:ext>
            </a:extLst>
          </p:cNvPr>
          <p:cNvSpPr>
            <a:spLocks noGrp="1"/>
          </p:cNvSpPr>
          <p:nvPr/>
        </p:nvSpPr>
        <p:spPr>
          <a:xfrm>
            <a:off x="10858500" y="494347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6" name="box-770">
            <a:extLst>
              <a:ext uri="{FF2B5EF4-FFF2-40B4-BE49-F238E27FC236}">
                <a16:creationId xmlns:a16="http://schemas.microsoft.com/office/drawing/2014/main" id="{A1D9A65F-BB13-4783-A718-1B6E74DF2437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457200"/>
          </a:xfrm>
          <a:prstGeom prst="roundRect">
            <a:avLst>
              <a:gd name="adj" fmla="val 25000"/>
            </a:avLst>
          </a:prstGeom>
          <a:solidFill>
            <a:srgbClr val="E8F3FA"/>
          </a:solidFill>
          <a:ln w="0">
            <a:noFill/>
            <a:prstDash val="solid"/>
          </a:ln>
        </p:spPr>
      </p:sp>
      <p:sp>
        <p:nvSpPr>
          <p:cNvPr id="47" name="text-771">
            <a:extLst>
              <a:ext uri="{FF2B5EF4-FFF2-40B4-BE49-F238E27FC236}">
                <a16:creationId xmlns:a16="http://schemas.microsoft.com/office/drawing/2014/main" id="{E6CFE858-3AA0-4D72-B292-FD463BF4A5EC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10629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分类逻辑：对每个未来小时的</a:t>
            </a:r>
            <a:r>
              <a:rPr sz="1125" b="1" dirty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25" b="1" dirty="0" err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pred_stage_ft</a:t>
            </a:r>
            <a:r>
              <a:rPr sz="1125" b="1" dirty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25" b="1" dirty="0" err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逐点判断；也可取</a:t>
            </a:r>
            <a:r>
              <a:rPr sz="1125" b="1" dirty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 24 </a:t>
            </a:r>
            <a:r>
              <a:rPr sz="1125" b="1" dirty="0" err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小时最高风险作为该预测周期的综合预警等级</a:t>
            </a:r>
            <a:r>
              <a:rPr sz="1125" b="1" dirty="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11700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-772">
            <a:extLst>
              <a:ext uri="{FF2B5EF4-FFF2-40B4-BE49-F238E27FC236}">
                <a16:creationId xmlns:a16="http://schemas.microsoft.com/office/drawing/2014/main" id="{05CEF65A-8833-4DF2-9D84-B0EFFEB7F51C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CONCLUSIONS</a:t>
            </a:r>
          </a:p>
        </p:txBody>
      </p:sp>
      <p:sp>
        <p:nvSpPr>
          <p:cNvPr id="2" name="text-773">
            <a:extLst>
              <a:ext uri="{FF2B5EF4-FFF2-40B4-BE49-F238E27FC236}">
                <a16:creationId xmlns:a16="http://schemas.microsoft.com/office/drawing/2014/main" id="{4B2C4993-0373-4955-B774-F46CC480842C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结论与当前局限：模型有效，但仍是单站点研究原型</a:t>
            </a:r>
          </a:p>
        </p:txBody>
      </p:sp>
      <p:sp>
        <p:nvSpPr>
          <p:cNvPr id="3" name="rect-774">
            <a:extLst>
              <a:ext uri="{FF2B5EF4-FFF2-40B4-BE49-F238E27FC236}">
                <a16:creationId xmlns:a16="http://schemas.microsoft.com/office/drawing/2014/main" id="{4F035CB8-960E-40C1-8A9E-8938E42FC0DE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775">
            <a:extLst>
              <a:ext uri="{FF2B5EF4-FFF2-40B4-BE49-F238E27FC236}">
                <a16:creationId xmlns:a16="http://schemas.microsoft.com/office/drawing/2014/main" id="{B5A15F7D-643F-4805-A65B-FD5910DC728C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模型结果与项目分析</a:t>
            </a:r>
          </a:p>
        </p:txBody>
      </p:sp>
      <p:sp>
        <p:nvSpPr>
          <p:cNvPr id="5" name="text-776">
            <a:extLst>
              <a:ext uri="{FF2B5EF4-FFF2-40B4-BE49-F238E27FC236}">
                <a16:creationId xmlns:a16="http://schemas.microsoft.com/office/drawing/2014/main" id="{44331001-EB6C-4C8C-8B06-CF23A6C7989B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box-777">
            <a:extLst>
              <a:ext uri="{FF2B5EF4-FFF2-40B4-BE49-F238E27FC236}">
                <a16:creationId xmlns:a16="http://schemas.microsoft.com/office/drawing/2014/main" id="{99DA1E35-B729-4761-9066-6CB06C640E0B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5286375" cy="451485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box-778">
            <a:extLst>
              <a:ext uri="{FF2B5EF4-FFF2-40B4-BE49-F238E27FC236}">
                <a16:creationId xmlns:a16="http://schemas.microsoft.com/office/drawing/2014/main" id="{D8452950-AA28-4E25-BAEE-F2703B669489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2095500" cy="361950"/>
          </a:xfrm>
          <a:prstGeom prst="roundRect">
            <a:avLst>
              <a:gd name="adj" fmla="val 26316"/>
            </a:avLst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8" name="text-779">
            <a:extLst>
              <a:ext uri="{FF2B5EF4-FFF2-40B4-BE49-F238E27FC236}">
                <a16:creationId xmlns:a16="http://schemas.microsoft.com/office/drawing/2014/main" id="{69F0B289-DDCA-4A37-B700-7539ECDA6E19}"/>
              </a:ext>
            </a:extLst>
          </p:cNvPr>
          <p:cNvSpPr>
            <a:spLocks noGrp="1"/>
          </p:cNvSpPr>
          <p:nvPr/>
        </p:nvSpPr>
        <p:spPr>
          <a:xfrm>
            <a:off x="838200" y="17240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9" name="rect-780">
            <a:extLst>
              <a:ext uri="{FF2B5EF4-FFF2-40B4-BE49-F238E27FC236}">
                <a16:creationId xmlns:a16="http://schemas.microsoft.com/office/drawing/2014/main" id="{3FF70A16-C2BF-48F1-92E2-6C493BDCE4F6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0" name="text-781">
            <a:extLst>
              <a:ext uri="{FF2B5EF4-FFF2-40B4-BE49-F238E27FC236}">
                <a16:creationId xmlns:a16="http://schemas.microsoft.com/office/drawing/2014/main" id="{0A19270B-65A0-4A69-97F1-5CC705313AD1}"/>
              </a:ext>
            </a:extLst>
          </p:cNvPr>
          <p:cNvSpPr>
            <a:spLocks noGrp="1"/>
          </p:cNvSpPr>
          <p:nvPr/>
        </p:nvSpPr>
        <p:spPr>
          <a:xfrm>
            <a:off x="1028700" y="22479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成功融合水位、流量与降雨三类小时特征。</a:t>
            </a:r>
          </a:p>
        </p:txBody>
      </p:sp>
      <p:sp>
        <p:nvSpPr>
          <p:cNvPr id="11" name="rect-782">
            <a:extLst>
              <a:ext uri="{FF2B5EF4-FFF2-40B4-BE49-F238E27FC236}">
                <a16:creationId xmlns:a16="http://schemas.microsoft.com/office/drawing/2014/main" id="{E54C4AE0-B72B-411F-B901-0096876CDA52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2" name="text-783">
            <a:extLst>
              <a:ext uri="{FF2B5EF4-FFF2-40B4-BE49-F238E27FC236}">
                <a16:creationId xmlns:a16="http://schemas.microsoft.com/office/drawing/2014/main" id="{52FE6310-0C64-413B-87D4-7B68C0D8EA94}"/>
              </a:ext>
            </a:extLst>
          </p:cNvPr>
          <p:cNvSpPr>
            <a:spLocks noGrp="1"/>
          </p:cNvSpPr>
          <p:nvPr/>
        </p:nvSpPr>
        <p:spPr>
          <a:xfrm>
            <a:off x="1028700" y="27813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构建 161,634 条连续、无缺失的长时间序列。</a:t>
            </a:r>
          </a:p>
        </p:txBody>
      </p:sp>
      <p:sp>
        <p:nvSpPr>
          <p:cNvPr id="13" name="rect-784">
            <a:extLst>
              <a:ext uri="{FF2B5EF4-FFF2-40B4-BE49-F238E27FC236}">
                <a16:creationId xmlns:a16="http://schemas.microsoft.com/office/drawing/2014/main" id="{642F4C8C-0618-4E2E-85A8-867F0793C18C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4" name="text-785">
            <a:extLst>
              <a:ext uri="{FF2B5EF4-FFF2-40B4-BE49-F238E27FC236}">
                <a16:creationId xmlns:a16="http://schemas.microsoft.com/office/drawing/2014/main" id="{C6E7BBD3-AA62-4C25-978F-F04BBDF59809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双层 LSTM 能稳定预测未来 24 小时水位。</a:t>
            </a:r>
          </a:p>
        </p:txBody>
      </p:sp>
      <p:sp>
        <p:nvSpPr>
          <p:cNvPr id="15" name="rect-786">
            <a:extLst>
              <a:ext uri="{FF2B5EF4-FFF2-40B4-BE49-F238E27FC236}">
                <a16:creationId xmlns:a16="http://schemas.microsoft.com/office/drawing/2014/main" id="{1BE90A82-2EEB-492C-BE18-369C588259B2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6" name="text-787">
            <a:extLst>
              <a:ext uri="{FF2B5EF4-FFF2-40B4-BE49-F238E27FC236}">
                <a16:creationId xmlns:a16="http://schemas.microsoft.com/office/drawing/2014/main" id="{B2A742FB-6874-4406-8C51-8A665D7C1435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24 小时 R² 仍达到 0.975，RMSE 为 0.299 ft。</a:t>
            </a:r>
          </a:p>
        </p:txBody>
      </p:sp>
      <p:sp>
        <p:nvSpPr>
          <p:cNvPr id="17" name="rect-788">
            <a:extLst>
              <a:ext uri="{FF2B5EF4-FFF2-40B4-BE49-F238E27FC236}">
                <a16:creationId xmlns:a16="http://schemas.microsoft.com/office/drawing/2014/main" id="{137E2741-AAC4-4E22-A240-EB2A9027E2C5}"/>
              </a:ext>
            </a:extLst>
          </p:cNvPr>
          <p:cNvSpPr>
            <a:spLocks noGrp="1"/>
          </p:cNvSpPr>
          <p:nvPr/>
        </p:nvSpPr>
        <p:spPr>
          <a:xfrm>
            <a:off x="857250" y="44577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8" name="text-789">
            <a:extLst>
              <a:ext uri="{FF2B5EF4-FFF2-40B4-BE49-F238E27FC236}">
                <a16:creationId xmlns:a16="http://schemas.microsoft.com/office/drawing/2014/main" id="{9C1F199A-906D-4EBE-8A6D-AE21AA455C9C}"/>
              </a:ext>
            </a:extLst>
          </p:cNvPr>
          <p:cNvSpPr>
            <a:spLocks noGrp="1"/>
          </p:cNvSpPr>
          <p:nvPr/>
        </p:nvSpPr>
        <p:spPr>
          <a:xfrm>
            <a:off x="1028700" y="43815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预测结果可直接映射为五级洪水风险信号。</a:t>
            </a:r>
          </a:p>
        </p:txBody>
      </p:sp>
      <p:sp>
        <p:nvSpPr>
          <p:cNvPr id="19" name="box-790">
            <a:extLst>
              <a:ext uri="{FF2B5EF4-FFF2-40B4-BE49-F238E27FC236}">
                <a16:creationId xmlns:a16="http://schemas.microsoft.com/office/drawing/2014/main" id="{EC06835B-E4DA-407C-BE3F-CB02812FEBD0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4476750" cy="571500"/>
          </a:xfrm>
          <a:prstGeom prst="roundRect">
            <a:avLst>
              <a:gd name="adj" fmla="val 20000"/>
            </a:avLst>
          </a:prstGeom>
          <a:solidFill>
            <a:srgbClr val="E8F3FA"/>
          </a:solidFill>
          <a:ln w="0">
            <a:noFill/>
            <a:prstDash val="solid"/>
          </a:ln>
        </p:spPr>
      </p:sp>
      <p:sp>
        <p:nvSpPr>
          <p:cNvPr id="20" name="text-791">
            <a:extLst>
              <a:ext uri="{FF2B5EF4-FFF2-40B4-BE49-F238E27FC236}">
                <a16:creationId xmlns:a16="http://schemas.microsoft.com/office/drawing/2014/main" id="{6F565C9C-001E-43AE-BB08-6CA83258AFD1}"/>
              </a:ext>
            </a:extLst>
          </p:cNvPr>
          <p:cNvSpPr>
            <a:spLocks noGrp="1"/>
          </p:cNvSpPr>
          <p:nvPr/>
        </p:nvSpPr>
        <p:spPr>
          <a:xfrm>
            <a:off x="1047750" y="5162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总体判断：已达到课程实验、技术验证和演示汇报要求。</a:t>
            </a:r>
          </a:p>
        </p:txBody>
      </p:sp>
      <p:sp>
        <p:nvSpPr>
          <p:cNvPr id="21" name="box-792">
            <a:extLst>
              <a:ext uri="{FF2B5EF4-FFF2-40B4-BE49-F238E27FC236}">
                <a16:creationId xmlns:a16="http://schemas.microsoft.com/office/drawing/2014/main" id="{3918EB02-A31E-40FB-B3F6-9A95264D0350}"/>
              </a:ext>
            </a:extLst>
          </p:cNvPr>
          <p:cNvSpPr>
            <a:spLocks noGrp="1"/>
          </p:cNvSpPr>
          <p:nvPr/>
        </p:nvSpPr>
        <p:spPr>
          <a:xfrm>
            <a:off x="6334125" y="1390650"/>
            <a:ext cx="5286375" cy="451485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box-793">
            <a:extLst>
              <a:ext uri="{FF2B5EF4-FFF2-40B4-BE49-F238E27FC236}">
                <a16:creationId xmlns:a16="http://schemas.microsoft.com/office/drawing/2014/main" id="{53BF93BD-24EA-4334-85E8-C8BEA1E22229}"/>
              </a:ext>
            </a:extLst>
          </p:cNvPr>
          <p:cNvSpPr>
            <a:spLocks noGrp="1"/>
          </p:cNvSpPr>
          <p:nvPr/>
        </p:nvSpPr>
        <p:spPr>
          <a:xfrm>
            <a:off x="6600825" y="1657350"/>
            <a:ext cx="2095500" cy="361950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3" name="text-794">
            <a:extLst>
              <a:ext uri="{FF2B5EF4-FFF2-40B4-BE49-F238E27FC236}">
                <a16:creationId xmlns:a16="http://schemas.microsoft.com/office/drawing/2014/main" id="{F9FAD3B4-2438-4F03-BCFB-3C35544B382E}"/>
              </a:ext>
            </a:extLst>
          </p:cNvPr>
          <p:cNvSpPr>
            <a:spLocks noGrp="1"/>
          </p:cNvSpPr>
          <p:nvPr/>
        </p:nvSpPr>
        <p:spPr>
          <a:xfrm>
            <a:off x="6600825" y="17240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当前局限</a:t>
            </a:r>
          </a:p>
        </p:txBody>
      </p:sp>
      <p:sp>
        <p:nvSpPr>
          <p:cNvPr id="24" name="rect-795">
            <a:extLst>
              <a:ext uri="{FF2B5EF4-FFF2-40B4-BE49-F238E27FC236}">
                <a16:creationId xmlns:a16="http://schemas.microsoft.com/office/drawing/2014/main" id="{29D3B2E8-A93D-4063-8AFE-A3C4E053B771}"/>
              </a:ext>
            </a:extLst>
          </p:cNvPr>
          <p:cNvSpPr>
            <a:spLocks noGrp="1"/>
          </p:cNvSpPr>
          <p:nvPr/>
        </p:nvSpPr>
        <p:spPr>
          <a:xfrm>
            <a:off x="6619875" y="23241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5" name="text-796">
            <a:extLst>
              <a:ext uri="{FF2B5EF4-FFF2-40B4-BE49-F238E27FC236}">
                <a16:creationId xmlns:a16="http://schemas.microsoft.com/office/drawing/2014/main" id="{9CC9F982-7073-47CC-92FE-2FFC76F9458C}"/>
              </a:ext>
            </a:extLst>
          </p:cNvPr>
          <p:cNvSpPr>
            <a:spLocks noGrp="1"/>
          </p:cNvSpPr>
          <p:nvPr/>
        </p:nvSpPr>
        <p:spPr>
          <a:xfrm>
            <a:off x="6791325" y="22479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降雨为水文站单点值，不能完整表示上游流域面降雨。</a:t>
            </a:r>
          </a:p>
        </p:txBody>
      </p:sp>
      <p:sp>
        <p:nvSpPr>
          <p:cNvPr id="26" name="rect-797">
            <a:extLst>
              <a:ext uri="{FF2B5EF4-FFF2-40B4-BE49-F238E27FC236}">
                <a16:creationId xmlns:a16="http://schemas.microsoft.com/office/drawing/2014/main" id="{DD5FEC67-DCFB-476C-83D8-48F60A363943}"/>
              </a:ext>
            </a:extLst>
          </p:cNvPr>
          <p:cNvSpPr>
            <a:spLocks noGrp="1"/>
          </p:cNvSpPr>
          <p:nvPr/>
        </p:nvSpPr>
        <p:spPr>
          <a:xfrm>
            <a:off x="6619875" y="28575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7" name="text-798">
            <a:extLst>
              <a:ext uri="{FF2B5EF4-FFF2-40B4-BE49-F238E27FC236}">
                <a16:creationId xmlns:a16="http://schemas.microsoft.com/office/drawing/2014/main" id="{6BE8D388-317C-47A9-A29B-30F671343297}"/>
              </a:ext>
            </a:extLst>
          </p:cNvPr>
          <p:cNvSpPr>
            <a:spLocks noGrp="1"/>
          </p:cNvSpPr>
          <p:nvPr/>
        </p:nvSpPr>
        <p:spPr>
          <a:xfrm>
            <a:off x="6791325" y="27813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未来预测只使用历史特征，未输入未来天气预报降雨。</a:t>
            </a:r>
          </a:p>
        </p:txBody>
      </p:sp>
      <p:sp>
        <p:nvSpPr>
          <p:cNvPr id="28" name="rect-799">
            <a:extLst>
              <a:ext uri="{FF2B5EF4-FFF2-40B4-BE49-F238E27FC236}">
                <a16:creationId xmlns:a16="http://schemas.microsoft.com/office/drawing/2014/main" id="{87E2FAD5-5A71-4AB6-81C5-72963C9E4160}"/>
              </a:ext>
            </a:extLst>
          </p:cNvPr>
          <p:cNvSpPr>
            <a:spLocks noGrp="1"/>
          </p:cNvSpPr>
          <p:nvPr/>
        </p:nvSpPr>
        <p:spPr>
          <a:xfrm>
            <a:off x="6619875" y="33909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9" name="text-800">
            <a:extLst>
              <a:ext uri="{FF2B5EF4-FFF2-40B4-BE49-F238E27FC236}">
                <a16:creationId xmlns:a16="http://schemas.microsoft.com/office/drawing/2014/main" id="{07D9C6C8-DF3E-474E-8517-DA674F19CF16}"/>
              </a:ext>
            </a:extLst>
          </p:cNvPr>
          <p:cNvSpPr>
            <a:spLocks noGrp="1"/>
          </p:cNvSpPr>
          <p:nvPr/>
        </p:nvSpPr>
        <p:spPr>
          <a:xfrm>
            <a:off x="6791325" y="33147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风险阈值采用示例规则，需要结合官方分级再次核验。</a:t>
            </a:r>
          </a:p>
        </p:txBody>
      </p:sp>
      <p:sp>
        <p:nvSpPr>
          <p:cNvPr id="30" name="rect-801">
            <a:extLst>
              <a:ext uri="{FF2B5EF4-FFF2-40B4-BE49-F238E27FC236}">
                <a16:creationId xmlns:a16="http://schemas.microsoft.com/office/drawing/2014/main" id="{69283407-6968-4BD2-8E2C-194BB485A532}"/>
              </a:ext>
            </a:extLst>
          </p:cNvPr>
          <p:cNvSpPr>
            <a:spLocks noGrp="1"/>
          </p:cNvSpPr>
          <p:nvPr/>
        </p:nvSpPr>
        <p:spPr>
          <a:xfrm>
            <a:off x="6619875" y="39243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1" name="text-802">
            <a:extLst>
              <a:ext uri="{FF2B5EF4-FFF2-40B4-BE49-F238E27FC236}">
                <a16:creationId xmlns:a16="http://schemas.microsoft.com/office/drawing/2014/main" id="{A9F1D106-309D-489E-BDAD-E096C9FFF3A1}"/>
              </a:ext>
            </a:extLst>
          </p:cNvPr>
          <p:cNvSpPr>
            <a:spLocks noGrp="1"/>
          </p:cNvSpPr>
          <p:nvPr/>
        </p:nvSpPr>
        <p:spPr>
          <a:xfrm>
            <a:off x="6791325" y="38481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尚未与持久性、ARIMA、GRU、Transformer 等基线比较。</a:t>
            </a:r>
          </a:p>
        </p:txBody>
      </p:sp>
      <p:sp>
        <p:nvSpPr>
          <p:cNvPr id="32" name="rect-803">
            <a:extLst>
              <a:ext uri="{FF2B5EF4-FFF2-40B4-BE49-F238E27FC236}">
                <a16:creationId xmlns:a16="http://schemas.microsoft.com/office/drawing/2014/main" id="{7D66C0D4-724A-4FFA-91AF-5F8E22C3BB8A}"/>
              </a:ext>
            </a:extLst>
          </p:cNvPr>
          <p:cNvSpPr>
            <a:spLocks noGrp="1"/>
          </p:cNvSpPr>
          <p:nvPr/>
        </p:nvSpPr>
        <p:spPr>
          <a:xfrm>
            <a:off x="6619875" y="4457700"/>
            <a:ext cx="66675" cy="66675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3" name="text-804">
            <a:extLst>
              <a:ext uri="{FF2B5EF4-FFF2-40B4-BE49-F238E27FC236}">
                <a16:creationId xmlns:a16="http://schemas.microsoft.com/office/drawing/2014/main" id="{DA394060-A97F-42DC-937A-AD8FB5774E99}"/>
              </a:ext>
            </a:extLst>
          </p:cNvPr>
          <p:cNvSpPr>
            <a:spLocks noGrp="1"/>
          </p:cNvSpPr>
          <p:nvPr/>
        </p:nvSpPr>
        <p:spPr>
          <a:xfrm>
            <a:off x="6791325" y="43815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 R² 受大量平稳水位样本影响，洪峰专项指标仍需补充。</a:t>
            </a:r>
          </a:p>
        </p:txBody>
      </p:sp>
      <p:sp>
        <p:nvSpPr>
          <p:cNvPr id="34" name="box-805">
            <a:extLst>
              <a:ext uri="{FF2B5EF4-FFF2-40B4-BE49-F238E27FC236}">
                <a16:creationId xmlns:a16="http://schemas.microsoft.com/office/drawing/2014/main" id="{EBAD8B83-5F69-45CD-9A7C-8C5FBE0801C9}"/>
              </a:ext>
            </a:extLst>
          </p:cNvPr>
          <p:cNvSpPr>
            <a:spLocks noGrp="1"/>
          </p:cNvSpPr>
          <p:nvPr/>
        </p:nvSpPr>
        <p:spPr>
          <a:xfrm>
            <a:off x="6619875" y="5010150"/>
            <a:ext cx="4476750" cy="571500"/>
          </a:xfrm>
          <a:prstGeom prst="roundRect">
            <a:avLst>
              <a:gd name="adj" fmla="val 20000"/>
            </a:avLst>
          </a:prstGeom>
          <a:solidFill>
            <a:srgbClr val="FFF4DF"/>
          </a:solidFill>
          <a:ln w="0">
            <a:noFill/>
            <a:prstDash val="solid"/>
          </a:ln>
        </p:spPr>
      </p:sp>
      <p:sp>
        <p:nvSpPr>
          <p:cNvPr id="35" name="text-806">
            <a:extLst>
              <a:ext uri="{FF2B5EF4-FFF2-40B4-BE49-F238E27FC236}">
                <a16:creationId xmlns:a16="http://schemas.microsoft.com/office/drawing/2014/main" id="{19DD6614-A266-40C5-B796-27131B0DF17A}"/>
              </a:ext>
            </a:extLst>
          </p:cNvPr>
          <p:cNvSpPr>
            <a:spLocks noGrp="1"/>
          </p:cNvSpPr>
          <p:nvPr/>
        </p:nvSpPr>
        <p:spPr>
          <a:xfrm>
            <a:off x="6810375" y="5162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使用场景：研究与辅助决策；不能替代官方洪水预警。</a:t>
            </a:r>
          </a:p>
        </p:txBody>
      </p:sp>
    </p:spTree>
    <p:extLst>
      <p:ext uri="{BB962C8B-B14F-4D97-AF65-F5344CB8AC3E}">
        <p14:creationId xmlns:p14="http://schemas.microsoft.com/office/powerpoint/2010/main" val="1975214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807">
            <a:extLst>
              <a:ext uri="{FF2B5EF4-FFF2-40B4-BE49-F238E27FC236}">
                <a16:creationId xmlns:a16="http://schemas.microsoft.com/office/drawing/2014/main" id="{36B1893F-9E31-46C6-BCC2-E5E5E406A8D4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FUTURE WORK</a:t>
            </a:r>
          </a:p>
        </p:txBody>
      </p:sp>
      <p:sp>
        <p:nvSpPr>
          <p:cNvPr id="2" name="text-808">
            <a:extLst>
              <a:ext uri="{FF2B5EF4-FFF2-40B4-BE49-F238E27FC236}">
                <a16:creationId xmlns:a16="http://schemas.microsoft.com/office/drawing/2014/main" id="{F53CBE3C-AEFD-4175-B8AE-5F79BC0AE66F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后续展望与复现路径</a:t>
            </a:r>
          </a:p>
        </p:txBody>
      </p:sp>
      <p:sp>
        <p:nvSpPr>
          <p:cNvPr id="3" name="rect-809">
            <a:extLst>
              <a:ext uri="{FF2B5EF4-FFF2-40B4-BE49-F238E27FC236}">
                <a16:creationId xmlns:a16="http://schemas.microsoft.com/office/drawing/2014/main" id="{F6F736A1-3AD4-42E9-82E1-C8FCBA54D0F4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D8E3EA"/>
          </a:solidFill>
          <a:ln w="0">
            <a:noFill/>
            <a:prstDash val="solid"/>
          </a:ln>
        </p:spPr>
      </p:sp>
      <p:sp>
        <p:nvSpPr>
          <p:cNvPr id="4" name="text-810">
            <a:extLst>
              <a:ext uri="{FF2B5EF4-FFF2-40B4-BE49-F238E27FC236}">
                <a16:creationId xmlns:a16="http://schemas.microsoft.com/office/drawing/2014/main" id="{B52DFDB7-417B-4A2F-AEEB-231E711291D1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项目代码、数据与模型产物</a:t>
            </a:r>
          </a:p>
        </p:txBody>
      </p:sp>
      <p:sp>
        <p:nvSpPr>
          <p:cNvPr id="5" name="text-811">
            <a:extLst>
              <a:ext uri="{FF2B5EF4-FFF2-40B4-BE49-F238E27FC236}">
                <a16:creationId xmlns:a16="http://schemas.microsoft.com/office/drawing/2014/main" id="{7718E6BC-7CDA-4F83-8AE2-F91739901B9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0708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box-812">
            <a:extLst>
              <a:ext uri="{FF2B5EF4-FFF2-40B4-BE49-F238E27FC236}">
                <a16:creationId xmlns:a16="http://schemas.microsoft.com/office/drawing/2014/main" id="{3F3844A3-C6F5-4AD0-B9F2-FCD731A32DC1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52387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rect-813">
            <a:extLst>
              <a:ext uri="{FF2B5EF4-FFF2-40B4-BE49-F238E27FC236}">
                <a16:creationId xmlns:a16="http://schemas.microsoft.com/office/drawing/2014/main" id="{24AB8BF3-C677-489C-8403-2307C7D9025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76200" cy="990600"/>
          </a:xfrm>
          <a:prstGeom prst="rect">
            <a:avLst/>
          </a:prstGeom>
          <a:solidFill>
            <a:srgbClr val="1261A6"/>
          </a:solidFill>
          <a:ln w="0">
            <a:noFill/>
            <a:prstDash val="solid"/>
          </a:ln>
        </p:spPr>
      </p:sp>
      <p:sp>
        <p:nvSpPr>
          <p:cNvPr id="8" name="text-814">
            <a:extLst>
              <a:ext uri="{FF2B5EF4-FFF2-40B4-BE49-F238E27FC236}">
                <a16:creationId xmlns:a16="http://schemas.microsoft.com/office/drawing/2014/main" id="{68F14854-BB3E-44E0-83D7-D7C19981844D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61A6"/>
                </a:solidFill>
                <a:latin typeface="Microsoft YaHei"/>
                <a:ea typeface="Microsoft YaHei"/>
                <a:cs typeface="Microsoft YaHei"/>
              </a:rPr>
              <a:t>流域面降雨</a:t>
            </a:r>
          </a:p>
        </p:txBody>
      </p:sp>
      <p:sp>
        <p:nvSpPr>
          <p:cNvPr id="9" name="text-815">
            <a:extLst>
              <a:ext uri="{FF2B5EF4-FFF2-40B4-BE49-F238E27FC236}">
                <a16:creationId xmlns:a16="http://schemas.microsoft.com/office/drawing/2014/main" id="{500C2667-3113-4D07-82C3-E2013C32D8CC}"/>
              </a:ext>
            </a:extLst>
          </p:cNvPr>
          <p:cNvSpPr>
            <a:spLocks noGrp="1"/>
          </p:cNvSpPr>
          <p:nvPr/>
        </p:nvSpPr>
        <p:spPr>
          <a:xfrm>
            <a:off x="2476500" y="148590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对上游流域布设多个 ERA5/GPM 网格点，按面积或子流域加权。</a:t>
            </a:r>
          </a:p>
        </p:txBody>
      </p:sp>
      <p:sp>
        <p:nvSpPr>
          <p:cNvPr id="10" name="box-816">
            <a:extLst>
              <a:ext uri="{FF2B5EF4-FFF2-40B4-BE49-F238E27FC236}">
                <a16:creationId xmlns:a16="http://schemas.microsoft.com/office/drawing/2014/main" id="{DC5C2062-7339-4AD4-A051-5421F8AF7B13}"/>
              </a:ext>
            </a:extLst>
          </p:cNvPr>
          <p:cNvSpPr>
            <a:spLocks noGrp="1"/>
          </p:cNvSpPr>
          <p:nvPr/>
        </p:nvSpPr>
        <p:spPr>
          <a:xfrm>
            <a:off x="6096000" y="1352550"/>
            <a:ext cx="52387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1" name="rect-817">
            <a:extLst>
              <a:ext uri="{FF2B5EF4-FFF2-40B4-BE49-F238E27FC236}">
                <a16:creationId xmlns:a16="http://schemas.microsoft.com/office/drawing/2014/main" id="{ABECF8A5-85E8-402A-B0BF-FD2DAE91FF68}"/>
              </a:ext>
            </a:extLst>
          </p:cNvPr>
          <p:cNvSpPr>
            <a:spLocks noGrp="1"/>
          </p:cNvSpPr>
          <p:nvPr/>
        </p:nvSpPr>
        <p:spPr>
          <a:xfrm>
            <a:off x="6096000" y="1352550"/>
            <a:ext cx="76200" cy="9906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2" name="text-818">
            <a:extLst>
              <a:ext uri="{FF2B5EF4-FFF2-40B4-BE49-F238E27FC236}">
                <a16:creationId xmlns:a16="http://schemas.microsoft.com/office/drawing/2014/main" id="{32ACD75F-7B2E-403F-92D8-347891F9EF2D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引入未来降雨</a:t>
            </a:r>
          </a:p>
        </p:txBody>
      </p:sp>
      <p:sp>
        <p:nvSpPr>
          <p:cNvPr id="13" name="text-819">
            <a:extLst>
              <a:ext uri="{FF2B5EF4-FFF2-40B4-BE49-F238E27FC236}">
                <a16:creationId xmlns:a16="http://schemas.microsoft.com/office/drawing/2014/main" id="{E1AAAF23-A1B1-4994-B42E-E9F7AD79A17A}"/>
              </a:ext>
            </a:extLst>
          </p:cNvPr>
          <p:cNvSpPr>
            <a:spLocks noGrp="1"/>
          </p:cNvSpPr>
          <p:nvPr/>
        </p:nvSpPr>
        <p:spPr>
          <a:xfrm>
            <a:off x="8001000" y="148590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将天气预报降雨作为已知未来协变量，提升涨水提前量。</a:t>
            </a:r>
          </a:p>
        </p:txBody>
      </p:sp>
      <p:sp>
        <p:nvSpPr>
          <p:cNvPr id="14" name="box-820">
            <a:extLst>
              <a:ext uri="{FF2B5EF4-FFF2-40B4-BE49-F238E27FC236}">
                <a16:creationId xmlns:a16="http://schemas.microsoft.com/office/drawing/2014/main" id="{15F9F6BC-2122-4BFA-8AF8-7AB26831F1DB}"/>
              </a:ext>
            </a:extLst>
          </p:cNvPr>
          <p:cNvSpPr>
            <a:spLocks noGrp="1"/>
          </p:cNvSpPr>
          <p:nvPr/>
        </p:nvSpPr>
        <p:spPr>
          <a:xfrm>
            <a:off x="571500" y="2552700"/>
            <a:ext cx="52387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rect-821">
            <a:extLst>
              <a:ext uri="{FF2B5EF4-FFF2-40B4-BE49-F238E27FC236}">
                <a16:creationId xmlns:a16="http://schemas.microsoft.com/office/drawing/2014/main" id="{61740767-8AA1-4151-9661-4965BB205C85}"/>
              </a:ext>
            </a:extLst>
          </p:cNvPr>
          <p:cNvSpPr>
            <a:spLocks noGrp="1"/>
          </p:cNvSpPr>
          <p:nvPr/>
        </p:nvSpPr>
        <p:spPr>
          <a:xfrm>
            <a:off x="571500" y="2552700"/>
            <a:ext cx="76200" cy="9906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6" name="text-822">
            <a:extLst>
              <a:ext uri="{FF2B5EF4-FFF2-40B4-BE49-F238E27FC236}">
                <a16:creationId xmlns:a16="http://schemas.microsoft.com/office/drawing/2014/main" id="{26F0E07C-2FFD-4ACC-965A-9F21F7B1D290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模型对比</a:t>
            </a:r>
          </a:p>
        </p:txBody>
      </p:sp>
      <p:sp>
        <p:nvSpPr>
          <p:cNvPr id="17" name="text-823">
            <a:extLst>
              <a:ext uri="{FF2B5EF4-FFF2-40B4-BE49-F238E27FC236}">
                <a16:creationId xmlns:a16="http://schemas.microsoft.com/office/drawing/2014/main" id="{B5C19304-83AF-4A23-89B0-971E48D7C19F}"/>
              </a:ext>
            </a:extLst>
          </p:cNvPr>
          <p:cNvSpPr>
            <a:spLocks noGrp="1"/>
          </p:cNvSpPr>
          <p:nvPr/>
        </p:nvSpPr>
        <p:spPr>
          <a:xfrm>
            <a:off x="2476500" y="268605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增加持久性、XGBoost、GRU、TCN、Transformer 等基线。</a:t>
            </a:r>
          </a:p>
        </p:txBody>
      </p:sp>
      <p:sp>
        <p:nvSpPr>
          <p:cNvPr id="18" name="box-824">
            <a:extLst>
              <a:ext uri="{FF2B5EF4-FFF2-40B4-BE49-F238E27FC236}">
                <a16:creationId xmlns:a16="http://schemas.microsoft.com/office/drawing/2014/main" id="{0201A336-6BB8-49D7-A974-C80A7109A6EE}"/>
              </a:ext>
            </a:extLst>
          </p:cNvPr>
          <p:cNvSpPr>
            <a:spLocks noGrp="1"/>
          </p:cNvSpPr>
          <p:nvPr/>
        </p:nvSpPr>
        <p:spPr>
          <a:xfrm>
            <a:off x="6096000" y="2552700"/>
            <a:ext cx="52387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9" name="rect-825">
            <a:extLst>
              <a:ext uri="{FF2B5EF4-FFF2-40B4-BE49-F238E27FC236}">
                <a16:creationId xmlns:a16="http://schemas.microsoft.com/office/drawing/2014/main" id="{FEAD64CC-7AE0-41FC-BCD0-75BEB78DD17E}"/>
              </a:ext>
            </a:extLst>
          </p:cNvPr>
          <p:cNvSpPr>
            <a:spLocks noGrp="1"/>
          </p:cNvSpPr>
          <p:nvPr/>
        </p:nvSpPr>
        <p:spPr>
          <a:xfrm>
            <a:off x="6096000" y="2552700"/>
            <a:ext cx="76200" cy="9906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0" name="text-826">
            <a:extLst>
              <a:ext uri="{FF2B5EF4-FFF2-40B4-BE49-F238E27FC236}">
                <a16:creationId xmlns:a16="http://schemas.microsoft.com/office/drawing/2014/main" id="{3647F085-6753-4067-B160-5A6D4F8FCC0E}"/>
              </a:ext>
            </a:extLst>
          </p:cNvPr>
          <p:cNvSpPr>
            <a:spLocks noGrp="1"/>
          </p:cNvSpPr>
          <p:nvPr/>
        </p:nvSpPr>
        <p:spPr>
          <a:xfrm>
            <a:off x="6324600" y="27051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洪峰专项评估</a:t>
            </a:r>
          </a:p>
        </p:txBody>
      </p:sp>
      <p:sp>
        <p:nvSpPr>
          <p:cNvPr id="21" name="text-827">
            <a:extLst>
              <a:ext uri="{FF2B5EF4-FFF2-40B4-BE49-F238E27FC236}">
                <a16:creationId xmlns:a16="http://schemas.microsoft.com/office/drawing/2014/main" id="{5D11C465-B95A-4A03-BDE6-471EDACE78FE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统计洪峰时刻偏差、峰值误差、漏报率和预警提前时间。</a:t>
            </a:r>
          </a:p>
        </p:txBody>
      </p:sp>
      <p:sp>
        <p:nvSpPr>
          <p:cNvPr id="22" name="box-828">
            <a:extLst>
              <a:ext uri="{FF2B5EF4-FFF2-40B4-BE49-F238E27FC236}">
                <a16:creationId xmlns:a16="http://schemas.microsoft.com/office/drawing/2014/main" id="{B2E6A2CA-C535-4FAC-93F4-A547DC1CCA81}"/>
              </a:ext>
            </a:extLst>
          </p:cNvPr>
          <p:cNvSpPr>
            <a:spLocks noGrp="1"/>
          </p:cNvSpPr>
          <p:nvPr/>
        </p:nvSpPr>
        <p:spPr>
          <a:xfrm>
            <a:off x="571500" y="3752850"/>
            <a:ext cx="52387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3" name="rect-829">
            <a:extLst>
              <a:ext uri="{FF2B5EF4-FFF2-40B4-BE49-F238E27FC236}">
                <a16:creationId xmlns:a16="http://schemas.microsoft.com/office/drawing/2014/main" id="{CF55873C-1EBD-4FEF-9668-BEBA34525778}"/>
              </a:ext>
            </a:extLst>
          </p:cNvPr>
          <p:cNvSpPr>
            <a:spLocks noGrp="1"/>
          </p:cNvSpPr>
          <p:nvPr/>
        </p:nvSpPr>
        <p:spPr>
          <a:xfrm>
            <a:off x="571500" y="3752850"/>
            <a:ext cx="76200" cy="9906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24" name="text-830">
            <a:extLst>
              <a:ext uri="{FF2B5EF4-FFF2-40B4-BE49-F238E27FC236}">
                <a16:creationId xmlns:a16="http://schemas.microsoft.com/office/drawing/2014/main" id="{DF454223-7E3F-42BA-87AA-E9027C9EB9A8}"/>
              </a:ext>
            </a:extLst>
          </p:cNvPr>
          <p:cNvSpPr>
            <a:spLocks noGrp="1"/>
          </p:cNvSpPr>
          <p:nvPr/>
        </p:nvSpPr>
        <p:spPr>
          <a:xfrm>
            <a:off x="800100" y="3905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不确定性输出</a:t>
            </a:r>
          </a:p>
        </p:txBody>
      </p:sp>
      <p:sp>
        <p:nvSpPr>
          <p:cNvPr id="25" name="text-831">
            <a:extLst>
              <a:ext uri="{FF2B5EF4-FFF2-40B4-BE49-F238E27FC236}">
                <a16:creationId xmlns:a16="http://schemas.microsoft.com/office/drawing/2014/main" id="{3C1D4A42-7462-42A9-B5EB-AD7E16F09A24}"/>
              </a:ext>
            </a:extLst>
          </p:cNvPr>
          <p:cNvSpPr>
            <a:spLocks noGrp="1"/>
          </p:cNvSpPr>
          <p:nvPr/>
        </p:nvSpPr>
        <p:spPr>
          <a:xfrm>
            <a:off x="2476500" y="388620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使用分位数损失或模型集成，输出预测区间而非单点值。</a:t>
            </a:r>
          </a:p>
        </p:txBody>
      </p:sp>
      <p:sp>
        <p:nvSpPr>
          <p:cNvPr id="26" name="box-832">
            <a:extLst>
              <a:ext uri="{FF2B5EF4-FFF2-40B4-BE49-F238E27FC236}">
                <a16:creationId xmlns:a16="http://schemas.microsoft.com/office/drawing/2014/main" id="{120AA600-AA1B-4125-B960-294D311EC657}"/>
              </a:ext>
            </a:extLst>
          </p:cNvPr>
          <p:cNvSpPr>
            <a:spLocks noGrp="1"/>
          </p:cNvSpPr>
          <p:nvPr/>
        </p:nvSpPr>
        <p:spPr>
          <a:xfrm>
            <a:off x="6096000" y="3752850"/>
            <a:ext cx="52387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7" name="rect-833">
            <a:extLst>
              <a:ext uri="{FF2B5EF4-FFF2-40B4-BE49-F238E27FC236}">
                <a16:creationId xmlns:a16="http://schemas.microsoft.com/office/drawing/2014/main" id="{31CC73E4-7E88-4C53-BE7A-8A2C2BC9A55D}"/>
              </a:ext>
            </a:extLst>
          </p:cNvPr>
          <p:cNvSpPr>
            <a:spLocks noGrp="1"/>
          </p:cNvSpPr>
          <p:nvPr/>
        </p:nvSpPr>
        <p:spPr>
          <a:xfrm>
            <a:off x="6096000" y="3752850"/>
            <a:ext cx="76200" cy="9906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8" name="text-834">
            <a:extLst>
              <a:ext uri="{FF2B5EF4-FFF2-40B4-BE49-F238E27FC236}">
                <a16:creationId xmlns:a16="http://schemas.microsoft.com/office/drawing/2014/main" id="{E157734F-0AAB-4DC5-98AE-ED1D4D2CEBBD}"/>
              </a:ext>
            </a:extLst>
          </p:cNvPr>
          <p:cNvSpPr>
            <a:spLocks noGrp="1"/>
          </p:cNvSpPr>
          <p:nvPr/>
        </p:nvSpPr>
        <p:spPr>
          <a:xfrm>
            <a:off x="6324600" y="3905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系统化部署</a:t>
            </a:r>
          </a:p>
        </p:txBody>
      </p:sp>
      <p:sp>
        <p:nvSpPr>
          <p:cNvPr id="29" name="text-835">
            <a:extLst>
              <a:ext uri="{FF2B5EF4-FFF2-40B4-BE49-F238E27FC236}">
                <a16:creationId xmlns:a16="http://schemas.microsoft.com/office/drawing/2014/main" id="{AB80596B-9329-4F1D-A87A-08A7AA8A0318}"/>
              </a:ext>
            </a:extLst>
          </p:cNvPr>
          <p:cNvSpPr>
            <a:spLocks noGrp="1"/>
          </p:cNvSpPr>
          <p:nvPr/>
        </p:nvSpPr>
        <p:spPr>
          <a:xfrm>
            <a:off x="8001000" y="388620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拆分训练与推理脚本，定时更新数据并发布 Web 监测界面。</a:t>
            </a:r>
          </a:p>
        </p:txBody>
      </p:sp>
      <p:sp>
        <p:nvSpPr>
          <p:cNvPr id="30" name="box-836">
            <a:extLst>
              <a:ext uri="{FF2B5EF4-FFF2-40B4-BE49-F238E27FC236}">
                <a16:creationId xmlns:a16="http://schemas.microsoft.com/office/drawing/2014/main" id="{1E8B3321-9717-4C76-B14F-4BFD8FC11A92}"/>
              </a:ext>
            </a:extLst>
          </p:cNvPr>
          <p:cNvSpPr>
            <a:spLocks noGrp="1"/>
          </p:cNvSpPr>
          <p:nvPr/>
        </p:nvSpPr>
        <p:spPr>
          <a:xfrm>
            <a:off x="571500" y="5181600"/>
            <a:ext cx="11049000" cy="1009650"/>
          </a:xfrm>
          <a:prstGeom prst="roundRect">
            <a:avLst>
              <a:gd name="adj" fmla="val 15094"/>
            </a:avLst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31" name="text-837">
            <a:extLst>
              <a:ext uri="{FF2B5EF4-FFF2-40B4-BE49-F238E27FC236}">
                <a16:creationId xmlns:a16="http://schemas.microsoft.com/office/drawing/2014/main" id="{21074699-CF5F-4BF4-845B-531EE1783B63}"/>
              </a:ext>
            </a:extLst>
          </p:cNvPr>
          <p:cNvSpPr>
            <a:spLocks noGrp="1"/>
          </p:cNvSpPr>
          <p:nvPr/>
        </p:nvSpPr>
        <p:spPr>
          <a:xfrm>
            <a:off x="800100" y="536257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7F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F9FF"/>
                </a:solidFill>
                <a:latin typeface="Microsoft YaHei"/>
                <a:ea typeface="Microsoft YaHei"/>
                <a:cs typeface="Microsoft YaHei"/>
              </a:rPr>
              <a:t>复现命令</a:t>
            </a:r>
          </a:p>
        </p:txBody>
      </p:sp>
      <p:sp>
        <p:nvSpPr>
          <p:cNvPr id="32" name="text-838">
            <a:extLst>
              <a:ext uri="{FF2B5EF4-FFF2-40B4-BE49-F238E27FC236}">
                <a16:creationId xmlns:a16="http://schemas.microsoft.com/office/drawing/2014/main" id="{33EE6062-4DAC-4E3F-A6D1-C93A8601DCE8}"/>
              </a:ext>
            </a:extLst>
          </p:cNvPr>
          <p:cNvSpPr>
            <a:spLocks noGrp="1"/>
          </p:cNvSpPr>
          <p:nvPr/>
        </p:nvSpPr>
        <p:spPr>
          <a:xfrm>
            <a:off x="2286000" y="53149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src/download_usgs.py     →     python src/train_lstm.py</a:t>
            </a:r>
          </a:p>
        </p:txBody>
      </p:sp>
      <p:sp>
        <p:nvSpPr>
          <p:cNvPr id="33" name="text-839">
            <a:extLst>
              <a:ext uri="{FF2B5EF4-FFF2-40B4-BE49-F238E27FC236}">
                <a16:creationId xmlns:a16="http://schemas.microsoft.com/office/drawing/2014/main" id="{6724C8C0-B36D-4F23-B589-2FBC778395A8}"/>
              </a:ext>
            </a:extLst>
          </p:cNvPr>
          <p:cNvSpPr>
            <a:spLocks noGrp="1"/>
          </p:cNvSpPr>
          <p:nvPr/>
        </p:nvSpPr>
        <p:spPr>
          <a:xfrm>
            <a:off x="1524000" y="5772150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C7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7DCE8"/>
                </a:solidFill>
                <a:latin typeface="Microsoft YaHei"/>
                <a:ea typeface="Microsoft YaHei"/>
                <a:cs typeface="Microsoft YaHei"/>
              </a:rPr>
              <a:t>主要产物：小时数据集 · Keras 模型 · 24 步指标 · 测试集预测 · 未来 24 小时预测 · 风险曲线</a:t>
            </a:r>
          </a:p>
        </p:txBody>
      </p:sp>
      <p:sp>
        <p:nvSpPr>
          <p:cNvPr id="34" name="text-840">
            <a:extLst>
              <a:ext uri="{FF2B5EF4-FFF2-40B4-BE49-F238E27FC236}">
                <a16:creationId xmlns:a16="http://schemas.microsoft.com/office/drawing/2014/main" id="{4E75F85C-99A0-4628-A4EE-C27E2DB10363}"/>
              </a:ext>
            </a:extLst>
          </p:cNvPr>
          <p:cNvSpPr>
            <a:spLocks noGrp="1"/>
          </p:cNvSpPr>
          <p:nvPr/>
        </p:nvSpPr>
        <p:spPr>
          <a:xfrm>
            <a:off x="9906000" y="53149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C7F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F9FF"/>
                </a:solidFill>
                <a:latin typeface="Microsoft YaHei"/>
                <a:ea typeface="Microsoft YaHei"/>
                <a:cs typeface="Microsoft YaHe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6766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DD47CB-96A2-45E1-327B-47DFEDB3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0"/>
            <a:ext cx="12192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309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1220</Words>
  <Application>Microsoft Office PowerPoint</Application>
  <DocSecurity>0</DocSecurity>
  <PresentationFormat>宽屏</PresentationFormat>
  <Paragraphs>417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梦雪 孙</cp:lastModifiedBy>
  <cp:revision>4</cp:revision>
  <dcterms:created xsi:type="dcterms:W3CDTF">2026-06-15T02:59:01Z</dcterms:created>
  <dcterms:modified xsi:type="dcterms:W3CDTF">2026-06-23T00:56:12Z</dcterms:modified>
</cp:coreProperties>
</file>