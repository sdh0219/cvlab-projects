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0" r:id="rId3"/>
    <p:sldId id="256" r:id="rId4"/>
    <p:sldId id="257" r:id="rId5"/>
    <p:sldId id="259" r:id="rId6"/>
    <p:sldId id="273" r:id="rId7"/>
    <p:sldId id="260" r:id="rId8"/>
    <p:sldId id="261" r:id="rId9"/>
    <p:sldId id="271" r:id="rId10"/>
    <p:sldId id="272" r:id="rId11"/>
    <p:sldId id="262" r:id="rId12"/>
    <p:sldId id="263" r:id="rId13"/>
    <p:sldId id="265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彭玉凤" initials="彭玉凤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commentAuthors" Target="commentAuthor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>
            <a:off x="1855373" y="179"/>
            <a:ext cx="8480618" cy="6858278"/>
          </a:xfrm>
          <a:prstGeom prst="parallelogram">
            <a:avLst/>
          </a:prstGeom>
          <a:solidFill>
            <a:srgbClr val="F2E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3358" y="248451"/>
            <a:ext cx="11524650" cy="6362369"/>
          </a:xfrm>
          <a:prstGeom prst="rect">
            <a:avLst/>
          </a:prstGeom>
          <a:solidFill>
            <a:srgbClr val="FDF7EE"/>
          </a:solidFill>
          <a:ln>
            <a:solidFill>
              <a:srgbClr val="4261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36750" y="2291715"/>
            <a:ext cx="90201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 sz="4200" b="1">
                <a:solidFill>
                  <a:srgbClr val="1C304D"/>
                </a:solidFill>
              </a:defRPr>
            </a:pPr>
            <a:r>
              <a:rPr sz="5400">
                <a:sym typeface="+mn-ea"/>
              </a:rPr>
              <a:t>地震灾后经济恢复周期预测</a:t>
            </a:r>
            <a:endParaRPr lang="en-US" altLang="zh-CN" sz="5400">
              <a:solidFill>
                <a:srgbClr val="426176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8" name="流程图: 终止 7"/>
          <p:cNvSpPr/>
          <p:nvPr/>
        </p:nvSpPr>
        <p:spPr>
          <a:xfrm>
            <a:off x="3878378" y="5098328"/>
            <a:ext cx="2085231" cy="579725"/>
          </a:xfrm>
          <a:prstGeom prst="flowChartTerminator">
            <a:avLst/>
          </a:prstGeom>
          <a:noFill/>
          <a:ln>
            <a:solidFill>
              <a:srgbClr val="4261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426176"/>
                </a:solidFill>
                <a:latin typeface="MiSans Normal" panose="00000500000000000000" charset="-122"/>
                <a:ea typeface="MiSans Normal" panose="00000500000000000000" charset="-122"/>
              </a:rPr>
              <a:t>项目：灾后经济恢复周期预测</a:t>
            </a:r>
            <a:endParaRPr lang="zh-CN" altLang="en-US">
              <a:solidFill>
                <a:srgbClr val="426176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流程图: 终止 8"/>
          <p:cNvSpPr/>
          <p:nvPr/>
        </p:nvSpPr>
        <p:spPr>
          <a:xfrm>
            <a:off x="6228391" y="5098328"/>
            <a:ext cx="2084596" cy="579725"/>
          </a:xfrm>
          <a:prstGeom prst="flowChartTerminator">
            <a:avLst/>
          </a:prstGeom>
          <a:noFill/>
          <a:ln>
            <a:solidFill>
              <a:srgbClr val="4261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426176"/>
                </a:solidFill>
                <a:latin typeface="MiSans Normal" panose="00000500000000000000" charset="-122"/>
                <a:ea typeface="MiSans Normal" panose="00000500000000000000" charset="-122"/>
              </a:rPr>
              <a:t>日期：</a:t>
            </a:r>
            <a:r>
              <a:rPr lang="en-US" altLang="zh-CN">
                <a:solidFill>
                  <a:srgbClr val="426176"/>
                </a:solidFill>
                <a:latin typeface="MiSans Normal" panose="00000500000000000000" charset="-122"/>
                <a:ea typeface="MiSans Normal" panose="00000500000000000000" charset="-122"/>
              </a:rPr>
              <a:t>2026</a:t>
            </a:r>
            <a:r>
              <a:rPr lang="zh-CN" altLang="en-US">
                <a:solidFill>
                  <a:srgbClr val="426176"/>
                </a:solidFill>
                <a:latin typeface="MiSans Normal" panose="00000500000000000000" charset="-122"/>
                <a:ea typeface="MiSans Normal" panose="00000500000000000000" charset="-122"/>
              </a:rPr>
              <a:t>年</a:t>
            </a:r>
            <a:r>
              <a:rPr lang="en-US" altLang="zh-CN">
                <a:solidFill>
                  <a:srgbClr val="426176"/>
                </a:solidFill>
                <a:latin typeface="MiSans Normal" panose="00000500000000000000" charset="-122"/>
                <a:ea typeface="MiSans Normal" panose="00000500000000000000" charset="-122"/>
              </a:rPr>
              <a:t>6</a:t>
            </a:r>
            <a:r>
              <a:rPr lang="zh-CN" altLang="en-US">
                <a:solidFill>
                  <a:srgbClr val="426176"/>
                </a:solidFill>
                <a:latin typeface="MiSans Normal" panose="00000500000000000000" charset="-122"/>
                <a:ea typeface="MiSans Normal" panose="00000500000000000000" charset="-122"/>
              </a:rPr>
              <a:t>月</a:t>
            </a:r>
            <a:r>
              <a:rPr lang="en-US" altLang="zh-CN">
                <a:solidFill>
                  <a:srgbClr val="426176"/>
                </a:solidFill>
                <a:latin typeface="MiSans Normal" panose="00000500000000000000" charset="-122"/>
                <a:ea typeface="MiSans Normal" panose="00000500000000000000" charset="-122"/>
              </a:rPr>
              <a:t>23</a:t>
            </a:r>
            <a:r>
              <a:rPr lang="zh-CN" altLang="en-US">
                <a:solidFill>
                  <a:srgbClr val="426176"/>
                </a:solidFill>
                <a:latin typeface="MiSans Normal" panose="00000500000000000000" charset="-122"/>
                <a:ea typeface="MiSans Normal" panose="00000500000000000000" charset="-122"/>
              </a:rPr>
              <a:t>日</a:t>
            </a:r>
            <a:endParaRPr lang="zh-CN" altLang="en-US">
              <a:solidFill>
                <a:srgbClr val="426176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C304D"/>
                </a:solidFill>
              </a:defRPr>
            </a:pPr>
            <a:r>
              <a:t>地震灾后经济恢复周期预测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7009130" cy="414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697077"/>
                </a:solidFill>
              </a:defRPr>
            </a:pPr>
            <a:r>
              <a:t>基于 USGS / NOAA-NCEI / BEA </a:t>
            </a:r>
            <a:r>
              <a:rPr lang="zh-CN"/>
              <a:t>的</a:t>
            </a:r>
            <a:r>
              <a:t>多源数据与梯度提升树模型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4223385" cy="196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 algn="l" fontAlgn="auto">
              <a:lnSpc>
                <a:spcPct val="150000"/>
              </a:lnSpc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样本数：1500</a:t>
            </a:r>
          </a:p>
          <a:p>
            <a:pPr indent="0" algn="l" fontAlgn="auto">
              <a:lnSpc>
                <a:spcPct val="150000"/>
              </a:lnSpc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输入特征：43</a:t>
            </a:r>
          </a:p>
          <a:p>
            <a:pPr indent="0" algn="l" fontAlgn="auto">
              <a:lnSpc>
                <a:spcPct val="150000"/>
              </a:lnSpc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预测目标：recovery_cycle_years</a:t>
            </a:r>
          </a:p>
          <a:p>
            <a:pPr indent="0" algn="l" fontAlgn="auto">
              <a:lnSpc>
                <a:spcPct val="150000"/>
              </a:lnSpc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模型：</a:t>
            </a:r>
            <a:r>
              <a:rPr lang="zh-CN" altLang="en-US">
                <a:sym typeface="+mn-ea"/>
              </a:rPr>
              <a:t>梯度提升树</a:t>
            </a:r>
            <a:r>
              <a:t>GradientBoostingClassifier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304D"/>
                </a:solidFill>
              </a:defRPr>
            </a:pPr>
            <a:r>
              <a:t>项目目标与指标体系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52628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7"/>
                </a:solidFill>
              </a:defRPr>
            </a:pPr>
            <a:r>
              <a:rPr sz="1600"/>
              <a:t>预测灾后经济恢复周期，并识别影响恢复速度的关键因素</a:t>
            </a:r>
            <a:endParaRPr sz="1600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471410" cy="180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研究对象：美国州及部分属地地震事件</a:t>
            </a: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预测目标：恢复周期 0-4 类</a:t>
            </a: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建模任务：多分类预测</a:t>
            </a: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指标体系：地震强度、灾害损失、GDP 基础、经济趋势、产业结构</a:t>
            </a:r>
          </a:p>
          <a:p>
            <a:pPr>
              <a:spcAft>
                <a:spcPts val="800"/>
              </a:spcAft>
              <a:defRPr sz="1700">
                <a:solidFill>
                  <a:srgbClr val="2C2C2C"/>
                </a:solidFill>
              </a:defRPr>
            </a:pPr>
            <a:r>
              <a:t>评价指标：Accuracy、Balanced Accuracy、Macro F1、Weighted F1、混淆矩阵</a:t>
            </a:r>
          </a:p>
        </p:txBody>
      </p:sp>
      <p:pic>
        <p:nvPicPr>
          <p:cNvPr id="5" name="Picture 4" descr="01_data_source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65" y="3099435"/>
            <a:ext cx="6838950" cy="33928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023225" y="3100070"/>
            <a:ext cx="3635375" cy="3184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注：由于本项目将灾后经济恢复周期划分为 0 到 4 五个等级类别，因此采用分类模型进行预测，主要使用 </a:t>
            </a:r>
            <a:r>
              <a:rPr lang="en-US" altLang="zh-CN"/>
              <a:t>Accuracy、Balanced Accuracy、F1 </a:t>
            </a:r>
            <a:r>
              <a:rPr lang="zh-CN" altLang="en-US"/>
              <a:t>值和混淆矩阵评估。如果后续将恢复周期作为连续年份进行预测，则可以改用回归模型，并使用 </a:t>
            </a:r>
            <a:r>
              <a:rPr lang="en-US" altLang="zh-CN"/>
              <a:t>RMSE、MAE </a:t>
            </a:r>
            <a:r>
              <a:rPr lang="zh-CN" altLang="en-US"/>
              <a:t>和 </a:t>
            </a:r>
            <a:r>
              <a:rPr lang="en-US" altLang="zh-CN"/>
              <a:t>R² </a:t>
            </a:r>
            <a:r>
              <a:rPr lang="zh-CN" altLang="en-US"/>
              <a:t>等指标。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34315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304D"/>
                </a:solidFill>
              </a:defRPr>
            </a:pPr>
            <a:r>
              <a:t>数据整体情况</a:t>
            </a:r>
            <a:r>
              <a:rPr lang="en-US"/>
              <a:t>1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58699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7"/>
                </a:solidFill>
              </a:defRPr>
            </a:pPr>
            <a:r>
              <a:rPr sz="1600"/>
              <a:t>数据以地震事件为样本，融合灾害强度、损失、GDP 和产业结构</a:t>
            </a:r>
            <a:endParaRPr sz="1600"/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2240280" cy="841248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样本数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1500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078992"/>
            <a:ext cx="2240280" cy="841248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字段数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1078992"/>
            <a:ext cx="2240280" cy="841248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输入特征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1078992"/>
            <a:ext cx="2240280" cy="841248"/>
          </a:xfrm>
          <a:prstGeom prst="rect">
            <a:avLst/>
          </a:prstGeom>
          <a:solidFill>
            <a:srgbClr val="705AA8"/>
          </a:solidFill>
          <a:ln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目标类别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4004310" cy="3777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研究区域：美国州及部分属地，单一区域最大占比限制为 60%。</a:t>
            </a:r>
            <a:r>
              <a:rPr lang="zh-CN"/>
              <a:t>时间</a:t>
            </a:r>
            <a:r>
              <a:rPr lang="en-US" altLang="zh-CN"/>
              <a:t>1997</a:t>
            </a:r>
            <a:r>
              <a:rPr lang="zh-CN" altLang="en-US"/>
              <a:t>年</a:t>
            </a:r>
            <a:r>
              <a:rPr lang="en-US" altLang="zh-CN"/>
              <a:t>--2025</a:t>
            </a:r>
            <a:r>
              <a:rPr lang="zh-CN" altLang="en-US"/>
              <a:t>年</a:t>
            </a:r>
            <a:endParaRPr lang="zh-CN" altLang="en-US"/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rPr lang="zh-CN"/>
              <a:t>样本区域分布：</a:t>
            </a:r>
            <a:endParaRPr lang="zh-CN"/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rPr lang="en-US"/>
              <a:t>AK:    </a:t>
            </a:r>
            <a:r>
              <a:rPr lang="zh-CN" altLang="en-US"/>
              <a:t>阿拉斯加州</a:t>
            </a:r>
            <a:r>
              <a:rPr lang="en-US" altLang="zh-CN"/>
              <a:t> 896</a:t>
            </a:r>
            <a:r>
              <a:rPr lang="zh-CN" altLang="en-US"/>
              <a:t>条</a:t>
            </a:r>
            <a:endParaRPr lang="zh-CN" altLang="en-US"/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rPr lang="en-US" altLang="zh-CN"/>
              <a:t>OR</a:t>
            </a:r>
            <a:r>
              <a:rPr lang="zh-CN" altLang="en-US"/>
              <a:t>：俄勒冈州</a:t>
            </a:r>
            <a:r>
              <a:rPr lang="en-US" altLang="zh-CN"/>
              <a:t> 251</a:t>
            </a:r>
            <a:r>
              <a:rPr lang="zh-CN" altLang="en-US"/>
              <a:t>条</a:t>
            </a:r>
            <a:endParaRPr lang="zh-CN" altLang="en-US"/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rPr lang="en-US" altLang="zh-CN"/>
              <a:t>CA</a:t>
            </a:r>
            <a:r>
              <a:rPr lang="zh-CN" altLang="en-US"/>
              <a:t>：加州</a:t>
            </a:r>
            <a:r>
              <a:rPr lang="en-US" altLang="zh-CN"/>
              <a:t> 65</a:t>
            </a:r>
            <a:r>
              <a:rPr lang="zh-CN" altLang="en-US"/>
              <a:t>条</a:t>
            </a:r>
            <a:endParaRPr lang="zh-CN" altLang="en-US"/>
          </a:p>
        </p:txBody>
      </p:sp>
      <p:pic>
        <p:nvPicPr>
          <p:cNvPr id="10" name="Picture 9" descr="03_area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1550" y="2331720"/>
            <a:ext cx="6723380" cy="39033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02_target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1880" y="1345565"/>
            <a:ext cx="6745605" cy="39160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0730" y="1540510"/>
            <a:ext cx="3993515" cy="2070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rPr lang="zh-CN" altLang="en-US">
                <a:sym typeface="+mn-ea"/>
              </a:rPr>
              <a:t>由于不同恢复周期类别样本数量不均衡，模型容易偏向样本较多的类别。因此本项目采用 </a:t>
            </a:r>
            <a:r>
              <a:rPr lang="en-US" altLang="zh-CN">
                <a:sym typeface="+mn-ea"/>
              </a:rPr>
              <a:t>balanced </a:t>
            </a:r>
            <a:r>
              <a:rPr lang="zh-CN" altLang="en-US">
                <a:sym typeface="+mn-ea"/>
              </a:rPr>
              <a:t>类别权重，使少数类别在训练时获得更高关注，从而提升模型对不同恢复周期的识别能力。</a:t>
            </a:r>
            <a:endParaRPr lang="zh-CN" altLang="en-US"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760730" y="325755"/>
            <a:ext cx="25755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304D"/>
                </a:solidFill>
              </a:defRPr>
            </a:pPr>
            <a:r>
              <a:t>数据整体情况</a:t>
            </a:r>
            <a:r>
              <a:rPr lang="en-US"/>
              <a:t>2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304D"/>
                </a:solidFill>
              </a:defRPr>
            </a:pPr>
            <a:r>
              <a:t>模型框架介绍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537273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7"/>
                </a:solidFill>
              </a:defRPr>
            </a:pPr>
            <a:r>
              <a:rPr sz="1600"/>
              <a:t>特征工程 + 缺失值处理 + One-Hot 编码 + 梯度提升树分类器</a:t>
            </a:r>
            <a:endParaRPr sz="1600"/>
          </a:p>
        </p:txBody>
      </p:sp>
      <p:pic>
        <p:nvPicPr>
          <p:cNvPr id="4" name="Picture 3" descr="04_model_frame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995" y="1543685"/>
            <a:ext cx="9192895" cy="45605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4090" y="4104005"/>
            <a:ext cx="1828800" cy="15119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2C2C"/>
                </a:solidFill>
              </a:defRPr>
            </a:pPr>
            <a:r>
              <a:rPr sz="1600" b="1"/>
              <a:t>300 轮提升迭代</a:t>
            </a:r>
            <a:endParaRPr sz="1600" b="1"/>
          </a:p>
          <a:p>
            <a:pPr>
              <a:spcAft>
                <a:spcPts val="800"/>
              </a:spcAft>
              <a:defRPr sz="1300">
                <a:solidFill>
                  <a:srgbClr val="2C2C2C"/>
                </a:solidFill>
              </a:defRPr>
            </a:pPr>
            <a:r>
              <a:rPr sz="1600" b="1"/>
              <a:t>学习率 0.05</a:t>
            </a:r>
            <a:endParaRPr sz="1600" b="1"/>
          </a:p>
          <a:p>
            <a:pPr>
              <a:spcAft>
                <a:spcPts val="800"/>
              </a:spcAft>
              <a:defRPr sz="1300">
                <a:solidFill>
                  <a:srgbClr val="2C2C2C"/>
                </a:solidFill>
              </a:defRPr>
            </a:pPr>
            <a:r>
              <a:rPr sz="1600" b="1"/>
              <a:t>最大深度 3</a:t>
            </a:r>
            <a:endParaRPr sz="1600" b="1"/>
          </a:p>
          <a:p>
            <a:pPr>
              <a:spcAft>
                <a:spcPts val="800"/>
              </a:spcAft>
              <a:defRPr sz="1300">
                <a:solidFill>
                  <a:srgbClr val="2C2C2C"/>
                </a:solidFill>
              </a:defRPr>
            </a:pPr>
            <a:r>
              <a:rPr sz="1600" b="1"/>
              <a:t>类别权重 balanced</a:t>
            </a:r>
            <a:endParaRPr sz="1600" b="1"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84340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304D"/>
                </a:solidFill>
              </a:defRPr>
            </a:pPr>
            <a:r>
              <a:t>模型框架图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50596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7"/>
                </a:solidFill>
              </a:defRPr>
            </a:pPr>
            <a:r>
              <a:rPr sz="1600"/>
              <a:t>从多源数据输入到恢复周期预测与结果解释的完整流程</a:t>
            </a:r>
            <a:endParaRPr sz="1600"/>
          </a:p>
        </p:txBody>
      </p:sp>
      <p:pic>
        <p:nvPicPr>
          <p:cNvPr id="4" name="Picture 3" descr="04_model_framework_h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70" y="1167130"/>
            <a:ext cx="10353675" cy="5214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29285" y="208915"/>
            <a:ext cx="759841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304D"/>
                </a:solidFill>
              </a:defRPr>
            </a:pPr>
            <a:r>
              <a:rPr lang="zh-CN" altLang="en-US">
                <a:sym typeface="+mn-ea"/>
              </a:rPr>
              <a:t>梯度提升树模型</a:t>
            </a:r>
            <a:r>
              <a:rPr lang="en-US" altLang="zh-CN">
                <a:sym typeface="+mn-ea"/>
              </a:rPr>
              <a:t> Gradient Boosting Tree</a:t>
            </a:r>
            <a:endParaRPr lang="en-US" altLang="zh-CN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2960" y="1378585"/>
            <a:ext cx="5523865" cy="4469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1. 梯度提升树不是简单地让多棵树投票，而是通过逐轮训练不断修正前一轮的预测误差。因此它更适合处理中小规模、特征关系复杂的表格数据。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2. 更擅长捕捉复杂的非线性和特征交互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3. 对特征交互建模能力强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4. 二者都可以输出特征重要性，但是梯度提升树通常排序更敏感。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基于本数据集数据量不大、特征关系复杂、预测类别不均衡，综合选择本模型。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29285" y="855345"/>
            <a:ext cx="6919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  <a:defRPr sz="1200">
                <a:solidFill>
                  <a:srgbClr val="697077"/>
                </a:solidFill>
              </a:defRPr>
            </a:pPr>
            <a:r>
              <a:rPr sz="2000"/>
              <a:t>它是逐步纠错的模型，通常预测精度更高。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0" y="433705"/>
            <a:ext cx="11511280" cy="5989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304D"/>
                </a:solidFill>
              </a:defRPr>
            </a:pPr>
            <a:r>
              <a:t>模型整体效果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047" y="731393"/>
            <a:ext cx="922147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97077"/>
                </a:solidFill>
              </a:defRPr>
            </a:pPr>
            <a:r>
              <a:t>严格 area-year 分组验证，避免同一地区同一年份</a:t>
            </a:r>
            <a:r>
              <a:rPr>
                <a:solidFill>
                  <a:srgbClr val="FF0000"/>
                </a:solidFill>
              </a:rPr>
              <a:t>样本泄漏</a:t>
            </a:r>
            <a:r>
              <a:rPr lang="zh-CN"/>
              <a:t>。</a:t>
            </a:r>
            <a:r>
              <a:rPr lang="zh-CN" altLang="en-US"/>
              <a:t>同一个地区同一年份的所有样本，要么全部进训练集，要么全部进测试集。</a:t>
            </a:r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2423160" cy="91440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Accuracy</a:t>
            </a:r>
            <a:endParaRPr sz="1700" b="1">
              <a:solidFill>
                <a:srgbClr val="FFFFFF"/>
              </a:solidFill>
            </a:endParaRPr>
          </a:p>
          <a:p>
            <a:pPr algn="ctr"/>
            <a:r>
              <a:rPr sz="1700" b="1">
                <a:solidFill>
                  <a:srgbClr val="FFFFFF"/>
                </a:solidFill>
              </a:rPr>
              <a:t>0.836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423160" cy="914400"/>
          </a:xfrm>
          <a:prstGeom prst="rect">
            <a:avLst/>
          </a:prstGeom>
          <a:solidFill>
            <a:srgbClr val="F18F01"/>
          </a:solidFill>
          <a:ln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Balanced Acc.</a:t>
            </a:r>
            <a:endParaRPr sz="1700" b="1">
              <a:solidFill>
                <a:srgbClr val="FFFFFF"/>
              </a:solidFill>
            </a:endParaRPr>
          </a:p>
          <a:p>
            <a:pPr algn="ctr"/>
            <a:r>
              <a:rPr sz="1700" b="1">
                <a:solidFill>
                  <a:srgbClr val="FFFFFF"/>
                </a:solidFill>
              </a:rPr>
              <a:t>0.461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63640" y="1051560"/>
            <a:ext cx="2423160" cy="914400"/>
          </a:xfrm>
          <a:prstGeom prst="rect">
            <a:avLst/>
          </a:prstGeom>
          <a:solidFill>
            <a:srgbClr val="C73E1D"/>
          </a:solidFill>
          <a:ln>
            <a:solidFill>
              <a:srgbClr val="C73E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Macro F1</a:t>
            </a:r>
            <a:endParaRPr sz="1700" b="1">
              <a:solidFill>
                <a:srgbClr val="FFFFFF"/>
              </a:solidFill>
            </a:endParaRPr>
          </a:p>
          <a:p>
            <a:pPr algn="ctr"/>
            <a:r>
              <a:rPr sz="1700" b="1">
                <a:solidFill>
                  <a:srgbClr val="FFFFFF"/>
                </a:solidFill>
              </a:rPr>
              <a:t>0.422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52559" y="1051560"/>
            <a:ext cx="2423160" cy="914400"/>
          </a:xfrm>
          <a:prstGeom prst="rect">
            <a:avLst/>
          </a:prstGeom>
          <a:solidFill>
            <a:srgbClr val="6A994E"/>
          </a:solidFill>
          <a:ln>
            <a:solidFill>
              <a:srgbClr val="6A9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Weighted F1</a:t>
            </a:r>
            <a:endParaRPr sz="1700" b="1">
              <a:solidFill>
                <a:srgbClr val="FFFFFF"/>
              </a:solidFill>
            </a:endParaRPr>
          </a:p>
          <a:p>
            <a:pPr algn="ctr"/>
            <a:r>
              <a:rPr sz="1700" b="1">
                <a:solidFill>
                  <a:srgbClr val="FFFFFF"/>
                </a:solidFill>
              </a:rPr>
              <a:t>0.796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114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总体准确率较高，说明模型能捕捉主要恢复规律。</a:t>
            </a:r>
          </a:p>
          <a:p>
            <a:pPr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Macro F1 偏低，少数恢复周期类别仍较难识别。</a:t>
            </a:r>
          </a:p>
          <a:p>
            <a:pPr>
              <a:spcAft>
                <a:spcPts val="800"/>
              </a:spcAft>
              <a:defRPr sz="1400">
                <a:solidFill>
                  <a:srgbClr val="2C2C2C"/>
                </a:solidFill>
              </a:defRPr>
            </a:pPr>
            <a:r>
              <a:t>建议汇报时同时说明 Accuracy 和 Macro F1。</a:t>
            </a:r>
          </a:p>
        </p:txBody>
      </p:sp>
      <p:pic>
        <p:nvPicPr>
          <p:cNvPr id="9" name="Picture 8" descr="05_metric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5" y="3493770"/>
            <a:ext cx="4983480" cy="2896235"/>
          </a:xfrm>
          <a:prstGeom prst="rect">
            <a:avLst/>
          </a:prstGeom>
        </p:spPr>
      </p:pic>
      <p:pic>
        <p:nvPicPr>
          <p:cNvPr id="10" name="Picture 9" descr="06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890" y="2417445"/>
            <a:ext cx="4395470" cy="4074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304D"/>
                </a:solidFill>
              </a:defRPr>
            </a:pPr>
            <a:r>
              <a:t>各类别预测情况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7"/>
                </a:solidFill>
              </a:defRPr>
            </a:pPr>
            <a:r>
              <a:t>模型对 0 类和 4 类识别较好，对 1-3 年中间恢复周期仍有限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3738880" cy="1383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0 类：当年已恢复，预测最稳定。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4 类：3 年内未恢复，召回率较高。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  <a:r>
              <a:t>1-3 类：样本较少，容易被误判为 4 类。</a:t>
            </a:r>
          </a:p>
          <a:p>
            <a:pPr>
              <a:spcAft>
                <a:spcPts val="800"/>
              </a:spcAft>
              <a:defRPr sz="1600">
                <a:solidFill>
                  <a:srgbClr val="2C2C2C"/>
                </a:solidFill>
              </a:defRPr>
            </a:pPr>
          </a:p>
        </p:txBody>
      </p:sp>
      <p:pic>
        <p:nvPicPr>
          <p:cNvPr id="5" name="Picture 4" descr="06_confus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960120"/>
            <a:ext cx="5715000" cy="5297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304D"/>
                </a:solidFill>
              </a:defRPr>
            </a:pPr>
            <a:r>
              <a:t>重要影响因素分析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7"/>
                </a:solidFill>
              </a:defRPr>
            </a:pPr>
            <a:r>
              <a:t>GDP 趋势、地震烈度、震级和灾害当年经济规模是主要因素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3366135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2C2C"/>
                </a:solidFill>
              </a:defRPr>
            </a:pPr>
            <a:r>
              <a:rPr b="1"/>
              <a:t>灾前 GDP 增长趋势排名最高，反映经济韧性。</a:t>
            </a:r>
            <a:endParaRPr b="1"/>
          </a:p>
          <a:p>
            <a:pPr>
              <a:spcAft>
                <a:spcPts val="800"/>
              </a:spcAft>
              <a:defRPr sz="1500">
                <a:solidFill>
                  <a:srgbClr val="2C2C2C"/>
                </a:solidFill>
              </a:defRPr>
            </a:pPr>
            <a:r>
              <a:rPr b="1"/>
              <a:t>最大地震烈度和震级体现灾害冲击强度。</a:t>
            </a:r>
            <a:endParaRPr b="1"/>
          </a:p>
          <a:p>
            <a:pPr>
              <a:spcAft>
                <a:spcPts val="800"/>
              </a:spcAft>
              <a:defRPr sz="1500">
                <a:solidFill>
                  <a:srgbClr val="2C2C2C"/>
                </a:solidFill>
              </a:defRPr>
            </a:pPr>
            <a:r>
              <a:rPr b="1"/>
              <a:t>GDP 下滑幅度可直接反映灾害当年经济压力。</a:t>
            </a:r>
            <a:endParaRPr b="1"/>
          </a:p>
          <a:p>
            <a:pPr>
              <a:spcAft>
                <a:spcPts val="800"/>
              </a:spcAft>
              <a:defRPr sz="1500">
                <a:solidFill>
                  <a:srgbClr val="2C2C2C"/>
                </a:solidFill>
              </a:defRPr>
            </a:pPr>
            <a:r>
              <a:rPr b="1"/>
              <a:t>建筑业占比和房屋影响数量与灾后重建有关。</a:t>
            </a:r>
            <a:endParaRPr b="1"/>
          </a:p>
        </p:txBody>
      </p:sp>
      <p:pic>
        <p:nvPicPr>
          <p:cNvPr id="5" name="Picture 4" descr="08_feature_import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1240" y="662305"/>
            <a:ext cx="6739890" cy="44875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10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476750" y="5333365"/>
            <a:ext cx="7016115" cy="1138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注：在训练过程中会不断判断哪些变量最能帮助区分不同的恢复周期，它反映的是各输入变量对恢复周期预测的贡献程度。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8650" y="185420"/>
            <a:ext cx="151130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304D"/>
                </a:solidFill>
              </a:defRPr>
            </a:pPr>
            <a:r>
              <a:rPr lang="zh-CN"/>
              <a:t>实验结论</a:t>
            </a:r>
            <a:endParaRPr lang="zh-CN"/>
          </a:p>
        </p:txBody>
      </p:sp>
      <p:sp>
        <p:nvSpPr>
          <p:cNvPr id="4" name="TextBox 3"/>
          <p:cNvSpPr txBox="1"/>
          <p:nvPr/>
        </p:nvSpPr>
        <p:spPr>
          <a:xfrm>
            <a:off x="694055" y="1075055"/>
            <a:ext cx="9784080" cy="327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2C2C2C"/>
                </a:solidFill>
              </a:defRPr>
            </a:pPr>
            <a:r>
              <a:rPr sz="2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模型在严格分组验证下准确率为 83.6%，说明能捕捉主要恢复规律。</a:t>
            </a:r>
            <a:endParaRPr sz="2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pPr indent="0" fontAlgn="auto"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2C2C2C"/>
                </a:solidFill>
              </a:defRPr>
            </a:pPr>
            <a:r>
              <a:rPr sz="2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关键影响因素集中在 GDP 趋势、地震烈度、震级和灾害当年经济规模。</a:t>
            </a:r>
            <a:endParaRPr sz="2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pPr indent="0" fontAlgn="auto"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2C2C2C"/>
                </a:solidFill>
              </a:defRPr>
            </a:pPr>
            <a:r>
              <a:rPr sz="2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对 0 类和 4 类识别较好，对 1-3 年恢复类别仍有提升空间。</a:t>
            </a:r>
            <a:endParaRPr sz="2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pPr indent="0" fontAlgn="auto"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2C2C2C"/>
                </a:solidFill>
              </a:defRPr>
            </a:pPr>
            <a:r>
              <a:rPr sz="2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政策建议：优先支持 GDP 下滑明显、损失强度高、房屋影响大的地区。</a:t>
            </a:r>
            <a:endParaRPr sz="2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pPr indent="0" fontAlgn="auto"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2C2C2C"/>
                </a:solidFill>
              </a:defRPr>
            </a:pPr>
            <a:r>
              <a:rPr sz="2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后续改进：补充政策投入、人口规模和基础设施损毁数据。</a:t>
            </a:r>
            <a:endParaRPr sz="2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1684</Words>
  <Application>WPS 演示</Application>
  <PresentationFormat>On-screen Show (4:3)</PresentationFormat>
  <Paragraphs>146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MiSans Normal</vt:lpstr>
      <vt:lpstr>华康行楷体 W5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是我，</cp:lastModifiedBy>
  <cp:revision>29</cp:revision>
  <dcterms:created xsi:type="dcterms:W3CDTF">2013-01-27T09:14:00Z</dcterms:created>
  <dcterms:modified xsi:type="dcterms:W3CDTF">2026-06-27T01:58:07Z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5449AFF071E14841A40B0359736F27E7_12</vt:lpwstr>
  </property>
  <property fmtid="{D5CDD505-2E9C-101B-9397-08002B2CF9AE}" pid="3" name="KSOProductBuildVer">
    <vt:lpwstr>2052-12.1.0.26895</vt:lpwstr>
  </property>
</Properties>
</file>