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embeddedFontLst>
    <p:embeddedFont>
      <p:font typeface="Source Han Serif CN" panose="02020400000000000000" charset="-122"/>
      <p:regular r:id="rId23"/>
    </p:embeddedFont>
    <p:embeddedFont>
      <p:font typeface="FZYaYiHei GB18030L2 R" panose="02000500000000000000" charset="-122"/>
      <p:regular r:id="rId24"/>
    </p:embeddedFont>
    <p:embeddedFont>
      <p:font typeface="Open Sans" panose="020B0606030504020204"/>
      <p:regular r:id="rId25"/>
    </p:embeddedFont>
    <p:embeddedFont>
      <p:font typeface="Calibri" panose="020F050202020403020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今天我将汇报关于防灾减灾领域数据孤岛问题的研究。在应急管理实践中，我们发现气象、地质、人口等多源数据分散在不同机构，形成严重的信息壁垒。本次汇报将系统分析这一问题的成因、技术解决方案及未来优化方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本次汇报分为四个部分。首先我会介绍数据孤岛问题的背景表现与深层成因；然后详细阐述我们的技术架构，包括多源数据融合机制与可视化平台；接着展示AI分析能力的实现；最后补充参考文献并讨论下一步研究计划。</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首先我们来定义什么是数据孤岛。在防灾减灾体系中，数据通常来自NOAA气象局、USGS地质调查局、FEMA应急管理局以及人口普查局等多个独立机构。这些机构各自建设信息系统，数据格式从CSV到API到GIS各不相同，时间标准有UTC也有本地时间，坐标系有WGS84也有本地投影。这种割裂导致信息无法有效互通，形成了典型的数据孤岛现象，直接影响应急响应效率。</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数据孤岛带来的直接影响是严重的。首先，风险评估依赖单一数据源导致准确性不足，难以捕捉灾害全貌；其次，多灾种耦合分析困难，比如台风叠加洪涝再叠加人口暴露的复合灾害场景难以实时计算；最后，应急资源调度决策滞后，无法形成统一指挥。针对这些问题，本项目构建了多源异构数据融合机制与统一数据标准体系，结合轻量AI分析模型，实现跨机构数据的标准化整合与智能风险研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数据孤岛不是单一因素造成的。从组织维度看，不同机构各自建设系统，数据归属权分散且缺乏共享激励机制，比如NOAA与USGS系统独立运行。从标准维度看，时间标准混用UTC与本地时间，空间坐标系统差异大，灾害分类体系与指标口径也不一致。从技术维度看，API、CSV、GIS等多格式并存，老旧系统难以对接现代平台。从治理维度看，缺乏跨部门数据治理框架，元数据管理不完整，数据共享协议不完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针对上述问题，我们设计了三位一体的技术架构。第一层是多源数据融合层，实现气象、地震、灾害、人口、资源等异构数据的标准化整合，生成unified_hazard_events、unified_monitoring_daily、unified_resource_points三张核心数据表。第二层是轻量AI分析层，基于规则与统计模型提供风险评分、异常检测、资源调度等能力。第三层是基于Streamlit的可视化决策平台，提供首页KPI总览、多源数据展示、风险分析、预警提示、资源调度与自动报告生成功能。</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数据融合是整个系统的基础。我们实现了多源数据的自动读取，兼容API、CSV、数据库等多种接入方式。关键是对字段进行标准化处理：统一时间格式（UTC与本地时间转换）、统一空间坐标（WGS84标准化）、统一灾害类型分类体系。同时建立了自动兼容缺失数据的兜底机制，当真实数据缺失时生成模拟数据并标记is_simulated=1，确保系统可运行且不影响结构一致性。最终生成三张核心数据表：unified_hazard_events存储灾害事件信息，unified_monitoring_daily整合日常监测数据，unified_resource_points归集应急资源分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平台原型基于Streamlit构建，具有轻量、快速迭代的特点。功能模块包括：首页总览集成KPI指标与流程图，提供全局态势感知；多源数据展示支持异构数据的统一查询与可视化；风险分析、预警分析、资源调度展示提供交互式图表与地图展示；自动报告生成支持多格式导出。AI风险评分是核心功能，采用加权模型综合计算Hazard灾害强度、Vulnerability脆弱性、Resource Gap资源缺口三个维度，基于加权总分划分Red、Orange、Yellow、Green风险等级，模型具备完全可解释性，计算过程透明轻量。</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除了风险评分，我们的AI分析能力还包括异常检测与资源调度。异常检测模块基于Z-score统计学方法，对监测数据计算动态均值与标准差，识别偏离正常范围的异常值并自动生成预警等级。资源调度模块采用规则匹配算法，从unified_resource_points表中智能筛选医院、消防等应急资源，采用简化距离模拟算法匹配最近资源，输出包含资源名称、距离、预计到达时间等信息的调度建议清单，为应急响应提供初步决策支持。</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数据来源方面，系统优先使用真实数据，包括NOAA气象数据用于灾害天气监测、USGS地质数据支撑地震风险评估、FEMA灾害数据用于历史分析、U.S. Census Bureau人口数据支撑脆弱性计算。当数据缺失时，系统启动模拟兜底机制，自动生成同结构数据并标记source=SIMULATED_FALLBACK与is_simulated=1，确保系统可运行且不影响结构一致性。数据处理方面，具备自动查找数据路径、自动识别CSV/JSON/API等文件格式、容错读取处理编码问题与格式异常、空数据自动跳过等特点，确保流程不中断。</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目前项目已实现多源异构数据融合与标准化展示，建立了风险评分模型输出量化结果，实现了基于统计学的异常检测与自动预警分级，提供了基础资源调度建议清单，支持自动报告生成与多格式导出。但也存在一些局限：AI模型目前采用固定权重规则计算，缺乏机器学习能力，无法从历史数据中自动优化参数；资源调度的距离计算是模拟直线距离，未考虑实际路网、交通状况与通行能力限制；部分数据依赖模拟兜底生成，系统功能完整性与准确性受限于真实数据的可获取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下面介绍本项目的理论基础与文献支撑。我们的研究建立在数据治理、防灾减灾信息系统、数据融合技术以及应急管理四个领域的理论基础之上。这些文献为数据孤岛问题的分析、多源异构数据融合机制的设计、轻量AI分析模型的构建提供了理论依据与方法指导。</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防灾减灾信息系统领域，我们参考了Alsharif等关于灾害信息系统的综述研究，Waugh关于应急管理中协同问题的经典论述，以及Comfort关于复杂系统中灾害信息协调的深入分析。这些文献帮助我们理解应急管理中的信息协同挑战，为平台原型设计提供了理论依据。</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在数据融合技术方面，我们参考了Goodchild关于公众作为传感器的 volunteered geography 理论，以及Li等关于地理空间大数据融合在灾害管理中应用的最新研究。这些文献为多源异构数据的时空对齐、融合分析提供了技术方法论支撑。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最后，谈谈下一步研究计划。我们将从三个方向深化研究：一是优化规则权重体系，通过敏感性分析调整 Hazard、Vulnerability、Resource Gap 的权重配比，增加人口密度、基础设施抗灾能力等新指标维度；二是逐步引入机器学习算法替代固定规则，利用历史灾害数据训练风险预测模型，实现从规则驱动到数据驱动的智能化升级；三是改进资源调度逻辑，引入实际路网数据与Dijkstra等路径算法，结合实时交通流量优化资源匹配策略与到达时间预估，提升应急响应效率。</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以上就是本次汇报的全部内容。我们针对防灾减灾领域的数据孤岛问题，构建了多源数据融合、轻量AI分析、可视化决策的技术架构，实现了风险评分、异常检测、资源调度等核心功能。感谢各位老师同学的聆听，欢迎批评指正。</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3" name="AutoShape 3"/>
          <p:cNvSpPr/>
          <p:nvPr/>
        </p:nvSpPr>
        <p:spPr>
          <a:xfrm>
            <a:off x="0" y="0"/>
            <a:ext cx="12188952" cy="6858000"/>
          </a:xfrm>
          <a:prstGeom prst="rect">
            <a:avLst/>
          </a:prstGeom>
          <a:solidFill>
            <a:srgbClr val="0A0A0B">
              <a:alpha val="40000"/>
            </a:srgbClr>
          </a:solidFill>
          <a:ln>
            <a:headEnd type="none"/>
            <a:tailEnd type="none"/>
          </a:ln>
        </p:spPr>
      </p:sp>
      <p:sp>
        <p:nvSpPr>
          <p:cNvPr id="4" name="TextBox 4"/>
          <p:cNvSpPr txBox="1"/>
          <p:nvPr/>
        </p:nvSpPr>
        <p:spPr>
          <a:xfrm>
            <a:off x="1367389" y="2320379"/>
            <a:ext cx="9454175" cy="1577280"/>
          </a:xfrm>
          <a:prstGeom prst="rect">
            <a:avLst/>
          </a:prstGeom>
          <a:ln>
            <a:headEnd type="none"/>
            <a:tailEnd type="none"/>
          </a:ln>
        </p:spPr>
        <p:txBody>
          <a:bodyPr vert="horz" wrap="square" lIns="0" tIns="0" rIns="0" bIns="0" rtlCol="0" anchor="t" anchorCtr="1"/>
          <a:lstStyle/>
          <a:p>
            <a:pPr algn="ctr">
              <a:defRPr/>
            </a:pPr>
            <a:r>
              <a:rPr lang="en-US" sz="5400" b="1" i="0" strike="noStrike">
                <a:solidFill>
                  <a:srgbClr val="F1F3F5">
                    <a:alpha val="100000"/>
                  </a:srgbClr>
                </a:solidFill>
                <a:latin typeface="Source Han Serif CN" panose="02020400000000000000" charset="-122"/>
                <a:ea typeface="Source Han Serif CN" panose="02020400000000000000" charset="-122"/>
                <a:cs typeface="Source Han Serif CN" panose="02020400000000000000" charset="-122"/>
              </a:rPr>
              <a:t>防灾减灾数据孤岛问题</a:t>
            </a:r>
            <a:endParaRPr lang="en-US" sz="1100"/>
          </a:p>
          <a:p>
            <a:pPr algn="ctr"/>
            <a:r>
              <a:rPr sz="5400" b="1" i="0" strike="noStrike">
                <a:solidFill>
                  <a:srgbClr val="F1F3F5">
                    <a:alpha val="100000"/>
                  </a:srgbClr>
                </a:solidFill>
                <a:latin typeface="Source Han Serif CN" panose="02020400000000000000" charset="-122"/>
                <a:ea typeface="Source Han Serif CN" panose="02020400000000000000" charset="-122"/>
                <a:cs typeface="Source Han Serif CN" panose="02020400000000000000" charset="-122"/>
              </a:rPr>
              <a:t>研究与解决方案</a:t>
            </a:r>
            <a:endParaRPr sz="5400" b="1" i="0" strike="noStrike">
              <a:solidFill>
                <a:srgbClr val="F1F3F5">
                  <a:alpha val="100000"/>
                </a:srgbClr>
              </a:solidFill>
              <a:latin typeface="Source Han Serif CN" panose="02020400000000000000" charset="-122"/>
              <a:ea typeface="Source Han Serif CN" panose="02020400000000000000" charset="-122"/>
              <a:cs typeface="Source Han Serif CN" panose="02020400000000000000" charset="-122"/>
            </a:endParaRPr>
          </a:p>
        </p:txBody>
      </p:sp>
      <p:sp>
        <p:nvSpPr>
          <p:cNvPr id="5" name="TextBox 5"/>
          <p:cNvSpPr txBox="1"/>
          <p:nvPr/>
        </p:nvSpPr>
        <p:spPr>
          <a:xfrm>
            <a:off x="2002577" y="4202459"/>
            <a:ext cx="8183797" cy="335161"/>
          </a:xfrm>
          <a:prstGeom prst="rect">
            <a:avLst/>
          </a:prstGeom>
          <a:ln>
            <a:headEnd type="none"/>
            <a:tailEnd type="none"/>
          </a:ln>
        </p:spPr>
        <p:txBody>
          <a:bodyPr vert="horz" wrap="square" lIns="0" tIns="0" rIns="0" bIns="0" rtlCol="0" anchor="t" anchorCtr="1"/>
          <a:lstStyle/>
          <a:p>
            <a:pPr algn="ctr">
              <a:defRPr/>
            </a:pPr>
            <a:r>
              <a:rPr lang="en-US" sz="1600" b="0" i="0" strike="noStrike">
                <a:solidFill>
                  <a:srgbClr val="F1F3F5">
                    <a:alpha val="90196"/>
                  </a:srgbClr>
                </a:solidFill>
                <a:latin typeface="FZYaYiHei GB18030L2 R" panose="02000500000000000000" charset="-122"/>
                <a:ea typeface="FZYaYiHei GB18030L2 R" panose="02000500000000000000" charset="-122"/>
                <a:cs typeface="FZYaYiHei GB18030L2 R" panose="02000500000000000000" charset="-122"/>
              </a:rPr>
              <a:t>多源异构数据融合与轻量AI分析技术架构研究</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2710904"/>
            <a:ext cx="4507323"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Contents</a:t>
            </a:r>
            <a:endParaRPr lang="en-US" sz="1100"/>
          </a:p>
        </p:txBody>
      </p:sp>
      <p:sp>
        <p:nvSpPr>
          <p:cNvPr id="4" name="TextBox 4"/>
          <p:cNvSpPr txBox="1"/>
          <p:nvPr/>
        </p:nvSpPr>
        <p:spPr>
          <a:xfrm>
            <a:off x="457086" y="3082379"/>
            <a:ext cx="4507323" cy="590550"/>
          </a:xfrm>
          <a:prstGeom prst="rect">
            <a:avLst/>
          </a:prstGeom>
          <a:ln>
            <a:headEnd type="none"/>
            <a:tailEnd type="none"/>
          </a:ln>
        </p:spPr>
        <p:txBody>
          <a:bodyPr vert="horz" wrap="square" lIns="0" tIns="0" rIns="0" bIns="0" rtlCol="0" anchor="t" anchorCtr="0"/>
          <a:lstStyle/>
          <a:p>
            <a:pPr algn="l">
              <a:defRPr/>
            </a:pPr>
            <a:r>
              <a:rPr lang="en-US" sz="42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汇报目录</a:t>
            </a:r>
            <a:endParaRPr lang="en-US" sz="1100"/>
          </a:p>
        </p:txBody>
      </p:sp>
      <p:sp>
        <p:nvSpPr>
          <p:cNvPr id="5" name="TextBox 5"/>
          <p:cNvSpPr txBox="1"/>
          <p:nvPr/>
        </p:nvSpPr>
        <p:spPr>
          <a:xfrm>
            <a:off x="457086" y="3954809"/>
            <a:ext cx="4056487"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0196"/>
                  </a:srgbClr>
                </a:solidFill>
                <a:latin typeface="FZYaYiHei GB18030L2 R" panose="02000500000000000000" charset="-122"/>
                <a:ea typeface="FZYaYiHei GB18030L2 R" panose="02000500000000000000" charset="-122"/>
                <a:cs typeface="FZYaYiHei GB18030L2 R" panose="02000500000000000000" charset="-122"/>
              </a:rPr>
              <a:t>防灾减灾数据孤岛问题研究与解决方案</a:t>
            </a:r>
            <a:endParaRPr lang="en-US" sz="1100"/>
          </a:p>
        </p:txBody>
      </p:sp>
      <p:sp>
        <p:nvSpPr>
          <p:cNvPr id="6" name="AutoShape 6"/>
          <p:cNvSpPr/>
          <p:nvPr/>
        </p:nvSpPr>
        <p:spPr>
          <a:xfrm>
            <a:off x="5421494" y="1829841"/>
            <a:ext cx="6310222" cy="9525"/>
          </a:xfrm>
          <a:prstGeom prst="line">
            <a:avLst/>
          </a:prstGeom>
          <a:ln w="9525">
            <a:solidFill>
              <a:srgbClr val="C5CDD6">
                <a:alpha val="100000"/>
              </a:srgbClr>
            </a:solidFill>
            <a:prstDash val="solid"/>
            <a:headEnd type="none"/>
            <a:tailEnd type="none"/>
          </a:ln>
        </p:spPr>
      </p:sp>
      <p:sp>
        <p:nvSpPr>
          <p:cNvPr id="7" name="TextBox 7"/>
          <p:cNvSpPr txBox="1"/>
          <p:nvPr/>
        </p:nvSpPr>
        <p:spPr>
          <a:xfrm>
            <a:off x="5421494" y="947886"/>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0A1F3D">
                    <a:alpha val="40000"/>
                  </a:srgbClr>
                </a:solidFill>
                <a:latin typeface="FZYaYiHei GB18030L2 R" panose="02000500000000000000" charset="-122"/>
                <a:ea typeface="FZYaYiHei GB18030L2 R" panose="02000500000000000000" charset="-122"/>
                <a:cs typeface="FZYaYiHei GB18030L2 R" panose="02000500000000000000" charset="-122"/>
              </a:rPr>
              <a:t>01</a:t>
            </a:r>
            <a:endParaRPr lang="en-US" sz="1100"/>
          </a:p>
        </p:txBody>
      </p:sp>
      <p:sp>
        <p:nvSpPr>
          <p:cNvPr id="8" name="TextBox 8"/>
          <p:cNvSpPr txBox="1"/>
          <p:nvPr/>
        </p:nvSpPr>
        <p:spPr>
          <a:xfrm>
            <a:off x="5840490" y="881211"/>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问题分析</a:t>
            </a:r>
            <a:endParaRPr lang="en-US" sz="1100"/>
          </a:p>
        </p:txBody>
      </p:sp>
      <p:sp>
        <p:nvSpPr>
          <p:cNvPr id="9" name="TextBox 9"/>
          <p:cNvSpPr txBox="1"/>
          <p:nvPr/>
        </p:nvSpPr>
        <p:spPr>
          <a:xfrm>
            <a:off x="5840490" y="1248816"/>
            <a:ext cx="5894501"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数据孤岛在防灾减灾体系中的具体表现、直接影响，以及从组织、技术、标准、治理四个维度</a:t>
            </a:r>
            <a:endParaRPr lang="en-US" sz="1100"/>
          </a:p>
          <a:p>
            <a:pPr algn="l"/>
            <a:r>
              <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剖析的深层成因</a:t>
            </a:r>
            <a:endPar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0" name="AutoShape 10"/>
          <p:cNvSpPr/>
          <p:nvPr/>
        </p:nvSpPr>
        <p:spPr>
          <a:xfrm>
            <a:off x="5421494" y="3212158"/>
            <a:ext cx="6310222" cy="9525"/>
          </a:xfrm>
          <a:prstGeom prst="line">
            <a:avLst/>
          </a:prstGeom>
          <a:ln w="9525">
            <a:solidFill>
              <a:srgbClr val="C5CDD6">
                <a:alpha val="100000"/>
              </a:srgbClr>
            </a:solidFill>
            <a:prstDash val="solid"/>
            <a:headEnd type="none"/>
            <a:tailEnd type="none"/>
          </a:ln>
        </p:spPr>
      </p:sp>
      <p:sp>
        <p:nvSpPr>
          <p:cNvPr id="11" name="TextBox 11"/>
          <p:cNvSpPr txBox="1"/>
          <p:nvPr/>
        </p:nvSpPr>
        <p:spPr>
          <a:xfrm>
            <a:off x="5421494" y="2330202"/>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0A1F3D">
                    <a:alpha val="40000"/>
                  </a:srgbClr>
                </a:solidFill>
                <a:latin typeface="FZYaYiHei GB18030L2 R" panose="02000500000000000000" charset="-122"/>
                <a:ea typeface="FZYaYiHei GB18030L2 R" panose="02000500000000000000" charset="-122"/>
                <a:cs typeface="FZYaYiHei GB18030L2 R" panose="02000500000000000000" charset="-122"/>
              </a:rPr>
              <a:t>02</a:t>
            </a:r>
            <a:endParaRPr lang="en-US" sz="1100"/>
          </a:p>
        </p:txBody>
      </p:sp>
      <p:sp>
        <p:nvSpPr>
          <p:cNvPr id="12" name="TextBox 12"/>
          <p:cNvSpPr txBox="1"/>
          <p:nvPr/>
        </p:nvSpPr>
        <p:spPr>
          <a:xfrm>
            <a:off x="5840490" y="2263527"/>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技术架构</a:t>
            </a:r>
            <a:endParaRPr lang="en-US" sz="1100"/>
          </a:p>
        </p:txBody>
      </p:sp>
      <p:sp>
        <p:nvSpPr>
          <p:cNvPr id="13" name="TextBox 13"/>
          <p:cNvSpPr txBox="1"/>
          <p:nvPr/>
        </p:nvSpPr>
        <p:spPr>
          <a:xfrm>
            <a:off x="5840490" y="2631133"/>
            <a:ext cx="5891228"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项目总体架构设计，多源异构数据融合机制，以及基于Streamlit的可视化决策平台原型功能模</a:t>
            </a:r>
            <a:endParaRPr lang="en-US" sz="1100"/>
          </a:p>
          <a:p>
            <a:pPr algn="l"/>
            <a:r>
              <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块</a:t>
            </a:r>
            <a:endPar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4" name="AutoShape 14"/>
          <p:cNvSpPr/>
          <p:nvPr/>
        </p:nvSpPr>
        <p:spPr>
          <a:xfrm>
            <a:off x="5421494" y="4594324"/>
            <a:ext cx="6310222"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5421494" y="3712369"/>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0A1F3D">
                    <a:alpha val="40000"/>
                  </a:srgbClr>
                </a:solidFill>
                <a:latin typeface="FZYaYiHei GB18030L2 R" panose="02000500000000000000" charset="-122"/>
                <a:ea typeface="FZYaYiHei GB18030L2 R" panose="02000500000000000000" charset="-122"/>
                <a:cs typeface="FZYaYiHei GB18030L2 R" panose="02000500000000000000" charset="-122"/>
              </a:rPr>
              <a:t>03</a:t>
            </a:r>
            <a:endParaRPr lang="en-US" sz="1100"/>
          </a:p>
        </p:txBody>
      </p:sp>
      <p:sp>
        <p:nvSpPr>
          <p:cNvPr id="16" name="TextBox 16"/>
          <p:cNvSpPr txBox="1"/>
          <p:nvPr/>
        </p:nvSpPr>
        <p:spPr>
          <a:xfrm>
            <a:off x="5840490" y="3645694"/>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智能分析</a:t>
            </a:r>
            <a:endParaRPr lang="en-US" sz="1100"/>
          </a:p>
        </p:txBody>
      </p:sp>
      <p:sp>
        <p:nvSpPr>
          <p:cNvPr id="17" name="TextBox 17"/>
          <p:cNvSpPr txBox="1"/>
          <p:nvPr/>
        </p:nvSpPr>
        <p:spPr>
          <a:xfrm>
            <a:off x="5840490" y="4013299"/>
            <a:ext cx="5891228"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轻量AI分析能力实现，包括风险评分加权模型、Z-score异常检测与规则匹配资源调度算法设</a:t>
            </a:r>
            <a:endParaRPr lang="en-US" sz="1100"/>
          </a:p>
          <a:p>
            <a:pPr algn="l"/>
            <a:r>
              <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计</a:t>
            </a:r>
            <a:endPar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8" name="AutoShape 18"/>
          <p:cNvSpPr/>
          <p:nvPr/>
        </p:nvSpPr>
        <p:spPr>
          <a:xfrm>
            <a:off x="5421494" y="5976640"/>
            <a:ext cx="6310222" cy="9525"/>
          </a:xfrm>
          <a:prstGeom prst="line">
            <a:avLst/>
          </a:prstGeom>
          <a:ln w="9525">
            <a:solidFill>
              <a:srgbClr val="C5CDD6">
                <a:alpha val="100000"/>
              </a:srgbClr>
            </a:solidFill>
            <a:prstDash val="solid"/>
            <a:headEnd type="none"/>
            <a:tailEnd type="none"/>
          </a:ln>
        </p:spPr>
      </p:sp>
      <p:sp>
        <p:nvSpPr>
          <p:cNvPr id="19" name="TextBox 19"/>
          <p:cNvSpPr txBox="1"/>
          <p:nvPr/>
        </p:nvSpPr>
        <p:spPr>
          <a:xfrm>
            <a:off x="5421494" y="5094685"/>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0A1F3D">
                    <a:alpha val="40000"/>
                  </a:srgbClr>
                </a:solidFill>
                <a:latin typeface="FZYaYiHei GB18030L2 R" panose="02000500000000000000" charset="-122"/>
                <a:ea typeface="FZYaYiHei GB18030L2 R" panose="02000500000000000000" charset="-122"/>
                <a:cs typeface="FZYaYiHei GB18030L2 R" panose="02000500000000000000" charset="-122"/>
              </a:rPr>
              <a:t>04</a:t>
            </a:r>
            <a:endParaRPr lang="en-US" sz="1100"/>
          </a:p>
        </p:txBody>
      </p:sp>
      <p:sp>
        <p:nvSpPr>
          <p:cNvPr id="20" name="TextBox 20"/>
          <p:cNvSpPr txBox="1"/>
          <p:nvPr/>
        </p:nvSpPr>
        <p:spPr>
          <a:xfrm>
            <a:off x="5840490" y="5028009"/>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参考文献与展望</a:t>
            </a:r>
            <a:endParaRPr lang="en-US" sz="1100"/>
          </a:p>
        </p:txBody>
      </p:sp>
      <p:sp>
        <p:nvSpPr>
          <p:cNvPr id="21" name="TextBox 21"/>
          <p:cNvSpPr txBox="1"/>
          <p:nvPr/>
        </p:nvSpPr>
        <p:spPr>
          <a:xfrm>
            <a:off x="5840490" y="5395615"/>
            <a:ext cx="5894501"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项目理论基础与文献支撑，已实现成果、当前技术局限分析，以及模型优化与调度逻辑的下一</a:t>
            </a:r>
            <a:endParaRPr lang="en-US" sz="1100"/>
          </a:p>
          <a:p>
            <a:pPr algn="l"/>
            <a:r>
              <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步研究计划</a:t>
            </a:r>
            <a:endParaRPr sz="11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研究背景</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研究背景与数据孤岛问题定义</a:t>
            </a:r>
            <a:endParaRPr lang="en-US" sz="1100"/>
          </a:p>
        </p:txBody>
      </p:sp>
      <p:sp>
        <p:nvSpPr>
          <p:cNvPr id="5" name="AutoShape 5"/>
          <p:cNvSpPr/>
          <p:nvPr/>
        </p:nvSpPr>
        <p:spPr>
          <a:xfrm>
            <a:off x="457086" y="1466850"/>
            <a:ext cx="11274781" cy="969466"/>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a:off x="457086" y="1466850"/>
            <a:ext cx="11274781" cy="9525"/>
          </a:xfrm>
          <a:prstGeom prst="line">
            <a:avLst/>
          </a:prstGeom>
          <a:ln w="28575">
            <a:solidFill>
              <a:srgbClr val="5B8CB8">
                <a:alpha val="100000"/>
              </a:srgbClr>
            </a:solidFill>
            <a:prstDash val="solid"/>
            <a:headEnd type="none"/>
            <a:tailEnd type="none"/>
          </a:ln>
        </p:spPr>
      </p:sp>
      <p:sp>
        <p:nvSpPr>
          <p:cNvPr id="7" name="TextBox 7"/>
          <p:cNvSpPr txBox="1"/>
          <p:nvPr/>
        </p:nvSpPr>
        <p:spPr>
          <a:xfrm>
            <a:off x="695151" y="1724025"/>
            <a:ext cx="11493801" cy="456159"/>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防灾减灾体系中的数据孤岛表现为NOAA、USGS、FEMA及U.S. Census Bureau等机构的数据分散于独立系统，格式涵盖CSV、API、GIS等多种类</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型，时间坐标标准不一，导致信息割裂与语义不一致，严重制约应急响应效率与风险研判能力。</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8" name="TextBox 8"/>
          <p:cNvSpPr txBox="1"/>
          <p:nvPr/>
        </p:nvSpPr>
        <p:spPr>
          <a:xfrm>
            <a:off x="609448" y="3757761"/>
            <a:ext cx="11122419"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数据孤岛定义：</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指不同部门、系统或平台间的数据无法有效互通共享，导致信息割裂、语义不一致，难以支撑统一决策视图的形成。</a:t>
            </a:r>
            <a:endParaRPr lang="en-US" sz="1100"/>
          </a:p>
        </p:txBody>
      </p:sp>
      <p:sp>
        <p:nvSpPr>
          <p:cNvPr id="9" name="TextBox 9"/>
          <p:cNvSpPr txBox="1"/>
          <p:nvPr/>
        </p:nvSpPr>
        <p:spPr>
          <a:xfrm>
            <a:off x="609448" y="4245322"/>
            <a:ext cx="11579504"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数据分散现状：</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防灾减灾数据分散于NOAA气象、USGS地质、FEMA应急、U.S. Census Bureau人口统计等多个独立机构，各系统建设标准各异且归属权不同。</a:t>
            </a:r>
            <a:endParaRPr lang="en-US" sz="1100"/>
          </a:p>
        </p:txBody>
      </p:sp>
      <p:sp>
        <p:nvSpPr>
          <p:cNvPr id="10" name="TextBox 10"/>
          <p:cNvSpPr txBox="1"/>
          <p:nvPr/>
        </p:nvSpPr>
        <p:spPr>
          <a:xfrm>
            <a:off x="609448" y="4732884"/>
            <a:ext cx="11122419"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具体表现：</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数据格式混合（CSV、API、GIS、表格并存）、时间与空间标准不一（UTC与本地时间、WGS84与本地投影混用）、缺乏统一共享机制。</a:t>
            </a:r>
            <a:endParaRPr lang="en-US" sz="1100"/>
          </a:p>
        </p:txBody>
      </p:sp>
      <p:sp>
        <p:nvSpPr>
          <p:cNvPr id="11" name="TextBox 11"/>
          <p:cNvSpPr txBox="1"/>
          <p:nvPr/>
        </p:nvSpPr>
        <p:spPr>
          <a:xfrm>
            <a:off x="609448" y="5220444"/>
            <a:ext cx="11122419"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应急影响：</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应急场景下数据难以实时融合，指挥调度面临信息滞后与决策盲区，影响救援黄金时间窗口的把握与资源优化配置。</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PROBLEM ANALYSIS</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数据孤岛的直接影响与项目切入点</a:t>
            </a:r>
            <a:endParaRPr lang="en-US" sz="1100"/>
          </a:p>
        </p:txBody>
      </p:sp>
      <p:sp>
        <p:nvSpPr>
          <p:cNvPr id="5" name="TextBox 5"/>
          <p:cNvSpPr txBox="1"/>
          <p:nvPr/>
        </p:nvSpPr>
        <p:spPr>
          <a:xfrm>
            <a:off x="457086" y="1514475"/>
            <a:ext cx="11731866" cy="481905"/>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数据孤岛导致风险评估依赖单一数据源而准确性不足，多灾种耦合分析困难，应急决策链条滞后；本项目通过构建多源异构数据融合机制与统</a:t>
            </a:r>
            <a:endParaRPr lang="en-US" sz="1100"/>
          </a:p>
          <a:p>
            <a:pPr algn="l"/>
            <a:r>
              <a:rPr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一数据标准体系，结合轻量AI分析模型，实现跨机构数据标准化整合与智能风险研判效率提升。</a:t>
            </a:r>
            <a:endParaRPr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2354461"/>
            <a:ext cx="9522" cy="258961"/>
          </a:xfrm>
          <a:prstGeom prst="line">
            <a:avLst/>
          </a:prstGeom>
          <a:ln w="19050">
            <a:solidFill>
              <a:srgbClr val="5B8CB8">
                <a:alpha val="100000"/>
              </a:srgbClr>
            </a:solidFill>
            <a:prstDash val="solid"/>
            <a:headEnd type="none"/>
            <a:tailEnd type="none"/>
          </a:ln>
        </p:spPr>
      </p:sp>
      <p:sp>
        <p:nvSpPr>
          <p:cNvPr id="7" name="TextBox 7"/>
          <p:cNvSpPr txBox="1"/>
          <p:nvPr/>
        </p:nvSpPr>
        <p:spPr>
          <a:xfrm>
            <a:off x="666584" y="2402086"/>
            <a:ext cx="11065283"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风险评估局限性：</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依赖单一数据源导致准确性不足，难以捕捉灾害全貌与潜在风险点，研判结果可信度降低，影响防灾决策的科学性。</a:t>
            </a:r>
            <a:endParaRPr lang="en-US" sz="1100"/>
          </a:p>
        </p:txBody>
      </p:sp>
      <p:sp>
        <p:nvSpPr>
          <p:cNvPr id="8" name="AutoShape 8"/>
          <p:cNvSpPr/>
          <p:nvPr/>
        </p:nvSpPr>
        <p:spPr>
          <a:xfrm>
            <a:off x="457086" y="2803923"/>
            <a:ext cx="9522" cy="258961"/>
          </a:xfrm>
          <a:prstGeom prst="line">
            <a:avLst/>
          </a:prstGeom>
          <a:ln w="19050">
            <a:solidFill>
              <a:srgbClr val="5B8CB8">
                <a:alpha val="100000"/>
              </a:srgbClr>
            </a:solidFill>
            <a:prstDash val="solid"/>
            <a:headEnd type="none"/>
            <a:tailEnd type="none"/>
          </a:ln>
        </p:spPr>
      </p:sp>
      <p:sp>
        <p:nvSpPr>
          <p:cNvPr id="9" name="TextBox 9"/>
          <p:cNvSpPr txBox="1"/>
          <p:nvPr/>
        </p:nvSpPr>
        <p:spPr>
          <a:xfrm>
            <a:off x="666584" y="2851546"/>
            <a:ext cx="11065283"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多灾种耦合难题：</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台风叠加洪涝再叠加人口暴露的复合灾害场景难以实时融合计算，无法评估级联灾害风险。</a:t>
            </a:r>
            <a:endParaRPr lang="en-US" sz="1100"/>
          </a:p>
        </p:txBody>
      </p:sp>
      <p:sp>
        <p:nvSpPr>
          <p:cNvPr id="10" name="AutoShape 10"/>
          <p:cNvSpPr/>
          <p:nvPr/>
        </p:nvSpPr>
        <p:spPr>
          <a:xfrm>
            <a:off x="457086" y="3253383"/>
            <a:ext cx="9522" cy="258961"/>
          </a:xfrm>
          <a:prstGeom prst="line">
            <a:avLst/>
          </a:prstGeom>
          <a:ln w="19050">
            <a:solidFill>
              <a:srgbClr val="5B8CB8">
                <a:alpha val="100000"/>
              </a:srgbClr>
            </a:solidFill>
            <a:prstDash val="solid"/>
            <a:headEnd type="none"/>
            <a:tailEnd type="none"/>
          </a:ln>
        </p:spPr>
      </p:sp>
      <p:sp>
        <p:nvSpPr>
          <p:cNvPr id="11" name="TextBox 11"/>
          <p:cNvSpPr txBox="1"/>
          <p:nvPr/>
        </p:nvSpPr>
        <p:spPr>
          <a:xfrm>
            <a:off x="666584" y="3301008"/>
            <a:ext cx="11065283"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应急响应滞后：</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无法形成统一指挥与全局态势感知，影响救援黄金时间窗口把握与资源优化配置效率。</a:t>
            </a:r>
            <a:endParaRPr lang="en-US" sz="1100"/>
          </a:p>
        </p:txBody>
      </p:sp>
      <p:sp>
        <p:nvSpPr>
          <p:cNvPr id="12" name="AutoShape 12"/>
          <p:cNvSpPr/>
          <p:nvPr/>
        </p:nvSpPr>
        <p:spPr>
          <a:xfrm>
            <a:off x="457086" y="3702844"/>
            <a:ext cx="11274781" cy="563761"/>
          </a:xfrm>
          <a:prstGeom prst="roundRect">
            <a:avLst>
              <a:gd name="adj" fmla="val 10962"/>
            </a:avLst>
          </a:prstGeom>
          <a:solidFill>
            <a:srgbClr val="E8EBEF">
              <a:alpha val="100000"/>
            </a:srgbClr>
          </a:solidFill>
          <a:ln>
            <a:headEnd type="none"/>
            <a:tailEnd type="none"/>
          </a:ln>
        </p:spPr>
      </p:sp>
      <p:sp>
        <p:nvSpPr>
          <p:cNvPr id="13" name="AutoShape 13"/>
          <p:cNvSpPr/>
          <p:nvPr/>
        </p:nvSpPr>
        <p:spPr>
          <a:xfrm>
            <a:off x="457086" y="3702844"/>
            <a:ext cx="9522" cy="563761"/>
          </a:xfrm>
          <a:prstGeom prst="line">
            <a:avLst/>
          </a:prstGeom>
          <a:ln w="19050">
            <a:solidFill>
              <a:srgbClr val="5B8CB8">
                <a:alpha val="100000"/>
              </a:srgbClr>
            </a:solidFill>
            <a:prstDash val="solid"/>
            <a:headEnd type="none"/>
            <a:tailEnd type="none"/>
          </a:ln>
        </p:spPr>
      </p:sp>
      <p:sp>
        <p:nvSpPr>
          <p:cNvPr id="14" name="TextBox 14"/>
          <p:cNvSpPr txBox="1"/>
          <p:nvPr/>
        </p:nvSpPr>
        <p:spPr>
          <a:xfrm>
            <a:off x="666584" y="3902869"/>
            <a:ext cx="10874831" cy="16192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项目解决方案：</a:t>
            </a:r>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构建多源异构数据融合机制与统一数据标准体系，结合轻量AI分析模型提升灾害风险研判效率，在可解释性与计算效率间取得平衡。</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Root Cause Analysis</a:t>
            </a:r>
            <a:endParaRPr lang="en-US" sz="1100"/>
          </a:p>
        </p:txBody>
      </p:sp>
      <p:sp>
        <p:nvSpPr>
          <p:cNvPr id="4" name="TextBox 4"/>
          <p:cNvSpPr txBox="1"/>
          <p:nvPr/>
        </p:nvSpPr>
        <p:spPr>
          <a:xfrm>
            <a:off x="457086" y="7524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数据孤岛成因：组织与标准维度</a:t>
            </a:r>
            <a:endParaRPr lang="en-US" sz="1100"/>
          </a:p>
        </p:txBody>
      </p:sp>
      <p:sp>
        <p:nvSpPr>
          <p:cNvPr id="5" name="TextBox 5"/>
          <p:cNvSpPr txBox="1"/>
          <p:nvPr/>
        </p:nvSpPr>
        <p:spPr>
          <a:xfrm>
            <a:off x="457086" y="1352550"/>
            <a:ext cx="11274781" cy="40570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数据孤岛根源在于组织架构割裂与标准体系缺失。不同机构各自建设系统且数据归属权分散，缺乏共享激励机制；同时时间、空间、灾害分类</a:t>
            </a:r>
            <a:endParaRPr lang="en-US" sz="1100"/>
          </a:p>
          <a:p>
            <a:pPr algn="l"/>
            <a:r>
              <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标准与指标口径差异显著，导致跨部门数据难以互通互认。</a:t>
            </a:r>
            <a:endPar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1992511"/>
            <a:ext cx="5485028" cy="4408289"/>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1992511"/>
            <a:ext cx="5485028" cy="9525"/>
          </a:xfrm>
          <a:prstGeom prst="line">
            <a:avLst/>
          </a:prstGeom>
          <a:ln w="28575">
            <a:solidFill>
              <a:srgbClr val="5B8CB8">
                <a:alpha val="100000"/>
              </a:srgbClr>
            </a:solidFill>
            <a:prstDash val="solid"/>
            <a:headEnd type="none"/>
            <a:tailEnd type="none"/>
          </a:ln>
        </p:spPr>
      </p:sp>
      <p:sp>
        <p:nvSpPr>
          <p:cNvPr id="8" name="TextBox 8"/>
          <p:cNvSpPr txBox="1"/>
          <p:nvPr/>
        </p:nvSpPr>
        <p:spPr>
          <a:xfrm>
            <a:off x="695151" y="2287786"/>
            <a:ext cx="5008898" cy="209550"/>
          </a:xfrm>
          <a:prstGeom prst="rect">
            <a:avLst/>
          </a:prstGeom>
          <a:ln>
            <a:headEnd type="none"/>
            <a:tailEnd type="none"/>
          </a:ln>
        </p:spPr>
        <p:txBody>
          <a:bodyPr vert="horz" wrap="square" lIns="0" tIns="0" rIns="0" bIns="0" rtlCol="0" anchor="t" anchorCtr="0"/>
          <a:lstStyle/>
          <a:p>
            <a:pPr algn="l">
              <a:defRPr/>
            </a:pPr>
            <a:r>
              <a:rPr lang="en-US" sz="15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组织割裂与标准差异</a:t>
            </a:r>
            <a:endParaRPr lang="en-US" sz="1100"/>
          </a:p>
        </p:txBody>
      </p:sp>
      <p:sp>
        <p:nvSpPr>
          <p:cNvPr id="9" name="TextBox 9"/>
          <p:cNvSpPr txBox="1"/>
          <p:nvPr/>
        </p:nvSpPr>
        <p:spPr>
          <a:xfrm>
            <a:off x="771332" y="2716411"/>
            <a:ext cx="4970807"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不同机构（气象、地质、应急、人口统计）各自独立建设信息系统，形成部门级数据</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壁垒，缺乏统一规划与协调机制</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0" name="TextBox 10"/>
          <p:cNvSpPr txBox="1"/>
          <p:nvPr/>
        </p:nvSpPr>
        <p:spPr>
          <a:xfrm>
            <a:off x="771332" y="3257253"/>
            <a:ext cx="4932717"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数据归属权分散且缺乏共享激励机制，机构间数据交换动力不足，如NOAA与USGS</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系统独立运行互不联通，难以实现跨机构协同</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1" name="TextBox 11"/>
          <p:cNvSpPr txBox="1"/>
          <p:nvPr/>
        </p:nvSpPr>
        <p:spPr>
          <a:xfrm>
            <a:off x="771332" y="3798094"/>
            <a:ext cx="4932717"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时间标准混用UTC与本地时间，时区转换复杂且易出错，影响灾害时间序列分析的</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准确性与事件关联性判断</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6246838" y="1992511"/>
            <a:ext cx="5485028" cy="4408289"/>
          </a:xfrm>
          <a:prstGeom prst="rect">
            <a:avLst/>
          </a:prstGeom>
          <a:solidFill>
            <a:srgbClr val="E8EBEF">
              <a:alpha val="100000"/>
            </a:srgbClr>
          </a:solidFill>
          <a:ln w="9525">
            <a:solidFill>
              <a:srgbClr val="C5CDD6">
                <a:alpha val="100000"/>
              </a:srgbClr>
            </a:solidFill>
            <a:prstDash val="solid"/>
            <a:headEnd type="none"/>
            <a:tailEnd type="none"/>
          </a:ln>
        </p:spPr>
      </p:sp>
      <p:sp>
        <p:nvSpPr>
          <p:cNvPr id="13" name="AutoShape 13"/>
          <p:cNvSpPr/>
          <p:nvPr/>
        </p:nvSpPr>
        <p:spPr>
          <a:xfrm>
            <a:off x="6246838" y="1992511"/>
            <a:ext cx="5485028" cy="9525"/>
          </a:xfrm>
          <a:prstGeom prst="line">
            <a:avLst/>
          </a:prstGeom>
          <a:ln w="28575">
            <a:solidFill>
              <a:srgbClr val="5B8CB8">
                <a:alpha val="100000"/>
              </a:srgbClr>
            </a:solidFill>
            <a:prstDash val="solid"/>
            <a:headEnd type="none"/>
            <a:tailEnd type="none"/>
          </a:ln>
        </p:spPr>
      </p:sp>
      <p:sp>
        <p:nvSpPr>
          <p:cNvPr id="14" name="TextBox 14"/>
          <p:cNvSpPr txBox="1"/>
          <p:nvPr/>
        </p:nvSpPr>
        <p:spPr>
          <a:xfrm>
            <a:off x="6484903" y="2287786"/>
            <a:ext cx="5008898" cy="209550"/>
          </a:xfrm>
          <a:prstGeom prst="rect">
            <a:avLst/>
          </a:prstGeom>
          <a:ln>
            <a:headEnd type="none"/>
            <a:tailEnd type="none"/>
          </a:ln>
        </p:spPr>
        <p:txBody>
          <a:bodyPr vert="horz" wrap="square" lIns="0" tIns="0" rIns="0" bIns="0" rtlCol="0" anchor="t" anchorCtr="0"/>
          <a:lstStyle/>
          <a:p>
            <a:pPr algn="l">
              <a:defRPr/>
            </a:pPr>
            <a:r>
              <a:rPr lang="en-US" sz="15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技术异构与治理缺失</a:t>
            </a:r>
            <a:endParaRPr lang="en-US" sz="1100"/>
          </a:p>
        </p:txBody>
      </p:sp>
      <p:sp>
        <p:nvSpPr>
          <p:cNvPr id="15" name="TextBox 15"/>
          <p:cNvSpPr txBox="1"/>
          <p:nvPr/>
        </p:nvSpPr>
        <p:spPr>
          <a:xfrm>
            <a:off x="6561084" y="2716411"/>
            <a:ext cx="4932717"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数据接口形式多样，API、CSV、数据库、遥感GIS系统并存，整合技术复杂度高，</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缺乏统一ETL工具与数据中台支撑</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6" name="TextBox 16"/>
          <p:cNvSpPr txBox="1"/>
          <p:nvPr/>
        </p:nvSpPr>
        <p:spPr>
          <a:xfrm>
            <a:off x="6561084" y="3257253"/>
            <a:ext cx="4970807"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缺乏跨部门数据治理框架与统一管理机制，元数据管理与数据血缘体系不完整，数据</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来源与加工过程难以追溯</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7" name="TextBox 17"/>
          <p:cNvSpPr txBox="1"/>
          <p:nvPr/>
        </p:nvSpPr>
        <p:spPr>
          <a:xfrm>
            <a:off x="6561084" y="3798094"/>
            <a:ext cx="4970807"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数据共享协议与权责界定不完善，跨机构数据交换缺乏制度保障与法律依据，应急场</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景下网络中断时数据链路进一步割裂</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Technical Architecture</a:t>
            </a:r>
            <a:endParaRPr lang="en-US" sz="1100"/>
          </a:p>
        </p:txBody>
      </p:sp>
      <p:sp>
        <p:nvSpPr>
          <p:cNvPr id="4" name="TextBox 4"/>
          <p:cNvSpPr txBox="1"/>
          <p:nvPr/>
        </p:nvSpPr>
        <p:spPr>
          <a:xfrm>
            <a:off x="457086" y="7524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项目总体架构与核心工作</a:t>
            </a:r>
            <a:endParaRPr lang="en-US" sz="1100"/>
          </a:p>
        </p:txBody>
      </p:sp>
      <p:sp>
        <p:nvSpPr>
          <p:cNvPr id="5" name="AutoShape 5"/>
          <p:cNvSpPr/>
          <p:nvPr/>
        </p:nvSpPr>
        <p:spPr>
          <a:xfrm>
            <a:off x="457086" y="1428750"/>
            <a:ext cx="11274781" cy="962918"/>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a:off x="457086" y="1428750"/>
            <a:ext cx="11274781" cy="9525"/>
          </a:xfrm>
          <a:prstGeom prst="line">
            <a:avLst/>
          </a:prstGeom>
          <a:ln w="28575">
            <a:solidFill>
              <a:srgbClr val="5B8CB8">
                <a:alpha val="100000"/>
              </a:srgbClr>
            </a:solidFill>
            <a:prstDash val="solid"/>
            <a:headEnd type="none"/>
            <a:tailEnd type="none"/>
          </a:ln>
        </p:spPr>
      </p:sp>
      <p:sp>
        <p:nvSpPr>
          <p:cNvPr id="7" name="TextBox 7"/>
          <p:cNvSpPr txBox="1"/>
          <p:nvPr/>
        </p:nvSpPr>
        <p:spPr>
          <a:xfrm>
            <a:off x="771332" y="1714500"/>
            <a:ext cx="11417620" cy="427732"/>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本项目构建"多源数据融合+轻量AI分析+可视化决策平台"三位一体的技术架构，通过标准化整合跨机构异构数据，结合可解释轻量模型提升灾害风险研判效率，</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形成从数据采集、智能分析到决策支持的完整技术闭环。</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8" name="AutoShape 8"/>
          <p:cNvSpPr/>
          <p:nvPr/>
        </p:nvSpPr>
        <p:spPr>
          <a:xfrm>
            <a:off x="457086" y="2658368"/>
            <a:ext cx="3605799" cy="3742432"/>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TextBox 9"/>
          <p:cNvSpPr txBox="1"/>
          <p:nvPr/>
        </p:nvSpPr>
        <p:spPr>
          <a:xfrm>
            <a:off x="790377" y="2934593"/>
            <a:ext cx="1380780" cy="209550"/>
          </a:xfrm>
          <a:prstGeom prst="rect">
            <a:avLst/>
          </a:prstGeom>
          <a:ln>
            <a:headEnd type="none"/>
            <a:tailEnd type="none"/>
          </a:ln>
        </p:spPr>
        <p:txBody>
          <a:bodyPr vert="horz" wrap="square" lIns="0" tIns="0" rIns="0" bIns="0" rtlCol="0" anchor="t" anchorCtr="0"/>
          <a:lstStyle/>
          <a:p>
            <a:pPr algn="l">
              <a:defRPr/>
            </a:pPr>
            <a:r>
              <a:rPr lang="en-US" sz="15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多源数据融合层</a:t>
            </a:r>
            <a:endParaRPr lang="en-US" sz="1100"/>
          </a:p>
        </p:txBody>
      </p:sp>
      <p:sp>
        <p:nvSpPr>
          <p:cNvPr id="10" name="AutoShape 10"/>
          <p:cNvSpPr/>
          <p:nvPr/>
        </p:nvSpPr>
        <p:spPr>
          <a:xfrm>
            <a:off x="695151" y="3334643"/>
            <a:ext cx="9522" cy="728662"/>
          </a:xfrm>
          <a:prstGeom prst="line">
            <a:avLst/>
          </a:prstGeom>
          <a:ln w="19050">
            <a:solidFill>
              <a:srgbClr val="5B8CB8">
                <a:alpha val="100000"/>
              </a:srgbClr>
            </a:solidFill>
            <a:prstDash val="solid"/>
            <a:headEnd type="none"/>
            <a:tailEnd type="none"/>
          </a:ln>
        </p:spPr>
      </p:sp>
      <p:sp>
        <p:nvSpPr>
          <p:cNvPr id="11" name="TextBox 11"/>
          <p:cNvSpPr txBox="1"/>
          <p:nvPr/>
        </p:nvSpPr>
        <p:spPr>
          <a:xfrm>
            <a:off x="847513" y="3372743"/>
            <a:ext cx="2977307"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实现气象、地震、灾害、人口、资源等多源异</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构数据的标准化整合与时空对齐，生成</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unified_hazard_events等统一数据表结构</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695151" y="4215705"/>
            <a:ext cx="9522" cy="728662"/>
          </a:xfrm>
          <a:prstGeom prst="line">
            <a:avLst/>
          </a:prstGeom>
          <a:ln w="19050">
            <a:solidFill>
              <a:srgbClr val="5B8CB8">
                <a:alpha val="100000"/>
              </a:srgbClr>
            </a:solidFill>
            <a:prstDash val="solid"/>
            <a:headEnd type="none"/>
            <a:tailEnd type="none"/>
          </a:ln>
        </p:spPr>
      </p:sp>
      <p:sp>
        <p:nvSpPr>
          <p:cNvPr id="13" name="TextBox 13"/>
          <p:cNvSpPr txBox="1"/>
          <p:nvPr/>
        </p:nvSpPr>
        <p:spPr>
          <a:xfrm>
            <a:off x="847513" y="4253805"/>
            <a:ext cx="2977307"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自动兼容缺失数据机制通过</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source=SIMULATED_FALLBACK标记模拟数</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据，确保系统连续运行与结构一致性</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4" name="AutoShape 14"/>
          <p:cNvSpPr/>
          <p:nvPr/>
        </p:nvSpPr>
        <p:spPr>
          <a:xfrm>
            <a:off x="4291428" y="2658368"/>
            <a:ext cx="3605948" cy="3742432"/>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TextBox 15"/>
          <p:cNvSpPr txBox="1"/>
          <p:nvPr/>
        </p:nvSpPr>
        <p:spPr>
          <a:xfrm>
            <a:off x="4624719" y="2934593"/>
            <a:ext cx="1211604" cy="209550"/>
          </a:xfrm>
          <a:prstGeom prst="rect">
            <a:avLst/>
          </a:prstGeom>
          <a:ln>
            <a:headEnd type="none"/>
            <a:tailEnd type="none"/>
          </a:ln>
        </p:spPr>
        <p:txBody>
          <a:bodyPr vert="horz" wrap="square" lIns="0" tIns="0" rIns="0" bIns="0" rtlCol="0" anchor="t" anchorCtr="0"/>
          <a:lstStyle/>
          <a:p>
            <a:pPr algn="l">
              <a:defRPr/>
            </a:pPr>
            <a:r>
              <a:rPr lang="en-US" sz="15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轻量AI分析层</a:t>
            </a:r>
            <a:endParaRPr lang="en-US" sz="1100"/>
          </a:p>
        </p:txBody>
      </p:sp>
      <p:sp>
        <p:nvSpPr>
          <p:cNvPr id="16" name="AutoShape 16"/>
          <p:cNvSpPr/>
          <p:nvPr/>
        </p:nvSpPr>
        <p:spPr>
          <a:xfrm>
            <a:off x="4529493" y="3334643"/>
            <a:ext cx="9522" cy="728662"/>
          </a:xfrm>
          <a:prstGeom prst="line">
            <a:avLst/>
          </a:prstGeom>
          <a:ln w="19050">
            <a:solidFill>
              <a:srgbClr val="5B8CB8">
                <a:alpha val="100000"/>
              </a:srgbClr>
            </a:solidFill>
            <a:prstDash val="solid"/>
            <a:headEnd type="none"/>
            <a:tailEnd type="none"/>
          </a:ln>
        </p:spPr>
      </p:sp>
      <p:sp>
        <p:nvSpPr>
          <p:cNvPr id="17" name="TextBox 17"/>
          <p:cNvSpPr txBox="1"/>
          <p:nvPr/>
        </p:nvSpPr>
        <p:spPr>
          <a:xfrm>
            <a:off x="4681855" y="3372743"/>
            <a:ext cx="2977455"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基于规则与统计模型提供风险评分、异常检</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测、资源调度等智能分析能力，确保计算轻量</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且结果可解释</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8" name="AutoShape 18"/>
          <p:cNvSpPr/>
          <p:nvPr/>
        </p:nvSpPr>
        <p:spPr>
          <a:xfrm>
            <a:off x="4529493" y="4215705"/>
            <a:ext cx="9522" cy="728662"/>
          </a:xfrm>
          <a:prstGeom prst="line">
            <a:avLst/>
          </a:prstGeom>
          <a:ln w="19050">
            <a:solidFill>
              <a:srgbClr val="5B8CB8">
                <a:alpha val="100000"/>
              </a:srgbClr>
            </a:solidFill>
            <a:prstDash val="solid"/>
            <a:headEnd type="none"/>
            <a:tailEnd type="none"/>
          </a:ln>
        </p:spPr>
      </p:sp>
      <p:sp>
        <p:nvSpPr>
          <p:cNvPr id="19" name="TextBox 19"/>
          <p:cNvSpPr txBox="1"/>
          <p:nvPr/>
        </p:nvSpPr>
        <p:spPr>
          <a:xfrm>
            <a:off x="4681855" y="4253805"/>
            <a:ext cx="2977455"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风险评分采用Hazard、Vulnerability、</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Resource Gap三维度加权模型，划分Red、</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Orange、Yellow、Green风险等级</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0" name="AutoShape 20"/>
          <p:cNvSpPr/>
          <p:nvPr/>
        </p:nvSpPr>
        <p:spPr>
          <a:xfrm>
            <a:off x="8125918" y="2658368"/>
            <a:ext cx="3605799" cy="3742432"/>
          </a:xfrm>
          <a:prstGeom prst="rect">
            <a:avLst/>
          </a:prstGeom>
          <a:solidFill>
            <a:srgbClr val="E8EBEF">
              <a:alpha val="100000"/>
            </a:srgbClr>
          </a:solidFill>
          <a:ln w="9525">
            <a:solidFill>
              <a:srgbClr val="C5CDD6">
                <a:alpha val="100000"/>
              </a:srgbClr>
            </a:solidFill>
            <a:prstDash val="solid"/>
            <a:headEnd type="none"/>
            <a:tailEnd type="none"/>
          </a:ln>
        </p:spPr>
      </p:sp>
      <p:sp>
        <p:nvSpPr>
          <p:cNvPr id="21" name="TextBox 21"/>
          <p:cNvSpPr txBox="1"/>
          <p:nvPr/>
        </p:nvSpPr>
        <p:spPr>
          <a:xfrm>
            <a:off x="8459210" y="2934593"/>
            <a:ext cx="1190328" cy="209550"/>
          </a:xfrm>
          <a:prstGeom prst="rect">
            <a:avLst/>
          </a:prstGeom>
          <a:ln>
            <a:headEnd type="none"/>
            <a:tailEnd type="none"/>
          </a:ln>
        </p:spPr>
        <p:txBody>
          <a:bodyPr vert="horz" wrap="square" lIns="0" tIns="0" rIns="0" bIns="0" rtlCol="0" anchor="t" anchorCtr="0"/>
          <a:lstStyle/>
          <a:p>
            <a:pPr algn="l">
              <a:defRPr/>
            </a:pPr>
            <a:r>
              <a:rPr lang="en-US" sz="15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可视化决策层</a:t>
            </a:r>
            <a:endParaRPr lang="en-US" sz="1100"/>
          </a:p>
        </p:txBody>
      </p:sp>
      <p:sp>
        <p:nvSpPr>
          <p:cNvPr id="22" name="AutoShape 22"/>
          <p:cNvSpPr/>
          <p:nvPr/>
        </p:nvSpPr>
        <p:spPr>
          <a:xfrm>
            <a:off x="8363984" y="3334643"/>
            <a:ext cx="9522" cy="728662"/>
          </a:xfrm>
          <a:prstGeom prst="line">
            <a:avLst/>
          </a:prstGeom>
          <a:ln w="19050">
            <a:solidFill>
              <a:srgbClr val="5B8CB8">
                <a:alpha val="100000"/>
              </a:srgbClr>
            </a:solidFill>
            <a:prstDash val="solid"/>
            <a:headEnd type="none"/>
            <a:tailEnd type="none"/>
          </a:ln>
        </p:spPr>
      </p:sp>
      <p:sp>
        <p:nvSpPr>
          <p:cNvPr id="23" name="TextBox 23"/>
          <p:cNvSpPr txBox="1"/>
          <p:nvPr/>
        </p:nvSpPr>
        <p:spPr>
          <a:xfrm>
            <a:off x="8516346" y="3372743"/>
            <a:ext cx="2977307"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基于Streamlit构建交互式系统，提供数据展</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示、风险分析、预警提示、资源调度与自动报</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告生成功能</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4" name="AutoShape 24"/>
          <p:cNvSpPr/>
          <p:nvPr/>
        </p:nvSpPr>
        <p:spPr>
          <a:xfrm>
            <a:off x="8363984" y="4215705"/>
            <a:ext cx="9522" cy="728662"/>
          </a:xfrm>
          <a:prstGeom prst="line">
            <a:avLst/>
          </a:prstGeom>
          <a:ln w="19050">
            <a:solidFill>
              <a:srgbClr val="5B8CB8">
                <a:alpha val="100000"/>
              </a:srgbClr>
            </a:solidFill>
            <a:prstDash val="solid"/>
            <a:headEnd type="none"/>
            <a:tailEnd type="none"/>
          </a:ln>
        </p:spPr>
      </p:sp>
      <p:sp>
        <p:nvSpPr>
          <p:cNvPr id="25" name="TextBox 25"/>
          <p:cNvSpPr txBox="1"/>
          <p:nvPr/>
        </p:nvSpPr>
        <p:spPr>
          <a:xfrm>
            <a:off x="8516346" y="4253805"/>
            <a:ext cx="2982365"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首页总览模块集成KPI指标与流程图，多源数据</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展示模块支持异构数据的统一查询与可视化呈</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现</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Data Fusion Layer</a:t>
            </a:r>
            <a:endParaRPr lang="en-US" sz="1100"/>
          </a:p>
        </p:txBody>
      </p:sp>
      <p:sp>
        <p:nvSpPr>
          <p:cNvPr id="4" name="TextBox 4"/>
          <p:cNvSpPr txBox="1"/>
          <p:nvPr/>
        </p:nvSpPr>
        <p:spPr>
          <a:xfrm>
            <a:off x="457086" y="7524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多源数据融合机制与统一数据表</a:t>
            </a:r>
            <a:endParaRPr lang="en-US" sz="1100"/>
          </a:p>
        </p:txBody>
      </p:sp>
      <p:sp>
        <p:nvSpPr>
          <p:cNvPr id="5" name="AutoShape 5"/>
          <p:cNvSpPr/>
          <p:nvPr/>
        </p:nvSpPr>
        <p:spPr>
          <a:xfrm>
            <a:off x="457086" y="1428750"/>
            <a:ext cx="11274781" cy="855166"/>
          </a:xfrm>
          <a:prstGeom prst="rect">
            <a:avLst/>
          </a:prstGeom>
          <a:solidFill>
            <a:srgbClr val="E8EBEF">
              <a:alpha val="100000"/>
            </a:srgbClr>
          </a:solidFill>
          <a:ln>
            <a:headEnd type="none"/>
            <a:tailEnd type="none"/>
          </a:ln>
        </p:spPr>
      </p:sp>
      <p:sp>
        <p:nvSpPr>
          <p:cNvPr id="6" name="AutoShape 6"/>
          <p:cNvSpPr/>
          <p:nvPr/>
        </p:nvSpPr>
        <p:spPr>
          <a:xfrm>
            <a:off x="457086" y="1428750"/>
            <a:ext cx="9522" cy="855166"/>
          </a:xfrm>
          <a:prstGeom prst="line">
            <a:avLst/>
          </a:prstGeom>
          <a:ln w="28575">
            <a:solidFill>
              <a:srgbClr val="5B8CB8">
                <a:alpha val="100000"/>
              </a:srgbClr>
            </a:solidFill>
            <a:prstDash val="solid"/>
            <a:headEnd type="none"/>
            <a:tailEnd type="none"/>
          </a:ln>
        </p:spPr>
      </p:sp>
      <p:sp>
        <p:nvSpPr>
          <p:cNvPr id="7" name="TextBox 7"/>
          <p:cNvSpPr txBox="1"/>
          <p:nvPr/>
        </p:nvSpPr>
        <p:spPr>
          <a:xfrm>
            <a:off x="714196" y="1619250"/>
            <a:ext cx="11474756" cy="456159"/>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数据融合层通过字段标准化（时间、空间、类型统一）与自动兼容缺失数据的兜底机制，实现多源异构数据的无缝整合；生成三张核心数据表，构建标</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准化分析基础。</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8" name="AutoShape 8"/>
          <p:cNvSpPr/>
          <p:nvPr/>
        </p:nvSpPr>
        <p:spPr>
          <a:xfrm>
            <a:off x="457086" y="2512516"/>
            <a:ext cx="5446937" cy="1117103"/>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a:off x="457086" y="2512516"/>
            <a:ext cx="5446937" cy="9525"/>
          </a:xfrm>
          <a:prstGeom prst="line">
            <a:avLst/>
          </a:prstGeom>
          <a:ln w="28575">
            <a:solidFill>
              <a:srgbClr val="5B8CB8">
                <a:alpha val="100000"/>
              </a:srgbClr>
            </a:solidFill>
            <a:prstDash val="solid"/>
            <a:headEnd type="none"/>
            <a:tailEnd type="none"/>
          </a:ln>
        </p:spPr>
      </p:sp>
      <p:sp>
        <p:nvSpPr>
          <p:cNvPr id="10" name="TextBox 10"/>
          <p:cNvSpPr txBox="1"/>
          <p:nvPr/>
        </p:nvSpPr>
        <p:spPr>
          <a:xfrm>
            <a:off x="771332" y="2750641"/>
            <a:ext cx="4932717"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多源数据自动读取</a:t>
            </a:r>
            <a:endParaRPr lang="en-US" sz="1100"/>
          </a:p>
        </p:txBody>
      </p:sp>
      <p:sp>
        <p:nvSpPr>
          <p:cNvPr id="11" name="TextBox 11"/>
          <p:cNvSpPr txBox="1"/>
          <p:nvPr/>
        </p:nvSpPr>
        <p:spPr>
          <a:xfrm>
            <a:off x="771332" y="3031628"/>
            <a:ext cx="5132691"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兼容气象、地震、灾害、人口、资源等多领域数据源，支持API、CSV、数据库等多</a:t>
            </a:r>
            <a:endParaRPr lang="en-US" sz="1100"/>
          </a:p>
          <a:p>
            <a:pPr algn="l"/>
            <a:r>
              <a:rPr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种接入方式，实现异构数据的统一接入</a:t>
            </a:r>
            <a:endParaRPr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457086" y="3782021"/>
            <a:ext cx="5446937" cy="1117103"/>
          </a:xfrm>
          <a:prstGeom prst="rect">
            <a:avLst/>
          </a:prstGeom>
          <a:solidFill>
            <a:srgbClr val="E8EBEF">
              <a:alpha val="100000"/>
            </a:srgbClr>
          </a:solidFill>
          <a:ln w="9525">
            <a:solidFill>
              <a:srgbClr val="C5CDD6">
                <a:alpha val="100000"/>
              </a:srgbClr>
            </a:solidFill>
            <a:prstDash val="solid"/>
            <a:headEnd type="none"/>
            <a:tailEnd type="none"/>
          </a:ln>
        </p:spPr>
      </p:sp>
      <p:sp>
        <p:nvSpPr>
          <p:cNvPr id="13" name="AutoShape 13"/>
          <p:cNvSpPr/>
          <p:nvPr/>
        </p:nvSpPr>
        <p:spPr>
          <a:xfrm>
            <a:off x="457086" y="3782021"/>
            <a:ext cx="5446937" cy="9525"/>
          </a:xfrm>
          <a:prstGeom prst="line">
            <a:avLst/>
          </a:prstGeom>
          <a:ln w="28575">
            <a:solidFill>
              <a:srgbClr val="5B8CB8">
                <a:alpha val="100000"/>
              </a:srgbClr>
            </a:solidFill>
            <a:prstDash val="solid"/>
            <a:headEnd type="none"/>
            <a:tailEnd type="none"/>
          </a:ln>
        </p:spPr>
      </p:sp>
      <p:sp>
        <p:nvSpPr>
          <p:cNvPr id="14" name="TextBox 14"/>
          <p:cNvSpPr txBox="1"/>
          <p:nvPr/>
        </p:nvSpPr>
        <p:spPr>
          <a:xfrm>
            <a:off x="771332" y="4020146"/>
            <a:ext cx="4932717"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字段标准化处理</a:t>
            </a:r>
            <a:endParaRPr lang="en-US" sz="1100"/>
          </a:p>
        </p:txBody>
      </p:sp>
      <p:sp>
        <p:nvSpPr>
          <p:cNvPr id="15" name="TextBox 15"/>
          <p:cNvSpPr txBox="1"/>
          <p:nvPr/>
        </p:nvSpPr>
        <p:spPr>
          <a:xfrm>
            <a:off x="771332" y="4301133"/>
            <a:ext cx="5132691"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统一时间格式（UTC/本地时间转换）、空间坐标（WGS84标准化）、灾害类型分类体</a:t>
            </a:r>
            <a:endParaRPr lang="en-US" sz="1100"/>
          </a:p>
          <a:p>
            <a:pPr algn="l"/>
            <a:r>
              <a:rPr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系，确保语义一致性与跨源可比性</a:t>
            </a:r>
            <a:endParaRPr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6" name="AutoShape 16"/>
          <p:cNvSpPr/>
          <p:nvPr/>
        </p:nvSpPr>
        <p:spPr>
          <a:xfrm>
            <a:off x="457086" y="5051524"/>
            <a:ext cx="5446937" cy="1117103"/>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457086" y="5051524"/>
            <a:ext cx="5446937" cy="9525"/>
          </a:xfrm>
          <a:prstGeom prst="line">
            <a:avLst/>
          </a:prstGeom>
          <a:ln w="28575">
            <a:solidFill>
              <a:srgbClr val="5B8CB8">
                <a:alpha val="100000"/>
              </a:srgbClr>
            </a:solidFill>
            <a:prstDash val="solid"/>
            <a:headEnd type="none"/>
            <a:tailEnd type="none"/>
          </a:ln>
        </p:spPr>
      </p:sp>
      <p:sp>
        <p:nvSpPr>
          <p:cNvPr id="18" name="TextBox 18"/>
          <p:cNvSpPr txBox="1"/>
          <p:nvPr/>
        </p:nvSpPr>
        <p:spPr>
          <a:xfrm>
            <a:off x="771332" y="5289649"/>
            <a:ext cx="4932717"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自动兼容缺失数据机制</a:t>
            </a:r>
            <a:endParaRPr lang="en-US" sz="1100"/>
          </a:p>
        </p:txBody>
      </p:sp>
      <p:sp>
        <p:nvSpPr>
          <p:cNvPr id="19" name="TextBox 19"/>
          <p:cNvSpPr txBox="1"/>
          <p:nvPr/>
        </p:nvSpPr>
        <p:spPr>
          <a:xfrm>
            <a:off x="771332" y="5570637"/>
            <a:ext cx="5132691"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通过source=SIMULATED_FALLBACK与is_simulated=1标记模拟数据，确保系统连</a:t>
            </a:r>
            <a:endParaRPr lang="en-US" sz="1100"/>
          </a:p>
          <a:p>
            <a:pPr algn="l"/>
            <a:r>
              <a:rPr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续运行与结构一致性，同时保证数据可追溯性</a:t>
            </a:r>
            <a:endParaRPr sz="10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0" name="AutoShape 20"/>
          <p:cNvSpPr/>
          <p:nvPr/>
        </p:nvSpPr>
        <p:spPr>
          <a:xfrm>
            <a:off x="6284928" y="2512516"/>
            <a:ext cx="5446937" cy="3888284"/>
          </a:xfrm>
          <a:prstGeom prst="rect">
            <a:avLst/>
          </a:prstGeom>
          <a:solidFill>
            <a:srgbClr val="E8EBEF">
              <a:alpha val="100000"/>
            </a:srgbClr>
          </a:solidFill>
          <a:ln w="9525">
            <a:solidFill>
              <a:srgbClr val="C5CDD6">
                <a:alpha val="100000"/>
              </a:srgbClr>
            </a:solidFill>
            <a:prstDash val="solid"/>
            <a:headEnd type="none"/>
            <a:tailEnd type="none"/>
          </a:ln>
        </p:spPr>
      </p:sp>
      <p:sp>
        <p:nvSpPr>
          <p:cNvPr id="21" name="AutoShape 21"/>
          <p:cNvSpPr/>
          <p:nvPr/>
        </p:nvSpPr>
        <p:spPr>
          <a:xfrm>
            <a:off x="6284928" y="2512516"/>
            <a:ext cx="5446937" cy="9525"/>
          </a:xfrm>
          <a:prstGeom prst="line">
            <a:avLst/>
          </a:prstGeom>
          <a:ln w="28575">
            <a:solidFill>
              <a:srgbClr val="5B8CB8">
                <a:alpha val="100000"/>
              </a:srgbClr>
            </a:solidFill>
            <a:prstDash val="solid"/>
            <a:headEnd type="none"/>
            <a:tailEnd type="none"/>
          </a:ln>
        </p:spPr>
      </p:sp>
      <p:sp>
        <p:nvSpPr>
          <p:cNvPr id="22" name="TextBox 22"/>
          <p:cNvSpPr txBox="1"/>
          <p:nvPr/>
        </p:nvSpPr>
        <p:spPr>
          <a:xfrm>
            <a:off x="6484903" y="2760166"/>
            <a:ext cx="5046988" cy="190500"/>
          </a:xfrm>
          <a:prstGeom prst="rect">
            <a:avLst/>
          </a:prstGeom>
          <a:ln>
            <a:headEnd type="none"/>
            <a:tailEnd type="none"/>
          </a:ln>
        </p:spPr>
        <p:txBody>
          <a:bodyPr vert="horz" wrap="square" lIns="0" tIns="0" rIns="0" bIns="0" rtlCol="0" anchor="t" anchorCtr="0"/>
          <a:lstStyle/>
          <a:p>
            <a:pPr algn="l">
              <a:defRPr/>
            </a:pPr>
            <a:r>
              <a:rPr lang="en-US" sz="13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核心数据表结构说明</a:t>
            </a:r>
            <a:endParaRPr lang="en-US" sz="1100"/>
          </a:p>
        </p:txBody>
      </p:sp>
      <p:graphicFrame>
        <p:nvGraphicFramePr>
          <p:cNvPr id="23" name="Table 23"/>
          <p:cNvGraphicFramePr>
            <a:graphicFrameLocks noGrp="1"/>
          </p:cNvGraphicFramePr>
          <p:nvPr/>
        </p:nvGraphicFramePr>
        <p:xfrm>
          <a:off x="6484903" y="3141166"/>
          <a:ext cx="5046988" cy="2314575"/>
        </p:xfrm>
        <a:graphic>
          <a:graphicData uri="http://schemas.openxmlformats.org/drawingml/2006/table">
            <a:tbl>
              <a:tblPr/>
              <a:tblGrid>
                <a:gridCol w="1765300"/>
                <a:gridCol w="2006600"/>
                <a:gridCol w="1257300"/>
              </a:tblGrid>
              <a:tr h="393700">
                <a:tc>
                  <a:txBody>
                    <a:bodyPr rot="0" wrap="square"/>
                    <a:p>
                      <a:pPr algn="l">
                        <a:defRPr sz="1100" b="1" i="0" strike="noStrike">
                          <a:solidFill>
                            <a:srgbClr val="0A1F3D">
                              <a:alpha val="100000"/>
                            </a:srgbClr>
                          </a:solidFill>
                          <a:latin typeface="&quot;FZYaYiHei GB18030L2 R&quot;, sans-serif"/>
                          <a:ea typeface="&quot;FZYaYiHei GB18030L2 R&quot;, sans-serif"/>
                          <a:cs typeface="&quot;FZYaYiHei GB18030L2 R&quot;, sans-serif"/>
                        </a:defRPr>
                      </a:pPr>
                      <a:r>
                        <a:rPr sz="1100" b="1" i="0" strike="noStrike">
                          <a:solidFill>
                            <a:srgbClr val="0A1F3D">
                              <a:alpha val="100000"/>
                            </a:srgbClr>
                          </a:solidFill>
                          <a:latin typeface="&quot;FZYaYiHei GB18030L2 R&quot;, sans-serif"/>
                          <a:ea typeface="&quot;FZYaYiHei GB18030L2 R&quot;, sans-serif"/>
                          <a:cs typeface="&quot;FZYaYiHei GB18030L2 R&quot;, sans-serif"/>
                        </a:rPr>
                        <a:t>数据表名称</a:t>
                      </a:r>
                      <a:endParaRPr sz="1100" b="1"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95250" marB="9525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100" b="1" i="0" strike="noStrike">
                          <a:solidFill>
                            <a:srgbClr val="0A1F3D">
                              <a:alpha val="100000"/>
                            </a:srgbClr>
                          </a:solidFill>
                          <a:latin typeface="&quot;FZYaYiHei GB18030L2 R&quot;, sans-serif"/>
                          <a:ea typeface="&quot;FZYaYiHei GB18030L2 R&quot;, sans-serif"/>
                          <a:cs typeface="&quot;FZYaYiHei GB18030L2 R&quot;, sans-serif"/>
                        </a:defRPr>
                      </a:pPr>
                      <a:r>
                        <a:rPr sz="1100" b="1" i="0" strike="noStrike">
                          <a:solidFill>
                            <a:srgbClr val="0A1F3D">
                              <a:alpha val="100000"/>
                            </a:srgbClr>
                          </a:solidFill>
                          <a:latin typeface="&quot;FZYaYiHei GB18030L2 R&quot;, sans-serif"/>
                          <a:ea typeface="&quot;FZYaYiHei GB18030L2 R&quot;, sans-serif"/>
                          <a:cs typeface="&quot;FZYaYiHei GB18030L2 R&quot;, sans-serif"/>
                        </a:rPr>
                        <a:t>功能描述</a:t>
                      </a:r>
                      <a:endParaRPr sz="1100" b="1"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95250" marB="9525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100" b="1" i="0" strike="noStrike">
                          <a:solidFill>
                            <a:srgbClr val="0A1F3D">
                              <a:alpha val="100000"/>
                            </a:srgbClr>
                          </a:solidFill>
                          <a:latin typeface="&quot;FZYaYiHei GB18030L2 R&quot;, sans-serif"/>
                          <a:ea typeface="&quot;FZYaYiHei GB18030L2 R&quot;, sans-serif"/>
                          <a:cs typeface="&quot;FZYaYiHei GB18030L2 R&quot;, sans-serif"/>
                        </a:defRPr>
                      </a:pPr>
                      <a:r>
                        <a:rPr sz="1100" b="1" i="0" strike="noStrike">
                          <a:solidFill>
                            <a:srgbClr val="0A1F3D">
                              <a:alpha val="100000"/>
                            </a:srgbClr>
                          </a:solidFill>
                          <a:latin typeface="&quot;FZYaYiHei GB18030L2 R&quot;, sans-serif"/>
                          <a:ea typeface="&quot;FZYaYiHei GB18030L2 R&quot;, sans-serif"/>
                          <a:cs typeface="&quot;FZYaYiHei GB18030L2 R&quot;, sans-serif"/>
                        </a:rPr>
                        <a:t>数据来源</a:t>
                      </a:r>
                      <a:endParaRPr sz="1100" b="1"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95250" marB="9525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r>
              <a:tr h="635000">
                <a:tc>
                  <a:txBody>
                    <a:bodyPr rot="0" wrap="square"/>
                    <a:p>
                      <a:pPr algn="l">
                        <a:defRPr sz="1000" b="0" i="0" strike="noStrike">
                          <a:solidFill>
                            <a:srgbClr val="0A1F3D">
                              <a:alpha val="100000"/>
                            </a:srgbClr>
                          </a:solidFill>
                          <a:latin typeface="&quot;Open Sans&quot;, sans-serif"/>
                          <a:ea typeface="&quot;Open Sans&quot;, sans-serif"/>
                          <a:cs typeface="&quot;Open Sans&quot;, sans-serif"/>
                        </a:defRPr>
                      </a:pPr>
                      <a:r>
                        <a:rPr sz="1000" b="0" i="0" strike="noStrike">
                          <a:solidFill>
                            <a:srgbClr val="0A1F3D">
                              <a:alpha val="100000"/>
                            </a:srgbClr>
                          </a:solidFill>
                          <a:latin typeface="&quot;Open Sans&quot;, sans-serif"/>
                          <a:ea typeface="&quot;Open Sans&quot;, sans-serif"/>
                          <a:cs typeface="&quot;Open Sans&quot;, sans-serif"/>
                        </a:rPr>
                        <a:t>unified_hazard_events</a:t>
                      </a:r>
                      <a:endParaRPr sz="1000" b="0" i="0" strike="noStrike">
                        <a:solidFill>
                          <a:srgbClr val="0A1F3D">
                            <a:alpha val="100000"/>
                          </a:srgbClr>
                        </a:solidFill>
                        <a:latin typeface="&quot;Open Sans&quot;, sans-serif"/>
                        <a:ea typeface="&quot;Open Sans&quot;, sans-serif"/>
                        <a:cs typeface="&quot;Open Sans&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100" b="0" i="0" strike="noStrike">
                          <a:solidFill>
                            <a:srgbClr val="0A1F3D">
                              <a:alpha val="100000"/>
                            </a:srgbClr>
                          </a:solidFill>
                          <a:latin typeface="&quot;FZYaYiHei GB18030L2 R&quot;, sans-serif"/>
                          <a:ea typeface="&quot;FZYaYiHei GB18030L2 R&quot;, sans-serif"/>
                          <a:cs typeface="&quot;FZYaYiHei GB18030L2 R&quot;, sans-serif"/>
                        </a:defRPr>
                      </a:pPr>
                      <a:r>
                        <a:rPr sz="1100" b="0" i="0" strike="noStrike">
                          <a:solidFill>
                            <a:srgbClr val="0A1F3D">
                              <a:alpha val="100000"/>
                            </a:srgbClr>
                          </a:solidFill>
                          <a:latin typeface="&quot;FZYaYiHei GB18030L2 R&quot;, sans-serif"/>
                          <a:ea typeface="&quot;FZYaYiHei GB18030L2 R&quot;, sans-serif"/>
                          <a:cs typeface="&quot;FZYaYiHei GB18030L2 R&quot;, sans-serif"/>
                        </a:rPr>
                        <a:t>标准化存储灾害事件信息，统一 字段定义与编码规范</a:t>
                      </a:r>
                      <a:endParaRPr sz="11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NOAA、USGS、 FEMA</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r>
              <a:tr h="635000">
                <a:tc>
                  <a:txBody>
                    <a:bodyPr rot="0" wrap="square"/>
                    <a:p>
                      <a:pPr algn="l">
                        <a:defRPr sz="1000" b="0" i="0" strike="noStrike">
                          <a:solidFill>
                            <a:srgbClr val="0A1F3D">
                              <a:alpha val="100000"/>
                            </a:srgbClr>
                          </a:solidFill>
                          <a:latin typeface="&quot;Open Sans&quot;, sans-serif"/>
                          <a:ea typeface="&quot;Open Sans&quot;, sans-serif"/>
                          <a:cs typeface="&quot;Open Sans&quot;, sans-serif"/>
                        </a:defRPr>
                      </a:pPr>
                      <a:r>
                        <a:rPr sz="1000" b="0" i="0" strike="noStrike">
                          <a:solidFill>
                            <a:srgbClr val="0A1F3D">
                              <a:alpha val="100000"/>
                            </a:srgbClr>
                          </a:solidFill>
                          <a:latin typeface="&quot;Open Sans&quot;, sans-serif"/>
                          <a:ea typeface="&quot;Open Sans&quot;, sans-serif"/>
                          <a:cs typeface="&quot;Open Sans&quot;, sans-serif"/>
                        </a:rPr>
                        <a:t>unified_monitoring_daily</a:t>
                      </a:r>
                      <a:endParaRPr sz="1000" b="0" i="0" strike="noStrike">
                        <a:solidFill>
                          <a:srgbClr val="0A1F3D">
                            <a:alpha val="100000"/>
                          </a:srgbClr>
                        </a:solidFill>
                        <a:latin typeface="&quot;Open Sans&quot;, sans-serif"/>
                        <a:ea typeface="&quot;Open Sans&quot;, sans-serif"/>
                        <a:cs typeface="&quot;Open Sans&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100" b="0" i="0" strike="noStrike">
                          <a:solidFill>
                            <a:srgbClr val="0A1F3D">
                              <a:alpha val="100000"/>
                            </a:srgbClr>
                          </a:solidFill>
                          <a:latin typeface="&quot;FZYaYiHei GB18030L2 R&quot;, sans-serif"/>
                          <a:ea typeface="&quot;FZYaYiHei GB18030L2 R&quot;, sans-serif"/>
                          <a:cs typeface="&quot;FZYaYiHei GB18030L2 R&quot;, sans-serif"/>
                        </a:defRPr>
                      </a:pPr>
                      <a:r>
                        <a:rPr sz="1100" b="0" i="0" strike="noStrike">
                          <a:solidFill>
                            <a:srgbClr val="0A1F3D">
                              <a:alpha val="100000"/>
                            </a:srgbClr>
                          </a:solidFill>
                          <a:latin typeface="&quot;FZYaYiHei GB18030L2 R&quot;, sans-serif"/>
                          <a:ea typeface="&quot;FZYaYiHei GB18030L2 R&quot;, sans-serif"/>
                          <a:cs typeface="&quot;FZYaYiHei GB18030L2 R&quot;, sans-serif"/>
                        </a:rPr>
                        <a:t>整合日常监测数据，实现时间序 列对齐与质量校验</a:t>
                      </a:r>
                      <a:endParaRPr sz="11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气象站、地震台网</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r>
              <a:tr h="622300">
                <a:tc>
                  <a:txBody>
                    <a:bodyPr rot="0" wrap="square"/>
                    <a:p>
                      <a:pPr algn="l">
                        <a:defRPr sz="1000" b="0" i="0" strike="noStrike">
                          <a:solidFill>
                            <a:srgbClr val="0A1F3D">
                              <a:alpha val="100000"/>
                            </a:srgbClr>
                          </a:solidFill>
                          <a:latin typeface="&quot;Open Sans&quot;, sans-serif"/>
                          <a:ea typeface="&quot;Open Sans&quot;, sans-serif"/>
                          <a:cs typeface="&quot;Open Sans&quot;, sans-serif"/>
                        </a:defRPr>
                      </a:pPr>
                      <a:r>
                        <a:rPr sz="1000" b="0" i="0" strike="noStrike">
                          <a:solidFill>
                            <a:srgbClr val="0A1F3D">
                              <a:alpha val="100000"/>
                            </a:srgbClr>
                          </a:solidFill>
                          <a:latin typeface="&quot;Open Sans&quot;, sans-serif"/>
                          <a:ea typeface="&quot;Open Sans&quot;, sans-serif"/>
                          <a:cs typeface="&quot;Open Sans&quot;, sans-serif"/>
                        </a:rPr>
                        <a:t>unified_resource_points</a:t>
                      </a:r>
                      <a:endParaRPr sz="1000" b="0" i="0" strike="noStrike">
                        <a:solidFill>
                          <a:srgbClr val="0A1F3D">
                            <a:alpha val="100000"/>
                          </a:srgbClr>
                        </a:solidFill>
                        <a:latin typeface="&quot;Open Sans&quot;, sans-serif"/>
                        <a:ea typeface="&quot;Open Sans&quot;, sans-serif"/>
                        <a:cs typeface="&quot;Open Sans&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100" b="0" i="0" strike="noStrike">
                          <a:solidFill>
                            <a:srgbClr val="0A1F3D">
                              <a:alpha val="100000"/>
                            </a:srgbClr>
                          </a:solidFill>
                          <a:latin typeface="&quot;FZYaYiHei GB18030L2 R&quot;, sans-serif"/>
                          <a:ea typeface="&quot;FZYaYiHei GB18030L2 R&quot;, sans-serif"/>
                          <a:cs typeface="&quot;FZYaYiHei GB18030L2 R&quot;, sans-serif"/>
                        </a:defRPr>
                      </a:pPr>
                      <a:r>
                        <a:rPr sz="1100" b="0" i="0" strike="noStrike">
                          <a:solidFill>
                            <a:srgbClr val="0A1F3D">
                              <a:alpha val="100000"/>
                            </a:srgbClr>
                          </a:solidFill>
                          <a:latin typeface="&quot;FZYaYiHei GB18030L2 R&quot;, sans-serif"/>
                          <a:ea typeface="&quot;FZYaYiHei GB18030L2 R&quot;, sans-serif"/>
                          <a:cs typeface="&quot;FZYaYiHei GB18030L2 R&quot;, sans-serif"/>
                        </a:rPr>
                        <a:t>归集应急资源分布信息，统一空 间坐标系</a:t>
                      </a:r>
                      <a:endParaRPr sz="11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U.S. Census Bureau</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76200" marR="76200" marT="114300" marB="114300" vert="horz" anchor="ctr" anchorCtr="0">
                    <a:lnL w="25400">
                      <a:solidFill>
                        <a:srgbClr val="C5CDD6">
                          <a:alpha val="100000"/>
                        </a:srgbClr>
                      </a:solidFill>
                    </a:lnL>
                    <a:lnR w="25400">
                      <a:solidFill>
                        <a:srgbClr val="C5CDD6">
                          <a:alpha val="100000"/>
                        </a:srgbClr>
                      </a:solidFill>
                    </a:lnR>
                    <a:lnT w="25400">
                      <a:solidFill>
                        <a:srgbClr val="C5CDD6">
                          <a:alpha val="100000"/>
                        </a:srgbClr>
                      </a:solidFill>
                    </a:lnT>
                    <a:lnB w="25400">
                      <a:solidFill>
                        <a:srgbClr val="C5CDD6">
                          <a:alpha val="100000"/>
                        </a:srgbClr>
                      </a:solidFill>
                    </a:lnB>
                  </a:tcPr>
                </a:tc>
              </a:tr>
            </a:tbl>
          </a:graphicData>
        </a:graphic>
      </p:graphicFrame>
      <p:sp>
        <p:nvSpPr>
          <p:cNvPr id="24" name="AutoShape 24"/>
          <p:cNvSpPr/>
          <p:nvPr/>
        </p:nvSpPr>
        <p:spPr>
          <a:xfrm>
            <a:off x="6484903" y="5570041"/>
            <a:ext cx="5046988" cy="9525"/>
          </a:xfrm>
          <a:prstGeom prst="line">
            <a:avLst/>
          </a:prstGeom>
          <a:ln w="9525">
            <a:solidFill>
              <a:srgbClr val="C5CDD6">
                <a:alpha val="60000"/>
              </a:srgbClr>
            </a:solidFill>
            <a:prstDash val="solid"/>
            <a:headEnd type="none"/>
            <a:tailEnd type="none"/>
          </a:ln>
        </p:spPr>
      </p:sp>
      <p:sp>
        <p:nvSpPr>
          <p:cNvPr id="25" name="TextBox 25"/>
          <p:cNvSpPr txBox="1"/>
          <p:nvPr/>
        </p:nvSpPr>
        <p:spPr>
          <a:xfrm>
            <a:off x="6484903" y="5712916"/>
            <a:ext cx="5046988"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三张核心数据表覆盖灾害事件、监测数据、资源分布三大领域，构建标准化分析基础</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PROTOTYPE &amp; MODEL</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平台原型功能与AI风险评分模型</a:t>
            </a:r>
            <a:endParaRPr lang="en-US" sz="1100"/>
          </a:p>
        </p:txBody>
      </p:sp>
      <p:sp>
        <p:nvSpPr>
          <p:cNvPr id="5" name="TextBox 5"/>
          <p:cNvSpPr txBox="1"/>
          <p:nvPr/>
        </p:nvSpPr>
        <p:spPr>
          <a:xfrm>
            <a:off x="457086" y="1504950"/>
            <a:ext cx="11731866" cy="464791"/>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平台原型基于Streamlit构建，提供首页KPI总览、多源数据展示、风险/预警/资源调度可视化及自动报告生成功能；AI风险评分采用加权模型综</a:t>
            </a:r>
            <a:endParaRPr lang="en-US" sz="1100"/>
          </a:p>
          <a:p>
            <a:pPr algn="l"/>
            <a:r>
              <a:rPr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合计算灾害强度、脆弱性与资源缺口，输出可解释的红橙黄绿风险等级。</a:t>
            </a:r>
            <a:endParaRPr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3270648"/>
            <a:ext cx="11274781" cy="9525"/>
          </a:xfrm>
          <a:prstGeom prst="line">
            <a:avLst/>
          </a:prstGeom>
          <a:ln w="9525">
            <a:solidFill>
              <a:srgbClr val="C5CDD6">
                <a:alpha val="100000"/>
              </a:srgbClr>
            </a:solidFill>
            <a:prstDash val="solid"/>
            <a:headEnd type="none"/>
            <a:tailEnd type="none"/>
          </a:ln>
        </p:spPr>
      </p:sp>
      <p:sp>
        <p:nvSpPr>
          <p:cNvPr id="7" name="TextBox 7"/>
          <p:cNvSpPr txBox="1"/>
          <p:nvPr/>
        </p:nvSpPr>
        <p:spPr>
          <a:xfrm>
            <a:off x="457086" y="2529780"/>
            <a:ext cx="266633"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80000"/>
                  </a:srgbClr>
                </a:solidFill>
                <a:latin typeface="Open Sans" panose="020B0606030504020204"/>
                <a:ea typeface="Open Sans" panose="020B0606030504020204"/>
                <a:cs typeface="Open Sans" panose="020B0606030504020204"/>
              </a:rPr>
              <a:t>01</a:t>
            </a:r>
            <a:endParaRPr lang="en-US" sz="1100"/>
          </a:p>
        </p:txBody>
      </p:sp>
      <p:sp>
        <p:nvSpPr>
          <p:cNvPr id="8" name="TextBox 8"/>
          <p:cNvSpPr txBox="1"/>
          <p:nvPr/>
        </p:nvSpPr>
        <p:spPr>
          <a:xfrm>
            <a:off x="876080" y="2529780"/>
            <a:ext cx="10855785" cy="20002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可视化平台总览模块</a:t>
            </a:r>
            <a:endParaRPr lang="en-US" sz="1100"/>
          </a:p>
        </p:txBody>
      </p:sp>
      <p:sp>
        <p:nvSpPr>
          <p:cNvPr id="9" name="TextBox 9"/>
          <p:cNvSpPr txBox="1"/>
          <p:nvPr/>
        </p:nvSpPr>
        <p:spPr>
          <a:xfrm>
            <a:off x="876080" y="2868811"/>
            <a:ext cx="10855785"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集成KPI指标与流程图，提供全局态势感知与快速导航入口，支持多源异构数据的统一查询与可视化呈现</a:t>
            </a:r>
            <a:endParaRPr lang="en-US" sz="1100"/>
          </a:p>
        </p:txBody>
      </p:sp>
      <p:sp>
        <p:nvSpPr>
          <p:cNvPr id="10" name="AutoShape 10"/>
          <p:cNvSpPr/>
          <p:nvPr/>
        </p:nvSpPr>
        <p:spPr>
          <a:xfrm>
            <a:off x="457086" y="4421088"/>
            <a:ext cx="11274781" cy="9525"/>
          </a:xfrm>
          <a:prstGeom prst="line">
            <a:avLst/>
          </a:prstGeom>
          <a:ln w="9525">
            <a:solidFill>
              <a:srgbClr val="C5CDD6">
                <a:alpha val="100000"/>
              </a:srgbClr>
            </a:solidFill>
            <a:prstDash val="solid"/>
            <a:headEnd type="none"/>
            <a:tailEnd type="none"/>
          </a:ln>
        </p:spPr>
      </p:sp>
      <p:sp>
        <p:nvSpPr>
          <p:cNvPr id="11" name="TextBox 11"/>
          <p:cNvSpPr txBox="1"/>
          <p:nvPr/>
        </p:nvSpPr>
        <p:spPr>
          <a:xfrm>
            <a:off x="457086" y="3680223"/>
            <a:ext cx="266633"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80000"/>
                  </a:srgbClr>
                </a:solidFill>
                <a:latin typeface="Open Sans" panose="020B0606030504020204"/>
                <a:ea typeface="Open Sans" panose="020B0606030504020204"/>
                <a:cs typeface="Open Sans" panose="020B0606030504020204"/>
              </a:rPr>
              <a:t>02</a:t>
            </a:r>
            <a:endParaRPr lang="en-US" sz="1100"/>
          </a:p>
        </p:txBody>
      </p:sp>
      <p:sp>
        <p:nvSpPr>
          <p:cNvPr id="12" name="TextBox 12"/>
          <p:cNvSpPr txBox="1"/>
          <p:nvPr/>
        </p:nvSpPr>
        <p:spPr>
          <a:xfrm>
            <a:off x="876080" y="3680223"/>
            <a:ext cx="10855785" cy="20002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风险预警与资源调度模块</a:t>
            </a:r>
            <a:endParaRPr lang="en-US" sz="1100"/>
          </a:p>
        </p:txBody>
      </p:sp>
      <p:sp>
        <p:nvSpPr>
          <p:cNvPr id="13" name="TextBox 13"/>
          <p:cNvSpPr txBox="1"/>
          <p:nvPr/>
        </p:nvSpPr>
        <p:spPr>
          <a:xfrm>
            <a:off x="876080" y="4019253"/>
            <a:ext cx="10855785"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提供交互式图表与地图展示，支持自动报告生成与导出，为决策提供直观的数据支撑</a:t>
            </a:r>
            <a:endParaRPr lang="en-US" sz="1100"/>
          </a:p>
        </p:txBody>
      </p:sp>
      <p:sp>
        <p:nvSpPr>
          <p:cNvPr id="14" name="AutoShape 14"/>
          <p:cNvSpPr/>
          <p:nvPr/>
        </p:nvSpPr>
        <p:spPr>
          <a:xfrm>
            <a:off x="457086" y="5571529"/>
            <a:ext cx="11274781"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457086" y="4830663"/>
            <a:ext cx="266633"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80000"/>
                  </a:srgbClr>
                </a:solidFill>
                <a:latin typeface="Open Sans" panose="020B0606030504020204"/>
                <a:ea typeface="Open Sans" panose="020B0606030504020204"/>
                <a:cs typeface="Open Sans" panose="020B0606030504020204"/>
              </a:rPr>
              <a:t>03</a:t>
            </a:r>
            <a:endParaRPr lang="en-US" sz="1100"/>
          </a:p>
        </p:txBody>
      </p:sp>
      <p:sp>
        <p:nvSpPr>
          <p:cNvPr id="16" name="TextBox 16"/>
          <p:cNvSpPr txBox="1"/>
          <p:nvPr/>
        </p:nvSpPr>
        <p:spPr>
          <a:xfrm>
            <a:off x="876080" y="4830663"/>
            <a:ext cx="10855785" cy="20002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AI风险评分三维度模型</a:t>
            </a:r>
            <a:endParaRPr lang="en-US" sz="1100"/>
          </a:p>
        </p:txBody>
      </p:sp>
      <p:sp>
        <p:nvSpPr>
          <p:cNvPr id="17" name="TextBox 17"/>
          <p:cNvSpPr txBox="1"/>
          <p:nvPr/>
        </p:nvSpPr>
        <p:spPr>
          <a:xfrm>
            <a:off x="876080" y="5169694"/>
            <a:ext cx="10855785"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基于Hazard灾害强度、Vulnerability脆弱性、Resource Gap资源缺口三维度加权计算，划分Red/Orange/Yellow/Green风险等级</a:t>
            </a:r>
            <a:endParaRPr lang="en-US" sz="1100"/>
          </a:p>
        </p:txBody>
      </p:sp>
      <p:sp>
        <p:nvSpPr>
          <p:cNvPr id="18" name="TextBox 18"/>
          <p:cNvSpPr txBox="1"/>
          <p:nvPr/>
        </p:nvSpPr>
        <p:spPr>
          <a:xfrm>
            <a:off x="457086" y="5981104"/>
            <a:ext cx="266633"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80000"/>
                  </a:srgbClr>
                </a:solidFill>
                <a:latin typeface="Open Sans" panose="020B0606030504020204"/>
                <a:ea typeface="Open Sans" panose="020B0606030504020204"/>
                <a:cs typeface="Open Sans" panose="020B0606030504020204"/>
              </a:rPr>
              <a:t>04</a:t>
            </a:r>
            <a:endParaRPr lang="en-US" sz="1100"/>
          </a:p>
        </p:txBody>
      </p:sp>
      <p:sp>
        <p:nvSpPr>
          <p:cNvPr id="19" name="TextBox 19"/>
          <p:cNvSpPr txBox="1"/>
          <p:nvPr/>
        </p:nvSpPr>
        <p:spPr>
          <a:xfrm>
            <a:off x="876080" y="5981104"/>
            <a:ext cx="10855785" cy="20002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可解释性与快速原型验证</a:t>
            </a:r>
            <a:endParaRPr lang="en-US" sz="1100"/>
          </a:p>
        </p:txBody>
      </p:sp>
      <p:sp>
        <p:nvSpPr>
          <p:cNvPr id="20" name="TextBox 20"/>
          <p:cNvSpPr txBox="1"/>
          <p:nvPr/>
        </p:nvSpPr>
        <p:spPr>
          <a:xfrm>
            <a:off x="876080" y="6320135"/>
            <a:ext cx="10855785"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模型具备完全可解释性，计算过程透明轻量，适合应急场景下的快速原型验证与迭代，在可解释性与计算效率间取得平衡</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AI ANALYSIS CAPABILITIES</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AI分析能力：异常检测与资源调度</a:t>
            </a:r>
            <a:endParaRPr lang="en-US" sz="1100"/>
          </a:p>
        </p:txBody>
      </p:sp>
      <p:sp>
        <p:nvSpPr>
          <p:cNvPr id="5" name="TextBox 5"/>
          <p:cNvSpPr txBox="1"/>
          <p:nvPr/>
        </p:nvSpPr>
        <p:spPr>
          <a:xfrm>
            <a:off x="457086" y="1514475"/>
            <a:ext cx="11731866" cy="481905"/>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异常检测模块基于Z-score统计学方法对监测数据计算均值与标准差，自动识别偏离正常范围的异常值并生成预警等级；资源调度采用规则匹配</a:t>
            </a:r>
            <a:endParaRPr lang="en-US" sz="1100"/>
          </a:p>
          <a:p>
            <a:pPr algn="l"/>
            <a:r>
              <a:rPr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算法筛选最近医院与消防资源，通过简化距离模拟输出调度建议，为应急响应提供初步决策支持。</a:t>
            </a:r>
            <a:endParaRPr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TextBox 6"/>
          <p:cNvSpPr txBox="1"/>
          <p:nvPr/>
        </p:nvSpPr>
        <p:spPr>
          <a:xfrm>
            <a:off x="571358" y="2363986"/>
            <a:ext cx="1314121"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异常检测机制</a:t>
            </a:r>
            <a:endParaRPr lang="en-US" sz="1100"/>
          </a:p>
        </p:txBody>
      </p:sp>
      <p:sp>
        <p:nvSpPr>
          <p:cNvPr id="7" name="TextBox 7"/>
          <p:cNvSpPr txBox="1"/>
          <p:nvPr/>
        </p:nvSpPr>
        <p:spPr>
          <a:xfrm>
            <a:off x="761810" y="2817316"/>
            <a:ext cx="186435"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100000"/>
                  </a:srgbClr>
                </a:solidFill>
                <a:latin typeface="FZYaYiHei GB18030L2 R" panose="02000500000000000000" charset="-122"/>
                <a:ea typeface="FZYaYiHei GB18030L2 R" panose="02000500000000000000" charset="-122"/>
                <a:cs typeface="FZYaYiHei GB18030L2 R" panose="02000500000000000000" charset="-122"/>
              </a:rPr>
              <a:t>01</a:t>
            </a:r>
            <a:endParaRPr lang="en-US" sz="1100"/>
          </a:p>
        </p:txBody>
      </p:sp>
      <p:sp>
        <p:nvSpPr>
          <p:cNvPr id="8" name="TextBox 8"/>
          <p:cNvSpPr txBox="1"/>
          <p:nvPr/>
        </p:nvSpPr>
        <p:spPr>
          <a:xfrm>
            <a:off x="1024425" y="2826841"/>
            <a:ext cx="6742015"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基于历史监测数据计算动态均值与标准差，建立正常波动范围的统计基准，为异常识别提供量化依据</a:t>
            </a:r>
            <a:endParaRPr lang="en-US" sz="1100"/>
          </a:p>
        </p:txBody>
      </p:sp>
      <p:sp>
        <p:nvSpPr>
          <p:cNvPr id="9" name="TextBox 9"/>
          <p:cNvSpPr txBox="1"/>
          <p:nvPr/>
        </p:nvSpPr>
        <p:spPr>
          <a:xfrm>
            <a:off x="761810" y="3190578"/>
            <a:ext cx="186435"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100000"/>
                  </a:srgbClr>
                </a:solidFill>
                <a:latin typeface="FZYaYiHei GB18030L2 R" panose="02000500000000000000" charset="-122"/>
                <a:ea typeface="FZYaYiHei GB18030L2 R" panose="02000500000000000000" charset="-122"/>
                <a:cs typeface="FZYaYiHei GB18030L2 R" panose="02000500000000000000" charset="-122"/>
              </a:rPr>
              <a:t>02</a:t>
            </a:r>
            <a:endParaRPr lang="en-US" sz="1100"/>
          </a:p>
        </p:txBody>
      </p:sp>
      <p:sp>
        <p:nvSpPr>
          <p:cNvPr id="10" name="TextBox 10"/>
          <p:cNvSpPr txBox="1"/>
          <p:nvPr/>
        </p:nvSpPr>
        <p:spPr>
          <a:xfrm>
            <a:off x="1024425" y="3200103"/>
            <a:ext cx="7258468"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采用Z-score方法量化当前数据点偏离程度，识别超出置信区间的异常值，并根据异常程度自动生成预警等级</a:t>
            </a:r>
            <a:endParaRPr lang="en-US" sz="1100"/>
          </a:p>
        </p:txBody>
      </p:sp>
      <p:sp>
        <p:nvSpPr>
          <p:cNvPr id="11" name="TextBox 11"/>
          <p:cNvSpPr txBox="1"/>
          <p:nvPr/>
        </p:nvSpPr>
        <p:spPr>
          <a:xfrm>
            <a:off x="571358" y="3725763"/>
            <a:ext cx="1314121"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资源调度逻辑</a:t>
            </a:r>
            <a:endParaRPr lang="en-US" sz="1100"/>
          </a:p>
        </p:txBody>
      </p:sp>
      <p:sp>
        <p:nvSpPr>
          <p:cNvPr id="12" name="TextBox 12"/>
          <p:cNvSpPr txBox="1"/>
          <p:nvPr/>
        </p:nvSpPr>
        <p:spPr>
          <a:xfrm>
            <a:off x="761810" y="4179094"/>
            <a:ext cx="186435"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100000"/>
                  </a:srgbClr>
                </a:solidFill>
                <a:latin typeface="FZYaYiHei GB18030L2 R" panose="02000500000000000000" charset="-122"/>
                <a:ea typeface="FZYaYiHei GB18030L2 R" panose="02000500000000000000" charset="-122"/>
                <a:cs typeface="FZYaYiHei GB18030L2 R" panose="02000500000000000000" charset="-122"/>
              </a:rPr>
              <a:t>01</a:t>
            </a:r>
            <a:endParaRPr lang="en-US" sz="1100"/>
          </a:p>
        </p:txBody>
      </p:sp>
      <p:sp>
        <p:nvSpPr>
          <p:cNvPr id="13" name="TextBox 13"/>
          <p:cNvSpPr txBox="1"/>
          <p:nvPr/>
        </p:nvSpPr>
        <p:spPr>
          <a:xfrm>
            <a:off x="1024425" y="4188619"/>
            <a:ext cx="6531475"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从unified_resource_points表中智能筛选符合条件的医院、消防等应急资源点位，建立资源候选池</a:t>
            </a:r>
            <a:endParaRPr lang="en-US" sz="1100"/>
          </a:p>
        </p:txBody>
      </p:sp>
      <p:sp>
        <p:nvSpPr>
          <p:cNvPr id="14" name="TextBox 14"/>
          <p:cNvSpPr txBox="1"/>
          <p:nvPr/>
        </p:nvSpPr>
        <p:spPr>
          <a:xfrm>
            <a:off x="761810" y="4552354"/>
            <a:ext cx="186435" cy="15240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5B8CB8">
                    <a:alpha val="100000"/>
                  </a:srgbClr>
                </a:solidFill>
                <a:latin typeface="FZYaYiHei GB18030L2 R" panose="02000500000000000000" charset="-122"/>
                <a:ea typeface="FZYaYiHei GB18030L2 R" panose="02000500000000000000" charset="-122"/>
                <a:cs typeface="FZYaYiHei GB18030L2 R" panose="02000500000000000000" charset="-122"/>
              </a:rPr>
              <a:t>02</a:t>
            </a:r>
            <a:endParaRPr lang="en-US" sz="1100"/>
          </a:p>
        </p:txBody>
      </p:sp>
      <p:sp>
        <p:nvSpPr>
          <p:cNvPr id="15" name="TextBox 15"/>
          <p:cNvSpPr txBox="1"/>
          <p:nvPr/>
        </p:nvSpPr>
        <p:spPr>
          <a:xfrm>
            <a:off x="1024425" y="4561879"/>
            <a:ext cx="8722719"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采用简化距离模拟算法匹配最近资源，计算受灾点与资源点的直线距离，输出包含资源名称、距离、预计到达时间的调度建议清单</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Data Sources &amp; Processing</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数据来源与处理机制</a:t>
            </a:r>
            <a:endParaRPr lang="en-US" sz="1100"/>
          </a:p>
        </p:txBody>
      </p:sp>
      <p:sp>
        <p:nvSpPr>
          <p:cNvPr id="5" name="TextBox 5"/>
          <p:cNvSpPr txBox="1"/>
          <p:nvPr/>
        </p:nvSpPr>
        <p:spPr>
          <a:xfrm>
            <a:off x="457086" y="1504950"/>
            <a:ext cx="11731866" cy="464791"/>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系统优先使用NOAA、USGS、FEMA及U.S. Census Bureau真实数据支撑灾害事件、监测数据、人口脆弱性与资源分布分析；当数据缺失时启动模拟</a:t>
            </a:r>
            <a:endParaRPr lang="en-US" sz="1100"/>
          </a:p>
          <a:p>
            <a:pPr algn="l"/>
            <a:r>
              <a:rPr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兜底机制生成同结构数据并标记确保系统连续稳定运行。</a:t>
            </a:r>
            <a:endParaRPr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2707333"/>
            <a:ext cx="5523120" cy="1519833"/>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2707333"/>
            <a:ext cx="5523120" cy="9525"/>
          </a:xfrm>
          <a:prstGeom prst="line">
            <a:avLst/>
          </a:prstGeom>
          <a:ln w="28575">
            <a:solidFill>
              <a:srgbClr val="5B8CB8">
                <a:alpha val="100000"/>
              </a:srgbClr>
            </a:solidFill>
            <a:prstDash val="solid"/>
            <a:headEnd type="none"/>
            <a:tailEnd type="none"/>
          </a:ln>
        </p:spPr>
      </p:sp>
      <p:sp>
        <p:nvSpPr>
          <p:cNvPr id="8" name="TextBox 8"/>
          <p:cNvSpPr txBox="1"/>
          <p:nvPr/>
        </p:nvSpPr>
        <p:spPr>
          <a:xfrm>
            <a:off x="695151" y="2983558"/>
            <a:ext cx="5046988"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01 权威数据源</a:t>
            </a:r>
            <a:endParaRPr lang="en-US" sz="1100"/>
          </a:p>
        </p:txBody>
      </p:sp>
      <p:sp>
        <p:nvSpPr>
          <p:cNvPr id="9" name="TextBox 9"/>
          <p:cNvSpPr txBox="1"/>
          <p:nvPr/>
        </p:nvSpPr>
        <p:spPr>
          <a:xfrm>
            <a:off x="695151" y="3259783"/>
            <a:ext cx="5285053" cy="6798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NOAA气象数据用于灾害天气监测与预警，提供实时气象要素与极端天气事</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件信息；USGS地质数据支撑地震、地质灾害风险评估，提供地质构造与历</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史灾害分布数据</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0" name="AutoShape 10"/>
          <p:cNvSpPr/>
          <p:nvPr/>
        </p:nvSpPr>
        <p:spPr>
          <a:xfrm>
            <a:off x="6208747" y="2707333"/>
            <a:ext cx="5523120" cy="1519833"/>
          </a:xfrm>
          <a:prstGeom prst="rect">
            <a:avLst/>
          </a:prstGeom>
          <a:solidFill>
            <a:srgbClr val="E8EBEF">
              <a:alpha val="100000"/>
            </a:srgbClr>
          </a:solidFill>
          <a:ln w="9525">
            <a:solidFill>
              <a:srgbClr val="C5CDD6">
                <a:alpha val="100000"/>
              </a:srgbClr>
            </a:solidFill>
            <a:prstDash val="solid"/>
            <a:headEnd type="none"/>
            <a:tailEnd type="none"/>
          </a:ln>
        </p:spPr>
      </p:sp>
      <p:sp>
        <p:nvSpPr>
          <p:cNvPr id="11" name="AutoShape 11"/>
          <p:cNvSpPr/>
          <p:nvPr/>
        </p:nvSpPr>
        <p:spPr>
          <a:xfrm>
            <a:off x="6208747" y="2707333"/>
            <a:ext cx="5523120" cy="9525"/>
          </a:xfrm>
          <a:prstGeom prst="line">
            <a:avLst/>
          </a:prstGeom>
          <a:ln w="28575">
            <a:solidFill>
              <a:srgbClr val="5B8CB8">
                <a:alpha val="100000"/>
              </a:srgbClr>
            </a:solidFill>
            <a:prstDash val="solid"/>
            <a:headEnd type="none"/>
            <a:tailEnd type="none"/>
          </a:ln>
        </p:spPr>
      </p:sp>
      <p:sp>
        <p:nvSpPr>
          <p:cNvPr id="12" name="TextBox 12"/>
          <p:cNvSpPr txBox="1"/>
          <p:nvPr/>
        </p:nvSpPr>
        <p:spPr>
          <a:xfrm>
            <a:off x="6446813" y="2983558"/>
            <a:ext cx="5046988"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02 评估支撑</a:t>
            </a:r>
            <a:endParaRPr lang="en-US" sz="1100"/>
          </a:p>
        </p:txBody>
      </p:sp>
      <p:sp>
        <p:nvSpPr>
          <p:cNvPr id="13" name="TextBox 13"/>
          <p:cNvSpPr txBox="1"/>
          <p:nvPr/>
        </p:nvSpPr>
        <p:spPr>
          <a:xfrm>
            <a:off x="6446813" y="3259783"/>
            <a:ext cx="5285053" cy="42088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FEMA灾害数据用于灾害事件历史分析与损失评估，U.S. Census Bureau人</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口数据支撑脆弱性计算，为风险评分提供人口暴露度指标</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4" name="AutoShape 14"/>
          <p:cNvSpPr/>
          <p:nvPr/>
        </p:nvSpPr>
        <p:spPr>
          <a:xfrm>
            <a:off x="457086" y="4493866"/>
            <a:ext cx="5523120" cy="1519833"/>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AutoShape 15"/>
          <p:cNvSpPr/>
          <p:nvPr/>
        </p:nvSpPr>
        <p:spPr>
          <a:xfrm>
            <a:off x="457086" y="4493866"/>
            <a:ext cx="5523120" cy="9525"/>
          </a:xfrm>
          <a:prstGeom prst="line">
            <a:avLst/>
          </a:prstGeom>
          <a:ln w="28575">
            <a:solidFill>
              <a:srgbClr val="5B8CB8">
                <a:alpha val="100000"/>
              </a:srgbClr>
            </a:solidFill>
            <a:prstDash val="solid"/>
            <a:headEnd type="none"/>
            <a:tailEnd type="none"/>
          </a:ln>
        </p:spPr>
      </p:sp>
      <p:sp>
        <p:nvSpPr>
          <p:cNvPr id="16" name="TextBox 16"/>
          <p:cNvSpPr txBox="1"/>
          <p:nvPr/>
        </p:nvSpPr>
        <p:spPr>
          <a:xfrm>
            <a:off x="695151" y="4770091"/>
            <a:ext cx="5046988"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03 模拟兜底</a:t>
            </a:r>
            <a:endParaRPr lang="en-US" sz="1100"/>
          </a:p>
        </p:txBody>
      </p:sp>
      <p:sp>
        <p:nvSpPr>
          <p:cNvPr id="17" name="TextBox 17"/>
          <p:cNvSpPr txBox="1"/>
          <p:nvPr/>
        </p:nvSpPr>
        <p:spPr>
          <a:xfrm>
            <a:off x="695151" y="5046316"/>
            <a:ext cx="5285053" cy="6798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数据缺失时自动生成同结构模拟数据，标记</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source=SIMULATED_FALLBACK与is_simulated=1确保可追溯，保证系统</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可运行且不影响结构一致性</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8" name="AutoShape 18"/>
          <p:cNvSpPr/>
          <p:nvPr/>
        </p:nvSpPr>
        <p:spPr>
          <a:xfrm>
            <a:off x="6208747" y="4493866"/>
            <a:ext cx="5523120" cy="1519833"/>
          </a:xfrm>
          <a:prstGeom prst="rect">
            <a:avLst/>
          </a:prstGeom>
          <a:solidFill>
            <a:srgbClr val="E8EBEF">
              <a:alpha val="100000"/>
            </a:srgbClr>
          </a:solidFill>
          <a:ln w="9525">
            <a:solidFill>
              <a:srgbClr val="C5CDD6">
                <a:alpha val="100000"/>
              </a:srgbClr>
            </a:solidFill>
            <a:prstDash val="solid"/>
            <a:headEnd type="none"/>
            <a:tailEnd type="none"/>
          </a:ln>
        </p:spPr>
      </p:sp>
      <p:sp>
        <p:nvSpPr>
          <p:cNvPr id="19" name="AutoShape 19"/>
          <p:cNvSpPr/>
          <p:nvPr/>
        </p:nvSpPr>
        <p:spPr>
          <a:xfrm>
            <a:off x="6208747" y="4493866"/>
            <a:ext cx="5523120" cy="9525"/>
          </a:xfrm>
          <a:prstGeom prst="line">
            <a:avLst/>
          </a:prstGeom>
          <a:ln w="28575">
            <a:solidFill>
              <a:srgbClr val="5B8CB8">
                <a:alpha val="100000"/>
              </a:srgbClr>
            </a:solidFill>
            <a:prstDash val="solid"/>
            <a:headEnd type="none"/>
            <a:tailEnd type="none"/>
          </a:ln>
        </p:spPr>
      </p:sp>
      <p:sp>
        <p:nvSpPr>
          <p:cNvPr id="20" name="TextBox 20"/>
          <p:cNvSpPr txBox="1"/>
          <p:nvPr/>
        </p:nvSpPr>
        <p:spPr>
          <a:xfrm>
            <a:off x="6446813" y="4770091"/>
            <a:ext cx="5046988"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04 容错机制</a:t>
            </a:r>
            <a:endParaRPr lang="en-US" sz="1100"/>
          </a:p>
        </p:txBody>
      </p:sp>
      <p:sp>
        <p:nvSpPr>
          <p:cNvPr id="21" name="TextBox 21"/>
          <p:cNvSpPr txBox="1"/>
          <p:nvPr/>
        </p:nvSpPr>
        <p:spPr>
          <a:xfrm>
            <a:off x="6446813" y="5046316"/>
            <a:ext cx="5285053" cy="67984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自动查找数据路径支持多目录兼容，自动识别CSV/JSON/API等文件格式并</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选择对应解析器，容错读取处理编码问题与格式异常，空数据自动跳过确保</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流程不中断</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ACCOMPLISHMENTS &amp; LIMITATIONS</a:t>
            </a:r>
            <a:endParaRPr lang="en-US" sz="1100"/>
          </a:p>
        </p:txBody>
      </p:sp>
      <p:sp>
        <p:nvSpPr>
          <p:cNvPr id="4" name="TextBox 4"/>
          <p:cNvSpPr txBox="1"/>
          <p:nvPr/>
        </p:nvSpPr>
        <p:spPr>
          <a:xfrm>
            <a:off x="457086" y="7524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实现成果与当前局限</a:t>
            </a:r>
            <a:endParaRPr lang="en-US" sz="1100"/>
          </a:p>
        </p:txBody>
      </p:sp>
      <p:sp>
        <p:nvSpPr>
          <p:cNvPr id="5" name="AutoShape 5"/>
          <p:cNvSpPr/>
          <p:nvPr/>
        </p:nvSpPr>
        <p:spPr>
          <a:xfrm>
            <a:off x="457086" y="1504950"/>
            <a:ext cx="9522" cy="582811"/>
          </a:xfrm>
          <a:prstGeom prst="line">
            <a:avLst/>
          </a:prstGeom>
          <a:ln w="19050">
            <a:solidFill>
              <a:srgbClr val="5B8CB8">
                <a:alpha val="100000"/>
              </a:srgbClr>
            </a:solidFill>
            <a:prstDash val="solid"/>
            <a:headEnd type="none"/>
            <a:tailEnd type="none"/>
          </a:ln>
        </p:spPr>
      </p:sp>
      <p:sp>
        <p:nvSpPr>
          <p:cNvPr id="6" name="TextBox 6"/>
          <p:cNvSpPr txBox="1"/>
          <p:nvPr/>
        </p:nvSpPr>
        <p:spPr>
          <a:xfrm>
            <a:off x="704673" y="1552575"/>
            <a:ext cx="11484279" cy="481905"/>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项目已实现多源数据融合展示、风险评分输出、异常预警、基础调度建议与自动报告生成等核心功能；但当前AI模型为固定权重规则模型无学习能</a:t>
            </a:r>
            <a:endParaRPr lang="en-US" sz="1100"/>
          </a:p>
          <a:p>
            <a:pPr algn="l"/>
            <a:r>
              <a:rPr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力，资源调度采用简化距离模拟未考虑交通因素，且部分数据依赖模拟兜底，系统性能受数据可获取性制约。</a:t>
            </a:r>
            <a:endParaRPr sz="13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7" name="AutoShape 7"/>
          <p:cNvSpPr/>
          <p:nvPr/>
        </p:nvSpPr>
        <p:spPr>
          <a:xfrm>
            <a:off x="457086" y="2392561"/>
            <a:ext cx="5485028" cy="4008239"/>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a:off x="457086" y="2392561"/>
            <a:ext cx="5485028" cy="9525"/>
          </a:xfrm>
          <a:prstGeom prst="line">
            <a:avLst/>
          </a:prstGeom>
          <a:ln w="28575">
            <a:solidFill>
              <a:srgbClr val="5B8CB8">
                <a:alpha val="100000"/>
              </a:srgbClr>
            </a:solidFill>
            <a:prstDash val="solid"/>
            <a:headEnd type="none"/>
            <a:tailEnd type="none"/>
          </a:ln>
        </p:spPr>
      </p:sp>
      <p:sp>
        <p:nvSpPr>
          <p:cNvPr id="9" name="TextBox 9"/>
          <p:cNvSpPr txBox="1"/>
          <p:nvPr/>
        </p:nvSpPr>
        <p:spPr>
          <a:xfrm>
            <a:off x="847513" y="2744986"/>
            <a:ext cx="4780355" cy="152400"/>
          </a:xfrm>
          <a:prstGeom prst="rect">
            <a:avLst/>
          </a:prstGeom>
          <a:ln>
            <a:headEnd type="none"/>
            <a:tailEnd type="none"/>
          </a:ln>
        </p:spPr>
        <p:txBody>
          <a:bodyPr vert="horz" wrap="square" lIns="0" tIns="0" rIns="0" bIns="0" rtlCol="0" anchor="ctr" anchorCtr="0"/>
          <a:lstStyle/>
          <a:p>
            <a:pPr algn="l">
              <a:defRPr/>
            </a:pPr>
            <a:r>
              <a:rPr lang="en-US" sz="10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已实现成果</a:t>
            </a:r>
            <a:endParaRPr lang="en-US" sz="1100"/>
          </a:p>
        </p:txBody>
      </p:sp>
      <p:sp>
        <p:nvSpPr>
          <p:cNvPr id="10" name="TextBox 10"/>
          <p:cNvSpPr txBox="1"/>
          <p:nvPr/>
        </p:nvSpPr>
        <p:spPr>
          <a:xfrm>
            <a:off x="771332" y="3951982"/>
            <a:ext cx="5170782" cy="472380"/>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5B8CB8">
                    <a:alpha val="90196"/>
                  </a:srgbClr>
                </a:solidFill>
                <a:latin typeface="FZYaYiHei GB18030L2 R" panose="02000500000000000000" charset="-122"/>
                <a:ea typeface="FZYaYiHei GB18030L2 R" panose="02000500000000000000" charset="-122"/>
                <a:cs typeface="FZYaYiHei GB18030L2 R" panose="02000500000000000000" charset="-122"/>
              </a:rPr>
              <a:t>数据融合：</a:t>
            </a:r>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完成多源异构数据融合与标准化展示，实现跨机构数据</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的统一查询与可视化呈现，打破信息壁垒</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1" name="TextBox 11"/>
          <p:cNvSpPr txBox="1"/>
          <p:nvPr/>
        </p:nvSpPr>
        <p:spPr>
          <a:xfrm>
            <a:off x="771332" y="4763393"/>
            <a:ext cx="5170782" cy="472380"/>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5B8CB8">
                    <a:alpha val="90196"/>
                  </a:srgbClr>
                </a:solidFill>
                <a:latin typeface="FZYaYiHei GB18030L2 R" panose="02000500000000000000" charset="-122"/>
                <a:ea typeface="FZYaYiHei GB18030L2 R" panose="02000500000000000000" charset="-122"/>
                <a:cs typeface="FZYaYiHei GB18030L2 R" panose="02000500000000000000" charset="-122"/>
              </a:rPr>
              <a:t>智能评估：</a:t>
            </a:r>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建立风险评分模型输出量化结果，实现基于统计学的异</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常检测与自动预警分级，提供基础资源调度建议清单</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6246838" y="2392561"/>
            <a:ext cx="5485028" cy="4008239"/>
          </a:xfrm>
          <a:prstGeom prst="rect">
            <a:avLst/>
          </a:prstGeom>
          <a:solidFill>
            <a:srgbClr val="E8EBEF">
              <a:alpha val="100000"/>
            </a:srgbClr>
          </a:solidFill>
          <a:ln w="9525">
            <a:solidFill>
              <a:srgbClr val="C5CDD6">
                <a:alpha val="100000"/>
              </a:srgbClr>
            </a:solidFill>
            <a:prstDash val="solid"/>
            <a:headEnd type="none"/>
            <a:tailEnd type="none"/>
          </a:ln>
        </p:spPr>
      </p:sp>
      <p:sp>
        <p:nvSpPr>
          <p:cNvPr id="13" name="AutoShape 13"/>
          <p:cNvSpPr/>
          <p:nvPr/>
        </p:nvSpPr>
        <p:spPr>
          <a:xfrm>
            <a:off x="6246838" y="2392561"/>
            <a:ext cx="5485028" cy="9525"/>
          </a:xfrm>
          <a:prstGeom prst="line">
            <a:avLst/>
          </a:prstGeom>
          <a:ln w="28575">
            <a:solidFill>
              <a:srgbClr val="0A1F3D">
                <a:alpha val="100000"/>
              </a:srgbClr>
            </a:solidFill>
            <a:prstDash val="solid"/>
            <a:headEnd type="none"/>
            <a:tailEnd type="none"/>
          </a:ln>
        </p:spPr>
      </p:sp>
      <p:sp>
        <p:nvSpPr>
          <p:cNvPr id="14" name="TextBox 14"/>
          <p:cNvSpPr txBox="1"/>
          <p:nvPr/>
        </p:nvSpPr>
        <p:spPr>
          <a:xfrm>
            <a:off x="6637265" y="2744986"/>
            <a:ext cx="4780355" cy="152400"/>
          </a:xfrm>
          <a:prstGeom prst="rect">
            <a:avLst/>
          </a:prstGeom>
          <a:ln>
            <a:headEnd type="none"/>
            <a:tailEnd type="none"/>
          </a:ln>
        </p:spPr>
        <p:txBody>
          <a:bodyPr vert="horz" wrap="square" lIns="0" tIns="0" rIns="0" bIns="0" rtlCol="0" anchor="ctr" anchorCtr="0"/>
          <a:lstStyle/>
          <a:p>
            <a:pPr algn="l">
              <a:defRPr/>
            </a:pPr>
            <a:r>
              <a:rPr lang="en-US" sz="10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当前局限</a:t>
            </a:r>
            <a:endParaRPr lang="en-US" sz="1100"/>
          </a:p>
        </p:txBody>
      </p:sp>
      <p:sp>
        <p:nvSpPr>
          <p:cNvPr id="15" name="TextBox 15"/>
          <p:cNvSpPr txBox="1"/>
          <p:nvPr/>
        </p:nvSpPr>
        <p:spPr>
          <a:xfrm>
            <a:off x="6561084" y="3951982"/>
            <a:ext cx="5170782" cy="472380"/>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模型局限：</a:t>
            </a:r>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AI模型采用固定权重规则计算，缺乏机器学习能力无法</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从历史数据中自动优化参数，智能化程度有待提升</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6" name="TextBox 16"/>
          <p:cNvSpPr txBox="1"/>
          <p:nvPr/>
        </p:nvSpPr>
        <p:spPr>
          <a:xfrm>
            <a:off x="6561084" y="4763393"/>
            <a:ext cx="5170782" cy="472380"/>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数据质量：</a:t>
            </a:r>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资源调度距离为模拟直线计算，未考虑实际路网、交通</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状况与通行能力限制，部分数据依赖模拟兜底生成</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References</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参考文献（一）：数据治理与理论基础</a:t>
            </a:r>
            <a:endParaRPr lang="en-US" sz="1100"/>
          </a:p>
        </p:txBody>
      </p:sp>
      <p:sp>
        <p:nvSpPr>
          <p:cNvPr id="5" name="TextBox 5"/>
          <p:cNvSpPr txBox="1"/>
          <p:nvPr/>
        </p:nvSpPr>
        <p:spPr>
          <a:xfrm>
            <a:off x="457086" y="1466850"/>
            <a:ext cx="11731866" cy="40570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本项目理论基础涵盖数据基础设施与开放数据治理、政府数据共享障碍分析、数据生态系统与跨机构融合问题等经典文献，为理解数据孤岛成因及构建数据融合机制提供</a:t>
            </a:r>
            <a:endParaRPr lang="en-US" sz="1100"/>
          </a:p>
          <a:p>
            <a:pPr algn="l"/>
            <a:r>
              <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理论支撑。</a:t>
            </a:r>
            <a:endPar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2183011"/>
            <a:ext cx="11274781" cy="895350"/>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2183011"/>
            <a:ext cx="9522" cy="895350"/>
          </a:xfrm>
          <a:prstGeom prst="line">
            <a:avLst/>
          </a:prstGeom>
          <a:ln w="28575">
            <a:solidFill>
              <a:srgbClr val="5B8CB8">
                <a:alpha val="100000"/>
              </a:srgbClr>
            </a:solidFill>
            <a:prstDash val="solid"/>
            <a:headEnd type="none"/>
            <a:tailEnd type="none"/>
          </a:ln>
        </p:spPr>
      </p:sp>
      <p:sp>
        <p:nvSpPr>
          <p:cNvPr id="8" name="TextBox 8"/>
          <p:cNvSpPr txBox="1"/>
          <p:nvPr/>
        </p:nvSpPr>
        <p:spPr>
          <a:xfrm>
            <a:off x="714196" y="2421136"/>
            <a:ext cx="11474756" cy="414338"/>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90196"/>
                  </a:srgbClr>
                </a:solidFill>
                <a:latin typeface="Source Han Serif CN" panose="02020400000000000000" charset="-122"/>
                <a:ea typeface="Source Han Serif CN" panose="02020400000000000000" charset="-122"/>
                <a:cs typeface="Source Han Serif CN" panose="02020400000000000000" charset="-122"/>
              </a:rPr>
              <a:t>Kitchin, R. (2014).</a:t>
            </a:r>
            <a:r>
              <a:rPr sz="1100" b="0" i="1"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The Data Revolution: Big Data, Open Data, Data Infrastructures &amp; Their Consequences.</a:t>
            </a:r>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该书系统阐述了数据基础设施与开放数据治理的理论框架，为理</a:t>
            </a:r>
            <a:endParaRPr lang="en-US" sz="1100"/>
          </a:p>
          <a:p>
            <a:pPr algn="l"/>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解跨机构数据共享与数据革命的影响提供了经典理论基础。</a:t>
            </a:r>
            <a:endPar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9" name="AutoShape 9"/>
          <p:cNvSpPr/>
          <p:nvPr/>
        </p:nvSpPr>
        <p:spPr>
          <a:xfrm>
            <a:off x="457086" y="3844230"/>
            <a:ext cx="11274781" cy="895350"/>
          </a:xfrm>
          <a:prstGeom prst="rect">
            <a:avLst/>
          </a:prstGeom>
          <a:solidFill>
            <a:srgbClr val="E8EBEF">
              <a:alpha val="100000"/>
            </a:srgbClr>
          </a:solidFill>
          <a:ln w="9525">
            <a:solidFill>
              <a:srgbClr val="C5CDD6">
                <a:alpha val="100000"/>
              </a:srgbClr>
            </a:solidFill>
            <a:prstDash val="solid"/>
            <a:headEnd type="none"/>
            <a:tailEnd type="none"/>
          </a:ln>
        </p:spPr>
      </p:sp>
      <p:sp>
        <p:nvSpPr>
          <p:cNvPr id="10" name="AutoShape 10"/>
          <p:cNvSpPr/>
          <p:nvPr/>
        </p:nvSpPr>
        <p:spPr>
          <a:xfrm>
            <a:off x="457086" y="3844230"/>
            <a:ext cx="9522" cy="895350"/>
          </a:xfrm>
          <a:prstGeom prst="line">
            <a:avLst/>
          </a:prstGeom>
          <a:ln w="28575">
            <a:solidFill>
              <a:srgbClr val="5B8CB8">
                <a:alpha val="100000"/>
              </a:srgbClr>
            </a:solidFill>
            <a:prstDash val="solid"/>
            <a:headEnd type="none"/>
            <a:tailEnd type="none"/>
          </a:ln>
        </p:spPr>
      </p:sp>
      <p:sp>
        <p:nvSpPr>
          <p:cNvPr id="11" name="TextBox 11"/>
          <p:cNvSpPr txBox="1"/>
          <p:nvPr/>
        </p:nvSpPr>
        <p:spPr>
          <a:xfrm>
            <a:off x="714196" y="4082355"/>
            <a:ext cx="11474756" cy="414338"/>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90196"/>
                  </a:srgbClr>
                </a:solidFill>
                <a:latin typeface="Source Han Serif CN" panose="02020400000000000000" charset="-122"/>
                <a:ea typeface="Source Han Serif CN" panose="02020400000000000000" charset="-122"/>
                <a:cs typeface="Source Han Serif CN" panose="02020400000000000000" charset="-122"/>
              </a:rPr>
              <a:t>Janssen, M., et al. (2012).</a:t>
            </a:r>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"Benefits, Adoption Barriers and Myths of Open Data and Open Government." </a:t>
            </a:r>
            <a:r>
              <a:rPr sz="1100" b="0" i="1"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Information Systems Management.</a:t>
            </a:r>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该文深入分析了政府数据共享</a:t>
            </a:r>
            <a:endParaRPr lang="en-US" sz="1100"/>
          </a:p>
          <a:p>
            <a:pPr algn="l"/>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的障碍与采纳阻力，揭示了开放数据实践中的组织与制度性挑战，为本项目识别数据孤岛成因提供依据。</a:t>
            </a:r>
            <a:endPar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457086" y="5505450"/>
            <a:ext cx="11274781" cy="895350"/>
          </a:xfrm>
          <a:prstGeom prst="rect">
            <a:avLst/>
          </a:prstGeom>
          <a:solidFill>
            <a:srgbClr val="E8EBEF">
              <a:alpha val="100000"/>
            </a:srgbClr>
          </a:solidFill>
          <a:ln w="9525">
            <a:solidFill>
              <a:srgbClr val="C5CDD6">
                <a:alpha val="100000"/>
              </a:srgbClr>
            </a:solidFill>
            <a:prstDash val="solid"/>
            <a:headEnd type="none"/>
            <a:tailEnd type="none"/>
          </a:ln>
        </p:spPr>
      </p:sp>
      <p:sp>
        <p:nvSpPr>
          <p:cNvPr id="13" name="AutoShape 13"/>
          <p:cNvSpPr/>
          <p:nvPr/>
        </p:nvSpPr>
        <p:spPr>
          <a:xfrm>
            <a:off x="457086" y="5505450"/>
            <a:ext cx="9522" cy="895350"/>
          </a:xfrm>
          <a:prstGeom prst="line">
            <a:avLst/>
          </a:prstGeom>
          <a:ln w="28575">
            <a:solidFill>
              <a:srgbClr val="5B8CB8">
                <a:alpha val="100000"/>
              </a:srgbClr>
            </a:solidFill>
            <a:prstDash val="solid"/>
            <a:headEnd type="none"/>
            <a:tailEnd type="none"/>
          </a:ln>
        </p:spPr>
      </p:sp>
      <p:sp>
        <p:nvSpPr>
          <p:cNvPr id="14" name="TextBox 14"/>
          <p:cNvSpPr txBox="1"/>
          <p:nvPr/>
        </p:nvSpPr>
        <p:spPr>
          <a:xfrm>
            <a:off x="714196" y="5743575"/>
            <a:ext cx="11474756" cy="414338"/>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90196"/>
                  </a:srgbClr>
                </a:solidFill>
                <a:latin typeface="Source Han Serif CN" panose="02020400000000000000" charset="-122"/>
                <a:ea typeface="Source Han Serif CN" panose="02020400000000000000" charset="-122"/>
                <a:cs typeface="Source Han Serif CN" panose="02020400000000000000" charset="-122"/>
              </a:rPr>
              <a:t>Susha, I., et al. (2015).</a:t>
            </a:r>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"Data Ecosystems for Smart Cities." </a:t>
            </a:r>
            <a:r>
              <a:rPr sz="1100" b="0" i="1"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Government Information Quarterly.</a:t>
            </a:r>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该文探讨了数据生态系统与跨机构数据融合问题，提出了智慧城市背景下多</a:t>
            </a:r>
            <a:endParaRPr lang="en-US" sz="1100"/>
          </a:p>
          <a:p>
            <a:pPr algn="l"/>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源数据协同治理的理论模型，为构建防灾减灾数据融合机制提供方法论指导。</a:t>
            </a:r>
            <a:endPar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AutoShape 3"/>
          <p:cNvSpPr/>
          <p:nvPr/>
        </p:nvSpPr>
        <p:spPr>
          <a:xfrm>
            <a:off x="380905" y="400050"/>
            <a:ext cx="38090" cy="304800"/>
          </a:xfrm>
          <a:prstGeom prst="roundRect">
            <a:avLst>
              <a:gd name="adj" fmla="val 50000"/>
            </a:avLst>
          </a:prstGeom>
          <a:solidFill>
            <a:srgbClr val="5B8CB8">
              <a:alpha val="100000"/>
            </a:srgbClr>
          </a:solidFill>
          <a:ln>
            <a:headEnd type="none"/>
            <a:tailEnd type="none"/>
          </a:ln>
        </p:spPr>
      </p:sp>
      <p:sp>
        <p:nvSpPr>
          <p:cNvPr id="4" name="TextBox 4"/>
          <p:cNvSpPr txBox="1"/>
          <p:nvPr/>
        </p:nvSpPr>
        <p:spPr>
          <a:xfrm>
            <a:off x="533267" y="390525"/>
            <a:ext cx="5054130" cy="314325"/>
          </a:xfrm>
          <a:prstGeom prst="rect">
            <a:avLst/>
          </a:prstGeom>
          <a:ln>
            <a:headEnd type="none"/>
            <a:tailEnd type="none"/>
          </a:ln>
        </p:spPr>
        <p:txBody>
          <a:bodyPr vert="horz" wrap="square" lIns="0" tIns="0" rIns="0" bIns="0" rtlCol="0" anchor="t" anchorCtr="0"/>
          <a:lstStyle/>
          <a:p>
            <a:pPr algn="l">
              <a:defRPr/>
            </a:pPr>
            <a:r>
              <a:rPr lang="en-US" sz="22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参考文献（二）：防灾减灾与应急管理</a:t>
            </a:r>
            <a:endParaRPr lang="en-US" sz="1100"/>
          </a:p>
        </p:txBody>
      </p:sp>
      <p:sp>
        <p:nvSpPr>
          <p:cNvPr id="5" name="TextBox 5"/>
          <p:cNvSpPr txBox="1"/>
          <p:nvPr/>
        </p:nvSpPr>
        <p:spPr>
          <a:xfrm>
            <a:off x="609448" y="876300"/>
            <a:ext cx="11198600"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5B8CB8">
                    <a:alpha val="100000"/>
                  </a:srgbClr>
                </a:solidFill>
                <a:latin typeface="FZYaYiHei GB18030L2 R" panose="02000500000000000000" charset="-122"/>
                <a:ea typeface="FZYaYiHei GB18030L2 R" panose="02000500000000000000" charset="-122"/>
                <a:cs typeface="FZYaYiHei GB18030L2 R" panose="02000500000000000000" charset="-122"/>
              </a:rPr>
              <a:t>关键理论支撑：灾害信息系统综述、应急管理协同问题与复杂系统危机管理经典文献</a:t>
            </a:r>
            <a:endParaRPr lang="en-US" sz="1100"/>
          </a:p>
        </p:txBody>
      </p:sp>
      <p:sp>
        <p:nvSpPr>
          <p:cNvPr id="6" name="AutoShape 6"/>
          <p:cNvSpPr/>
          <p:nvPr/>
        </p:nvSpPr>
        <p:spPr>
          <a:xfrm>
            <a:off x="380905" y="1276350"/>
            <a:ext cx="11427142" cy="1025129"/>
          </a:xfrm>
          <a:prstGeom prst="roundRect">
            <a:avLst>
              <a:gd name="adj" fmla="val 6630"/>
            </a:avLst>
          </a:prstGeom>
          <a:solidFill>
            <a:srgbClr val="FFFFFF">
              <a:alpha val="60000"/>
            </a:srgbClr>
          </a:solidFill>
          <a:ln>
            <a:headEnd type="none"/>
            <a:tailEnd type="none"/>
          </a:ln>
        </p:spPr>
      </p:sp>
      <p:sp>
        <p:nvSpPr>
          <p:cNvPr id="7" name="AutoShape 7"/>
          <p:cNvSpPr/>
          <p:nvPr/>
        </p:nvSpPr>
        <p:spPr>
          <a:xfrm>
            <a:off x="380905" y="1276350"/>
            <a:ext cx="9522" cy="1025129"/>
          </a:xfrm>
          <a:prstGeom prst="line">
            <a:avLst/>
          </a:prstGeom>
          <a:ln w="38100">
            <a:solidFill>
              <a:srgbClr val="5B8CB8">
                <a:alpha val="100000"/>
              </a:srgbClr>
            </a:solidFill>
            <a:prstDash val="solid"/>
            <a:headEnd type="none"/>
            <a:tailEnd type="none"/>
          </a:ln>
        </p:spPr>
      </p:sp>
      <p:sp>
        <p:nvSpPr>
          <p:cNvPr id="8" name="AutoShape 8"/>
          <p:cNvSpPr/>
          <p:nvPr/>
        </p:nvSpPr>
        <p:spPr>
          <a:xfrm>
            <a:off x="533267" y="1409700"/>
            <a:ext cx="266633" cy="266700"/>
          </a:xfrm>
          <a:prstGeom prst="ellipse">
            <a:avLst/>
          </a:prstGeom>
          <a:solidFill>
            <a:srgbClr val="5B8CB8">
              <a:alpha val="100000"/>
            </a:srgbClr>
          </a:solidFill>
          <a:ln>
            <a:headEnd type="none"/>
            <a:tailEnd type="none"/>
          </a:ln>
        </p:spPr>
      </p:sp>
      <p:sp>
        <p:nvSpPr>
          <p:cNvPr id="9" name="TextBox 9"/>
          <p:cNvSpPr txBox="1"/>
          <p:nvPr/>
        </p:nvSpPr>
        <p:spPr>
          <a:xfrm>
            <a:off x="629385" y="1466850"/>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solidFill>
                  <a:srgbClr val="FFFFFF">
                    <a:alpha val="100000"/>
                  </a:srgbClr>
                </a:solidFill>
                <a:latin typeface="Open Sans" panose="020B0606030504020204"/>
                <a:ea typeface="Open Sans" panose="020B0606030504020204"/>
                <a:cs typeface="Open Sans" panose="020B0606030504020204"/>
              </a:rPr>
              <a:t>1</a:t>
            </a:r>
            <a:endParaRPr lang="en-US" sz="1100"/>
          </a:p>
        </p:txBody>
      </p:sp>
      <p:sp>
        <p:nvSpPr>
          <p:cNvPr id="10" name="TextBox 10"/>
          <p:cNvSpPr txBox="1"/>
          <p:nvPr/>
        </p:nvSpPr>
        <p:spPr>
          <a:xfrm>
            <a:off x="914171" y="1409700"/>
            <a:ext cx="10779604" cy="152400"/>
          </a:xfrm>
          <a:prstGeom prst="rect">
            <a:avLst/>
          </a:prstGeom>
          <a:ln>
            <a:headEnd type="none"/>
            <a:tailEnd type="none"/>
          </a:ln>
        </p:spPr>
        <p:txBody>
          <a:bodyPr vert="horz" wrap="square" lIns="0" tIns="0" rIns="0" bIns="0" rtlCol="0" anchor="t" anchorCtr="0"/>
          <a:lstStyle/>
          <a:p>
            <a:pPr algn="l">
              <a:defRPr/>
            </a:pPr>
            <a:r>
              <a:rPr lang="en-US" sz="10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Alsharif, A., et al. (2017). "Disaster Information Management Systems: A Review." </a:t>
            </a:r>
            <a:r>
              <a:rPr sz="1000" b="1" i="1" strike="noStrike">
                <a:solidFill>
                  <a:srgbClr val="5B8CB8">
                    <a:alpha val="100000"/>
                  </a:srgbClr>
                </a:solidFill>
                <a:latin typeface="Open Sans" panose="020B0606030504020204"/>
                <a:ea typeface="Open Sans" panose="020B0606030504020204"/>
                <a:cs typeface="Open Sans" panose="020B0606030504020204"/>
              </a:rPr>
              <a:t>International Journal of Disaster Risk Reduction.</a:t>
            </a:r>
            <a:endParaRPr lang="en-US" sz="1100"/>
          </a:p>
        </p:txBody>
      </p:sp>
      <p:sp>
        <p:nvSpPr>
          <p:cNvPr id="11" name="TextBox 11"/>
          <p:cNvSpPr txBox="1"/>
          <p:nvPr/>
        </p:nvSpPr>
        <p:spPr>
          <a:xfrm>
            <a:off x="914171" y="1638300"/>
            <a:ext cx="10779604"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该综述系统回顾了灾害信息系统的发展历程与技术架构，总结了多源数据整合在减灾实践中的应用经验与瓶颈问题，为数据平台建设提供了重要的理论参考框架。</a:t>
            </a:r>
            <a:endParaRPr lang="en-US" sz="1100"/>
          </a:p>
        </p:txBody>
      </p:sp>
      <p:sp>
        <p:nvSpPr>
          <p:cNvPr id="12" name="AutoShape 12"/>
          <p:cNvSpPr/>
          <p:nvPr/>
        </p:nvSpPr>
        <p:spPr>
          <a:xfrm>
            <a:off x="380905" y="2415777"/>
            <a:ext cx="11427142" cy="1025129"/>
          </a:xfrm>
          <a:prstGeom prst="roundRect">
            <a:avLst>
              <a:gd name="adj" fmla="val 6630"/>
            </a:avLst>
          </a:prstGeom>
          <a:solidFill>
            <a:srgbClr val="FFFFFF">
              <a:alpha val="60000"/>
            </a:srgbClr>
          </a:solidFill>
          <a:ln>
            <a:headEnd type="none"/>
            <a:tailEnd type="none"/>
          </a:ln>
        </p:spPr>
      </p:sp>
      <p:sp>
        <p:nvSpPr>
          <p:cNvPr id="13" name="AutoShape 13"/>
          <p:cNvSpPr/>
          <p:nvPr/>
        </p:nvSpPr>
        <p:spPr>
          <a:xfrm>
            <a:off x="380905" y="2415777"/>
            <a:ext cx="9522" cy="1025129"/>
          </a:xfrm>
          <a:prstGeom prst="line">
            <a:avLst/>
          </a:prstGeom>
          <a:ln w="38100">
            <a:solidFill>
              <a:srgbClr val="5B8CB8">
                <a:alpha val="100000"/>
              </a:srgbClr>
            </a:solidFill>
            <a:prstDash val="solid"/>
            <a:headEnd type="none"/>
            <a:tailEnd type="none"/>
          </a:ln>
        </p:spPr>
      </p:sp>
      <p:sp>
        <p:nvSpPr>
          <p:cNvPr id="14" name="AutoShape 14"/>
          <p:cNvSpPr/>
          <p:nvPr/>
        </p:nvSpPr>
        <p:spPr>
          <a:xfrm>
            <a:off x="533267" y="2549129"/>
            <a:ext cx="266633" cy="266700"/>
          </a:xfrm>
          <a:prstGeom prst="ellipse">
            <a:avLst/>
          </a:prstGeom>
          <a:solidFill>
            <a:srgbClr val="5B8CB8">
              <a:alpha val="100000"/>
            </a:srgbClr>
          </a:solidFill>
          <a:ln>
            <a:headEnd type="none"/>
            <a:tailEnd type="none"/>
          </a:ln>
        </p:spPr>
      </p:sp>
      <p:sp>
        <p:nvSpPr>
          <p:cNvPr id="15" name="TextBox 15"/>
          <p:cNvSpPr txBox="1"/>
          <p:nvPr/>
        </p:nvSpPr>
        <p:spPr>
          <a:xfrm>
            <a:off x="629385" y="2606279"/>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solidFill>
                  <a:srgbClr val="FFFFFF">
                    <a:alpha val="100000"/>
                  </a:srgbClr>
                </a:solidFill>
                <a:latin typeface="Open Sans" panose="020B0606030504020204"/>
                <a:ea typeface="Open Sans" panose="020B0606030504020204"/>
                <a:cs typeface="Open Sans" panose="020B0606030504020204"/>
              </a:rPr>
              <a:t>2</a:t>
            </a:r>
            <a:endParaRPr lang="en-US" sz="1100"/>
          </a:p>
        </p:txBody>
      </p:sp>
      <p:sp>
        <p:nvSpPr>
          <p:cNvPr id="16" name="TextBox 16"/>
          <p:cNvSpPr txBox="1"/>
          <p:nvPr/>
        </p:nvSpPr>
        <p:spPr>
          <a:xfrm>
            <a:off x="914171" y="2549129"/>
            <a:ext cx="10779604" cy="152400"/>
          </a:xfrm>
          <a:prstGeom prst="rect">
            <a:avLst/>
          </a:prstGeom>
          <a:ln>
            <a:headEnd type="none"/>
            <a:tailEnd type="none"/>
          </a:ln>
        </p:spPr>
        <p:txBody>
          <a:bodyPr vert="horz" wrap="square" lIns="0" tIns="0" rIns="0" bIns="0" rtlCol="0" anchor="t" anchorCtr="0"/>
          <a:lstStyle/>
          <a:p>
            <a:pPr algn="l">
              <a:defRPr/>
            </a:pPr>
            <a:r>
              <a:rPr lang="en-US" sz="10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Waugh, W. L. (2006). "Collaboration and Leadership for Effective Emergency Management."</a:t>
            </a:r>
            <a:endParaRPr lang="en-US" sz="1100"/>
          </a:p>
        </p:txBody>
      </p:sp>
      <p:sp>
        <p:nvSpPr>
          <p:cNvPr id="17" name="TextBox 17"/>
          <p:cNvSpPr txBox="1"/>
          <p:nvPr/>
        </p:nvSpPr>
        <p:spPr>
          <a:xfrm>
            <a:off x="914171" y="2777729"/>
            <a:ext cx="10779604"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该文探讨了应急管理中的协同问题与领导力要素，揭示了跨机构协作在应急响应中的关键作用，为理解数据共享的组织动力与协同机制提供了重要视角。</a:t>
            </a:r>
            <a:endParaRPr lang="en-US" sz="1100"/>
          </a:p>
        </p:txBody>
      </p:sp>
      <p:sp>
        <p:nvSpPr>
          <p:cNvPr id="18" name="AutoShape 18"/>
          <p:cNvSpPr/>
          <p:nvPr/>
        </p:nvSpPr>
        <p:spPr>
          <a:xfrm>
            <a:off x="380905" y="3555206"/>
            <a:ext cx="11427142" cy="1025129"/>
          </a:xfrm>
          <a:prstGeom prst="roundRect">
            <a:avLst>
              <a:gd name="adj" fmla="val 6630"/>
            </a:avLst>
          </a:prstGeom>
          <a:solidFill>
            <a:srgbClr val="FFFFFF">
              <a:alpha val="60000"/>
            </a:srgbClr>
          </a:solidFill>
          <a:ln>
            <a:headEnd type="none"/>
            <a:tailEnd type="none"/>
          </a:ln>
        </p:spPr>
      </p:sp>
      <p:sp>
        <p:nvSpPr>
          <p:cNvPr id="19" name="AutoShape 19"/>
          <p:cNvSpPr/>
          <p:nvPr/>
        </p:nvSpPr>
        <p:spPr>
          <a:xfrm>
            <a:off x="380905" y="3555206"/>
            <a:ext cx="9522" cy="1025129"/>
          </a:xfrm>
          <a:prstGeom prst="line">
            <a:avLst/>
          </a:prstGeom>
          <a:ln w="38100">
            <a:solidFill>
              <a:srgbClr val="5B8CB8">
                <a:alpha val="100000"/>
              </a:srgbClr>
            </a:solidFill>
            <a:prstDash val="solid"/>
            <a:headEnd type="none"/>
            <a:tailEnd type="none"/>
          </a:ln>
        </p:spPr>
      </p:sp>
      <p:sp>
        <p:nvSpPr>
          <p:cNvPr id="20" name="AutoShape 20"/>
          <p:cNvSpPr/>
          <p:nvPr/>
        </p:nvSpPr>
        <p:spPr>
          <a:xfrm>
            <a:off x="533267" y="3688556"/>
            <a:ext cx="266633" cy="266700"/>
          </a:xfrm>
          <a:prstGeom prst="ellipse">
            <a:avLst/>
          </a:prstGeom>
          <a:solidFill>
            <a:srgbClr val="5B8CB8">
              <a:alpha val="100000"/>
            </a:srgbClr>
          </a:solidFill>
          <a:ln>
            <a:headEnd type="none"/>
            <a:tailEnd type="none"/>
          </a:ln>
        </p:spPr>
      </p:sp>
      <p:sp>
        <p:nvSpPr>
          <p:cNvPr id="21" name="TextBox 21"/>
          <p:cNvSpPr txBox="1"/>
          <p:nvPr/>
        </p:nvSpPr>
        <p:spPr>
          <a:xfrm>
            <a:off x="629385" y="3745706"/>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solidFill>
                  <a:srgbClr val="FFFFFF">
                    <a:alpha val="100000"/>
                  </a:srgbClr>
                </a:solidFill>
                <a:latin typeface="Open Sans" panose="020B0606030504020204"/>
                <a:ea typeface="Open Sans" panose="020B0606030504020204"/>
                <a:cs typeface="Open Sans" panose="020B0606030504020204"/>
              </a:rPr>
              <a:t>3</a:t>
            </a:r>
            <a:endParaRPr lang="en-US" sz="1100"/>
          </a:p>
        </p:txBody>
      </p:sp>
      <p:sp>
        <p:nvSpPr>
          <p:cNvPr id="22" name="TextBox 22"/>
          <p:cNvSpPr txBox="1"/>
          <p:nvPr/>
        </p:nvSpPr>
        <p:spPr>
          <a:xfrm>
            <a:off x="914171" y="3688556"/>
            <a:ext cx="10779604" cy="152400"/>
          </a:xfrm>
          <a:prstGeom prst="rect">
            <a:avLst/>
          </a:prstGeom>
          <a:ln>
            <a:headEnd type="none"/>
            <a:tailEnd type="none"/>
          </a:ln>
        </p:spPr>
        <p:txBody>
          <a:bodyPr vert="horz" wrap="square" lIns="0" tIns="0" rIns="0" bIns="0" rtlCol="0" anchor="t" anchorCtr="0"/>
          <a:lstStyle/>
          <a:p>
            <a:pPr algn="l">
              <a:defRPr/>
            </a:pPr>
            <a:r>
              <a:rPr lang="en-US" sz="10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Comfort, L. K. (2007). "Crisis Management in Complex Systems."</a:t>
            </a:r>
            <a:endParaRPr lang="en-US" sz="1100"/>
          </a:p>
        </p:txBody>
      </p:sp>
      <p:sp>
        <p:nvSpPr>
          <p:cNvPr id="23" name="TextBox 23"/>
          <p:cNvSpPr txBox="1"/>
          <p:nvPr/>
        </p:nvSpPr>
        <p:spPr>
          <a:xfrm>
            <a:off x="914171" y="3917156"/>
            <a:ext cx="10779604"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该文分析了复杂系统中的灾害信息协调机制，提出了适应性治理理论，为设计具有韧性的防灾减灾数据平台提供了系统性的理论框架与方法论指导。</a:t>
            </a:r>
            <a:endParaRPr lang="en-US" sz="1100"/>
          </a:p>
        </p:txBody>
      </p:sp>
      <p:sp>
        <p:nvSpPr>
          <p:cNvPr id="24" name="AutoShape 24"/>
          <p:cNvSpPr/>
          <p:nvPr/>
        </p:nvSpPr>
        <p:spPr>
          <a:xfrm>
            <a:off x="380905" y="4694635"/>
            <a:ext cx="11427142" cy="1025129"/>
          </a:xfrm>
          <a:prstGeom prst="roundRect">
            <a:avLst>
              <a:gd name="adj" fmla="val 6630"/>
            </a:avLst>
          </a:prstGeom>
          <a:solidFill>
            <a:srgbClr val="FFFFFF">
              <a:alpha val="60000"/>
            </a:srgbClr>
          </a:solidFill>
          <a:ln>
            <a:headEnd type="none"/>
            <a:tailEnd type="none"/>
          </a:ln>
        </p:spPr>
      </p:sp>
      <p:sp>
        <p:nvSpPr>
          <p:cNvPr id="25" name="AutoShape 25"/>
          <p:cNvSpPr/>
          <p:nvPr/>
        </p:nvSpPr>
        <p:spPr>
          <a:xfrm>
            <a:off x="380905" y="4694635"/>
            <a:ext cx="9522" cy="1025129"/>
          </a:xfrm>
          <a:prstGeom prst="line">
            <a:avLst/>
          </a:prstGeom>
          <a:ln w="38100">
            <a:solidFill>
              <a:srgbClr val="5B8CB8">
                <a:alpha val="100000"/>
              </a:srgbClr>
            </a:solidFill>
            <a:prstDash val="solid"/>
            <a:headEnd type="none"/>
            <a:tailEnd type="none"/>
          </a:ln>
        </p:spPr>
      </p:sp>
      <p:sp>
        <p:nvSpPr>
          <p:cNvPr id="26" name="AutoShape 26"/>
          <p:cNvSpPr/>
          <p:nvPr/>
        </p:nvSpPr>
        <p:spPr>
          <a:xfrm>
            <a:off x="533267" y="4827984"/>
            <a:ext cx="266633" cy="266700"/>
          </a:xfrm>
          <a:prstGeom prst="ellipse">
            <a:avLst/>
          </a:prstGeom>
          <a:solidFill>
            <a:srgbClr val="5B8CB8">
              <a:alpha val="100000"/>
            </a:srgbClr>
          </a:solidFill>
          <a:ln>
            <a:headEnd type="none"/>
            <a:tailEnd type="none"/>
          </a:ln>
        </p:spPr>
      </p:sp>
      <p:sp>
        <p:nvSpPr>
          <p:cNvPr id="27" name="TextBox 27"/>
          <p:cNvSpPr txBox="1"/>
          <p:nvPr/>
        </p:nvSpPr>
        <p:spPr>
          <a:xfrm>
            <a:off x="629385" y="4885134"/>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solidFill>
                  <a:srgbClr val="FFFFFF">
                    <a:alpha val="100000"/>
                  </a:srgbClr>
                </a:solidFill>
                <a:latin typeface="Open Sans" panose="020B0606030504020204"/>
                <a:ea typeface="Open Sans" panose="020B0606030504020204"/>
                <a:cs typeface="Open Sans" panose="020B0606030504020204"/>
              </a:rPr>
              <a:t>4</a:t>
            </a:r>
            <a:endParaRPr lang="en-US" sz="1100"/>
          </a:p>
        </p:txBody>
      </p:sp>
      <p:sp>
        <p:nvSpPr>
          <p:cNvPr id="28" name="TextBox 28"/>
          <p:cNvSpPr txBox="1"/>
          <p:nvPr/>
        </p:nvSpPr>
        <p:spPr>
          <a:xfrm>
            <a:off x="914171" y="4827984"/>
            <a:ext cx="10779604" cy="152400"/>
          </a:xfrm>
          <a:prstGeom prst="rect">
            <a:avLst/>
          </a:prstGeom>
          <a:ln>
            <a:headEnd type="none"/>
            <a:tailEnd type="none"/>
          </a:ln>
        </p:spPr>
        <p:txBody>
          <a:bodyPr vert="horz" wrap="square" lIns="0" tIns="0" rIns="0" bIns="0" rtlCol="0" anchor="t" anchorCtr="0"/>
          <a:lstStyle/>
          <a:p>
            <a:pPr algn="l">
              <a:defRPr/>
            </a:pPr>
            <a:r>
              <a:rPr lang="en-US" sz="1000" b="1"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李德仁等：《时空大数据与智慧应急管理》</a:t>
            </a:r>
            <a:endParaRPr lang="en-US" sz="1100"/>
          </a:p>
        </p:txBody>
      </p:sp>
      <p:sp>
        <p:nvSpPr>
          <p:cNvPr id="29" name="TextBox 29"/>
          <p:cNvSpPr txBox="1"/>
          <p:nvPr/>
        </p:nvSpPr>
        <p:spPr>
          <a:xfrm>
            <a:off x="914171" y="5056584"/>
            <a:ext cx="10779604"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该书结合中国情境深入探讨了时空大数据技术在应急管理中的应用场景与实现路径，为数据融合、智能分析与可视化展示提供了本土化的技术路径参考与实践指导。</a:t>
            </a:r>
            <a:endParaRPr lang="en-US" sz="1100"/>
          </a:p>
        </p:txBody>
      </p:sp>
      <p:sp>
        <p:nvSpPr>
          <p:cNvPr id="30" name="AutoShape 30"/>
          <p:cNvSpPr/>
          <p:nvPr/>
        </p:nvSpPr>
        <p:spPr>
          <a:xfrm>
            <a:off x="380905" y="5872162"/>
            <a:ext cx="11427142" cy="9525"/>
          </a:xfrm>
          <a:prstGeom prst="line">
            <a:avLst/>
          </a:prstGeom>
          <a:ln w="19050">
            <a:solidFill>
              <a:srgbClr val="5B8CB8">
                <a:alpha val="20000"/>
              </a:srgbClr>
            </a:solidFill>
            <a:prstDash val="solid"/>
            <a:headEnd type="none"/>
            <a:tailEnd type="none"/>
          </a:ln>
        </p:spPr>
      </p:sp>
      <p:sp>
        <p:nvSpPr>
          <p:cNvPr id="31" name="TextBox 31"/>
          <p:cNvSpPr txBox="1"/>
          <p:nvPr/>
        </p:nvSpPr>
        <p:spPr>
          <a:xfrm>
            <a:off x="495177" y="6072188"/>
            <a:ext cx="11312870" cy="369094"/>
          </a:xfrm>
          <a:prstGeom prst="rect">
            <a:avLst/>
          </a:prstGeom>
          <a:ln>
            <a:headEnd type="none"/>
            <a:tailEnd type="none"/>
          </a:ln>
        </p:spPr>
        <p:txBody>
          <a:bodyPr vert="horz" wrap="square" lIns="0" tIns="0" rIns="0" bIns="0" rtlCol="0" anchor="t" anchorCtr="0"/>
          <a:lstStyle/>
          <a:p>
            <a:pPr algn="l">
              <a:defRPr/>
            </a:pPr>
            <a:r>
              <a:rPr lang="en-US" sz="1000" b="1" i="0" strike="noStrike">
                <a:solidFill>
                  <a:srgbClr val="5B8CB8">
                    <a:alpha val="100000"/>
                  </a:srgbClr>
                </a:solidFill>
                <a:latin typeface="FZYaYiHei GB18030L2 R" panose="02000500000000000000" charset="-122"/>
                <a:ea typeface="FZYaYiHei GB18030L2 R" panose="02000500000000000000" charset="-122"/>
                <a:cs typeface="FZYaYiHei GB18030L2 R" panose="02000500000000000000" charset="-122"/>
              </a:rPr>
              <a:t>理论支撑要点：</a:t>
            </a:r>
            <a:r>
              <a:rPr sz="1000" b="0"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 上述文献从灾害信息系统架构、应急管理协同机制、复杂系统治理及本土化技术应用等维度，为防灾减灾数据平台的技术架构设计与业务逻辑优化提供了全方位的学术支撑与理</a:t>
            </a:r>
            <a:endParaRPr lang="en-US" sz="1100"/>
          </a:p>
          <a:p>
            <a:pPr algn="l"/>
            <a:r>
              <a:rPr sz="1000" b="0"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rPr>
              <a:t>论依据。</a:t>
            </a:r>
            <a:endParaRPr sz="1000" b="0" i="0" strike="noStrike">
              <a:solidFill>
                <a:srgbClr val="0A1F3D">
                  <a:alpha val="100000"/>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References</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参考文献（三）：数据融合与GIS技术</a:t>
            </a:r>
            <a:endParaRPr lang="en-US" sz="1100"/>
          </a:p>
        </p:txBody>
      </p:sp>
      <p:sp>
        <p:nvSpPr>
          <p:cNvPr id="5" name="TextBox 5"/>
          <p:cNvSpPr txBox="1"/>
          <p:nvPr/>
        </p:nvSpPr>
        <p:spPr>
          <a:xfrm>
            <a:off x="457086" y="1504950"/>
            <a:ext cx="11731866" cy="190500"/>
          </a:xfrm>
          <a:prstGeom prst="rect">
            <a:avLst/>
          </a:prstGeom>
          <a:ln>
            <a:headEnd type="none"/>
            <a:tailEnd type="none"/>
          </a:ln>
        </p:spPr>
        <p:txBody>
          <a:bodyPr vert="horz" wrap="square" lIns="0" tIns="0" rIns="0" bIns="0" rtlCol="0" anchor="t" anchorCtr="0"/>
          <a:lstStyle/>
          <a:p>
            <a:pPr algn="l">
              <a:defRPr/>
            </a:pPr>
            <a:r>
              <a:rPr lang="en-US" sz="13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项目引用了众源地理信息、地理空间大数据融合等前沿文献，为volunteer地理信息整合、多源异构数据时空对齐与灾害应用提供技术方法论支撑。</a:t>
            </a:r>
            <a:endParaRPr lang="en-US" sz="1100"/>
          </a:p>
        </p:txBody>
      </p:sp>
      <p:sp>
        <p:nvSpPr>
          <p:cNvPr id="6" name="AutoShape 6"/>
          <p:cNvSpPr/>
          <p:nvPr/>
        </p:nvSpPr>
        <p:spPr>
          <a:xfrm>
            <a:off x="457086" y="2045941"/>
            <a:ext cx="11274781" cy="963811"/>
          </a:xfrm>
          <a:prstGeom prst="rect">
            <a:avLst/>
          </a:prstGeom>
          <a:solidFill>
            <a:srgbClr val="E8EBEF">
              <a:alpha val="100000"/>
            </a:srgbClr>
          </a:solidFill>
          <a:ln>
            <a:headEnd type="none"/>
            <a:tailEnd type="none"/>
          </a:ln>
        </p:spPr>
      </p:sp>
      <p:sp>
        <p:nvSpPr>
          <p:cNvPr id="7" name="AutoShape 7"/>
          <p:cNvSpPr/>
          <p:nvPr/>
        </p:nvSpPr>
        <p:spPr>
          <a:xfrm>
            <a:off x="457086" y="2045941"/>
            <a:ext cx="9522" cy="963811"/>
          </a:xfrm>
          <a:prstGeom prst="line">
            <a:avLst/>
          </a:prstGeom>
          <a:ln w="19050">
            <a:solidFill>
              <a:srgbClr val="5B8CB8">
                <a:alpha val="100000"/>
              </a:srgbClr>
            </a:solidFill>
            <a:prstDash val="solid"/>
            <a:headEnd type="none"/>
            <a:tailEnd type="none"/>
          </a:ln>
        </p:spPr>
      </p:sp>
      <p:sp>
        <p:nvSpPr>
          <p:cNvPr id="8" name="TextBox 8"/>
          <p:cNvSpPr txBox="1"/>
          <p:nvPr/>
        </p:nvSpPr>
        <p:spPr>
          <a:xfrm>
            <a:off x="704673" y="2284066"/>
            <a:ext cx="11484279" cy="472380"/>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Open Sans" panose="020B0606030504020204"/>
                <a:ea typeface="Open Sans" panose="020B0606030504020204"/>
                <a:cs typeface="Open Sans" panose="020B0606030504020204"/>
              </a:rPr>
              <a:t>Goodchild, M. F. (2007).</a:t>
            </a:r>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'Citizens as sensors: the world of volunteered geography.' 该文提出了众源地理信息(VGI)理论，阐述了非专业传感器数据在</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GIS中的应用价值，为整合多源异构监测数据提供理论依据。</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9" name="AutoShape 9"/>
          <p:cNvSpPr/>
          <p:nvPr/>
        </p:nvSpPr>
        <p:spPr>
          <a:xfrm>
            <a:off x="457086" y="3276451"/>
            <a:ext cx="11274781" cy="963811"/>
          </a:xfrm>
          <a:prstGeom prst="rect">
            <a:avLst/>
          </a:prstGeom>
          <a:solidFill>
            <a:srgbClr val="E8EBEF">
              <a:alpha val="100000"/>
            </a:srgbClr>
          </a:solidFill>
          <a:ln>
            <a:headEnd type="none"/>
            <a:tailEnd type="none"/>
          </a:ln>
        </p:spPr>
      </p:sp>
      <p:sp>
        <p:nvSpPr>
          <p:cNvPr id="10" name="AutoShape 10"/>
          <p:cNvSpPr/>
          <p:nvPr/>
        </p:nvSpPr>
        <p:spPr>
          <a:xfrm>
            <a:off x="457086" y="3276451"/>
            <a:ext cx="9522" cy="963811"/>
          </a:xfrm>
          <a:prstGeom prst="line">
            <a:avLst/>
          </a:prstGeom>
          <a:ln w="19050">
            <a:solidFill>
              <a:srgbClr val="5B8CB8">
                <a:alpha val="100000"/>
              </a:srgbClr>
            </a:solidFill>
            <a:prstDash val="solid"/>
            <a:headEnd type="none"/>
            <a:tailEnd type="none"/>
          </a:ln>
        </p:spPr>
      </p:sp>
      <p:sp>
        <p:nvSpPr>
          <p:cNvPr id="11" name="TextBox 11"/>
          <p:cNvSpPr txBox="1"/>
          <p:nvPr/>
        </p:nvSpPr>
        <p:spPr>
          <a:xfrm>
            <a:off x="704673" y="3514576"/>
            <a:ext cx="11484279" cy="472380"/>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0A1F3D">
                    <a:alpha val="90196"/>
                  </a:srgbClr>
                </a:solidFill>
                <a:latin typeface="Open Sans" panose="020B0606030504020204"/>
                <a:ea typeface="Open Sans" panose="020B0606030504020204"/>
                <a:cs typeface="Open Sans" panose="020B0606030504020204"/>
              </a:rPr>
              <a:t>Li, S., et al. (2018).</a:t>
            </a:r>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 'Geospatial Big Data Integration for Disaster Management.' 该文系统论述了地理空间大数据融合技术在灾害管理中的应用框架，提</a:t>
            </a:r>
            <a:endParaRPr lang="en-US" sz="1100"/>
          </a:p>
          <a:p>
            <a:pPr algn="l"/>
            <a:r>
              <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出了多源异构数据标准化整合的技术路径与质量评估方法。</a:t>
            </a:r>
            <a:endParaRPr sz="12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FZYaYiHei GB18030L2 R" panose="02000500000000000000" charset="-122"/>
                <a:ea typeface="FZYaYiHei GB18030L2 R" panose="02000500000000000000" charset="-122"/>
                <a:cs typeface="FZYaYiHei GB18030L2 R" panose="02000500000000000000" charset="-122"/>
              </a:rPr>
              <a:t>Research Plan</a:t>
            </a:r>
            <a:endParaRPr lang="en-US" sz="1100"/>
          </a:p>
        </p:txBody>
      </p:sp>
      <p:sp>
        <p:nvSpPr>
          <p:cNvPr id="4" name="TextBox 4"/>
          <p:cNvSpPr txBox="1"/>
          <p:nvPr/>
        </p:nvSpPr>
        <p:spPr>
          <a:xfrm>
            <a:off x="457086" y="790575"/>
            <a:ext cx="11274781" cy="428625"/>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下一步研究计划</a:t>
            </a:r>
            <a:endParaRPr lang="en-US" sz="1100"/>
          </a:p>
        </p:txBody>
      </p:sp>
      <p:sp>
        <p:nvSpPr>
          <p:cNvPr id="5" name="TextBox 5"/>
          <p:cNvSpPr txBox="1"/>
          <p:nvPr/>
        </p:nvSpPr>
        <p:spPr>
          <a:xfrm>
            <a:off x="457086" y="1466850"/>
            <a:ext cx="11274781" cy="456159"/>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下一步将重点从规则驱动向数据驱动演进：优化AI模型权重体系与指标维度，逐步引入机器学习提升智能化水平；改进资源调度逻辑，引入实</a:t>
            </a:r>
            <a:endParaRPr lang="en-US" sz="1100"/>
          </a:p>
          <a:p>
            <a:pPr algn="l"/>
            <a:r>
              <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际路网数据与交通因素，优化距离计算与匹配策略，增强系统在真实应急场景中的适用性。</a:t>
            </a:r>
            <a:endPar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2283916"/>
            <a:ext cx="3580505" cy="4116884"/>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2283916"/>
            <a:ext cx="3580505" cy="9525"/>
          </a:xfrm>
          <a:prstGeom prst="line">
            <a:avLst/>
          </a:prstGeom>
          <a:ln w="28575">
            <a:solidFill>
              <a:srgbClr val="5B8CB8">
                <a:alpha val="100000"/>
              </a:srgbClr>
            </a:solidFill>
            <a:prstDash val="solid"/>
            <a:headEnd type="none"/>
            <a:tailEnd type="none"/>
          </a:ln>
        </p:spPr>
      </p:sp>
      <p:sp>
        <p:nvSpPr>
          <p:cNvPr id="8" name="TextBox 8"/>
          <p:cNvSpPr txBox="1"/>
          <p:nvPr/>
        </p:nvSpPr>
        <p:spPr>
          <a:xfrm>
            <a:off x="733242" y="2598241"/>
            <a:ext cx="3028193"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01</a:t>
            </a:r>
            <a:endParaRPr lang="en-US" sz="1100"/>
          </a:p>
        </p:txBody>
      </p:sp>
      <p:sp>
        <p:nvSpPr>
          <p:cNvPr id="9" name="TextBox 9"/>
          <p:cNvSpPr txBox="1"/>
          <p:nvPr/>
        </p:nvSpPr>
        <p:spPr>
          <a:xfrm>
            <a:off x="733242" y="2926853"/>
            <a:ext cx="3028193"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权重优化与指标扩展</a:t>
            </a:r>
            <a:endParaRPr lang="en-US" sz="1100"/>
          </a:p>
        </p:txBody>
      </p:sp>
      <p:sp>
        <p:nvSpPr>
          <p:cNvPr id="10" name="TextBox 10"/>
          <p:cNvSpPr txBox="1"/>
          <p:nvPr/>
        </p:nvSpPr>
        <p:spPr>
          <a:xfrm>
            <a:off x="733242" y="3389710"/>
            <a:ext cx="3304348" cy="9620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通过敏感性分析调整</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Hazard/Vulnerability/Resource Gap权重配</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比，增加人口密度、基础设施抗灾能力等新</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指标维度，构建更精准的风险评估模型。</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1" name="AutoShape 11"/>
          <p:cNvSpPr/>
          <p:nvPr/>
        </p:nvSpPr>
        <p:spPr>
          <a:xfrm>
            <a:off x="4304223" y="2283916"/>
            <a:ext cx="3580505" cy="4116884"/>
          </a:xfrm>
          <a:prstGeom prst="rect">
            <a:avLst/>
          </a:prstGeom>
          <a:solidFill>
            <a:srgbClr val="E8EBEF">
              <a:alpha val="100000"/>
            </a:srgbClr>
          </a:solidFill>
          <a:ln w="9525">
            <a:solidFill>
              <a:srgbClr val="C5CDD6">
                <a:alpha val="100000"/>
              </a:srgbClr>
            </a:solidFill>
            <a:prstDash val="solid"/>
            <a:headEnd type="none"/>
            <a:tailEnd type="none"/>
          </a:ln>
        </p:spPr>
      </p:sp>
      <p:sp>
        <p:nvSpPr>
          <p:cNvPr id="12" name="AutoShape 12"/>
          <p:cNvSpPr/>
          <p:nvPr/>
        </p:nvSpPr>
        <p:spPr>
          <a:xfrm>
            <a:off x="4304223" y="2283916"/>
            <a:ext cx="3580505" cy="9525"/>
          </a:xfrm>
          <a:prstGeom prst="line">
            <a:avLst/>
          </a:prstGeom>
          <a:ln w="28575">
            <a:solidFill>
              <a:srgbClr val="5B8CB8">
                <a:alpha val="100000"/>
              </a:srgbClr>
            </a:solidFill>
            <a:prstDash val="solid"/>
            <a:headEnd type="none"/>
            <a:tailEnd type="none"/>
          </a:ln>
        </p:spPr>
      </p:sp>
      <p:sp>
        <p:nvSpPr>
          <p:cNvPr id="13" name="TextBox 13"/>
          <p:cNvSpPr txBox="1"/>
          <p:nvPr/>
        </p:nvSpPr>
        <p:spPr>
          <a:xfrm>
            <a:off x="4580379" y="2598241"/>
            <a:ext cx="3028193"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02</a:t>
            </a:r>
            <a:endParaRPr lang="en-US" sz="1100"/>
          </a:p>
        </p:txBody>
      </p:sp>
      <p:sp>
        <p:nvSpPr>
          <p:cNvPr id="14" name="TextBox 14"/>
          <p:cNvSpPr txBox="1"/>
          <p:nvPr/>
        </p:nvSpPr>
        <p:spPr>
          <a:xfrm>
            <a:off x="4580379" y="2926853"/>
            <a:ext cx="3028193"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机器学习智能化升级</a:t>
            </a:r>
            <a:endParaRPr lang="en-US" sz="1100"/>
          </a:p>
        </p:txBody>
      </p:sp>
      <p:sp>
        <p:nvSpPr>
          <p:cNvPr id="15" name="TextBox 15"/>
          <p:cNvSpPr txBox="1"/>
          <p:nvPr/>
        </p:nvSpPr>
        <p:spPr>
          <a:xfrm>
            <a:off x="4580379" y="3389710"/>
            <a:ext cx="3304348" cy="9620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逐步引入机器学习算法替代固定规则，利用</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历史灾害数据训练风险预测模型，实现从规</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则驱动到数据驱动的智能化升级，提升预测</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准确性。</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6" name="AutoShape 16"/>
          <p:cNvSpPr/>
          <p:nvPr/>
        </p:nvSpPr>
        <p:spPr>
          <a:xfrm>
            <a:off x="8151362" y="2283916"/>
            <a:ext cx="3580505" cy="4116884"/>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8151362" y="2283916"/>
            <a:ext cx="3580505" cy="9525"/>
          </a:xfrm>
          <a:prstGeom prst="line">
            <a:avLst/>
          </a:prstGeom>
          <a:ln w="28575">
            <a:solidFill>
              <a:srgbClr val="5B8CB8">
                <a:alpha val="100000"/>
              </a:srgbClr>
            </a:solidFill>
            <a:prstDash val="solid"/>
            <a:headEnd type="none"/>
            <a:tailEnd type="none"/>
          </a:ln>
        </p:spPr>
      </p:sp>
      <p:sp>
        <p:nvSpPr>
          <p:cNvPr id="18" name="TextBox 18"/>
          <p:cNvSpPr txBox="1"/>
          <p:nvPr/>
        </p:nvSpPr>
        <p:spPr>
          <a:xfrm>
            <a:off x="8427518" y="2598241"/>
            <a:ext cx="3028193" cy="142875"/>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50196"/>
                  </a:srgbClr>
                </a:solidFill>
                <a:latin typeface="FZYaYiHei GB18030L2 R" panose="02000500000000000000" charset="-122"/>
                <a:ea typeface="FZYaYiHei GB18030L2 R" panose="02000500000000000000" charset="-122"/>
                <a:cs typeface="FZYaYiHei GB18030L2 R" panose="02000500000000000000" charset="-122"/>
              </a:rPr>
              <a:t>03</a:t>
            </a:r>
            <a:endParaRPr lang="en-US" sz="1100"/>
          </a:p>
        </p:txBody>
      </p:sp>
      <p:sp>
        <p:nvSpPr>
          <p:cNvPr id="19" name="TextBox 19"/>
          <p:cNvSpPr txBox="1"/>
          <p:nvPr/>
        </p:nvSpPr>
        <p:spPr>
          <a:xfrm>
            <a:off x="8427518" y="2926853"/>
            <a:ext cx="3028193"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Source Han Serif CN" panose="02020400000000000000" charset="-122"/>
                <a:ea typeface="Source Han Serif CN" panose="02020400000000000000" charset="-122"/>
                <a:cs typeface="Source Han Serif CN" panose="02020400000000000000" charset="-122"/>
              </a:rPr>
              <a:t>路网数据与实时调度</a:t>
            </a:r>
            <a:endParaRPr lang="en-US" sz="1100"/>
          </a:p>
        </p:txBody>
      </p:sp>
      <p:sp>
        <p:nvSpPr>
          <p:cNvPr id="20" name="TextBox 20"/>
          <p:cNvSpPr txBox="1"/>
          <p:nvPr/>
        </p:nvSpPr>
        <p:spPr>
          <a:xfrm>
            <a:off x="8427518" y="3389710"/>
            <a:ext cx="3304348" cy="9620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引入实际路网数据与Dijkstra等路径算法，结</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合实时交通流量优化资源匹配策略与到达时</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间预估，提升应急响应效率与资源调度实用</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性。</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3" name="AutoShape 3"/>
          <p:cNvSpPr/>
          <p:nvPr/>
        </p:nvSpPr>
        <p:spPr>
          <a:xfrm>
            <a:off x="0" y="0"/>
            <a:ext cx="12188952" cy="6858000"/>
          </a:xfrm>
          <a:prstGeom prst="rect">
            <a:avLst/>
          </a:prstGeom>
          <a:solidFill>
            <a:srgbClr val="0A1F3D">
              <a:alpha val="45098"/>
            </a:srgbClr>
          </a:solidFill>
          <a:ln>
            <a:headEnd type="none"/>
            <a:tailEnd type="none"/>
          </a:ln>
        </p:spPr>
      </p:sp>
      <p:sp>
        <p:nvSpPr>
          <p:cNvPr id="4" name="TextBox 4"/>
          <p:cNvSpPr txBox="1"/>
          <p:nvPr/>
        </p:nvSpPr>
        <p:spPr>
          <a:xfrm>
            <a:off x="2347846" y="2731889"/>
            <a:ext cx="7493259" cy="754261"/>
          </a:xfrm>
          <a:prstGeom prst="rect">
            <a:avLst/>
          </a:prstGeom>
          <a:ln>
            <a:headEnd type="none"/>
            <a:tailEnd type="none"/>
          </a:ln>
        </p:spPr>
        <p:txBody>
          <a:bodyPr vert="horz" wrap="square" lIns="0" tIns="0" rIns="0" bIns="0" rtlCol="0" anchor="t" anchorCtr="1"/>
          <a:lstStyle/>
          <a:p>
            <a:pPr algn="ctr">
              <a:defRPr/>
            </a:pPr>
            <a:r>
              <a:rPr lang="en-US" sz="5400" b="1" i="0" strike="noStrike">
                <a:solidFill>
                  <a:srgbClr val="F1F3F5">
                    <a:alpha val="100000"/>
                  </a:srgbClr>
                </a:solidFill>
                <a:latin typeface="Source Han Serif CN" panose="02020400000000000000" charset="-122"/>
                <a:ea typeface="Source Han Serif CN" panose="02020400000000000000" charset="-122"/>
                <a:cs typeface="Source Han Serif CN" panose="02020400000000000000" charset="-122"/>
              </a:rPr>
              <a:t>感谢聆听</a:t>
            </a:r>
            <a:endParaRPr lang="en-US" sz="1100"/>
          </a:p>
        </p:txBody>
      </p:sp>
      <p:sp>
        <p:nvSpPr>
          <p:cNvPr id="5" name="TextBox 5"/>
          <p:cNvSpPr txBox="1"/>
          <p:nvPr/>
        </p:nvSpPr>
        <p:spPr>
          <a:xfrm>
            <a:off x="2003768" y="3790950"/>
            <a:ext cx="8181417" cy="335161"/>
          </a:xfrm>
          <a:prstGeom prst="rect">
            <a:avLst/>
          </a:prstGeom>
          <a:ln>
            <a:headEnd type="none"/>
            <a:tailEnd type="none"/>
          </a:ln>
        </p:spPr>
        <p:txBody>
          <a:bodyPr vert="horz" wrap="square" lIns="0" tIns="0" rIns="0" bIns="0" rtlCol="0" anchor="t" anchorCtr="1"/>
          <a:lstStyle/>
          <a:p>
            <a:pPr algn="ctr">
              <a:defRPr/>
            </a:pPr>
            <a:r>
              <a:rPr lang="en-US" sz="1600" b="0" i="0" strike="noStrike">
                <a:solidFill>
                  <a:srgbClr val="F1F3F5">
                    <a:alpha val="94901"/>
                  </a:srgbClr>
                </a:solidFill>
                <a:latin typeface="FZYaYiHei GB18030L2 R" panose="02000500000000000000" charset="-122"/>
                <a:ea typeface="FZYaYiHei GB18030L2 R" panose="02000500000000000000" charset="-122"/>
                <a:cs typeface="FZYaYiHei GB18030L2 R" panose="02000500000000000000" charset="-122"/>
              </a:rPr>
              <a:t>多源数据融合 · 轻量AI分析 · 智能应急响应</a:t>
            </a:r>
            <a:endParaRPr lang="en-US" sz="1100"/>
          </a:p>
        </p:txBody>
      </p:sp>
      <p:pic>
        <p:nvPicPr>
          <p:cNvPr id="99999" name="WatermarkAigc"/>
          <p:cNvPicPr>
            <a:picLocks noChangeAspect="1"/>
          </p:cNvPicPr>
          <p:nvPr/>
        </p:nvPicPr>
        <p:blipFill>
          <a:blip r:embed="rId2"/>
          <a:stretch>
            <a:fillRect/>
          </a:stretch>
        </p:blipFill>
        <p:spPr>
          <a:xfrm>
            <a:off x="10807700" y="6413500"/>
            <a:ext cx="11938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6259</Words>
  <Application>WPS 演示</Application>
  <PresentationFormat>On-screen Show (4:3)</PresentationFormat>
  <Paragraphs>393</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宋体</vt:lpstr>
      <vt:lpstr>Wingdings</vt:lpstr>
      <vt:lpstr>Source Han Serif CN</vt:lpstr>
      <vt:lpstr>FZYaYiHei GB18030L2 R</vt:lpstr>
      <vt:lpstr>"FZYaYiHei GB18030L2 R", sans-serif</vt:lpstr>
      <vt:lpstr>Segoe Print</vt:lpstr>
      <vt:lpstr>"Open Sans", sans-serif</vt:lpstr>
      <vt:lpstr>Open Sans</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无令</cp:lastModifiedBy>
  <cp:revision>2</cp:revision>
  <dcterms:created xsi:type="dcterms:W3CDTF">2006-08-16T00:00:00Z</dcterms:created>
  <dcterms:modified xsi:type="dcterms:W3CDTF">2026-06-21T16:10:20Z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2052-12.1.0.26884</vt:lpwstr>
  </property>
  <property fmtid="{D5CDD505-2E9C-101B-9397-08002B2CF9AE}" pid="3" name="ICV">
    <vt:lpwstr>5DDC3A4526DD43BDA253818AF096AFC0_12</vt:lpwstr>
  </property>
</Properties>
</file>