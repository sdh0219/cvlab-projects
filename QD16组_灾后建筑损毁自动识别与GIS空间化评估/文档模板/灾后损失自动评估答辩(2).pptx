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none"/>
        <c:varyColors val="0"/>
        <c:ser>
          <c:idx val="0"/>
          <c:order val="0"/>
          <c:tx>
            <c:strRef>
              <c:f>F1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563EB"/>
            </a:solidFill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{"完好","轻微损毁","严重损毁","完全损毁"}</c:f>
              <c:strCache>
                <c:ptCount val="4"/>
                <c:pt idx="0">
                  <c:v>完好</c:v>
                </c:pt>
                <c:pt idx="1">
                  <c:v>轻微损毁</c:v>
                </c:pt>
                <c:pt idx="2">
                  <c:v>严重损毁</c:v>
                </c:pt>
                <c:pt idx="3">
                  <c:v>完全损毁</c:v>
                </c:pt>
              </c:strCache>
            </c:strRef>
          </c:cat>
          <c:val>
            <c:numRef>
              <c:f>{0.65,0.33,0.49,0.54}</c:f>
              <c:numCache>
                <c:formatCode>General</c:formatCode>
                <c:ptCount val="4"/>
                <c:pt idx="0">
                  <c:v>0.65</c:v>
                </c:pt>
                <c:pt idx="1">
                  <c:v>0.33</c:v>
                </c:pt>
                <c:pt idx="2">
                  <c:v>0.49</c:v>
                </c:pt>
                <c:pt idx="3">
                  <c:v>0.54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0b12a15f-7c34-42ce-912d-886d32809a40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tags" Target="../tags/tag19.xml"/><Relationship Id="rId20" Type="http://schemas.openxmlformats.org/officeDocument/2006/relationships/tags" Target="../tags/tag20.xml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171450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93C5FD"/>
                </a:solidFill>
              </a:defRPr>
            </a:pPr>
            <a:r>
              <a:rPr sz="1350" b="1">
                <a:solidFill>
                  <a:srgbClr val="93C5FD"/>
                </a:solidFill>
              </a:rPr>
              <a:t>项目16：灾后重建 · 模块4</a:t>
            </a:r>
            <a:endParaRPr sz="1350" b="1">
              <a:solidFill>
                <a:srgbClr val="93C5FD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2190750"/>
            <a:ext cx="10820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灾后损失自动评估与三维建模</a:t>
            </a:r>
            <a:endParaRPr sz="3300" b="1">
              <a:solidFill>
                <a:srgbClr val="FFFFFF"/>
              </a:solidFill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3619500" y="3095625"/>
            <a:ext cx="4953000" cy="28575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3333750"/>
            <a:ext cx="10820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>
                <a:solidFill>
                  <a:srgbClr val="BFDBFE"/>
                </a:solidFill>
              </a:defRPr>
            </a:pPr>
            <a:r>
              <a:rPr sz="1650">
                <a:solidFill>
                  <a:srgbClr val="BFDBFE"/>
                </a:solidFill>
              </a:rPr>
              <a:t>遥感影像深度学习损毁识别（A线）</a:t>
            </a:r>
            <a:endParaRPr sz="1650">
              <a:solidFill>
                <a:srgbClr val="BFDBFE"/>
              </a:solidFill>
            </a:endParaRPr>
          </a:p>
          <a:p>
            <a:pPr algn="ctr">
              <a:defRPr sz="1650">
                <a:solidFill>
                  <a:srgbClr val="BFDBFE"/>
                </a:solidFill>
              </a:defRPr>
            </a:pPr>
            <a:r>
              <a:rPr sz="1650">
                <a:solidFill>
                  <a:srgbClr val="BFDBFE"/>
                </a:solidFill>
              </a:rPr>
              <a:t>与无人机摄影测量三维重建及体积估算（B线）</a:t>
            </a:r>
            <a:endParaRPr sz="1650">
              <a:solidFill>
                <a:srgbClr val="BFDBFE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5800" y="4953000"/>
            <a:ext cx="10820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64748B"/>
                </a:solidFill>
              </a:defRPr>
            </a:pPr>
            <a:r>
              <a:rPr sz="1125">
                <a:solidFill>
                  <a:srgbClr val="64748B"/>
                </a:solidFill>
              </a:rPr>
              <a:t>二〇二六年六月</a:t>
            </a:r>
            <a:endParaRPr sz="1125">
              <a:solidFill>
                <a:srgbClr val="64748B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64000" y="430530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/>
                </a:solidFill>
              </a:rPr>
              <a:t>项目：灾后建筑损毁自动识别与GIS空间化评估</a:t>
            </a:r>
            <a:endParaRPr lang="zh-CN" altLang="en-US">
              <a:solidFill>
                <a:schemeClr val="bg1"/>
              </a:solidFill>
            </a:endParaRPr>
          </a:p>
          <a:p>
            <a:pPr algn="ctr"/>
            <a:r>
              <a:rPr lang="zh-CN" altLang="en-US">
                <a:solidFill>
                  <a:schemeClr val="bg1"/>
                </a:solidFill>
              </a:rPr>
              <a:t>项目：灾后建筑损毁自动识别与GIS空间化评估</a:t>
            </a:r>
            <a:r>
              <a:rPr lang="en-US" altLang="zh-CN">
                <a:solidFill>
                  <a:schemeClr val="bg1"/>
                </a:solidFill>
              </a:rPr>
              <a:t/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/>
            </a:r>
            <a:r>
              <a:rPr lang="en-US" altLang="zh-CN">
                <a:solidFill>
                  <a:schemeClr val="bg1"/>
                </a:solidFill>
                <a:ea typeface="宋体" panose="02010600030101010101" pitchFamily="2" charset="-122"/>
              </a:rPr>
              <a:t/>
            </a:r>
            <a:endParaRPr lang="en-US" altLang="zh-CN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49530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项目背景与评估需求</a:t>
            </a:r>
            <a:endParaRPr sz="2700" b="1">
              <a:solidFill>
                <a:srgbClr val="0F172A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85800" y="10287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85800" y="1257300"/>
            <a:ext cx="5143500" cy="180975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914400" y="14478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14400" y="1485900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!</a:t>
            </a:r>
            <a:endParaRPr sz="1500" b="1">
              <a:solidFill>
                <a:srgbClr val="DC2626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28750" y="14668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传统方法的痛点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1028700" y="2019300"/>
            <a:ext cx="57150" cy="57150"/>
          </a:xfrm>
          <a:prstGeom prst="ellipse">
            <a:avLst/>
          </a:prstGeom>
          <a:solidFill>
            <a:srgbClr val="EF4444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81100" y="19431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响应慢：依赖人工现场踏勘或专家目视判读</a:t>
            </a:r>
            <a:endParaRPr sz="1125">
              <a:solidFill>
                <a:srgbClr val="475569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1028700" y="2343150"/>
            <a:ext cx="57150" cy="57150"/>
          </a:xfrm>
          <a:prstGeom prst="ellipse">
            <a:avLst/>
          </a:prstGeom>
          <a:solidFill>
            <a:srgbClr val="EF4444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81100" y="226695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主观性强：不同判读人员标准不一</a:t>
            </a:r>
            <a:endParaRPr sz="1125">
              <a:solidFill>
                <a:srgbClr val="475569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028700" y="2667000"/>
            <a:ext cx="57150" cy="57150"/>
          </a:xfrm>
          <a:prstGeom prst="ellipse">
            <a:avLst/>
          </a:prstGeom>
          <a:solidFill>
            <a:srgbClr val="EF4444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81100" y="2590800"/>
            <a:ext cx="447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覆盖有限：难以快速覆盖大范围灾区</a:t>
            </a:r>
            <a:endParaRPr sz="1125">
              <a:solidFill>
                <a:srgbClr val="475569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096000" y="1257300"/>
            <a:ext cx="5410200" cy="1809750"/>
          </a:xfrm>
          <a:prstGeom prst="roundRect">
            <a:avLst>
              <a:gd name="adj" fmla="val 8421"/>
            </a:avLst>
          </a:prstGeom>
          <a:gradFill>
            <a:gsLst>
              <a:gs pos="0">
                <a:srgbClr val="1E3A5F"/>
              </a:gs>
              <a:gs pos="100000">
                <a:srgbClr val="1E40AF"/>
              </a:gs>
            </a:gsLst>
            <a:lin ang="8100000"/>
          </a:gradFill>
          <a:ln w="0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  <p:txBody>
          <a:bodyPr/>
          <a:p/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286500" y="1638300"/>
            <a:ext cx="5029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地震 · 海啸 · 飓风 · 野火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286500" y="2209800"/>
            <a:ext cx="50292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BFDBFE"/>
                </a:solidFill>
              </a:defRPr>
            </a:pPr>
            <a:r>
              <a:rPr sz="1125">
                <a:solidFill>
                  <a:srgbClr val="BFDBFE"/>
                </a:solidFill>
              </a:rPr>
              <a:t>突发灾害发生后，快速掌握建筑物</a:t>
            </a:r>
            <a:endParaRPr sz="1125">
              <a:solidFill>
                <a:srgbClr val="BFDBFE"/>
              </a:solidFill>
            </a:endParaRPr>
          </a:p>
          <a:p>
            <a:pPr algn="ctr">
              <a:defRPr sz="1125">
                <a:solidFill>
                  <a:srgbClr val="BFDBFE"/>
                </a:solidFill>
              </a:defRPr>
            </a:pPr>
            <a:r>
              <a:rPr sz="1125">
                <a:solidFill>
                  <a:srgbClr val="BFDBFE"/>
                </a:solidFill>
              </a:rPr>
              <a:t>受损情况是应急响应与重建的前提</a:t>
            </a:r>
            <a:endParaRPr sz="1125">
              <a:solidFill>
                <a:srgbClr val="BFDBFE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85800" y="3352800"/>
            <a:ext cx="10820400" cy="295275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14400" y="3543300"/>
            <a:ext cx="38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1E40AF"/>
                </a:solidFill>
              </a:defRPr>
            </a:pPr>
            <a:r>
              <a:rPr sz="1500" b="1">
                <a:solidFill>
                  <a:srgbClr val="1E40AF"/>
                </a:solidFill>
              </a:rPr>
              <a:t>✓</a:t>
            </a:r>
            <a:endParaRPr sz="1500" b="1">
              <a:solidFill>
                <a:srgbClr val="1E40A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257300" y="356235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项目评估需求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1028700" y="4038600"/>
            <a:ext cx="1000125" cy="28575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028700" y="407670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E40AF"/>
                </a:solidFill>
              </a:defRPr>
            </a:pPr>
            <a:r>
              <a:rPr sz="1050" b="1">
                <a:solidFill>
                  <a:srgbClr val="1E40AF"/>
                </a:solidFill>
              </a:rPr>
              <a:t>自动化</a:t>
            </a:r>
            <a:endParaRPr sz="1050" b="1">
              <a:solidFill>
                <a:srgbClr val="1E40A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162175" y="40767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从影像直接输出损毁结果，减少人工判读</a:t>
            </a:r>
            <a:endParaRPr sz="1200">
              <a:solidFill>
                <a:srgbClr val="475569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1028700" y="4533900"/>
            <a:ext cx="1000125" cy="28575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28700" y="457200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E40AF"/>
                </a:solidFill>
              </a:defRPr>
            </a:pPr>
            <a:r>
              <a:rPr sz="1050" b="1">
                <a:solidFill>
                  <a:srgbClr val="1E40AF"/>
                </a:solidFill>
              </a:rPr>
              <a:t>分级与量化</a:t>
            </a:r>
            <a:endParaRPr sz="1050" b="1">
              <a:solidFill>
                <a:srgbClr val="1E40A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162175" y="45720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逐栋定级，统计数量、面积，估算损毁体积</a:t>
            </a:r>
            <a:endParaRPr sz="1200">
              <a:solidFill>
                <a:srgbClr val="475569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1028700" y="5029200"/>
            <a:ext cx="1000125" cy="28575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28700" y="506730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E40AF"/>
                </a:solidFill>
              </a:defRPr>
            </a:pPr>
            <a:r>
              <a:rPr sz="1050" b="1">
                <a:solidFill>
                  <a:srgbClr val="1E40AF"/>
                </a:solidFill>
              </a:rPr>
              <a:t>可空间定位</a:t>
            </a:r>
            <a:endParaRPr sz="1050" b="1">
              <a:solidFill>
                <a:srgbClr val="1E40AF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162175" y="50673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落到真实地理坐标，形成损毁分布图与三维成果</a:t>
            </a:r>
            <a:endParaRPr sz="1200">
              <a:solidFill>
                <a:srgbClr val="475569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1028700" y="5524500"/>
            <a:ext cx="1000125" cy="285750"/>
          </a:xfrm>
          <a:prstGeom prst="roundRect">
            <a:avLst>
              <a:gd name="adj" fmla="val 26667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28700" y="5562600"/>
            <a:ext cx="1000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E40AF"/>
                </a:solidFill>
              </a:defRPr>
            </a:pPr>
            <a:r>
              <a:rPr sz="1050" b="1">
                <a:solidFill>
                  <a:srgbClr val="1E40AF"/>
                </a:solidFill>
              </a:rPr>
              <a:t>可集成</a:t>
            </a:r>
            <a:endParaRPr sz="1050" b="1">
              <a:solidFill>
                <a:srgbClr val="1E40AF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162175" y="556260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接入既有GIS系统进行叠加分析</a:t>
            </a:r>
            <a:endParaRPr sz="1200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49530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总体技术路线：A/B双线互补架构</a:t>
            </a:r>
            <a:endParaRPr sz="2700" b="1">
              <a:solidFill>
                <a:srgbClr val="0F172A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85800" y="10287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85800" y="1257300"/>
            <a:ext cx="485775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914400" y="14478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14400" y="14859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47800" y="1466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A线：遥感影像损毁识别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47800" y="17145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大范围快速筛查</a:t>
            </a:r>
            <a:endParaRPr sz="1050" b="1">
              <a:solidFill>
                <a:srgbClr val="2563EB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914400" y="2019300"/>
            <a:ext cx="4400550" cy="190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28700" y="2171700"/>
            <a:ext cx="762000" cy="247650"/>
          </a:xfrm>
          <a:prstGeom prst="roundRect">
            <a:avLst>
              <a:gd name="adj" fmla="val 30769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28700" y="2209800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E40AF"/>
                </a:solidFill>
              </a:defRPr>
            </a:pPr>
            <a:r>
              <a:rPr sz="1050" b="1">
                <a:solidFill>
                  <a:srgbClr val="1E40AF"/>
                </a:solidFill>
              </a:rPr>
              <a:t>输入</a:t>
            </a:r>
            <a:endParaRPr sz="1050" b="1">
              <a:solidFill>
                <a:srgbClr val="1E40A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924050" y="2190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灾前/灾后高分辨率卫星影像（0.5m GSD）</a:t>
            </a:r>
            <a:endParaRPr sz="1125">
              <a:solidFill>
                <a:srgbClr val="475569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028700" y="2762250"/>
            <a:ext cx="762000" cy="247650"/>
          </a:xfrm>
          <a:prstGeom prst="roundRect">
            <a:avLst>
              <a:gd name="adj" fmla="val 30769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28700" y="2800350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E40AF"/>
                </a:solidFill>
              </a:defRPr>
            </a:pPr>
            <a:r>
              <a:rPr sz="1050" b="1">
                <a:solidFill>
                  <a:srgbClr val="1E40AF"/>
                </a:solidFill>
              </a:rPr>
              <a:t>方法</a:t>
            </a:r>
            <a:endParaRPr sz="1050" b="1">
              <a:solidFill>
                <a:srgbClr val="1E40A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924050" y="27813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孪生变化检测网络（ResNet34 + U-Net）</a:t>
            </a:r>
            <a:endParaRPr sz="1125">
              <a:solidFill>
                <a:srgbClr val="475569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028700" y="3352800"/>
            <a:ext cx="762000" cy="247650"/>
          </a:xfrm>
          <a:prstGeom prst="roundRect">
            <a:avLst>
              <a:gd name="adj" fmla="val 30769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28700" y="3390900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E40AF"/>
                </a:solidFill>
              </a:defRPr>
            </a:pPr>
            <a:r>
              <a:rPr sz="1050" b="1">
                <a:solidFill>
                  <a:srgbClr val="1E40AF"/>
                </a:solidFill>
              </a:rPr>
              <a:t>输出</a:t>
            </a:r>
            <a:endParaRPr sz="1050" b="1">
              <a:solidFill>
                <a:srgbClr val="1E40A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924050" y="3371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逐栋四级损毁分级 + 损毁面积</a:t>
            </a:r>
            <a:endParaRPr sz="1125">
              <a:solidFill>
                <a:srgbClr val="475569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1028700" y="3943350"/>
            <a:ext cx="762000" cy="247650"/>
          </a:xfrm>
          <a:prstGeom prst="roundRect">
            <a:avLst>
              <a:gd name="adj" fmla="val 30769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28700" y="3981450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E40AF"/>
                </a:solidFill>
              </a:defRPr>
            </a:pPr>
            <a:r>
              <a:rPr sz="1050" b="1">
                <a:solidFill>
                  <a:srgbClr val="1E40AF"/>
                </a:solidFill>
              </a:rPr>
              <a:t>空间化</a:t>
            </a:r>
            <a:endParaRPr sz="1050" b="1">
              <a:solidFill>
                <a:srgbClr val="1E40A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924050" y="39624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地理配准 -&gt; PostGIS -&gt; Cesium三维地球</a:t>
            </a:r>
            <a:endParaRPr sz="1125">
              <a:solidFill>
                <a:srgbClr val="475569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5695950" y="2933700"/>
            <a:ext cx="533400" cy="457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695950" y="30480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>
                <a:solidFill>
                  <a:srgbClr val="64748B"/>
                </a:solidFill>
              </a:defRPr>
            </a:pPr>
            <a:r>
              <a:rPr sz="1800">
                <a:solidFill>
                  <a:srgbClr val="64748B"/>
                </a:solidFill>
              </a:rPr>
              <a:t>→</a:t>
            </a:r>
            <a:endParaRPr sz="1800">
              <a:solidFill>
                <a:srgbClr val="64748B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638800" y="3505200"/>
            <a:ext cx="6477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>
                <a:solidFill>
                  <a:srgbClr val="64748B"/>
                </a:solidFill>
              </a:defRPr>
            </a:pPr>
            <a:r>
              <a:rPr sz="825">
                <a:solidFill>
                  <a:srgbClr val="64748B"/>
                </a:solidFill>
              </a:rPr>
              <a:t>锁定重灾</a:t>
            </a:r>
            <a:endParaRPr sz="825">
              <a:solidFill>
                <a:srgbClr val="64748B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343650" y="1257300"/>
            <a:ext cx="4857750" cy="381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572250" y="14478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05966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572250" y="1485900"/>
            <a:ext cx="419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105650" y="14668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B线：无人机三维重建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105650" y="1714500"/>
            <a:ext cx="285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重点建筑精细评估</a:t>
            </a:r>
            <a:endParaRPr sz="1050" b="1">
              <a:solidFill>
                <a:srgbClr val="059669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6572250" y="2019300"/>
            <a:ext cx="4400550" cy="1905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6686550" y="2171700"/>
            <a:ext cx="762000" cy="247650"/>
          </a:xfrm>
          <a:prstGeom prst="roundRect">
            <a:avLst>
              <a:gd name="adj" fmla="val 30769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686550" y="2209800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E40AF"/>
                </a:solidFill>
              </a:defRPr>
            </a:pPr>
            <a:r>
              <a:rPr sz="1050" b="1">
                <a:solidFill>
                  <a:srgbClr val="1E40AF"/>
                </a:solidFill>
              </a:rPr>
              <a:t>输入</a:t>
            </a:r>
            <a:endParaRPr sz="1050" b="1">
              <a:solidFill>
                <a:srgbClr val="1E40AF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581900" y="21907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无人机倾斜/多视影像（含EXIF地理坐标）</a:t>
            </a:r>
            <a:endParaRPr sz="1125">
              <a:solidFill>
                <a:srgbClr val="475569"/>
              </a:solidFill>
            </a:endParaRPr>
          </a:p>
        </p:txBody>
      </p:sp>
      <p:sp>
        <p:nvSpPr>
          <p:cNvPr id="34" name="圆角矩形 33"/>
          <p:cNvSpPr>
            <a:spLocks noGrp="1"/>
          </p:cNvSpPr>
          <p:nvPr/>
        </p:nvSpPr>
        <p:spPr>
          <a:xfrm>
            <a:off x="6686550" y="2762250"/>
            <a:ext cx="762000" cy="247650"/>
          </a:xfrm>
          <a:prstGeom prst="roundRect">
            <a:avLst>
              <a:gd name="adj" fmla="val 30769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686550" y="2800350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E40AF"/>
                </a:solidFill>
              </a:defRPr>
            </a:pPr>
            <a:r>
              <a:rPr sz="1050" b="1">
                <a:solidFill>
                  <a:srgbClr val="1E40AF"/>
                </a:solidFill>
              </a:rPr>
              <a:t>方法</a:t>
            </a:r>
            <a:endParaRPr sz="1050" b="1">
              <a:solidFill>
                <a:srgbClr val="1E40AF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7581900" y="27813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OpenDroneMap（SfM + MVS + 网格重建）</a:t>
            </a:r>
            <a:endParaRPr sz="1125">
              <a:solidFill>
                <a:srgbClr val="475569"/>
              </a:solidFill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6686550" y="3352800"/>
            <a:ext cx="762000" cy="247650"/>
          </a:xfrm>
          <a:prstGeom prst="roundRect">
            <a:avLst>
              <a:gd name="adj" fmla="val 30769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686550" y="3390900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E40AF"/>
                </a:solidFill>
              </a:defRPr>
            </a:pPr>
            <a:r>
              <a:rPr sz="1050" b="1">
                <a:solidFill>
                  <a:srgbClr val="1E40AF"/>
                </a:solidFill>
              </a:rPr>
              <a:t>输出</a:t>
            </a:r>
            <a:endParaRPr sz="1050" b="1">
              <a:solidFill>
                <a:srgbClr val="1E40AF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7581900" y="337185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三维模型、点云、5cm DSM、正射影像</a:t>
            </a:r>
            <a:endParaRPr sz="1125">
              <a:solidFill>
                <a:srgbClr val="475569"/>
              </a:solidFill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6686550" y="3943350"/>
            <a:ext cx="762000" cy="247650"/>
          </a:xfrm>
          <a:prstGeom prst="roundRect">
            <a:avLst>
              <a:gd name="adj" fmla="val 30769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686550" y="3981450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E40AF"/>
                </a:solidFill>
              </a:defRPr>
            </a:pPr>
            <a:r>
              <a:rPr sz="1050" b="1">
                <a:solidFill>
                  <a:srgbClr val="1E40AF"/>
                </a:solidFill>
              </a:rPr>
              <a:t>体积</a:t>
            </a:r>
            <a:endParaRPr sz="1050" b="1">
              <a:solidFill>
                <a:srgbClr val="1E40AF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7581900" y="3962400"/>
            <a:ext cx="342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相对基准面方量法估算损毁体积</a:t>
            </a:r>
            <a:endParaRPr sz="1125">
              <a:solidFill>
                <a:srgbClr val="475569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85800" y="5257800"/>
            <a:ext cx="10820400" cy="419100"/>
          </a:xfrm>
          <a:prstGeom prst="roundRect">
            <a:avLst>
              <a:gd name="adj" fmla="val 27273"/>
            </a:avLst>
          </a:prstGeom>
          <a:gradFill>
            <a:gsLst>
              <a:gs pos="0">
                <a:srgbClr val="2563EB"/>
              </a:gs>
              <a:gs pos="100000">
                <a:srgbClr val="059669"/>
              </a:gs>
            </a:gsLst>
            <a:lin ang="5400000"/>
          </a:gradFill>
          <a:ln w="0">
            <a:noFill/>
            <a:prstDash val="solid"/>
          </a:ln>
        </p:spPr>
        <p:txBody>
          <a:bodyPr/>
          <a:p/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876300" y="5334000"/>
            <a:ext cx="10439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>
                    <a:alpha val="85000"/>
                  </a:srgbClr>
                </a:solidFill>
              </a:defRPr>
            </a:pPr>
            <a:r>
              <a:rPr sz="1125" b="1">
                <a:solidFill>
                  <a:srgbClr val="FFFFFF">
                    <a:alpha val="85000"/>
                  </a:srgbClr>
                </a:solidFill>
              </a:rPr>
              <a:t>广域筛查  -&gt;  锁定重灾建筑  -&gt;  无人机精细三维重建  -&gt;  体积估算与重建决策</a:t>
            </a:r>
            <a:endParaRPr sz="1125" b="1">
              <a:solidFill>
                <a:srgbClr val="FFFFFF">
                  <a:alpha val="85000"/>
                </a:srgb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85800" y="4953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5524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238250" y="49530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数据来源：xBD（xView2）数据集</a:t>
            </a:r>
            <a:endParaRPr sz="2700" b="1">
              <a:solidFill>
                <a:srgbClr val="0F172A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0287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1257300"/>
            <a:ext cx="10820400" cy="104775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1428750"/>
            <a:ext cx="256794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xBD建筑损毁评估数据集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184785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影像分辨率:  ~0.5 m GSD</a:t>
            </a:r>
            <a:endParaRPr sz="1125" b="1">
              <a:solidFill>
                <a:srgbClr val="0F172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4381500" y="184785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灾害类型:  地震/海啸/飓风/野火等</a:t>
            </a:r>
            <a:endParaRPr sz="1125" b="1">
              <a:solidFill>
                <a:srgbClr val="0F172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810500" y="1847850"/>
            <a:ext cx="3238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损毁标度:  四级：完好/轻微/严重/完全</a:t>
            </a:r>
            <a:endParaRPr sz="1125" b="1">
              <a:solidFill>
                <a:srgbClr val="0F172A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685800" y="2571750"/>
            <a:ext cx="108204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52500" y="2743200"/>
            <a:ext cx="238188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数据划分与标注栅格化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952500" y="3124200"/>
            <a:ext cx="3238500" cy="76200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43000" y="32004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训练集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143000" y="34290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1E40AF"/>
                </a:solidFill>
              </a:defRPr>
            </a:pPr>
            <a:r>
              <a:rPr sz="2100" b="1">
                <a:solidFill>
                  <a:srgbClr val="1E40AF"/>
                </a:solidFill>
              </a:rPr>
              <a:t>2,799对</a:t>
            </a:r>
            <a:endParaRPr sz="2100" b="1">
              <a:solidFill>
                <a:srgbClr val="1E40A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286000" y="33528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配对影像</a:t>
            </a:r>
            <a:endParaRPr sz="1050">
              <a:solidFill>
                <a:srgbClr val="64748B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4457700" y="3124200"/>
            <a:ext cx="3238500" cy="76200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648200" y="32004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验证集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648200" y="34290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65F46"/>
                </a:solidFill>
              </a:defRPr>
            </a:pPr>
            <a:r>
              <a:rPr sz="2100" b="1">
                <a:solidFill>
                  <a:srgbClr val="065F46"/>
                </a:solidFill>
              </a:rPr>
              <a:t>933对</a:t>
            </a:r>
            <a:endParaRPr sz="2100" b="1">
              <a:solidFill>
                <a:srgbClr val="065F46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791200" y="3352800"/>
            <a:ext cx="171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配对影像</a:t>
            </a:r>
            <a:endParaRPr sz="1050">
              <a:solidFill>
                <a:srgbClr val="64748B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924800" y="3124200"/>
            <a:ext cx="3476625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15300" y="3200400"/>
            <a:ext cx="30956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标注特点：双坐标体系</a:t>
            </a:r>
            <a:endParaRPr sz="1125" b="1">
              <a:solidFill>
                <a:srgbClr val="0F172A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115300" y="3429000"/>
            <a:ext cx="3095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WKT多边形 -&gt; 定位掩膜+损毁掩膜</a:t>
            </a:r>
            <a:endParaRPr sz="975">
              <a:solidFill>
                <a:srgbClr val="64748B"/>
              </a:solidFill>
            </a:endParaRPr>
          </a:p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xy（像素）+ lng_lat（地理）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066800" y="4533900"/>
            <a:ext cx="1000125" cy="266700"/>
          </a:xfrm>
          <a:prstGeom prst="roundRect">
            <a:avLst>
              <a:gd name="adj" fmla="val 28571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66800" y="4572000"/>
            <a:ext cx="1000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E40AF"/>
                </a:solidFill>
              </a:defRPr>
            </a:pPr>
            <a:r>
              <a:rPr sz="1050" b="1">
                <a:solidFill>
                  <a:srgbClr val="1E40AF"/>
                </a:solidFill>
              </a:rPr>
              <a:t>定位掩膜</a:t>
            </a:r>
            <a:endParaRPr sz="1050" b="1">
              <a:solidFill>
                <a:srgbClr val="1E40A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209800" y="45529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建筑/背景二分类（来自灾前标注）</a:t>
            </a:r>
            <a:endParaRPr sz="1125">
              <a:solidFill>
                <a:srgbClr val="475569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1066800" y="4991100"/>
            <a:ext cx="1000125" cy="266700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66800" y="5029200"/>
            <a:ext cx="1000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1E40AF"/>
                </a:solidFill>
              </a:defRPr>
            </a:pPr>
            <a:r>
              <a:rPr sz="1050" b="1">
                <a:solidFill>
                  <a:srgbClr val="1E40AF"/>
                </a:solidFill>
              </a:rPr>
              <a:t>损毁掩膜</a:t>
            </a:r>
            <a:endParaRPr sz="1050" b="1">
              <a:solidFill>
                <a:srgbClr val="1E40AF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209800" y="5010150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0~4级损毁像素级监督（来自灾后标注）</a:t>
            </a:r>
            <a:endParaRPr sz="1125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85800" y="4953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5524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238250" y="49530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A线方法：孪生变化检测网络</a:t>
            </a:r>
            <a:endParaRPr sz="2700" b="1">
              <a:solidFill>
                <a:srgbClr val="0F172A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0287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1257300"/>
            <a:ext cx="108204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14097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网络结构：Siamese + U-Net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71550" y="1828800"/>
            <a:ext cx="1047750" cy="3048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188595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E40AF"/>
                </a:solidFill>
              </a:defRPr>
            </a:pPr>
            <a:r>
              <a:rPr sz="975" b="1">
                <a:solidFill>
                  <a:srgbClr val="1E40AF"/>
                </a:solidFill>
              </a:rPr>
              <a:t>灾前影像</a:t>
            </a:r>
            <a:endParaRPr sz="975" b="1">
              <a:solidFill>
                <a:srgbClr val="1E40AF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971550" y="2247900"/>
            <a:ext cx="1047750" cy="304800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71550" y="230505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E40AF"/>
                </a:solidFill>
              </a:defRPr>
            </a:pPr>
            <a:r>
              <a:rPr sz="975" b="1">
                <a:solidFill>
                  <a:srgbClr val="1E40AF"/>
                </a:solidFill>
              </a:rPr>
              <a:t>灾后影像</a:t>
            </a:r>
            <a:endParaRPr sz="975" b="1">
              <a:solidFill>
                <a:srgbClr val="1E40AF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2305050" y="1885950"/>
            <a:ext cx="1333500" cy="609600"/>
          </a:xfrm>
          <a:prstGeom prst="roundRect">
            <a:avLst>
              <a:gd name="adj" fmla="val 18750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8100000"/>
          </a:gra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400300" y="19621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ResNet34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400300" y="217170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>
                <a:solidFill>
                  <a:srgbClr val="BFDBFE"/>
                </a:solidFill>
              </a:defRPr>
            </a:pPr>
            <a:r>
              <a:rPr sz="825">
                <a:solidFill>
                  <a:srgbClr val="BFDBFE"/>
                </a:solidFill>
              </a:rPr>
              <a:t>共享权重编码器</a:t>
            </a:r>
            <a:endParaRPr sz="825">
              <a:solidFill>
                <a:srgbClr val="BFDBFE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4019550" y="1733550"/>
            <a:ext cx="1428750" cy="457200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114800" y="177165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65F46"/>
                </a:solidFill>
              </a:defRPr>
            </a:pPr>
            <a:r>
              <a:rPr sz="1050" b="1">
                <a:solidFill>
                  <a:srgbClr val="065F46"/>
                </a:solidFill>
              </a:rPr>
              <a:t>U-Net定位头</a:t>
            </a:r>
            <a:endParaRPr sz="1050" b="1">
              <a:solidFill>
                <a:srgbClr val="065F46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4114800" y="19621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>
                <a:solidFill>
                  <a:srgbClr val="047857"/>
                </a:solidFill>
              </a:defRPr>
            </a:pPr>
            <a:r>
              <a:rPr sz="825">
                <a:solidFill>
                  <a:srgbClr val="047857"/>
                </a:solidFill>
              </a:rPr>
              <a:t>建筑/背景 二分类</a:t>
            </a:r>
            <a:endParaRPr sz="825">
              <a:solidFill>
                <a:srgbClr val="047857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019550" y="2286000"/>
            <a:ext cx="1428750" cy="4572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114800" y="23241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92400E"/>
                </a:solidFill>
              </a:defRPr>
            </a:pPr>
            <a:r>
              <a:rPr sz="1050" b="1">
                <a:solidFill>
                  <a:srgbClr val="92400E"/>
                </a:solidFill>
              </a:rPr>
              <a:t>U-Net损毁头</a:t>
            </a:r>
            <a:endParaRPr sz="1050" b="1">
              <a:solidFill>
                <a:srgbClr val="92400E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114800" y="251460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>
                <a:solidFill>
                  <a:srgbClr val="A16207"/>
                </a:solidFill>
              </a:defRPr>
            </a:pPr>
            <a:r>
              <a:rPr sz="825">
                <a:solidFill>
                  <a:srgbClr val="A16207"/>
                </a:solidFill>
              </a:rPr>
              <a:t>逐层绝对差 -&gt; 5类分级</a:t>
            </a:r>
            <a:endParaRPr sz="825">
              <a:solidFill>
                <a:srgbClr val="A16207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638800" y="17907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59669"/>
                </a:solidFill>
              </a:defRPr>
            </a:pPr>
            <a:r>
              <a:rPr sz="975" b="1">
                <a:solidFill>
                  <a:srgbClr val="059669"/>
                </a:solidFill>
              </a:rPr>
              <a:t>定位掩膜</a:t>
            </a:r>
            <a:endParaRPr sz="975" b="1">
              <a:solidFill>
                <a:srgbClr val="05966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638800" y="234315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D97706"/>
                </a:solidFill>
              </a:defRPr>
            </a:pPr>
            <a:r>
              <a:rPr sz="975" b="1">
                <a:solidFill>
                  <a:srgbClr val="D97706"/>
                </a:solidFill>
              </a:rPr>
              <a:t>损毁掩膜</a:t>
            </a:r>
            <a:endParaRPr sz="975" b="1">
              <a:solidFill>
                <a:srgbClr val="D97706"/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1028700" y="3048000"/>
            <a:ext cx="57150" cy="571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181100" y="29718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以变化为判据</a:t>
            </a:r>
            <a:endParaRPr sz="1125" b="1">
              <a:solidFill>
                <a:srgbClr val="2563EB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971800" y="2971800"/>
            <a:ext cx="428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灾前/灾后特征取绝对差，对建筑受损/倒塌更敏感</a:t>
            </a:r>
            <a:endParaRPr sz="1050">
              <a:solidFill>
                <a:srgbClr val="475569"/>
              </a:solidFill>
            </a:endParaRPr>
          </a:p>
        </p:txBody>
      </p:sp>
      <p:sp>
        <p:nvSpPr>
          <p:cNvPr id="26" name="椭圆 25"/>
          <p:cNvSpPr>
            <a:spLocks noGrp="1"/>
          </p:cNvSpPr>
          <p:nvPr/>
        </p:nvSpPr>
        <p:spPr>
          <a:xfrm>
            <a:off x="1028700" y="3543300"/>
            <a:ext cx="57150" cy="571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181100" y="34671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类别加权损失</a:t>
            </a:r>
            <a:endParaRPr sz="1125" b="1">
              <a:solidFill>
                <a:srgbClr val="2563EB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971800" y="3467100"/>
            <a:ext cx="428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权重[0.05,1,2,2,2]缓解背景与损毁等级不平衡</a:t>
            </a:r>
            <a:endParaRPr sz="1050">
              <a:solidFill>
                <a:srgbClr val="475569"/>
              </a:solidFill>
            </a:endParaRPr>
          </a:p>
        </p:txBody>
      </p:sp>
      <p:sp>
        <p:nvSpPr>
          <p:cNvPr id="29" name="椭圆 28"/>
          <p:cNvSpPr>
            <a:spLocks noGrp="1"/>
          </p:cNvSpPr>
          <p:nvPr/>
        </p:nvSpPr>
        <p:spPr>
          <a:xfrm>
            <a:off x="1028700" y="4038600"/>
            <a:ext cx="57150" cy="571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81100" y="39624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训练配置</a:t>
            </a:r>
            <a:endParaRPr sz="1125" b="1">
              <a:solidFill>
                <a:srgbClr val="2563EB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2971800" y="3962400"/>
            <a:ext cx="428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512x512 · BS=4 · AdamW · cos退火 · 50 epoch</a:t>
            </a:r>
            <a:endParaRPr sz="1050">
              <a:solidFill>
                <a:srgbClr val="475569"/>
              </a:solidFill>
            </a:endParaRPr>
          </a:p>
        </p:txBody>
      </p:sp>
      <p:sp>
        <p:nvSpPr>
          <p:cNvPr id="32" name="椭圆 31"/>
          <p:cNvSpPr>
            <a:spLocks noGrp="1"/>
          </p:cNvSpPr>
          <p:nvPr/>
        </p:nvSpPr>
        <p:spPr>
          <a:xfrm>
            <a:off x="1028700" y="4533900"/>
            <a:ext cx="57150" cy="571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181100" y="4457700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2563EB"/>
                </a:solidFill>
              </a:defRPr>
            </a:pPr>
            <a:r>
              <a:rPr sz="1125" b="1">
                <a:solidFill>
                  <a:srgbClr val="2563EB"/>
                </a:solidFill>
              </a:rPr>
              <a:t>模型规模</a:t>
            </a:r>
            <a:endParaRPr sz="1125" b="1">
              <a:solidFill>
                <a:srgbClr val="2563EB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2971800" y="4457700"/>
            <a:ext cx="428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参数量~27.6M，适配8GB显存(RTX 4060 Laptop)</a:t>
            </a:r>
            <a:endParaRPr sz="1050">
              <a:solidFill>
                <a:srgbClr val="475569"/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6210300" y="2971800"/>
            <a:ext cx="5295900" cy="5715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381750" y="30670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孪生网络优势</a:t>
            </a:r>
            <a:endParaRPr sz="1125" b="1">
              <a:solidFill>
                <a:srgbClr val="0F172A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381750" y="32766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共享ResNet34编码器对灾前/灾后影像分别提取多尺度特征</a:t>
            </a:r>
            <a:endParaRPr sz="975">
              <a:solidFill>
                <a:srgbClr val="475569"/>
              </a:solidFill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6210300" y="3695700"/>
            <a:ext cx="5295900" cy="57150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381750" y="37909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损失函数</a:t>
            </a:r>
            <a:endParaRPr sz="1125" b="1">
              <a:solidFill>
                <a:srgbClr val="0F172A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381750" y="40005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总损失 = 定位交叉熵 + 类别加权损毁交叉熵</a:t>
            </a:r>
            <a:endParaRPr sz="975">
              <a:solidFill>
                <a:srgbClr val="475569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6210300" y="4419600"/>
            <a:ext cx="5295900" cy="533400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381750" y="451485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ImageNet预训练</a:t>
            </a:r>
            <a:endParaRPr sz="1125" b="1">
              <a:solidFill>
                <a:srgbClr val="0F172A"/>
              </a:solidFill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6381750" y="4724400"/>
            <a:ext cx="495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编码器使用ImageNet预训练权重，加速收敛、提升泛化</a:t>
            </a:r>
            <a:endParaRPr sz="975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85800" y="4953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5524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238250" y="49530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B线方法：ODM三维重建流程</a:t>
            </a:r>
            <a:endParaRPr sz="2700" b="1">
              <a:solidFill>
                <a:srgbClr val="0F172A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0287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1257300"/>
            <a:ext cx="10820400" cy="142875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14097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三维重建管线（OpenDroneMap）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952500" y="1809750"/>
            <a:ext cx="1600200" cy="419100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52500" y="1885950"/>
            <a:ext cx="1600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65F46"/>
                </a:solidFill>
              </a:defRPr>
            </a:pPr>
            <a:r>
              <a:rPr sz="975" b="1">
                <a:solidFill>
                  <a:srgbClr val="065F46"/>
                </a:solidFill>
              </a:rPr>
              <a:t>多视影像</a:t>
            </a:r>
            <a:endParaRPr sz="975" b="1">
              <a:solidFill>
                <a:srgbClr val="065F46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438400" y="18859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→</a:t>
            </a:r>
            <a:endParaRPr sz="1200">
              <a:solidFill>
                <a:srgbClr val="64748B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667000" y="1809750"/>
            <a:ext cx="1600200" cy="419100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667000" y="1885950"/>
            <a:ext cx="1600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65F46"/>
                </a:solidFill>
              </a:defRPr>
            </a:pPr>
            <a:r>
              <a:rPr sz="975" b="1">
                <a:solidFill>
                  <a:srgbClr val="065F46"/>
                </a:solidFill>
              </a:rPr>
              <a:t>SfM稀疏重建</a:t>
            </a:r>
            <a:endParaRPr sz="975" b="1">
              <a:solidFill>
                <a:srgbClr val="065F46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152900" y="18859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→</a:t>
            </a:r>
            <a:endParaRPr sz="1200">
              <a:solidFill>
                <a:srgbClr val="64748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381500" y="1809750"/>
            <a:ext cx="1600200" cy="419100"/>
          </a:xfrm>
          <a:prstGeom prst="roundRect">
            <a:avLst>
              <a:gd name="adj" fmla="val 27273"/>
            </a:avLst>
          </a:prstGeom>
          <a:solidFill>
            <a:srgbClr val="A7F3D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381500" y="1885950"/>
            <a:ext cx="1600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65F46"/>
                </a:solidFill>
              </a:defRPr>
            </a:pPr>
            <a:r>
              <a:rPr sz="975" b="1">
                <a:solidFill>
                  <a:srgbClr val="065F46"/>
                </a:solidFill>
              </a:rPr>
              <a:t>MVS稠密点云</a:t>
            </a:r>
            <a:endParaRPr sz="975" b="1">
              <a:solidFill>
                <a:srgbClr val="065F46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867400" y="18859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→</a:t>
            </a:r>
            <a:endParaRPr sz="1200">
              <a:solidFill>
                <a:srgbClr val="64748B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096000" y="1809750"/>
            <a:ext cx="1600200" cy="419100"/>
          </a:xfrm>
          <a:prstGeom prst="roundRect">
            <a:avLst>
              <a:gd name="adj" fmla="val 27273"/>
            </a:avLst>
          </a:prstGeom>
          <a:solidFill>
            <a:srgbClr val="A7F3D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096000" y="1885950"/>
            <a:ext cx="1600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65F46"/>
                </a:solidFill>
              </a:defRPr>
            </a:pPr>
            <a:r>
              <a:rPr sz="975" b="1">
                <a:solidFill>
                  <a:srgbClr val="065F46"/>
                </a:solidFill>
              </a:rPr>
              <a:t>网格重建</a:t>
            </a:r>
            <a:endParaRPr sz="975" b="1">
              <a:solidFill>
                <a:srgbClr val="065F4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581900" y="18859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→</a:t>
            </a:r>
            <a:endParaRPr sz="1200">
              <a:solidFill>
                <a:srgbClr val="64748B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7810500" y="1809750"/>
            <a:ext cx="1600200" cy="419100"/>
          </a:xfrm>
          <a:prstGeom prst="roundRect">
            <a:avLst>
              <a:gd name="adj" fmla="val 27273"/>
            </a:avLst>
          </a:prstGeom>
          <a:solidFill>
            <a:srgbClr val="A7F3D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810500" y="1885950"/>
            <a:ext cx="1600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065F46"/>
                </a:solidFill>
              </a:defRPr>
            </a:pPr>
            <a:r>
              <a:rPr sz="975" b="1">
                <a:solidFill>
                  <a:srgbClr val="065F46"/>
                </a:solidFill>
              </a:rPr>
              <a:t>纹理映射</a:t>
            </a:r>
            <a:endParaRPr sz="975" b="1">
              <a:solidFill>
                <a:srgbClr val="065F46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296400" y="1885950"/>
            <a:ext cx="19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rPr sz="1200">
                <a:solidFill>
                  <a:srgbClr val="64748B"/>
                </a:solidFill>
              </a:rPr>
              <a:t>→</a:t>
            </a:r>
            <a:endParaRPr sz="1200">
              <a:solidFill>
                <a:srgbClr val="64748B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9525000" y="1809750"/>
            <a:ext cx="1600200" cy="419100"/>
          </a:xfrm>
          <a:prstGeom prst="roundRect">
            <a:avLst>
              <a:gd name="adj" fmla="val 27273"/>
            </a:avLst>
          </a:prstGeom>
          <a:solidFill>
            <a:srgbClr val="05966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525000" y="1885950"/>
            <a:ext cx="1600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DSM/正射影像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685800" y="2952750"/>
            <a:ext cx="10820400" cy="17145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52500" y="31051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重建成果输出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952500" y="3505200"/>
            <a:ext cx="2362200" cy="914400"/>
          </a:xfrm>
          <a:prstGeom prst="roundRect">
            <a:avLst>
              <a:gd name="adj" fmla="val 12500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104900" y="3581400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65F46"/>
                </a:solidFill>
              </a:defRPr>
            </a:pPr>
            <a:r>
              <a:rPr sz="1125" b="1">
                <a:solidFill>
                  <a:srgbClr val="065F46"/>
                </a:solidFill>
              </a:rPr>
              <a:t>纹理三维模型</a:t>
            </a:r>
            <a:endParaRPr sz="1125" b="1">
              <a:solidFill>
                <a:srgbClr val="065F46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04900" y="3810000"/>
            <a:ext cx="2057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~15.4万顶点/24.7万面</a:t>
            </a:r>
            <a:endParaRPr sz="975">
              <a:solidFill>
                <a:srgbClr val="475569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3543300" y="3505200"/>
            <a:ext cx="2362200" cy="914400"/>
          </a:xfrm>
          <a:prstGeom prst="roundRect">
            <a:avLst>
              <a:gd name="adj" fmla="val 12500"/>
            </a:avLst>
          </a:prstGeom>
          <a:solidFill>
            <a:srgbClr val="A7F3D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695700" y="3581400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65F46"/>
                </a:solidFill>
              </a:defRPr>
            </a:pPr>
            <a:r>
              <a:rPr sz="1125" b="1">
                <a:solidFill>
                  <a:srgbClr val="065F46"/>
                </a:solidFill>
              </a:rPr>
              <a:t>稠密点云</a:t>
            </a:r>
            <a:endParaRPr sz="1125" b="1">
              <a:solidFill>
                <a:srgbClr val="065F46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695700" y="3810000"/>
            <a:ext cx="2057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带真实地理坐标(UTM投影)</a:t>
            </a:r>
            <a:endParaRPr sz="975">
              <a:solidFill>
                <a:srgbClr val="475569"/>
              </a:solidFill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6134100" y="3505200"/>
            <a:ext cx="2362200" cy="91440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6286500" y="3581400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E40AF"/>
                </a:solidFill>
              </a:defRPr>
            </a:pPr>
            <a:r>
              <a:rPr sz="1125" b="1">
                <a:solidFill>
                  <a:srgbClr val="1E40AF"/>
                </a:solidFill>
              </a:rPr>
              <a:t>数字表面模型(DSM)</a:t>
            </a:r>
            <a:endParaRPr sz="1125" b="1">
              <a:solidFill>
                <a:srgbClr val="1E40AF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286500" y="3810000"/>
            <a:ext cx="2057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地面分辨率~5 cm</a:t>
            </a:r>
            <a:endParaRPr sz="975">
              <a:solidFill>
                <a:srgbClr val="475569"/>
              </a:solidFill>
            </a:endParaRPr>
          </a:p>
        </p:txBody>
      </p:sp>
      <p:sp>
        <p:nvSpPr>
          <p:cNvPr id="36" name="圆角矩形 35"/>
          <p:cNvSpPr>
            <a:spLocks noGrp="1"/>
          </p:cNvSpPr>
          <p:nvPr/>
        </p:nvSpPr>
        <p:spPr>
          <a:xfrm>
            <a:off x="8724900" y="3505200"/>
            <a:ext cx="2362200" cy="914400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877300" y="3581400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1E40AF"/>
                </a:solidFill>
              </a:defRPr>
            </a:pPr>
            <a:r>
              <a:rPr sz="1125" b="1">
                <a:solidFill>
                  <a:srgbClr val="1E40AF"/>
                </a:solidFill>
              </a:rPr>
              <a:t>正射影像</a:t>
            </a:r>
            <a:endParaRPr sz="1125" b="1">
              <a:solidFill>
                <a:srgbClr val="1E40AF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877300" y="3810000"/>
            <a:ext cx="2057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道路/植被/车辆/水体清晰可辨</a:t>
            </a:r>
            <a:endParaRPr sz="975">
              <a:solidFill>
                <a:srgbClr val="475569"/>
              </a:solidFill>
            </a:endParaRPr>
          </a:p>
        </p:txBody>
      </p:sp>
      <p:sp>
        <p:nvSpPr>
          <p:cNvPr id="39" name="圆角矩形 38"/>
          <p:cNvSpPr>
            <a:spLocks noGrp="1"/>
          </p:cNvSpPr>
          <p:nvPr/>
        </p:nvSpPr>
        <p:spPr>
          <a:xfrm>
            <a:off x="685800" y="4933950"/>
            <a:ext cx="10820400" cy="14859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952500" y="5086350"/>
            <a:ext cx="476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体积估算方法：相对基准面方量法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952500" y="5467350"/>
            <a:ext cx="5143500" cy="38100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1104900" y="5543550"/>
            <a:ext cx="483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体积 = Sum max(DSM - 基准高程, 0) x 像元面积</a:t>
            </a:r>
            <a:endParaRPr sz="1125" b="1">
              <a:solidFill>
                <a:srgbClr val="0F172A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400800" y="5467350"/>
            <a:ext cx="2476500" cy="38100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553200" y="5543550"/>
            <a:ext cx="2171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65F46"/>
                </a:solidFill>
              </a:defRPr>
            </a:pPr>
            <a:r>
              <a:rPr sz="1050" b="1">
                <a:solidFill>
                  <a:srgbClr val="065F46"/>
                </a:solidFill>
              </a:rPr>
              <a:t>合成验证：1000 m3 -&gt; 1000 m3 OK</a:t>
            </a:r>
            <a:endParaRPr sz="1050" b="1">
              <a:solidFill>
                <a:srgbClr val="065F46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9163050" y="55816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示例数据：~5.06万 m3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952500" y="596265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灾后应用时，将区域圈定到瓦砾堆或垮塌建筑，即可得损毁方量</a:t>
            </a:r>
            <a:endParaRPr sz="105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85800" y="4953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5524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238250" y="49530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A线关键结果：损毁识别与量化</a:t>
            </a:r>
            <a:endParaRPr sz="2700" b="1">
              <a:solidFill>
                <a:srgbClr val="0F172A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0287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1257300"/>
            <a:ext cx="6477000" cy="3048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13906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各损毁等级F1分数（验证集）</a:t>
            </a:r>
            <a:endParaRPr sz="1500" b="1">
              <a:solidFill>
                <a:srgbClr val="0F172A"/>
              </a:solidFill>
            </a:endParaRPr>
          </a:p>
        </p:txBody>
      </p:sp>
      <p:graphicFrame>
        <p:nvGraphicFramePr>
          <p:cNvPr id="48" name="Chart"/>
          <p:cNvGraphicFramePr/>
          <p:nvPr/>
        </p:nvGraphicFramePr>
        <p:xfrm>
          <a:off x="876300" y="1733550"/>
          <a:ext cx="6096000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矩形 7"/>
          <p:cNvSpPr>
            <a:spLocks noGrp="1"/>
          </p:cNvSpPr>
          <p:nvPr/>
        </p:nvSpPr>
        <p:spPr>
          <a:xfrm>
            <a:off x="2095500" y="4076700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宏平均F1 ~ 0.50-0.51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7429500" y="1257300"/>
            <a:ext cx="4076700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620000" y="13906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检出率</a:t>
            </a:r>
            <a:endParaRPr sz="1125" b="1">
              <a:solidFill>
                <a:srgbClr val="0F172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0" y="15811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~80%</a:t>
            </a:r>
            <a:endParaRPr sz="1800" b="1">
              <a:solidFill>
                <a:srgbClr val="2563E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620000" y="18669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因512下采样导致小型建筑漏检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7429500" y="2305050"/>
            <a:ext cx="4076700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620000" y="243840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评估建筑总数</a:t>
            </a:r>
            <a:endParaRPr sz="1125" b="1">
              <a:solidFill>
                <a:srgbClr val="0F172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620000" y="26289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54,862栋</a:t>
            </a:r>
            <a:endParaRPr sz="1800" b="1">
              <a:solidFill>
                <a:srgbClr val="2563EB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620000" y="29146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覆盖全部验证集建筑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7429500" y="3352800"/>
            <a:ext cx="4076700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20000" y="34861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0F172A"/>
                </a:solidFill>
              </a:defRPr>
            </a:pPr>
            <a:r>
              <a:rPr sz="1125" b="1">
                <a:solidFill>
                  <a:srgbClr val="0F172A"/>
                </a:solidFill>
              </a:rPr>
              <a:t>Cesium可视化</a:t>
            </a:r>
            <a:endParaRPr sz="1125" b="1">
              <a:solidFill>
                <a:srgbClr val="0F172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620000" y="3676650"/>
            <a:ext cx="213169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交互式损毁分布图</a:t>
            </a:r>
            <a:endParaRPr sz="1800" b="1">
              <a:solidFill>
                <a:srgbClr val="2563EB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620000" y="396240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按损毁等级着色/筛选/对比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685800" y="4572000"/>
            <a:ext cx="10820400" cy="219075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52500" y="4686300"/>
            <a:ext cx="2857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逐栋损毁分级统计</a:t>
            </a:r>
            <a:endParaRPr sz="1500" b="1">
              <a:solidFill>
                <a:srgbClr val="0F172A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52500" y="50482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损毁等级</a:t>
            </a:r>
            <a:endParaRPr sz="975" b="1">
              <a:solidFill>
                <a:srgbClr val="2563EB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3048000" y="50482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数量(栋)</a:t>
            </a:r>
            <a:endParaRPr sz="975" b="1">
              <a:solidFill>
                <a:srgbClr val="2563EB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334000" y="50482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说明</a:t>
            </a:r>
            <a:endParaRPr sz="975" b="1">
              <a:solidFill>
                <a:srgbClr val="2563EB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952500" y="5257800"/>
            <a:ext cx="102870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52500" y="52959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EF4444"/>
                </a:solidFill>
              </a:defRPr>
            </a:pPr>
            <a:r>
              <a:rPr sz="1050" b="1">
                <a:solidFill>
                  <a:srgbClr val="EF4444"/>
                </a:solidFill>
              </a:rPr>
              <a:t>未检出（背景）</a:t>
            </a:r>
            <a:endParaRPr sz="1050" b="1">
              <a:solidFill>
                <a:srgbClr val="EF4444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048000" y="52959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10,724栋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334000" y="52959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模型未检出，漏检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952500" y="55816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完好</a:t>
            </a:r>
            <a:endParaRPr sz="1050" b="1">
              <a:solidFill>
                <a:srgbClr val="059669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048000" y="55816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36,679栋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334000" y="55816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判为无损毁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52500" y="58674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EAB308"/>
                </a:solidFill>
              </a:defRPr>
            </a:pPr>
            <a:r>
              <a:rPr sz="1050" b="1">
                <a:solidFill>
                  <a:srgbClr val="EAB308"/>
                </a:solidFill>
              </a:rPr>
              <a:t>轻微损毁</a:t>
            </a:r>
            <a:endParaRPr sz="1050" b="1">
              <a:solidFill>
                <a:srgbClr val="EAB308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3048000" y="58674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2,422栋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334000" y="58674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中间等级精度有限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952500" y="61531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97316"/>
                </a:solidFill>
              </a:defRPr>
            </a:pPr>
            <a:r>
              <a:rPr sz="1050" b="1">
                <a:solidFill>
                  <a:srgbClr val="F97316"/>
                </a:solidFill>
              </a:rPr>
              <a:t>严重损毁</a:t>
            </a:r>
            <a:endParaRPr sz="1050" b="1">
              <a:solidFill>
                <a:srgbClr val="F97316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048000" y="615315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2,374栋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5334000" y="615315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中间等级精度有限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952500" y="64389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EF4444"/>
                </a:solidFill>
              </a:defRPr>
            </a:pPr>
            <a:r>
              <a:rPr sz="1050" b="1">
                <a:solidFill>
                  <a:srgbClr val="EF4444"/>
                </a:solidFill>
              </a:rPr>
              <a:t>完全损毁</a:t>
            </a:r>
            <a:endParaRPr sz="1050" b="1">
              <a:solidFill>
                <a:srgbClr val="EF4444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3048000" y="64389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2,663栋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5334000" y="64389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相对较好识别</a:t>
            </a:r>
            <a:endParaRPr sz="975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圆角矩形 1"/>
          <p:cNvSpPr>
            <a:spLocks noGrp="1"/>
          </p:cNvSpPr>
          <p:nvPr/>
        </p:nvSpPr>
        <p:spPr>
          <a:xfrm>
            <a:off x="685800" y="4953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552450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238250" y="49530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B线关键结果：三维重建与体积估算</a:t>
            </a:r>
            <a:endParaRPr sz="2700" b="1">
              <a:solidFill>
                <a:srgbClr val="0F172A"/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685800" y="10287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685800" y="1257300"/>
            <a:ext cx="51435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13906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三维重建产出</a:t>
            </a:r>
            <a:endParaRPr sz="1500" b="1">
              <a:solidFill>
                <a:srgbClr val="0F17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17907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- 纹理三维模型</a:t>
            </a:r>
            <a:endParaRPr sz="1050" b="1">
              <a:solidFill>
                <a:srgbClr val="059669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162300" y="18288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约15.4万顶点、24.7万面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28700" y="21145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- 稠密点云</a:t>
            </a:r>
            <a:endParaRPr sz="1050" b="1">
              <a:solidFill>
                <a:srgbClr val="059669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162300" y="215265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带真实地理坐标（UTM投影）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28700" y="24384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- DSM（数字表面模型）</a:t>
            </a:r>
            <a:endParaRPr sz="1050" b="1">
              <a:solidFill>
                <a:srgbClr val="059669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162300" y="247650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地面分辨率约5 cm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28700" y="27622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- 正射影像</a:t>
            </a:r>
            <a:endParaRPr sz="1050" b="1">
              <a:solidFill>
                <a:srgbClr val="059669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162300" y="2800350"/>
            <a:ext cx="2476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道路、植被、车辆、水体清晰可辨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096000" y="1257300"/>
            <a:ext cx="54102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362700" y="13906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损毁体积估算</a:t>
            </a:r>
            <a:endParaRPr sz="1500" b="1">
              <a:solidFill>
                <a:srgbClr val="0F172A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6362700" y="1790700"/>
            <a:ext cx="4876800" cy="323850"/>
          </a:xfrm>
          <a:prstGeom prst="roundRect">
            <a:avLst>
              <a:gd name="adj" fmla="val 3529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515100" y="1847850"/>
            <a:ext cx="457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体积 = Sum max(DSM - 基准, 0) x 像元面积</a:t>
            </a:r>
            <a:endParaRPr sz="1050" b="1">
              <a:solidFill>
                <a:srgbClr val="0F172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496050" y="22288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59669"/>
                </a:solidFill>
              </a:defRPr>
            </a:pPr>
            <a:r>
              <a:rPr sz="975" b="1">
                <a:solidFill>
                  <a:srgbClr val="059669"/>
                </a:solidFill>
              </a:rPr>
              <a:t>OK 合成验证</a:t>
            </a:r>
            <a:endParaRPr sz="975" b="1">
              <a:solidFill>
                <a:srgbClr val="059669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810500" y="2228850"/>
            <a:ext cx="3571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10mx20mx5m方块-&gt;理论1000m3-&gt;计算1000m3，完全精确</a:t>
            </a:r>
            <a:endParaRPr sz="900">
              <a:solidFill>
                <a:srgbClr val="64748B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96050" y="25336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59669"/>
                </a:solidFill>
              </a:defRPr>
            </a:pPr>
            <a:r>
              <a:rPr sz="975" b="1">
                <a:solidFill>
                  <a:srgbClr val="059669"/>
                </a:solidFill>
              </a:rPr>
              <a:t>OK 示例DSM结果</a:t>
            </a:r>
            <a:endParaRPr sz="975" b="1">
              <a:solidFill>
                <a:srgbClr val="059669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810500" y="2533650"/>
            <a:ext cx="3571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地面基准~157.8m(5%分位)，高出地物覆盖~9,506 m2</a:t>
            </a:r>
            <a:endParaRPr sz="900">
              <a:solidFill>
                <a:srgbClr val="64748B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496050" y="2838450"/>
            <a:ext cx="2476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059669"/>
                </a:solidFill>
              </a:defRPr>
            </a:pPr>
            <a:r>
              <a:rPr sz="975" b="1">
                <a:solidFill>
                  <a:srgbClr val="059669"/>
                </a:solidFill>
              </a:rPr>
              <a:t>OK 估算体积</a:t>
            </a:r>
            <a:endParaRPr sz="975" b="1">
              <a:solidFill>
                <a:srgbClr val="059669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810500" y="2838450"/>
            <a:ext cx="35718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sz="900">
                <a:solidFill>
                  <a:srgbClr val="64748B"/>
                </a:solidFill>
              </a:rPr>
              <a:t>~5.06万 m3（本例主要为树冠，灾后场景即损毁方量）</a:t>
            </a:r>
            <a:endParaRPr sz="900">
              <a:solidFill>
                <a:srgbClr val="64748B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85800" y="3429000"/>
            <a:ext cx="3429000" cy="9525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76300" y="35623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工具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76300" y="38290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OpenDroneMap (ODM)</a:t>
            </a:r>
            <a:endParaRPr sz="975">
              <a:solidFill>
                <a:srgbClr val="475569"/>
              </a:solidFill>
            </a:endParaRPr>
          </a:p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Docker方式运行，开源摄影测量</a:t>
            </a:r>
            <a:endParaRPr sz="975">
              <a:solidFill>
                <a:srgbClr val="475569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4381500" y="3429000"/>
            <a:ext cx="3429000" cy="952500"/>
          </a:xfrm>
          <a:prstGeom prst="roundRect">
            <a:avLst>
              <a:gd name="adj" fmla="val 16000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572000" y="35623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方法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572000" y="38290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SfM-&gt; MVS -&gt; 网格重建 -&gt; 纹理映射</a:t>
            </a:r>
            <a:endParaRPr sz="975">
              <a:solidFill>
                <a:srgbClr val="475569"/>
              </a:solidFill>
            </a:endParaRPr>
          </a:p>
        </p:txBody>
      </p:sp>
      <p:sp>
        <p:nvSpPr>
          <p:cNvPr id="32" name="圆角矩形 31"/>
          <p:cNvSpPr>
            <a:spLocks noGrp="1"/>
          </p:cNvSpPr>
          <p:nvPr/>
        </p:nvSpPr>
        <p:spPr>
          <a:xfrm>
            <a:off x="8077200" y="3429000"/>
            <a:ext cx="3429000" cy="9525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267700" y="35623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应用场景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267700" y="3829050"/>
            <a:ext cx="304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真实震后倾斜影像获取后</a:t>
            </a:r>
            <a:endParaRPr sz="975">
              <a:solidFill>
                <a:srgbClr val="475569"/>
              </a:solidFill>
            </a:endParaRPr>
          </a:p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可直接迁移本管线</a:t>
            </a:r>
            <a:endParaRPr sz="975">
              <a:solidFill>
                <a:srgbClr val="475569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85800" y="4572000"/>
            <a:ext cx="10820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管线已在公开示例数据上完整验证，方法可直接迁移到真实震后影像</a:t>
            </a:r>
            <a:endParaRPr sz="105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49530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可视化效果展示</a:t>
            </a:r>
            <a:endParaRPr sz="2700" b="1">
              <a:solidFill>
                <a:srgbClr val="0F172A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85800" y="10287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85800" y="1257300"/>
            <a:ext cx="2476500" cy="3429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257300"/>
            <a:ext cx="2476500" cy="57150"/>
          </a:xfrm>
          <a:prstGeom prst="rect">
            <a:avLst/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38200" y="15049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Cesium损毁分布图</a:t>
            </a:r>
            <a:endParaRPr sz="1275" b="1">
              <a:solidFill>
                <a:srgbClr val="0F172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38200" y="1917065"/>
            <a:ext cx="21717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墨西哥城地震(11,411栋)</a:t>
            </a:r>
            <a:endParaRPr sz="975">
              <a:solidFill>
                <a:srgbClr val="64748B"/>
              </a:solidFill>
            </a:endParaRPr>
          </a:p>
          <a:p>
            <a:pPr algn="ct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按损毁等级着色</a:t>
            </a:r>
            <a:endParaRPr sz="975">
              <a:solidFill>
                <a:srgbClr val="64748B"/>
              </a:solidFill>
            </a:endParaRPr>
          </a:p>
          <a:p>
            <a:pPr algn="ct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支持灾害筛选、预测/真值切换</a:t>
            </a:r>
            <a:endParaRPr sz="975">
              <a:solidFill>
                <a:srgbClr val="64748B"/>
              </a:solidFill>
            </a:endParaRPr>
          </a:p>
          <a:p>
            <a:pPr algn="ct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点击查询建筑属性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390900" y="1257300"/>
            <a:ext cx="2476500" cy="3429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>
            <a:endParaRPr lang="zh-CN" altLang="en-US"/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390900" y="1257300"/>
            <a:ext cx="2476500" cy="57150"/>
          </a:xfrm>
          <a:prstGeom prst="rect">
            <a:avLst/>
          </a:prstGeom>
          <a:solidFill>
            <a:srgbClr val="05966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543300" y="15049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正射影像</a:t>
            </a:r>
            <a:endParaRPr sz="1275" b="1">
              <a:solidFill>
                <a:srgbClr val="0F172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543300" y="1917065"/>
            <a:ext cx="21717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ODM重建输出</a:t>
            </a:r>
            <a:endParaRPr sz="975">
              <a:solidFill>
                <a:srgbClr val="64748B"/>
              </a:solidFill>
            </a:endParaRPr>
          </a:p>
          <a:p>
            <a:pPr algn="ct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场景地物清晰可辨</a:t>
            </a:r>
            <a:endParaRPr sz="975">
              <a:solidFill>
                <a:srgbClr val="64748B"/>
              </a:solidFill>
            </a:endParaRPr>
          </a:p>
          <a:p>
            <a:pPr algn="ct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道路、植被、车辆、水体</a:t>
            </a:r>
            <a:endParaRPr sz="975">
              <a:solidFill>
                <a:srgbClr val="64748B"/>
              </a:solidFill>
            </a:endParaRPr>
          </a:p>
          <a:p>
            <a:pPr algn="ct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几何结构完整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096000" y="1257300"/>
            <a:ext cx="2476500" cy="3429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0" y="1257300"/>
            <a:ext cx="2476500" cy="57150"/>
          </a:xfrm>
          <a:prstGeom prst="rect">
            <a:avLst/>
          </a:prstGeom>
          <a:solidFill>
            <a:srgbClr val="05966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248400" y="15049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三维点云</a:t>
            </a:r>
            <a:endParaRPr sz="1275" b="1">
              <a:solidFill>
                <a:srgbClr val="0F172A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48400" y="1917065"/>
            <a:ext cx="21717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稠密三维点云</a:t>
            </a:r>
            <a:endParaRPr sz="975">
              <a:solidFill>
                <a:srgbClr val="64748B"/>
              </a:solidFill>
            </a:endParaRPr>
          </a:p>
          <a:p>
            <a:pPr algn="ct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真实地理坐标</a:t>
            </a:r>
            <a:endParaRPr sz="975">
              <a:solidFill>
                <a:srgbClr val="64748B"/>
              </a:solidFill>
            </a:endParaRPr>
          </a:p>
          <a:p>
            <a:pPr algn="ct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UTM投影</a:t>
            </a:r>
            <a:endParaRPr sz="975">
              <a:solidFill>
                <a:srgbClr val="64748B"/>
              </a:solidFill>
            </a:endParaRPr>
          </a:p>
          <a:p>
            <a:pPr algn="ct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立体展示建筑与地形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19" name="圆角矩形 18"/>
          <p:cNvSpPr>
            <a:spLocks noGrp="1"/>
          </p:cNvSpPr>
          <p:nvPr/>
        </p:nvSpPr>
        <p:spPr>
          <a:xfrm>
            <a:off x="8801100" y="1257300"/>
            <a:ext cx="2476500" cy="34290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801100" y="1257300"/>
            <a:ext cx="2476500" cy="57150"/>
          </a:xfrm>
          <a:prstGeom prst="rect">
            <a:avLst/>
          </a:prstGeom>
          <a:solidFill>
            <a:srgbClr val="92400E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953500" y="15049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高度分布图</a:t>
            </a:r>
            <a:endParaRPr sz="1275" b="1">
              <a:solidFill>
                <a:srgbClr val="0F172A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953500" y="1917065"/>
            <a:ext cx="21717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高出基准面的高度分布</a:t>
            </a:r>
            <a:endParaRPr sz="975">
              <a:solidFill>
                <a:srgbClr val="64748B"/>
              </a:solidFill>
            </a:endParaRPr>
          </a:p>
          <a:p>
            <a:pPr algn="ct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暖色=树丛(高)</a:t>
            </a:r>
            <a:endParaRPr sz="975">
              <a:solidFill>
                <a:srgbClr val="64748B"/>
              </a:solidFill>
            </a:endParaRPr>
          </a:p>
          <a:p>
            <a:pPr algn="ct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冷色=道路草地(近地面)</a:t>
            </a:r>
            <a:endParaRPr sz="975">
              <a:solidFill>
                <a:srgbClr val="64748B"/>
              </a:solidFill>
            </a:endParaRPr>
          </a:p>
          <a:p>
            <a:pPr algn="ctr">
              <a:defRPr sz="975">
                <a:solidFill>
                  <a:srgbClr val="64748B"/>
                </a:solidFill>
              </a:defRPr>
            </a:pPr>
            <a:r>
              <a:rPr sz="975">
                <a:solidFill>
                  <a:srgbClr val="64748B"/>
                </a:solidFill>
              </a:rPr>
              <a:t>与正射影像吻合</a:t>
            </a:r>
            <a:endParaRPr sz="975">
              <a:solidFill>
                <a:srgbClr val="64748B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85800" y="4876800"/>
            <a:ext cx="10820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2563EB"/>
                </a:solidFill>
              </a:defRPr>
            </a:pPr>
            <a:r>
              <a:rPr sz="1050">
                <a:solidFill>
                  <a:srgbClr val="2563EB"/>
                </a:solidFill>
              </a:rPr>
              <a:t>* A线空间化 + B线三维产出，形成识别-量化-空间化-三维精细评估完整链路</a:t>
            </a:r>
            <a:endParaRPr sz="1050">
              <a:solidFill>
                <a:srgbClr val="2563EB"/>
              </a:solidFill>
            </a:endParaRPr>
          </a:p>
        </p:txBody>
      </p:sp>
      <p:pic>
        <p:nvPicPr>
          <p:cNvPr id="25" name="图片 5" descr="屏幕截图 2026-06-10 2110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2603500"/>
            <a:ext cx="2475865" cy="2082800"/>
          </a:xfrm>
          <a:prstGeom prst="rect">
            <a:avLst/>
          </a:prstGeom>
        </p:spPr>
      </p:pic>
      <p:pic>
        <p:nvPicPr>
          <p:cNvPr id="27" name="f" descr="figur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393440" y="2603500"/>
            <a:ext cx="2471420" cy="2082800"/>
          </a:xfrm>
          <a:prstGeom prst="rect">
            <a:avLst/>
          </a:prstGeom>
        </p:spPr>
      </p:pic>
      <p:pic>
        <p:nvPicPr>
          <p:cNvPr id="28" name="f" descr="figur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96635" y="2603500"/>
            <a:ext cx="2475865" cy="2082800"/>
          </a:xfrm>
          <a:prstGeom prst="rect">
            <a:avLst/>
          </a:prstGeom>
        </p:spPr>
      </p:pic>
      <p:pic>
        <p:nvPicPr>
          <p:cNvPr id="29" name="f" descr="figur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803640" y="2603500"/>
            <a:ext cx="2479040" cy="2082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49530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应用价值：恢复建议与决策支持</a:t>
            </a:r>
            <a:endParaRPr sz="2700" b="1">
              <a:solidFill>
                <a:srgbClr val="0F172A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85800" y="10287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85800" y="1257300"/>
            <a:ext cx="10820400" cy="2667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52500" y="13906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四级分级恢复响应建议</a:t>
            </a:r>
            <a:endParaRPr sz="1500" b="1">
              <a:solidFill>
                <a:srgbClr val="0F172A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952500" y="1809750"/>
            <a:ext cx="10287000" cy="419100"/>
          </a:xfrm>
          <a:prstGeom prst="roundRect">
            <a:avLst>
              <a:gd name="adj" fmla="val 27273"/>
            </a:avLst>
          </a:prstGeom>
          <a:solidFill>
            <a:srgbClr val="FEE2E2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066800" y="1885950"/>
            <a:ext cx="457200" cy="266700"/>
          </a:xfrm>
          <a:prstGeom prst="roundRect">
            <a:avLst>
              <a:gd name="adj" fmla="val 28571"/>
            </a:avLst>
          </a:prstGeom>
          <a:solidFill>
            <a:srgbClr val="EF4444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66800" y="19050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I级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38300" y="19050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EF4444"/>
                </a:solidFill>
              </a:defRPr>
            </a:pPr>
            <a:r>
              <a:rPr sz="1050" b="1">
                <a:solidFill>
                  <a:srgbClr val="EF4444"/>
                </a:solidFill>
              </a:rPr>
              <a:t>完全损毁</a:t>
            </a:r>
            <a:endParaRPr sz="1050" b="1">
              <a:solidFill>
                <a:srgbClr val="EF4444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876550" y="190500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划定危险区、优先搜救；纳入拆除与重建计划；损毁体积可估算清运工程量</a:t>
            </a:r>
            <a:endParaRPr sz="1050">
              <a:solidFill>
                <a:srgbClr val="475569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952500" y="2324100"/>
            <a:ext cx="10287000" cy="419100"/>
          </a:xfrm>
          <a:prstGeom prst="roundRect">
            <a:avLst>
              <a:gd name="adj" fmla="val 27273"/>
            </a:avLst>
          </a:prstGeom>
          <a:solidFill>
            <a:srgbClr val="FFEDD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1066800" y="2400300"/>
            <a:ext cx="457200" cy="266700"/>
          </a:xfrm>
          <a:prstGeom prst="roundRect">
            <a:avLst>
              <a:gd name="adj" fmla="val 28571"/>
            </a:avLst>
          </a:prstGeom>
          <a:solidFill>
            <a:srgbClr val="F97316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066800" y="24193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II级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638300" y="24193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97316"/>
                </a:solidFill>
              </a:defRPr>
            </a:pPr>
            <a:r>
              <a:rPr sz="1050" b="1">
                <a:solidFill>
                  <a:srgbClr val="F97316"/>
                </a:solidFill>
              </a:rPr>
              <a:t>严重损毁</a:t>
            </a:r>
            <a:endParaRPr sz="1050" b="1">
              <a:solidFill>
                <a:srgbClr val="F97316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876550" y="241935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结构安全鉴定，暂停使用；视鉴定结果加固或拆除</a:t>
            </a:r>
            <a:endParaRPr sz="1050">
              <a:solidFill>
                <a:srgbClr val="475569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952500" y="2838450"/>
            <a:ext cx="10287000" cy="419100"/>
          </a:xfrm>
          <a:prstGeom prst="roundRect">
            <a:avLst>
              <a:gd name="adj" fmla="val 27273"/>
            </a:avLst>
          </a:prstGeom>
          <a:solidFill>
            <a:srgbClr val="FEF9C3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1066800" y="2914650"/>
            <a:ext cx="457200" cy="266700"/>
          </a:xfrm>
          <a:prstGeom prst="roundRect">
            <a:avLst>
              <a:gd name="adj" fmla="val 28571"/>
            </a:avLst>
          </a:prstGeom>
          <a:solidFill>
            <a:srgbClr val="EAB308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66800" y="29337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III级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638300" y="29337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EAB308"/>
                </a:solidFill>
              </a:defRPr>
            </a:pPr>
            <a:r>
              <a:rPr sz="1050" b="1">
                <a:solidFill>
                  <a:srgbClr val="EAB308"/>
                </a:solidFill>
              </a:rPr>
              <a:t>轻微损毁</a:t>
            </a:r>
            <a:endParaRPr sz="1050" b="1">
              <a:solidFill>
                <a:srgbClr val="EAB308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876550" y="293370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局部修缮与功能性检查，评估后有条件使用</a:t>
            </a:r>
            <a:endParaRPr sz="1050">
              <a:solidFill>
                <a:srgbClr val="475569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952500" y="3352800"/>
            <a:ext cx="10287000" cy="419100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1066800" y="3429000"/>
            <a:ext cx="457200" cy="266700"/>
          </a:xfrm>
          <a:prstGeom prst="roundRect">
            <a:avLst>
              <a:gd name="adj" fmla="val 28571"/>
            </a:avLst>
          </a:prstGeom>
          <a:solidFill>
            <a:srgbClr val="22C55E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066800" y="34480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IV级</a:t>
            </a:r>
            <a:endParaRPr sz="1125" b="1">
              <a:solidFill>
                <a:srgbClr val="FFFFF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638300" y="344805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22C55E"/>
                </a:solidFill>
              </a:defRPr>
            </a:pPr>
            <a:r>
              <a:rPr sz="1050" b="1">
                <a:solidFill>
                  <a:srgbClr val="22C55E"/>
                </a:solidFill>
              </a:rPr>
              <a:t>完好</a:t>
            </a:r>
            <a:endParaRPr sz="1050" b="1">
              <a:solidFill>
                <a:srgbClr val="22C55E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876550" y="344805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常规巡检，优先作为安置与物资中转场所</a:t>
            </a:r>
            <a:endParaRPr sz="1050">
              <a:solidFill>
                <a:srgbClr val="475569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85800" y="4191000"/>
            <a:ext cx="51435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52500" y="43243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GIS空间化决策支持</a:t>
            </a:r>
            <a:endParaRPr sz="1500" b="1">
              <a:solidFill>
                <a:srgbClr val="0F172A"/>
              </a:solidFill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1028700" y="4724400"/>
            <a:ext cx="57150" cy="57150"/>
          </a:xfrm>
          <a:prstGeom prst="ellipse">
            <a:avLst/>
          </a:prstGeom>
          <a:solidFill>
            <a:srgbClr val="05966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181100" y="46672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空间查询</a:t>
            </a:r>
            <a:endParaRPr sz="1050" b="1">
              <a:solidFill>
                <a:srgbClr val="059669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590800" y="46672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PostGIS统计各区域损毁建筑数量与面积</a:t>
            </a:r>
            <a:endParaRPr sz="1050">
              <a:solidFill>
                <a:srgbClr val="475569"/>
              </a:solidFill>
            </a:endParaRPr>
          </a:p>
        </p:txBody>
      </p:sp>
      <p:sp>
        <p:nvSpPr>
          <p:cNvPr id="31" name="椭圆 30"/>
          <p:cNvSpPr>
            <a:spLocks noGrp="1"/>
          </p:cNvSpPr>
          <p:nvPr/>
        </p:nvSpPr>
        <p:spPr>
          <a:xfrm>
            <a:off x="1028700" y="5048250"/>
            <a:ext cx="57150" cy="57150"/>
          </a:xfrm>
          <a:prstGeom prst="ellipse">
            <a:avLst/>
          </a:prstGeom>
          <a:solidFill>
            <a:srgbClr val="05966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1181100" y="49911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聚集识别</a:t>
            </a:r>
            <a:endParaRPr sz="1050" b="1">
              <a:solidFill>
                <a:srgbClr val="059669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590800" y="499110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识别损毁聚集区，确定处置优先级</a:t>
            </a:r>
            <a:endParaRPr sz="1050">
              <a:solidFill>
                <a:srgbClr val="475569"/>
              </a:solidFill>
            </a:endParaRPr>
          </a:p>
        </p:txBody>
      </p:sp>
      <p:sp>
        <p:nvSpPr>
          <p:cNvPr id="34" name="椭圆 33"/>
          <p:cNvSpPr>
            <a:spLocks noGrp="1"/>
          </p:cNvSpPr>
          <p:nvPr/>
        </p:nvSpPr>
        <p:spPr>
          <a:xfrm>
            <a:off x="1028700" y="5372100"/>
            <a:ext cx="57150" cy="57150"/>
          </a:xfrm>
          <a:prstGeom prst="ellipse">
            <a:avLst/>
          </a:prstGeom>
          <a:solidFill>
            <a:srgbClr val="05966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1181100" y="53149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工程量测算</a:t>
            </a:r>
            <a:endParaRPr sz="1050" b="1">
              <a:solidFill>
                <a:srgbClr val="059669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590800" y="531495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结合B线体积估算，测算瓦砾清运与重建工程量</a:t>
            </a:r>
            <a:endParaRPr sz="1050">
              <a:solidFill>
                <a:srgbClr val="475569"/>
              </a:solidFill>
            </a:endParaRPr>
          </a:p>
        </p:txBody>
      </p:sp>
      <p:sp>
        <p:nvSpPr>
          <p:cNvPr id="37" name="椭圆 36"/>
          <p:cNvSpPr>
            <a:spLocks noGrp="1"/>
          </p:cNvSpPr>
          <p:nvPr/>
        </p:nvSpPr>
        <p:spPr>
          <a:xfrm>
            <a:off x="1028700" y="5695950"/>
            <a:ext cx="57150" cy="57150"/>
          </a:xfrm>
          <a:prstGeom prst="ellipse">
            <a:avLst/>
          </a:prstGeom>
          <a:solidFill>
            <a:srgbClr val="059669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181100" y="563880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 b="1">
                <a:solidFill>
                  <a:srgbClr val="059669"/>
                </a:solidFill>
              </a:rPr>
              <a:t>决策原则</a:t>
            </a:r>
            <a:endParaRPr sz="1050" b="1">
              <a:solidFill>
                <a:srgbClr val="059669"/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2590800" y="5638800"/>
            <a:ext cx="3333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先重灾区、后轻灾区的空间化、定量化决策</a:t>
            </a:r>
            <a:endParaRPr sz="1050">
              <a:solidFill>
                <a:srgbClr val="475569"/>
              </a:solidFill>
            </a:endParaRPr>
          </a:p>
        </p:txBody>
      </p:sp>
      <p:sp>
        <p:nvSpPr>
          <p:cNvPr id="40" name="圆角矩形 39"/>
          <p:cNvSpPr>
            <a:spLocks noGrp="1"/>
          </p:cNvSpPr>
          <p:nvPr/>
        </p:nvSpPr>
        <p:spPr>
          <a:xfrm>
            <a:off x="6096000" y="4191000"/>
            <a:ext cx="5410200" cy="895350"/>
          </a:xfrm>
          <a:prstGeom prst="roundRect">
            <a:avLst>
              <a:gd name="adj" fmla="val 17021"/>
            </a:avLst>
          </a:prstGeom>
          <a:solidFill>
            <a:srgbClr val="DBEAFE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286500" y="4324350"/>
            <a:ext cx="502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A线价值</a:t>
            </a:r>
            <a:endParaRPr sz="1275" b="1">
              <a:solidFill>
                <a:srgbClr val="0F172A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6286500" y="4629150"/>
            <a:ext cx="502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广域2D筛查，分钟级输出大范围建筑逐栋损毁等级，指导应急资源调度</a:t>
            </a:r>
            <a:endParaRPr sz="975">
              <a:solidFill>
                <a:srgbClr val="475569"/>
              </a:solidFill>
            </a:endParaRPr>
          </a:p>
        </p:txBody>
      </p:sp>
      <p:sp>
        <p:nvSpPr>
          <p:cNvPr id="43" name="圆角矩形 42"/>
          <p:cNvSpPr>
            <a:spLocks noGrp="1"/>
          </p:cNvSpPr>
          <p:nvPr/>
        </p:nvSpPr>
        <p:spPr>
          <a:xfrm>
            <a:off x="6096000" y="5238750"/>
            <a:ext cx="5410200" cy="838200"/>
          </a:xfrm>
          <a:prstGeom prst="roundRect">
            <a:avLst>
              <a:gd name="adj" fmla="val 18182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286500" y="5372100"/>
            <a:ext cx="502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B线价值</a:t>
            </a:r>
            <a:endParaRPr sz="1275" b="1">
              <a:solidFill>
                <a:srgbClr val="0F172A"/>
              </a:solidFill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>
            <a:off x="6286500" y="5676900"/>
            <a:ext cx="502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重点建筑3D精细评估，提供损毁体积估算，支撑清运与重建工程量预算</a:t>
            </a:r>
            <a:endParaRPr sz="975">
              <a:solidFill>
                <a:srgbClr val="47556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495300"/>
            <a:ext cx="9525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局限性与改进方向</a:t>
            </a:r>
            <a:endParaRPr sz="2700" b="1">
              <a:solidFill>
                <a:srgbClr val="0F172A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685800" y="102870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85800" y="1257300"/>
            <a:ext cx="5143500" cy="28575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52500" y="13906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当前局限性</a:t>
            </a:r>
            <a:endParaRPr sz="1650" b="1">
              <a:solidFill>
                <a:srgbClr val="DC2626"/>
              </a:solidFill>
            </a:endParaRPr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1028700" y="1809750"/>
            <a:ext cx="57150" cy="57150"/>
          </a:xfrm>
          <a:prstGeom prst="ellipse">
            <a:avLst/>
          </a:prstGeom>
          <a:solidFill>
            <a:srgbClr val="EF4444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81100" y="17335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DC2626"/>
                </a:solidFill>
              </a:defRPr>
            </a:pPr>
            <a:r>
              <a:rPr sz="1125" b="1">
                <a:solidFill>
                  <a:srgbClr val="DC2626"/>
                </a:solidFill>
              </a:rPr>
              <a:t>A线：小型建筑漏检</a:t>
            </a:r>
            <a:endParaRPr sz="1125" b="1">
              <a:solidFill>
                <a:srgbClr val="DC262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181100" y="194310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512下采样导致检出率约80%，相邻建筑并栋，单栋面积偏大</a:t>
            </a:r>
            <a:endParaRPr sz="975">
              <a:solidFill>
                <a:srgbClr val="475569"/>
              </a:solidFill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1028700" y="2476500"/>
            <a:ext cx="57150" cy="57150"/>
          </a:xfrm>
          <a:prstGeom prst="ellipse">
            <a:avLst/>
          </a:prstGeom>
          <a:solidFill>
            <a:srgbClr val="EF4444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81100" y="240030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DC2626"/>
                </a:solidFill>
              </a:defRPr>
            </a:pPr>
            <a:r>
              <a:rPr sz="1125" b="1">
                <a:solidFill>
                  <a:srgbClr val="DC2626"/>
                </a:solidFill>
              </a:rPr>
              <a:t>A线：中间等级精度有限</a:t>
            </a:r>
            <a:endParaRPr sz="1125" b="1">
              <a:solidFill>
                <a:srgbClr val="DC2626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181100" y="260985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轻微/严重等中间损毁等级F1仅为0.33~0.49</a:t>
            </a:r>
            <a:endParaRPr sz="975">
              <a:solidFill>
                <a:srgbClr val="475569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1028700" y="3143250"/>
            <a:ext cx="57150" cy="57150"/>
          </a:xfrm>
          <a:prstGeom prst="ellipse">
            <a:avLst/>
          </a:prstGeom>
          <a:solidFill>
            <a:srgbClr val="EF4444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81100" y="3067050"/>
            <a:ext cx="4381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DC2626"/>
                </a:solidFill>
              </a:defRPr>
            </a:pPr>
            <a:r>
              <a:rPr sz="1125" b="1">
                <a:solidFill>
                  <a:srgbClr val="DC2626"/>
                </a:solidFill>
              </a:rPr>
              <a:t>B线：真实数据依赖</a:t>
            </a:r>
            <a:endParaRPr sz="1125" b="1">
              <a:solidFill>
                <a:srgbClr val="DC2626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81100" y="3276600"/>
            <a:ext cx="438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当前在公开示例数据上验证，真实灾后倾斜影像的获取是工程化前提</a:t>
            </a:r>
            <a:endParaRPr sz="975">
              <a:solidFill>
                <a:srgbClr val="475569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/>
        </p:nvSpPr>
        <p:spPr>
          <a:xfrm>
            <a:off x="6096000" y="1257300"/>
            <a:ext cx="5410200" cy="4191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p/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362700" y="13906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59669"/>
                </a:solidFill>
              </a:defRPr>
            </a:pPr>
            <a:r>
              <a:rPr sz="1650" b="1">
                <a:solidFill>
                  <a:srgbClr val="059669"/>
                </a:solidFill>
              </a:rPr>
              <a:t>改进方向</a:t>
            </a:r>
            <a:endParaRPr sz="1650" b="1">
              <a:solidFill>
                <a:srgbClr val="059669"/>
              </a:solidFill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6362700" y="1790700"/>
            <a:ext cx="4876800" cy="1009650"/>
          </a:xfrm>
          <a:prstGeom prst="roundRect">
            <a:avLst>
              <a:gd name="adj" fmla="val 11321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553200" y="1885950"/>
            <a:ext cx="449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A线精度提升</a:t>
            </a:r>
            <a:endParaRPr sz="1200" b="1">
              <a:solidFill>
                <a:srgbClr val="065F46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553200" y="2133600"/>
            <a:ext cx="449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采用1024全分辨率或影像切片</a:t>
            </a:r>
            <a:endParaRPr sz="1050">
              <a:solidFill>
                <a:srgbClr val="475569"/>
              </a:solidFill>
            </a:endParaRP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引入实例分割切分粘连建筑</a:t>
            </a:r>
            <a:endParaRPr sz="1050">
              <a:solidFill>
                <a:srgbClr val="475569"/>
              </a:solidFill>
            </a:endParaRP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中间等级增强类别权重/Focal Loss</a:t>
            </a:r>
            <a:endParaRPr sz="1050">
              <a:solidFill>
                <a:srgbClr val="475569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362700" y="2914650"/>
            <a:ext cx="4876800" cy="1009650"/>
          </a:xfrm>
          <a:prstGeom prst="roundRect">
            <a:avLst>
              <a:gd name="adj" fmla="val 11321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553200" y="3009900"/>
            <a:ext cx="449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B线真实场景扩展</a:t>
            </a:r>
            <a:endParaRPr sz="1200" b="1">
              <a:solidFill>
                <a:srgbClr val="065F46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553200" y="3257550"/>
            <a:ext cx="449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取得真实震后无人机影像</a:t>
            </a:r>
            <a:endParaRPr sz="1050">
              <a:solidFill>
                <a:srgbClr val="475569"/>
              </a:solidFill>
            </a:endParaRP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做灾前/灾后DSM差分</a:t>
            </a:r>
            <a:endParaRPr sz="1050">
              <a:solidFill>
                <a:srgbClr val="475569"/>
              </a:solidFill>
            </a:endParaRP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精确量化建筑垮塌与瓦砾体积</a:t>
            </a:r>
            <a:endParaRPr sz="1050">
              <a:solidFill>
                <a:srgbClr val="475569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6362700" y="4038600"/>
            <a:ext cx="4876800" cy="1009650"/>
          </a:xfrm>
          <a:prstGeom prst="roundRect">
            <a:avLst>
              <a:gd name="adj" fmla="val 11321"/>
            </a:avLst>
          </a:prstGeom>
          <a:solidFill>
            <a:srgbClr val="D1FAE5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553200" y="4133850"/>
            <a:ext cx="4495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65F46"/>
                </a:solidFill>
              </a:defRPr>
            </a:pPr>
            <a:r>
              <a:rPr sz="1200" b="1">
                <a:solidFill>
                  <a:srgbClr val="065F46"/>
                </a:solidFill>
              </a:rPr>
              <a:t>端到端系统集成</a:t>
            </a:r>
            <a:endParaRPr sz="1200" b="1">
              <a:solidFill>
                <a:srgbClr val="065F46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553200" y="4381500"/>
            <a:ext cx="44958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A线广域筛查 + B线精细评估</a:t>
            </a:r>
            <a:endParaRPr sz="1050">
              <a:solidFill>
                <a:srgbClr val="475569"/>
              </a:solidFill>
            </a:endParaRP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在统一GIS中联动</a:t>
            </a:r>
            <a:endParaRPr sz="1050">
              <a:solidFill>
                <a:srgbClr val="475569"/>
              </a:solidFill>
            </a:endParaRPr>
          </a:p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形成端到端灾后损失评估系统</a:t>
            </a:r>
            <a:endParaRPr sz="1050">
              <a:solidFill>
                <a:srgbClr val="475569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685800" y="4381500"/>
            <a:ext cx="5143500" cy="1066800"/>
          </a:xfrm>
          <a:prstGeom prst="roundRect">
            <a:avLst>
              <a:gd name="adj" fmla="val 14286"/>
            </a:avLst>
          </a:prstGeom>
          <a:gradFill>
            <a:gsLst>
              <a:gs pos="0">
                <a:srgbClr val="1E3A5F"/>
              </a:gs>
              <a:gs pos="100000">
                <a:srgbClr val="1E40AF"/>
              </a:gs>
            </a:gsLst>
            <a:lin ang="8100000"/>
          </a:gradFill>
          <a:ln w="0">
            <a:noFill/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  <p:txBody>
          <a:bodyPr/>
          <a:p/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52500" y="4533900"/>
            <a:ext cx="461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实施路径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52500" y="4819650"/>
            <a:ext cx="4610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BFDBFE"/>
                </a:solidFill>
              </a:defRPr>
            </a:pPr>
            <a:r>
              <a:rPr sz="1050">
                <a:solidFill>
                  <a:srgbClr val="BFDBFE"/>
                </a:solidFill>
              </a:rPr>
              <a:t>1024分辨率重训练 -&gt; 真实震后影像获取 -&gt;</a:t>
            </a:r>
            <a:endParaRPr sz="1050">
              <a:solidFill>
                <a:srgbClr val="BFDBFE"/>
              </a:solidFill>
            </a:endParaRPr>
          </a:p>
          <a:p>
            <a:pPr>
              <a:defRPr sz="1050">
                <a:solidFill>
                  <a:srgbClr val="BFDBFE"/>
                </a:solidFill>
              </a:defRPr>
            </a:pPr>
            <a:r>
              <a:rPr sz="1050">
                <a:solidFill>
                  <a:srgbClr val="BFDBFE"/>
                </a:solidFill>
              </a:rPr>
              <a:t>A/B线联动 -&gt; 端到端灾后评估系统</a:t>
            </a:r>
            <a:endParaRPr sz="1050">
              <a:solidFill>
                <a:srgbClr val="BFDBFE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590550"/>
            <a:ext cx="10820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总结与展望</a:t>
            </a:r>
            <a:endParaRPr sz="2850" b="1">
              <a:solidFill>
                <a:srgbClr val="FFFFFF"/>
              </a:solidFill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4762500" y="1123950"/>
            <a:ext cx="2667000" cy="28575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4" name="圆角矩形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638300" y="13906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15000"/>
            </a:srgbClr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638300" y="140970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60A5FA"/>
                </a:solidFill>
              </a:defRPr>
            </a:pPr>
            <a:endParaRPr sz="1350">
              <a:solidFill>
                <a:srgbClr val="60A5FA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133600" y="13525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A线损毁识别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2133600" y="156210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BFDBFE"/>
                </a:solidFill>
              </a:defRPr>
            </a:pPr>
            <a:r>
              <a:rPr sz="1050">
                <a:solidFill>
                  <a:srgbClr val="BFDBFE"/>
                </a:solidFill>
              </a:rPr>
              <a:t>孪生变化检测网络实现逐栋四级损毁分级</a:t>
            </a:r>
            <a:endParaRPr sz="1050">
              <a:solidFill>
                <a:srgbClr val="BFDBFE"/>
              </a:solidFill>
            </a:endParaRPr>
          </a:p>
          <a:p>
            <a:pPr>
              <a:defRPr sz="1050">
                <a:solidFill>
                  <a:srgbClr val="BFDBFE"/>
                </a:solidFill>
              </a:defRPr>
            </a:pPr>
            <a:r>
              <a:rPr sz="1050">
                <a:solidFill>
                  <a:srgbClr val="BFDBFE"/>
                </a:solidFill>
              </a:rPr>
              <a:t>宏平均F1约0.50，评估54,862栋建筑</a:t>
            </a:r>
            <a:endParaRPr sz="1050">
              <a:solidFill>
                <a:srgbClr val="BFDBFE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638300" y="19812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15000"/>
            </a:srgbClr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9" name="矩形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638300" y="20002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60A5FA"/>
                </a:solidFill>
              </a:defRPr>
            </a:pPr>
            <a:endParaRPr sz="1350">
              <a:solidFill>
                <a:srgbClr val="60A5F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133600" y="194310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GIS空间化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2133600" y="215265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BFDBFE"/>
                </a:solidFill>
              </a:defRPr>
            </a:pPr>
            <a:r>
              <a:rPr sz="1050">
                <a:solidFill>
                  <a:srgbClr val="BFDBFE"/>
                </a:solidFill>
              </a:rPr>
              <a:t>地理配准+PostGIS+Cesium</a:t>
            </a:r>
            <a:endParaRPr sz="1050">
              <a:solidFill>
                <a:srgbClr val="BFDBFE"/>
              </a:solidFill>
            </a:endParaRPr>
          </a:p>
          <a:p>
            <a:pPr>
              <a:defRPr sz="1050">
                <a:solidFill>
                  <a:srgbClr val="BFDBFE"/>
                </a:solidFill>
              </a:defRPr>
            </a:pPr>
            <a:r>
              <a:rPr sz="1050">
                <a:solidFill>
                  <a:srgbClr val="BFDBFE"/>
                </a:solidFill>
              </a:rPr>
              <a:t>形成交互式损毁分布图</a:t>
            </a:r>
            <a:endParaRPr sz="1050">
              <a:solidFill>
                <a:srgbClr val="BFDBFE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638300" y="25717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15000"/>
            </a:srgbClr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3" name="矩形 1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638300" y="259080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60A5FA"/>
                </a:solidFill>
              </a:defRPr>
            </a:pPr>
            <a:endParaRPr sz="1350">
              <a:solidFill>
                <a:srgbClr val="60A5F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133600" y="25336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B线三维重建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133600" y="274320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BFDBFE"/>
                </a:solidFill>
              </a:defRPr>
            </a:pPr>
            <a:r>
              <a:rPr sz="1050">
                <a:solidFill>
                  <a:srgbClr val="BFDBFE"/>
                </a:solidFill>
              </a:rPr>
              <a:t>ODM完成完整三维重建管线</a:t>
            </a:r>
            <a:endParaRPr sz="1050">
              <a:solidFill>
                <a:srgbClr val="BFDBFE"/>
              </a:solidFill>
            </a:endParaRPr>
          </a:p>
          <a:p>
            <a:pPr>
              <a:defRPr sz="1050">
                <a:solidFill>
                  <a:srgbClr val="BFDBFE"/>
                </a:solidFill>
              </a:defRPr>
            </a:pPr>
            <a:r>
              <a:rPr sz="1050">
                <a:solidFill>
                  <a:srgbClr val="BFDBFE"/>
                </a:solidFill>
              </a:rPr>
              <a:t>纹理模型/点云/DSM/正射影像</a:t>
            </a:r>
            <a:endParaRPr sz="1050">
              <a:solidFill>
                <a:srgbClr val="BFDBFE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1638300" y="31623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15000"/>
            </a:srgbClr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17" name="矩形 16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1638300" y="318135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60A5FA"/>
                </a:solidFill>
              </a:defRPr>
            </a:pPr>
            <a:endParaRPr sz="1350">
              <a:solidFill>
                <a:srgbClr val="60A5FA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2133600" y="312420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体积估算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2133600" y="333375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BFDBFE"/>
                </a:solidFill>
              </a:defRPr>
            </a:pPr>
            <a:r>
              <a:rPr sz="1050">
                <a:solidFill>
                  <a:srgbClr val="BFDBFE"/>
                </a:solidFill>
              </a:rPr>
              <a:t>相对基准面方量法精确估算损毁体积</a:t>
            </a:r>
            <a:endParaRPr sz="1050">
              <a:solidFill>
                <a:srgbClr val="BFDBFE"/>
              </a:solidFill>
            </a:endParaRPr>
          </a:p>
          <a:p>
            <a:pPr>
              <a:defRPr sz="1050">
                <a:solidFill>
                  <a:srgbClr val="BFDBFE"/>
                </a:solidFill>
              </a:defRPr>
            </a:pPr>
            <a:r>
              <a:rPr sz="1050">
                <a:solidFill>
                  <a:srgbClr val="BFDBFE"/>
                </a:solidFill>
              </a:rPr>
              <a:t>合成验证100%精确，示例~5.06万m3</a:t>
            </a:r>
            <a:endParaRPr sz="1050">
              <a:solidFill>
                <a:srgbClr val="BFDBFE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1638300" y="37528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FFF">
              <a:alpha val="15000"/>
            </a:srgbClr>
          </a:solidFill>
          <a:ln w="0">
            <a:noFill/>
            <a:prstDash val="solid"/>
          </a:ln>
        </p:spPr>
        <p:txBody>
          <a:bodyPr/>
          <a:p/>
        </p:txBody>
      </p:sp>
      <p:sp>
        <p:nvSpPr>
          <p:cNvPr id="21" name="矩形 20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1638300" y="3771900"/>
            <a:ext cx="342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60A5FA"/>
                </a:solidFill>
              </a:defRPr>
            </a:pPr>
            <a:endParaRPr sz="1350">
              <a:solidFill>
                <a:srgbClr val="60A5F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2133600" y="37147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恢复建议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2133600" y="392430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BFDBFE"/>
                </a:solidFill>
              </a:defRPr>
            </a:pPr>
            <a:r>
              <a:rPr sz="1050">
                <a:solidFill>
                  <a:srgbClr val="BFDBFE"/>
                </a:solidFill>
              </a:rPr>
              <a:t>四级分级响应体系</a:t>
            </a:r>
            <a:endParaRPr sz="1050">
              <a:solidFill>
                <a:srgbClr val="BFDBFE"/>
              </a:solidFill>
            </a:endParaRPr>
          </a:p>
          <a:p>
            <a:pPr>
              <a:defRPr sz="1050">
                <a:solidFill>
                  <a:srgbClr val="BFDBFE"/>
                </a:solidFill>
              </a:defRPr>
            </a:pPr>
            <a:r>
              <a:rPr sz="1050">
                <a:solidFill>
                  <a:srgbClr val="BFDBFE"/>
                </a:solidFill>
              </a:rPr>
              <a:t>空间化、定量化重建决策支持</a:t>
            </a:r>
            <a:endParaRPr sz="1050">
              <a:solidFill>
                <a:srgbClr val="BFDBFE"/>
              </a:solidFill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1447800" y="4400550"/>
            <a:ext cx="9296400" cy="762000"/>
          </a:xfrm>
          <a:prstGeom prst="roundRect">
            <a:avLst>
              <a:gd name="adj" fmla="val 2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638300" y="4552950"/>
            <a:ext cx="89154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93C5FD"/>
                </a:solidFill>
              </a:defRPr>
            </a:pPr>
            <a:r>
              <a:rPr sz="1350" b="1">
                <a:solidFill>
                  <a:srgbClr val="93C5FD"/>
                </a:solidFill>
              </a:rPr>
              <a:t>识别-量化-空间化-三维精细评估-决策建议</a:t>
            </a:r>
            <a:endParaRPr sz="1350" b="1">
              <a:solidFill>
                <a:srgbClr val="93C5FD"/>
              </a:solidFill>
            </a:endParaRPr>
          </a:p>
          <a:p>
            <a:pPr algn="ctr">
              <a:defRPr sz="1350" b="1">
                <a:solidFill>
                  <a:srgbClr val="93C5FD"/>
                </a:solidFill>
              </a:defRPr>
            </a:pPr>
            <a:r>
              <a:rPr sz="1350" b="1">
                <a:solidFill>
                  <a:srgbClr val="93C5FD"/>
                </a:solidFill>
              </a:rPr>
              <a:t>完整灾后损失自动评估链路已打通</a:t>
            </a:r>
            <a:endParaRPr sz="1350" b="1">
              <a:solidFill>
                <a:srgbClr val="93C5FD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85800" y="5448300"/>
            <a:ext cx="10820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60A5FA"/>
                </a:solidFill>
              </a:defRPr>
            </a:pPr>
            <a:r>
              <a:rPr sz="1800" b="1">
                <a:solidFill>
                  <a:srgbClr val="60A5FA"/>
                </a:solidFill>
              </a:rPr>
              <a:t>感谢聆听 · 敬请指导</a:t>
            </a:r>
            <a:endParaRPr sz="1800" b="1">
              <a:solidFill>
                <a:srgbClr val="60A5FA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5905500"/>
            <a:ext cx="10820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>
                <a:solidFill>
                  <a:srgbClr val="64748B"/>
                </a:solidFill>
              </a:defRPr>
            </a:pPr>
            <a:r>
              <a:rPr sz="1050">
                <a:solidFill>
                  <a:srgbClr val="64748B"/>
                </a:solidFill>
              </a:rPr>
              <a:t>项目16：灾后重建 · 模块4  |  二〇二六年六月</a:t>
            </a:r>
            <a:endParaRPr sz="1050">
              <a:solidFill>
                <a:srgbClr val="64748B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9.5,&quot;left&quot;:129,&quot;top&quot;:106.5,&quot;width&quot;:639}"/>
</p:tagLst>
</file>

<file path=ppt/tags/tag2.xml><?xml version="1.0" encoding="utf-8"?>
<p:tagLst xmlns:p="http://schemas.openxmlformats.org/presentationml/2006/main">
  <p:tag name="KSO_WM_DIAGRAM_VIRTUALLY_FRAME" val="{&quot;height&quot;:229.5,&quot;left&quot;:129,&quot;top&quot;:106.5,&quot;width&quot;:639}"/>
</p:tagLst>
</file>

<file path=ppt/tags/tag3.xml><?xml version="1.0" encoding="utf-8"?>
<p:tagLst xmlns:p="http://schemas.openxmlformats.org/presentationml/2006/main">
  <p:tag name="KSO_WM_DIAGRAM_VIRTUALLY_FRAME" val="{&quot;height&quot;:229.5,&quot;left&quot;:129,&quot;top&quot;:106.5,&quot;width&quot;:639}"/>
</p:tagLst>
</file>

<file path=ppt/tags/tag4.xml><?xml version="1.0" encoding="utf-8"?>
<p:tagLst xmlns:p="http://schemas.openxmlformats.org/presentationml/2006/main">
  <p:tag name="KSO_WM_DIAGRAM_VIRTUALLY_FRAME" val="{&quot;height&quot;:229.5,&quot;left&quot;:129,&quot;top&quot;:106.5,&quot;width&quot;:639}"/>
</p:tagLst>
</file>

<file path=ppt/tags/tag5.xml><?xml version="1.0" encoding="utf-8"?>
<p:tagLst xmlns:p="http://schemas.openxmlformats.org/presentationml/2006/main">
  <p:tag name="KSO_WM_DIAGRAM_VIRTUALLY_FRAME" val="{&quot;height&quot;:229.5,&quot;left&quot;:129,&quot;top&quot;:106.5,&quot;width&quot;:639}"/>
</p:tagLst>
</file>

<file path=ppt/tags/tag6.xml><?xml version="1.0" encoding="utf-8"?>
<p:tagLst xmlns:p="http://schemas.openxmlformats.org/presentationml/2006/main">
  <p:tag name="KSO_WM_DIAGRAM_VIRTUALLY_FRAME" val="{&quot;height&quot;:229.5,&quot;left&quot;:129,&quot;top&quot;:106.5,&quot;width&quot;:639}"/>
</p:tagLst>
</file>

<file path=ppt/tags/tag7.xml><?xml version="1.0" encoding="utf-8"?>
<p:tagLst xmlns:p="http://schemas.openxmlformats.org/presentationml/2006/main">
  <p:tag name="KSO_WM_DIAGRAM_VIRTUALLY_FRAME" val="{&quot;height&quot;:229.5,&quot;left&quot;:129,&quot;top&quot;:106.5,&quot;width&quot;:639}"/>
</p:tagLst>
</file>

<file path=ppt/tags/tag8.xml><?xml version="1.0" encoding="utf-8"?>
<p:tagLst xmlns:p="http://schemas.openxmlformats.org/presentationml/2006/main">
  <p:tag name="KSO_WM_DIAGRAM_VIRTUALLY_FRAME" val="{&quot;height&quot;:229.5,&quot;left&quot;:129,&quot;top&quot;:106.5,&quot;width&quot;:639}"/>
</p:tagLst>
</file>

<file path=ppt/tags/tag9.xml><?xml version="1.0" encoding="utf-8"?>
<p:tagLst xmlns:p="http://schemas.openxmlformats.org/presentationml/2006/main">
  <p:tag name="KSO_WM_DIAGRAM_VIRTUALLY_FRAME" val="{&quot;height&quot;:229.5,&quot;left&quot;:129,&quot;top&quot;:106.5,&quot;width&quot;:639}"/>
</p:tagLst>
</file>

<file path=ppt/tags/tag10.xml><?xml version="1.0" encoding="utf-8"?>
<p:tagLst xmlns:p="http://schemas.openxmlformats.org/presentationml/2006/main">
  <p:tag name="KSO_WM_DIAGRAM_VIRTUALLY_FRAME" val="{&quot;height&quot;:229.5,&quot;left&quot;:129,&quot;top&quot;:106.5,&quot;width&quot;:639}"/>
</p:tagLst>
</file>

<file path=ppt/tags/tag11.xml><?xml version="1.0" encoding="utf-8"?>
<p:tagLst xmlns:p="http://schemas.openxmlformats.org/presentationml/2006/main">
  <p:tag name="KSO_WM_DIAGRAM_VIRTUALLY_FRAME" val="{&quot;height&quot;:229.5,&quot;left&quot;:129,&quot;top&quot;:106.5,&quot;width&quot;:639}"/>
</p:tagLst>
</file>

<file path=ppt/tags/tag12.xml><?xml version="1.0" encoding="utf-8"?>
<p:tagLst xmlns:p="http://schemas.openxmlformats.org/presentationml/2006/main">
  <p:tag name="KSO_WM_DIAGRAM_VIRTUALLY_FRAME" val="{&quot;height&quot;:229.5,&quot;left&quot;:129,&quot;top&quot;:106.5,&quot;width&quot;:639}"/>
</p:tagLst>
</file>

<file path=ppt/tags/tag13.xml><?xml version="1.0" encoding="utf-8"?>
<p:tagLst xmlns:p="http://schemas.openxmlformats.org/presentationml/2006/main">
  <p:tag name="KSO_WM_DIAGRAM_VIRTUALLY_FRAME" val="{&quot;height&quot;:229.5,&quot;left&quot;:129,&quot;top&quot;:106.5,&quot;width&quot;:639}"/>
</p:tagLst>
</file>

<file path=ppt/tags/tag14.xml><?xml version="1.0" encoding="utf-8"?>
<p:tagLst xmlns:p="http://schemas.openxmlformats.org/presentationml/2006/main">
  <p:tag name="KSO_WM_DIAGRAM_VIRTUALLY_FRAME" val="{&quot;height&quot;:229.5,&quot;left&quot;:129,&quot;top&quot;:106.5,&quot;width&quot;:639}"/>
</p:tagLst>
</file>

<file path=ppt/tags/tag15.xml><?xml version="1.0" encoding="utf-8"?>
<p:tagLst xmlns:p="http://schemas.openxmlformats.org/presentationml/2006/main">
  <p:tag name="KSO_WM_DIAGRAM_VIRTUALLY_FRAME" val="{&quot;height&quot;:229.5,&quot;left&quot;:129,&quot;top&quot;:106.5,&quot;width&quot;:639}"/>
</p:tagLst>
</file>

<file path=ppt/tags/tag16.xml><?xml version="1.0" encoding="utf-8"?>
<p:tagLst xmlns:p="http://schemas.openxmlformats.org/presentationml/2006/main">
  <p:tag name="KSO_WM_DIAGRAM_VIRTUALLY_FRAME" val="{&quot;height&quot;:229.5,&quot;left&quot;:129,&quot;top&quot;:106.5,&quot;width&quot;:639}"/>
</p:tagLst>
</file>

<file path=ppt/tags/tag17.xml><?xml version="1.0" encoding="utf-8"?>
<p:tagLst xmlns:p="http://schemas.openxmlformats.org/presentationml/2006/main">
  <p:tag name="KSO_WM_DIAGRAM_VIRTUALLY_FRAME" val="{&quot;height&quot;:229.5,&quot;left&quot;:129,&quot;top&quot;:106.5,&quot;width&quot;:639}"/>
</p:tagLst>
</file>

<file path=ppt/tags/tag18.xml><?xml version="1.0" encoding="utf-8"?>
<p:tagLst xmlns:p="http://schemas.openxmlformats.org/presentationml/2006/main">
  <p:tag name="KSO_WM_DIAGRAM_VIRTUALLY_FRAME" val="{&quot;height&quot;:229.5,&quot;left&quot;:129,&quot;top&quot;:106.5,&quot;width&quot;:639}"/>
</p:tagLst>
</file>

<file path=ppt/tags/tag19.xml><?xml version="1.0" encoding="utf-8"?>
<p:tagLst xmlns:p="http://schemas.openxmlformats.org/presentationml/2006/main">
  <p:tag name="KSO_WM_DIAGRAM_VIRTUALLY_FRAME" val="{&quot;height&quot;:229.5,&quot;left&quot;:129,&quot;top&quot;:106.5,&quot;width&quot;:639}"/>
</p:tagLst>
</file>

<file path=ppt/tags/tag20.xml><?xml version="1.0" encoding="utf-8"?>
<p:tagLst xmlns:p="http://schemas.openxmlformats.org/presentationml/2006/main">
  <p:tag name="KSO_WM_DIAGRAM_VIRTUALLY_FRAME" val="{&quot;height&quot;:229.5,&quot;left&quot;:129,&quot;top&quot;:106.5,&quot;width&quot;:639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3174</Words>
  <Application>WPS 演示</Application>
  <PresentationFormat>Converted Presentation</PresentationFormat>
  <Paragraphs>529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沫笙</cp:lastModifiedBy>
  <cp:revision>10</cp:revision>
  <dcterms:created xsi:type="dcterms:W3CDTF">2026-06-22T11:18:00Z</dcterms:created>
  <dcterms:modified xsi:type="dcterms:W3CDTF">2026-06-22T12:40:27Z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500D8DE70EE94F8BAD686F2BEADDD97D_13</vt:lpwstr>
  </property>
  <property fmtid="{D5CDD505-2E9C-101B-9397-08002B2CF9AE}" pid="3" name="KSOProductBuildVer">
    <vt:lpwstr>2052-12.1.0.26895</vt:lpwstr>
  </property>
</Properties>
</file>