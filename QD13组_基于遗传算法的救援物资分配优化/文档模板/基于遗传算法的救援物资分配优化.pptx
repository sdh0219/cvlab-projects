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6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ver_dark.pn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85800"/>
            <a:ext cx="2468880" cy="283464"/>
          </a:xfrm>
          <a:prstGeom prst="rect">
            <a:avLst/>
          </a:prstGeom>
          <a:solidFill>
            <a:srgbClr val="F28C28"/>
          </a:solidFill>
          <a:ln>
            <a:solidFill>
              <a:srgbClr val="F28C28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应急管理 · 组合优化 · 可视化系统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基于遗传算法的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救援物资分配优化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94944" y="3154680"/>
            <a:ext cx="96012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94944" y="3401568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2021年河南极端暴雨洪灾应急物资智能调度研究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4944" y="3977640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C8D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真实灾害案例  ×  改进遗传算法  ×  Vue3 决策系统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4944" y="4800600"/>
            <a:ext cx="9601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94944" y="530352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受灾点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755648" y="4800600"/>
            <a:ext cx="9601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755648" y="5303520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16352" y="4800600"/>
            <a:ext cx="11430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2816352" y="5303520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物资类型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4944" y="62636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5F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ver_dark.png"/>
          <p:cNvPicPr>
            <a:picLocks noChangeAspect="1"/>
          </p:cNvPicPr>
          <p:nvPr/>
        </p:nvPicPr>
        <p:blipFill>
          <a:blip r:embed="rId1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85800"/>
            <a:ext cx="2468880" cy="283464"/>
          </a:xfrm>
          <a:prstGeom prst="rect">
            <a:avLst/>
          </a:prstGeom>
          <a:solidFill>
            <a:srgbClr val="F28C28"/>
          </a:solidFill>
          <a:ln>
            <a:solidFill>
              <a:srgbClr val="F28C28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应急管理 · 组合优化 · 可视化系统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基于遗传算法的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救援物资分配优化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94944" y="3154680"/>
            <a:ext cx="960120" cy="6400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85800" y="3328670"/>
            <a:ext cx="4538345" cy="2100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小组成员及分工</a:t>
            </a:r>
            <a:endParaRPr lang="en-US" altLang="zh-CN" sz="1500" dirty="0">
              <a:solidFill>
                <a:srgbClr val="DDEDF8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成员2：查询初始数据、编写遗传算法分析初始数据、生成技术方案、PPT制作及汇报</a:t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endParaRPr lang="en-US" altLang="zh-CN" sz="1500" dirty="0">
              <a:solidFill>
                <a:srgbClr val="DDEDF8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成员1：生成模拟数据、改进算法、分析模拟数据、可视化展示、完善技术方案、演示视频制作</a:t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en-US" altLang="zh-CN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r>
              <a:rPr lang="zh-CN" altLang="en-US" sz="1500" dirty="0">
                <a:solidFill>
                  <a:srgbClr val="DDEDF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/>
            </a:r>
            <a:endParaRPr lang="zh-CN" altLang="en-US" sz="1500" dirty="0">
              <a:solidFill>
                <a:srgbClr val="DDEDF8"/>
              </a:solidFill>
              <a:latin typeface="Noto Sans CJK JP" pitchFamily="34" charset="0"/>
              <a:ea typeface="Noto Sans CJK JP" pitchFamily="34" charset="-122"/>
              <a:cs typeface="Noto Sans CJK JP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94944" y="62636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E5F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项目背景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从极端暴雨场景出发，构建可量化、可复现的应急物资调度方法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417320"/>
            <a:ext cx="3291840" cy="44805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6916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现实动机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1671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2021年7月河南极端暴雨造成多地内涝，救援窗口期短。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88720" y="266090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传统人工调度难以统筹多仓库、多点位、多物资。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19125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88720" y="31729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易出现重灾区短缺、低危区积压的供需错配。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应急分配本质上是多约束、多目标组合优化问题。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90288" y="1554480"/>
            <a:ext cx="1234440" cy="283464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突发性强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1554480"/>
            <a:ext cx="1051560" cy="283464"/>
          </a:xfrm>
          <a:prstGeom prst="rect">
            <a:avLst/>
          </a:prstGeom>
          <a:solidFill>
            <a:srgbClr val="F28C28"/>
          </a:solidFill>
          <a:ln>
            <a:solidFill>
              <a:srgbClr val="F28C28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点位多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05472" y="1554480"/>
            <a:ext cx="1234440" cy="283464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窗口期短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205740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EAF4FF"/>
          </a:solidFill>
          <a:ln w="12700">
            <a:solidFill>
              <a:srgbClr val="C7DD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233172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河南洪涝救援调度场景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2788920"/>
            <a:ext cx="2377440" cy="1737360"/>
          </a:xfrm>
          <a:prstGeom prst="cloud">
            <a:avLst/>
          </a:prstGeom>
          <a:solidFill>
            <a:srgbClr val="CFE7FF"/>
          </a:solidFill>
          <a:ln w="12700">
            <a:solidFill>
              <a:srgbClr val="7BAED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820156" y="3406140"/>
            <a:ext cx="100584" cy="1005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1828" y="3561588"/>
            <a:ext cx="100584" cy="100584"/>
          </a:xfrm>
          <a:prstGeom prst="ellipse">
            <a:avLst/>
          </a:prstGeom>
          <a:solidFill>
            <a:srgbClr val="0B4F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692140" y="3808476"/>
            <a:ext cx="100584" cy="100584"/>
          </a:xfrm>
          <a:prstGeom prst="ellipse">
            <a:avLst/>
          </a:prstGeom>
          <a:solidFill>
            <a:srgbClr val="0B4F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030468" y="3918204"/>
            <a:ext cx="100584" cy="100584"/>
          </a:xfrm>
          <a:prstGeom prst="ellipse">
            <a:avLst/>
          </a:prstGeom>
          <a:solidFill>
            <a:srgbClr val="0B4F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298948" y="3351276"/>
            <a:ext cx="100584" cy="100584"/>
          </a:xfrm>
          <a:prstGeom prst="ellipse">
            <a:avLst/>
          </a:prstGeom>
          <a:solidFill>
            <a:srgbClr val="0B4F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390388" y="4110228"/>
            <a:ext cx="100584" cy="100584"/>
          </a:xfrm>
          <a:prstGeom prst="ellipse">
            <a:avLst/>
          </a:prstGeom>
          <a:solidFill>
            <a:srgbClr val="0B4F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36592" y="4901184"/>
            <a:ext cx="30632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 · 巩义 · 新密 · 新郑 · 荥阳 · 登封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0" y="1417320"/>
            <a:ext cx="224028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436608" y="16916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81744" y="224028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6×3×3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381744" y="2743200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基准案例规模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81744" y="320040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80×12×3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381744" y="3703320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大规模验证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81744" y="416052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8B5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模型+系统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9381744" y="4663440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一体化实现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调度问题分析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多仓库向多受灾点配送多类物资，目标是在约束下获得最优分配方案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14600" y="1719072"/>
            <a:ext cx="4617720" cy="384048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14600" y="2103120"/>
            <a:ext cx="4617720" cy="1170432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4617720" cy="2724912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514600" y="1719072"/>
            <a:ext cx="4617720" cy="1664208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514600" y="3273552"/>
            <a:ext cx="4617720" cy="109728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514600" y="3383280"/>
            <a:ext cx="4617720" cy="1444752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14600" y="1719072"/>
            <a:ext cx="4617720" cy="2944368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514600" y="3273552"/>
            <a:ext cx="4617720" cy="1389888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514600" y="4663440"/>
            <a:ext cx="4617720" cy="164592"/>
          </a:xfrm>
          <a:prstGeom prst="line">
            <a:avLst/>
          </a:prstGeom>
          <a:noFill/>
          <a:ln w="12700">
            <a:solidFill>
              <a:srgbClr val="88AFCB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1874520"/>
            <a:ext cx="1417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154680"/>
            <a:ext cx="1417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洛阳库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14173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开封库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1554480"/>
            <a:ext cx="1143000" cy="402336"/>
          </a:xfrm>
          <a:prstGeom prst="rect">
            <a:avLst/>
          </a:prstGeom>
          <a:solidFill>
            <a:srgbClr val="FFF0E1"/>
          </a:solidFill>
          <a:ln>
            <a:solidFill>
              <a:srgbClr val="F28C2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0" y="2331720"/>
            <a:ext cx="11430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巩义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3108960"/>
            <a:ext cx="11430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新密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0" y="3886200"/>
            <a:ext cx="11430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2320" y="4663440"/>
            <a:ext cx="11430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荥阳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32320" y="5440680"/>
            <a:ext cx="1143000" cy="40233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20440" y="4617720"/>
            <a:ext cx="2834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94176" y="478231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决策变量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700016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xᵢⱼₖ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749040" y="5074920"/>
            <a:ext cx="22402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 i → 受灾点 j · 第 k 类物资数量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06840" y="1508760"/>
            <a:ext cx="2514600" cy="3794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81160" y="17830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优化目标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81160" y="225856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09760" y="224028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满足率最大化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81160" y="269748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509760" y="267919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运输成本最小化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81160" y="313639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509760" y="311810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分配公平性保持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81160" y="357530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509760" y="355701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紧急程度优先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81160" y="401421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509760" y="399592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运输时间效率提升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46120" y="6053328"/>
            <a:ext cx="5852160" cy="283464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核心矛盾：有限库存与运力  vs  差异化紧急需求  vs  受损路况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数据来源与预处理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将灾情统计、学术算例与开源数据转化为算法可直接读取的标准化输入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463040" y="2331720"/>
            <a:ext cx="59436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29000" y="2331720"/>
            <a:ext cx="59436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394960" y="2331720"/>
            <a:ext cx="59436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60920" y="2331720"/>
            <a:ext cx="59436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" y="1975104"/>
            <a:ext cx="1234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原始灾情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人口/灾情/点位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24328" y="1975104"/>
            <a:ext cx="1234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清洗修正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统一字段与量纲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0288" y="1975104"/>
            <a:ext cx="1234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需求估算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水/面/帐篷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6248" y="1975104"/>
            <a:ext cx="1234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路况矩阵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距离/耗时/系数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22208" y="1975104"/>
            <a:ext cx="1234440" cy="713232"/>
          </a:xfrm>
          <a:prstGeom prst="rect">
            <a:avLst/>
          </a:prstGeom>
          <a:solidFill>
            <a:srgbClr val="FFF0E1"/>
          </a:solidFill>
          <a:ln>
            <a:solidFill>
              <a:srgbClr val="F28C2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模型输入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processed_data.py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15468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3429000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87705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85876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河南省应急管理厅灾情统计公报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424281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PLoS ONE 2024 洪涝物资分配算例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464515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88720" y="4626864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Major-Natural-Disasters 开源灾害数据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502920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501091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国家基础学科公共科学数据中心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31546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172200" y="34290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需求估算规则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72200" y="390448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38862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饮用水 ≈ 受灾人口 ×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33425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431596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方便面 ≈ 受灾人口 × 0.5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76402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474573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帐篷 ≈ 受灾人口 × 0.02，并结合紧急系数修正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5715000"/>
            <a:ext cx="2999874" cy="178308"/>
          </a:xfrm>
          <a:prstGeom prst="rect">
            <a:avLst/>
          </a:prstGeom>
          <a:solidFill>
            <a:srgbClr val="0B4F8A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数据集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68554" y="5715000"/>
            <a:ext cx="2823411" cy="178308"/>
          </a:xfrm>
          <a:prstGeom prst="rect">
            <a:avLst/>
          </a:prstGeom>
          <a:solidFill>
            <a:srgbClr val="0B4F8A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规模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91964" y="5715000"/>
            <a:ext cx="4235116" cy="178308"/>
          </a:xfrm>
          <a:prstGeom prst="rect">
            <a:avLst/>
          </a:prstGeom>
          <a:solidFill>
            <a:srgbClr val="0B4F8A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性质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5893308"/>
            <a:ext cx="2999874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河南洪灾基准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68554" y="5893308"/>
            <a:ext cx="2823411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6×3×3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91964" y="5893308"/>
            <a:ext cx="4235116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真实案例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8680" y="6071616"/>
            <a:ext cx="2999874" cy="178308"/>
          </a:xfrm>
          <a:prstGeom prst="rect">
            <a:avLst/>
          </a:prstGeom>
          <a:solidFill>
            <a:srgbClr val="F2F7FC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大规模模拟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68554" y="6071616"/>
            <a:ext cx="2823411" cy="178308"/>
          </a:xfrm>
          <a:prstGeom prst="rect">
            <a:avLst/>
          </a:prstGeom>
          <a:solidFill>
            <a:srgbClr val="F2F7FC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80×12×3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91964" y="6071616"/>
            <a:ext cx="4235116" cy="178308"/>
          </a:xfrm>
          <a:prstGeom prst="rect">
            <a:avLst/>
          </a:prstGeom>
          <a:solidFill>
            <a:srgbClr val="F2F7FC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扩展性验证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6249924"/>
            <a:ext cx="2999874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复杂场景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68554" y="6249924"/>
            <a:ext cx="2823411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15×6×5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91964" y="6249924"/>
            <a:ext cx="4235116" cy="178308"/>
          </a:xfrm>
          <a:prstGeom prst="rect">
            <a:avLst/>
          </a:prstGeom>
          <a:solidFill>
            <a:srgbClr val="FFFFFF"/>
          </a:solidFill>
          <a:ln>
            <a:solidFill>
              <a:srgbClr val="D6E4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多约束验证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模型约束与评价体系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硬约束保证方案可行，五维指标衡量应急调度质量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15087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2700">
            <a:solidFill>
              <a:srgbClr val="0B4F8A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1755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库存约束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∑ xᵢⱼₖ ≤ Sᵢₖ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963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不超过仓库储备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15087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1755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需求约束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0756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∑ xᵢⱼₖ ≤ Dⱼₖ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24963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不超过受灾点需求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92440" y="1508760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66760" y="175564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车辆约束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07568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∑ xᵢⱼₖ ≤ Vᵢ · Cᵢ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49631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不超过运力上限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337560"/>
            <a:ext cx="4206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51560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道路软约束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404164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4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rᵢⱼ ∈ [0,1]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1051560" y="460857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45902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路况越差，运输成本与耗时越高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" y="499262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497433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运输成本 = 运量 × 距离 ÷ 路况系数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40680" y="3337560"/>
            <a:ext cx="5989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715000" y="361188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五维评价权重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60720" y="40416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物资满足率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4059936"/>
            <a:ext cx="3474720" cy="10058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469880" y="4014216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433425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运输成本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03720" y="4352544"/>
            <a:ext cx="1489166" cy="100584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469880" y="430682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4626864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分配公平性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4645152"/>
            <a:ext cx="1985554" cy="100584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469880" y="459943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60720" y="491947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紧急程度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03720" y="4937760"/>
            <a:ext cx="1985554" cy="100584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469880" y="4892040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521208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时间效率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5230368"/>
            <a:ext cx="992777" cy="100584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10469880" y="5184648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技术路线与系统架构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后端算法与前端可视化串联，形成可演示、可复现的调度决策系统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874520"/>
            <a:ext cx="0" cy="39319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35040" y="2880360"/>
            <a:ext cx="0" cy="39319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35040" y="3886200"/>
            <a:ext cx="0" cy="39319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4572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041648" y="153619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527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config.json · processed_data.py · 距离/路况/需求矩阵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749040" y="2377440"/>
            <a:ext cx="4572000" cy="676656"/>
          </a:xfrm>
          <a:prstGeom prst="roundRect">
            <a:avLst>
              <a:gd name="adj" fmla="val 10811"/>
            </a:avLst>
          </a:prstGeom>
          <a:solidFill>
            <a:srgbClr val="FFF0E1"/>
          </a:solidFill>
          <a:ln w="12700">
            <a:solidFill>
              <a:srgbClr val="F28C28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41648" y="254203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算法层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UniversalAllocationModel + GAEnhancedMixin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749040" y="3383280"/>
            <a:ext cx="4572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041648" y="354787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接口层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3872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export_for_frontend.py · results.json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3749040" y="4389120"/>
            <a:ext cx="4572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041648" y="455371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展示层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5445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Vue 3 + Vite + ECharts 交互式仪表盘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85800" y="141732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16916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技术路线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1671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188720" y="2148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问题建模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260604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188720" y="25877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数据准备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0120" y="304495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188720" y="30266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 求解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0120" y="348386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188720" y="34655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指标评估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60120" y="392277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188720" y="390448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可视化展示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60120" y="436168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188720" y="43434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决策建议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52560" y="1417320"/>
            <a:ext cx="2331720" cy="4297680"/>
          </a:xfrm>
          <a:prstGeom prst="roundRect">
            <a:avLst>
              <a:gd name="adj" fmla="val 3137"/>
            </a:avLst>
          </a:prstGeom>
          <a:solidFill>
            <a:srgbClr val="EAF4FF"/>
          </a:solidFill>
          <a:ln w="12700">
            <a:solidFill>
              <a:srgbClr val="C7DDEB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372600" y="16916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一键部署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308592" y="2267712"/>
            <a:ext cx="1417320" cy="320040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start.py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45168" y="301752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20" dirty="0"/>
          </a:p>
        </p:txBody>
      </p:sp>
      <p:sp>
        <p:nvSpPr>
          <p:cNvPr id="43" name="Text 41"/>
          <p:cNvSpPr/>
          <p:nvPr/>
        </p:nvSpPr>
        <p:spPr>
          <a:xfrm>
            <a:off x="9573768" y="29992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自动检查依赖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345168" y="344728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20" dirty="0"/>
          </a:p>
        </p:txBody>
      </p:sp>
      <p:sp>
        <p:nvSpPr>
          <p:cNvPr id="45" name="Text 43"/>
          <p:cNvSpPr/>
          <p:nvPr/>
        </p:nvSpPr>
        <p:spPr>
          <a:xfrm>
            <a:off x="9573768" y="34290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自动导出数据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9345168" y="387705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20" dirty="0"/>
          </a:p>
        </p:txBody>
      </p:sp>
      <p:sp>
        <p:nvSpPr>
          <p:cNvPr id="47" name="Text 45"/>
          <p:cNvSpPr/>
          <p:nvPr/>
        </p:nvSpPr>
        <p:spPr>
          <a:xfrm>
            <a:off x="9573768" y="38587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自动启动服务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9345168" y="430682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20" dirty="0"/>
          </a:p>
        </p:txBody>
      </p:sp>
      <p:sp>
        <p:nvSpPr>
          <p:cNvPr id="49" name="Text 47"/>
          <p:cNvSpPr/>
          <p:nvPr/>
        </p:nvSpPr>
        <p:spPr>
          <a:xfrm>
            <a:off x="9573768" y="428853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浏览器打开可视化系统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改进遗传算法流程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以紧急优先初始化、仓库块交叉与约束修复提升寻优效率和可行性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828800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10128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91456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72784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54112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235440" y="2176272"/>
            <a:ext cx="411480" cy="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初始化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70%紧急+30%路况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258568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适应度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五维加权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9896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锦标赛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选择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221224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仓库块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交叉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702552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自适应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变异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183880" y="1783080"/>
            <a:ext cx="1097280" cy="713232"/>
          </a:xfrm>
          <a:prstGeom prst="rect">
            <a:avLst/>
          </a:prstGeom>
          <a:solidFill>
            <a:srgbClr val="FFF0E1"/>
          </a:solidFill>
          <a:ln>
            <a:solidFill>
              <a:srgbClr val="F28C2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约束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修复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665208" y="1783080"/>
            <a:ext cx="10972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局部搜索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精英保留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77240" y="306324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1560" y="3337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关键改进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三维实数矩阵直接编码分配量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" y="4151376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41330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按仓库维度块交换，保留优良调配结构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1560" y="453542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80160" y="45171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对紧急度高、满足率低的点加大扰动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1560" y="4919472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280160" y="490118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库存/需求/车辆约束迭代修复 5 轮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3063240"/>
            <a:ext cx="4617720" cy="2423160"/>
          </a:xfrm>
          <a:prstGeom prst="roundRect">
            <a:avLst>
              <a:gd name="adj" fmla="val 3019"/>
            </a:avLst>
          </a:prstGeom>
          <a:solidFill>
            <a:srgbClr val="EAF4FF"/>
          </a:solidFill>
          <a:ln w="12700">
            <a:solidFill>
              <a:srgbClr val="C7DDEB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812280" y="3337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参数设置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397764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6720840" y="4480560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种群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800" y="397764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50代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7543800" y="4480560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迭代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66760" y="397764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0.1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8366760" y="4480560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变异率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89720" y="397764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0.8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9189720" y="4480560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交叉率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012680" y="3977640"/>
            <a:ext cx="6583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10%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10012680" y="4480560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12280" y="507492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停滞检测：多代无改进时自动提高变异率，降低早熟收敛风险。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优化结果与核心指标对比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河南基准案例中，满足率由 37.05% 提升至 85.39%，运输成本同步下降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1325880"/>
            <a:ext cx="24688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37.05% → 85.39%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物资满足率 +48.34%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32588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0.2992 → 0.6313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紧急程度得分 +111%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1325880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8B5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−11.4%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运输成本下降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58200" y="132588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−5.68%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58200" y="182880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公平性合理权衡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246888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9" name="Image 0" descr="/mnt/data/ppt_assets/metrics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70356"/>
            <a:ext cx="4892040" cy="247176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355080" y="2468880"/>
            <a:ext cx="5120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1" descr="/mnt/data/ppt_assets/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982087"/>
            <a:ext cx="4663440" cy="244830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680" y="6089904"/>
            <a:ext cx="97840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解读：重灾区保障能力明显增强，紧急得分翻倍；公平性小幅下降是“重灾优先”的合理调度取舍。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效果图：满足率与物资分配路线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优化后调度方案将更多资源集中到高紧急系数点位，郑州提升最明显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325880"/>
            <a:ext cx="53035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0" descr="/mnt/data/ppt_assets/satisfa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476" y="1481328"/>
            <a:ext cx="4401312" cy="20848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325880"/>
            <a:ext cx="51663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3" name="Image 1" descr="/mnt/data/ppt_assets/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329" y="1481328"/>
            <a:ext cx="4616414" cy="20848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5800" y="4069080"/>
            <a:ext cx="10744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60120" y="4315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调运流向示意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926080" y="4581144"/>
            <a:ext cx="5577840" cy="21031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926080" y="4791456"/>
            <a:ext cx="5577840" cy="630936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926080" y="4581144"/>
            <a:ext cx="5577840" cy="75895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26080" y="5001768"/>
            <a:ext cx="5577840" cy="338328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2926080" y="5340096"/>
            <a:ext cx="5577840" cy="502920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2926080" y="4581144"/>
            <a:ext cx="5577840" cy="1307592"/>
          </a:xfrm>
          <a:prstGeom prst="line">
            <a:avLst/>
          </a:prstGeom>
          <a:noFill/>
          <a:ln w="12700">
            <a:solidFill>
              <a:srgbClr val="F28C28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2926080" y="5422392"/>
            <a:ext cx="5577840" cy="466344"/>
          </a:xfrm>
          <a:prstGeom prst="line">
            <a:avLst/>
          </a:prstGeom>
          <a:noFill/>
          <a:ln w="12700">
            <a:solidFill>
              <a:srgbClr val="0B4F8A">
                <a:alpha val="90000"/>
              </a:srgbClr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920240" y="4681728"/>
            <a:ext cx="822960" cy="237744"/>
          </a:xfrm>
          <a:prstGeom prst="rect">
            <a:avLst/>
          </a:prstGeom>
          <a:solidFill>
            <a:srgbClr val="EAF4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郑州库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920240" y="5230368"/>
            <a:ext cx="822960" cy="237744"/>
          </a:xfrm>
          <a:prstGeom prst="rect">
            <a:avLst/>
          </a:prstGeom>
          <a:solidFill>
            <a:srgbClr val="EAF4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洛阳库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920240" y="5779008"/>
            <a:ext cx="822960" cy="237744"/>
          </a:xfrm>
          <a:prstGeom prst="rect">
            <a:avLst/>
          </a:prstGeom>
          <a:solidFill>
            <a:srgbClr val="EAF4FF"/>
          </a:solidFill>
          <a:ln>
            <a:solidFill>
              <a:srgbClr val="0B4F8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开封库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503920" y="4498848"/>
            <a:ext cx="685800" cy="219456"/>
          </a:xfrm>
          <a:prstGeom prst="rect">
            <a:avLst/>
          </a:prstGeom>
          <a:solidFill>
            <a:srgbClr val="FFF0E1"/>
          </a:solidFill>
          <a:ln>
            <a:solidFill>
              <a:srgbClr val="F28C2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8503920" y="4919472"/>
            <a:ext cx="6858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巩义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503920" y="5340096"/>
            <a:ext cx="6858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新密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8503920" y="5760720"/>
            <a:ext cx="685800" cy="219456"/>
          </a:xfrm>
          <a:prstGeom prst="rect">
            <a:avLst/>
          </a:prstGeom>
          <a:solidFill>
            <a:srgbClr val="FFFFFF"/>
          </a:solidFill>
          <a:ln>
            <a:solidFill>
              <a:srgbClr val="B7CEE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荥阳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703320" y="4233672"/>
            <a:ext cx="288036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郑州：17.77% → 85.39%，紧急系数 21.6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3703320" y="4507992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路线更集中于高紧急点位，仓库出库量与车辆利用率更合理。</a:t>
            </a:r>
            <a:endParaRPr lang="en-US" sz="1020" dirty="0"/>
          </a:p>
        </p:txBody>
      </p:sp>
      <p:sp>
        <p:nvSpPr>
          <p:cNvPr id="32" name="Text 28"/>
          <p:cNvSpPr/>
          <p:nvPr/>
        </p:nvSpPr>
        <p:spPr>
          <a:xfrm>
            <a:off x="9400032" y="4279392"/>
            <a:ext cx="1508760" cy="283464"/>
          </a:xfrm>
          <a:prstGeom prst="rect">
            <a:avLst/>
          </a:prstGeom>
          <a:solidFill>
            <a:srgbClr val="0B4F8A"/>
          </a:solidFill>
          <a:ln>
            <a:solidFill>
              <a:srgbClr val="0B4F8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重灾优先 · 精准保障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0" y="14630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879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应急物资智能调度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68096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应用价值、管理建议与总结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84124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9875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从算法验证走向应急管理场景，形成可扩展的智能调度辅助方案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第13组 · 2026年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1A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750040" y="6583680"/>
            <a:ext cx="201168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0E1"/>
          </a:solidFill>
          <a:ln w="12700">
            <a:solidFill>
              <a:srgbClr val="F28C28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1700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决策支撑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057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提供可量化调度方案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56616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40480" y="1700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可扩展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057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支持 80 点大规模场景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29400" y="1700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可复现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2057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开源数据与配置化参数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44000" y="14173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18320" y="1700784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工程落地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8320" y="20574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E71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Python 后端 + Vue 前端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51560" y="3337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管理建议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80160" y="374904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落实紧急优先级机制，优先保障重灾区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51560" y="4169664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280160" y="415137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综合库存、运力、路况匹配配送路线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457200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80160" y="455371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实时跟踪物资消耗与路况变化，支持动态重调度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EAF4FF"/>
          </a:solidFill>
          <a:ln w="12700">
            <a:solidFill>
              <a:srgbClr val="C7DDEB"/>
            </a:solidFill>
            <a:prstDash val="solid"/>
          </a:ln>
          <a:effectLst>
            <a:outerShdw blurRad="12700" dist="50800" dir="2700000" algn="bl" rotWithShape="0">
              <a:srgbClr val="B8C7D3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19088" y="3337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改进方向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19088" y="376732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47688" y="374904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接入实时路况 API，动态更新道路系数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19088" y="4206240"/>
            <a:ext cx="164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647688" y="41879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2324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拓展多时段动态分配模型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5532120"/>
            <a:ext cx="10515600" cy="475488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51560" y="5669280"/>
            <a:ext cx="982980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本项目以河南洪灾真实案例为驱动，通过改进遗传算法实现应急物资智能分配，满足率提升 48%，紧急保障翻倍。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4160520" y="623620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8C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感谢各位老师聆听，欢迎提问！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2424</Words>
  <Application>WPS 文字</Application>
  <PresentationFormat>On-screen Show (16:9)</PresentationFormat>
  <Paragraphs>549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4" baseType="lpstr">
      <vt:lpstr>Arial</vt:lpstr>
      <vt:lpstr>宋体</vt:lpstr>
      <vt:lpstr>Wingdings</vt:lpstr>
      <vt:lpstr>Noto Sans CJK JP</vt:lpstr>
      <vt:lpstr>苹方-简</vt:lpstr>
      <vt:lpstr>Noto Sans CJK JP</vt:lpstr>
      <vt:lpstr>Noto Sans CJK JP</vt:lpstr>
      <vt:lpstr>Aptos</vt:lpstr>
      <vt:lpstr>Aptos</vt:lpstr>
      <vt:lpstr>Aptos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Geneva</vt:lpstr>
      <vt:lpstr>宋体-简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第13组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基于遗传算法的救援物资分配优化</dc:title>
  <dc:creator>OpenAI</dc:creator>
  <dc:subject>基于遗传算法的救援物资分配优化</dc:subject>
  <cp:lastModifiedBy>1392365869</cp:lastModifiedBy>
  <cp:revision>2</cp:revision>
  <dcterms:created xsi:type="dcterms:W3CDTF">2026-06-23T13:43:16Z</dcterms:created>
  <dcterms:modified xsi:type="dcterms:W3CDTF">2026-06-23T13:43:16Z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BE43425FE902E6BC748D3A6A55148D35_42</vt:lpwstr>
  </property>
</Properties>
</file>