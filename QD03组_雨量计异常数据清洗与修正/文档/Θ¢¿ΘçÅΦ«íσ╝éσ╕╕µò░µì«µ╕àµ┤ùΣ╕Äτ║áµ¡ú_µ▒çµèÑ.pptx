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615" y="11887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雨量计异常数据清洗与纠正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305" y="27762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FD3F2"/>
                </a:solidFill>
                <a:latin typeface="微软雅黑" panose="020B0503020204020204" charset="-122"/>
              </a:rPr>
              <a:t>AI + 防灾减灾学生实践项目 · 项目3（模块2：监测预警）</a:t>
            </a:r>
            <a:endParaRPr sz="2000" b="0">
              <a:solidFill>
                <a:srgbClr val="BFD3F2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305" y="3632200"/>
            <a:ext cx="10332720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sz="1600" b="0">
                <a:solidFill>
                  <a:srgbClr val="9FB8DC"/>
                </a:solidFill>
                <a:latin typeface="微软雅黑" panose="020B0503020204020204" charset="-122"/>
              </a:rPr>
              <a:t>汇报人：宋时宇，王壮</a:t>
            </a:r>
            <a:r>
              <a:rPr lang="zh-CN" sz="1600" b="0">
                <a:solidFill>
                  <a:srgbClr val="9FB8DC"/>
                </a:solidFill>
                <a:latin typeface="微软雅黑" panose="020B0503020204020204" charset="-122"/>
              </a:rPr>
              <a:t>志</a:t>
            </a:r>
            <a:endParaRPr lang="zh-CN" sz="1600" b="0">
              <a:solidFill>
                <a:srgbClr val="9FB8DC"/>
              </a:solidFill>
              <a:latin typeface="微软雅黑" panose="020B0503020204020204" charset="-122"/>
            </a:endParaRPr>
          </a:p>
          <a:p>
            <a:pPr algn="ctr"/>
            <a:endParaRPr lang="zh-CN" sz="1600" b="0">
              <a:solidFill>
                <a:srgbClr val="9FB8DC"/>
              </a:solidFill>
              <a:latin typeface="微软雅黑" panose="020B0503020204020204" charset="-122"/>
            </a:endParaRPr>
          </a:p>
          <a:p>
            <a:pPr algn="ctr"/>
            <a:r>
              <a:rPr lang="zh-CN" sz="1600" b="0">
                <a:solidFill>
                  <a:srgbClr val="9FB8DC"/>
                </a:solidFill>
                <a:latin typeface="微软雅黑" panose="020B0503020204020204" charset="-122"/>
              </a:rPr>
              <a:t>汇报时间：</a:t>
            </a:r>
            <a:r>
              <a:rPr lang="en-US" altLang="zh-CN" sz="1600" b="0">
                <a:solidFill>
                  <a:srgbClr val="9FB8DC"/>
                </a:solidFill>
                <a:latin typeface="微软雅黑" panose="020B0503020204020204" charset="-122"/>
              </a:rPr>
              <a:t>2026</a:t>
            </a:r>
            <a:r>
              <a:rPr lang="zh-CN" altLang="en-US" sz="1600" b="0">
                <a:solidFill>
                  <a:srgbClr val="9FB8DC"/>
                </a:solidFill>
                <a:latin typeface="微软雅黑" panose="020B0503020204020204" charset="-122"/>
              </a:rPr>
              <a:t>年</a:t>
            </a:r>
            <a:r>
              <a:rPr lang="en-US" altLang="zh-CN" sz="1600" b="0">
                <a:solidFill>
                  <a:srgbClr val="9FB8DC"/>
                </a:solidFill>
                <a:latin typeface="微软雅黑" panose="020B0503020204020204" charset="-122"/>
              </a:rPr>
              <a:t>6</a:t>
            </a:r>
            <a:r>
              <a:rPr lang="zh-CN" altLang="en-US" sz="1600" b="0">
                <a:solidFill>
                  <a:srgbClr val="9FB8DC"/>
                </a:solidFill>
                <a:latin typeface="微软雅黑" panose="020B0503020204020204" charset="-122"/>
              </a:rPr>
              <a:t>月</a:t>
            </a:r>
            <a:r>
              <a:rPr lang="en-US" altLang="zh-CN" sz="1600" b="0">
                <a:solidFill>
                  <a:srgbClr val="9FB8DC"/>
                </a:solidFill>
                <a:latin typeface="微软雅黑" panose="020B0503020204020204" charset="-122"/>
              </a:rPr>
              <a:t>23</a:t>
            </a:r>
            <a:r>
              <a:rPr lang="zh-CN" altLang="en-US" sz="1600" b="0">
                <a:solidFill>
                  <a:srgbClr val="9FB8DC"/>
                </a:solidFill>
                <a:latin typeface="微软雅黑" panose="020B0503020204020204" charset="-122"/>
              </a:rPr>
              <a:t>日</a:t>
            </a:r>
            <a:endParaRPr lang="zh-CN" altLang="en-US" sz="1600" b="0">
              <a:solidFill>
                <a:srgbClr val="9FB8D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汇报提纲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01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875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微软雅黑" panose="020B0503020204020204" charset="-122"/>
              </a:rPr>
              <a:t>■ 项目背景与目标</a:t>
            </a:r>
            <a:endParaRPr sz="22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微软雅黑" panose="020B0503020204020204" charset="-122"/>
              </a:rPr>
              <a:t>■ 数据集：合成 10min 有真值实验 + 3RWW 15min 真实公开迁移验证</a:t>
            </a:r>
            <a:endParaRPr sz="22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微软雅黑" panose="020B0503020204020204" charset="-122"/>
              </a:rPr>
              <a:t>■ 规则 QC 主线：异常检测、插值修正、平滑与质量标识</a:t>
            </a:r>
            <a:endParaRPr sz="22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微软雅黑" panose="020B0503020204020204" charset="-122"/>
              </a:rPr>
              <a:t>■ 学习型异常检测辅助：Isolation Forest 与 LSTM-AE 仅作复核分数</a:t>
            </a:r>
            <a:endParaRPr sz="22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微软雅黑" panose="020B0503020204020204" charset="-122"/>
              </a:rPr>
              <a:t>■ 实验结果：清洗前后、方法对比、消融实验、预警影响</a:t>
            </a:r>
            <a:endParaRPr sz="22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微软雅黑" panose="020B0503020204020204" charset="-122"/>
              </a:rPr>
              <a:t>■ 真实公开数据迁移：无逐点真值，不计算 Precision/Recall/F1</a:t>
            </a:r>
            <a:endParaRPr sz="22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F3A5F"/>
                </a:solidFill>
                <a:latin typeface="微软雅黑" panose="020B0503020204020204" charset="-122"/>
              </a:rPr>
              <a:t>■ 结论与提交边界</a:t>
            </a:r>
            <a:endParaRPr sz="22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一、项目背景与目标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02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A5A"/>
                </a:solidFill>
                <a:latin typeface="微软雅黑" panose="020B0503020204020204" charset="-122"/>
              </a:rPr>
              <a:t>雨量计是暴雨洪涝、山洪、地质灾害监测预警的基础感知设备。原始观测在采集、传输、存储链路中不可避免混入缺失、跳变、卡滞等异常；若不清洗直接进入预警模型，轻则统计失真，重则误报、漏报，直接危及防灾决策。</a:t>
            </a:r>
            <a:endParaRPr sz="17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10881360" cy="25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微软雅黑" panose="020B0503020204020204" charset="-122"/>
              </a:rPr>
              <a:t>项目目标</a:t>
            </a:r>
            <a:endParaRPr sz="20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F3A5F"/>
                </a:solidFill>
                <a:latin typeface="微软雅黑" panose="020B0503020204020204" charset="-122"/>
              </a:rPr>
              <a:t>■ 掌握传感器数据异常识别方法</a:t>
            </a:r>
            <a:endParaRPr sz="19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3A5F"/>
                </a:solidFill>
                <a:latin typeface="微软雅黑" panose="020B0503020204020204" charset="-122"/>
              </a:rPr>
              <a:t>■ 掌握缺失值处理（插值）与噪声平滑（滑动窗口）方法</a:t>
            </a:r>
            <a:endParaRPr sz="19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3A5F"/>
                </a:solidFill>
                <a:latin typeface="微软雅黑" panose="020B0503020204020204" charset="-122"/>
              </a:rPr>
              <a:t>■ 掌握数据质量量化统计与可视化分析方法</a:t>
            </a:r>
            <a:endParaRPr sz="19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3A5F"/>
                </a:solidFill>
                <a:latin typeface="微软雅黑" panose="020B0503020204020204" charset="-122"/>
              </a:rPr>
              <a:t>■ 输出质量标识与可信度，支撑人工复核和下游预警使用</a:t>
            </a:r>
            <a:endParaRPr sz="19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3A5F"/>
                </a:solidFill>
                <a:latin typeface="微软雅黑" panose="020B0503020204020204" charset="-122"/>
              </a:rPr>
              <a:t>■ 理解并量化数据清洗对监测预警的防灾应用意义</a:t>
            </a:r>
            <a:endParaRPr sz="19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二、数据集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03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0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■ 站点 RG-001，2024-06-01 ~ 2024-06-30</a:t>
            </a:r>
            <a:endParaRPr sz="17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■ 10min 分辨率，共 4320 个样本</a:t>
            </a:r>
            <a:endParaRPr sz="17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■ 雨量计 + 水位站 + 气象站 多传感器同步</a:t>
            </a:r>
            <a:endParaRPr sz="17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■ 降雨过程：泊松事件 + 钟形强度廓线 + 0.1mm 翻斗量化</a:t>
            </a:r>
            <a:endParaRPr sz="17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■ 合成数据有逐点 anomaly_truth，可计算 Precision/Recall/F1</a:t>
            </a:r>
            <a:endParaRPr sz="17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■ 真实迁移：3 Rivers Wet Weather Bell Acres 15min 公开 Rain Gauge CSV</a:t>
            </a:r>
            <a:endParaRPr sz="15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合成异常与真实迁移边界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120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  <a:latin typeface="微软雅黑" panose="020B0503020204020204" charset="-122"/>
              </a:rPr>
              <a:t>缺失值</a:t>
            </a:r>
            <a:endParaRPr sz="150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0" y="178308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62728"/>
                </a:solidFill>
                <a:latin typeface="微软雅黑" panose="020B0503020204020204" charset="-122"/>
              </a:rPr>
              <a:t>154</a:t>
            </a:r>
            <a:endParaRPr sz="15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2386584"/>
            <a:ext cx="5120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86584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  <a:latin typeface="微软雅黑" panose="020B0503020204020204" charset="-122"/>
              </a:rPr>
              <a:t>负值</a:t>
            </a:r>
            <a:endParaRPr sz="150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0" y="2386584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62728"/>
                </a:solidFill>
                <a:latin typeface="微软雅黑" panose="020B0503020204020204" charset="-122"/>
              </a:rPr>
              <a:t>21</a:t>
            </a:r>
            <a:endParaRPr sz="15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0" y="2990088"/>
            <a:ext cx="5120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990088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  <a:latin typeface="微软雅黑" panose="020B0503020204020204" charset="-122"/>
              </a:rPr>
              <a:t>尖峰/超量程</a:t>
            </a:r>
            <a:endParaRPr sz="150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75520" y="2990088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62728"/>
                </a:solidFill>
                <a:latin typeface="微软雅黑" panose="020B0503020204020204" charset="-122"/>
              </a:rPr>
              <a:t>25</a:t>
            </a:r>
            <a:endParaRPr sz="15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3593592"/>
            <a:ext cx="5120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593592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  <a:latin typeface="微软雅黑" panose="020B0503020204020204" charset="-122"/>
              </a:rPr>
              <a:t>传感器卡滞</a:t>
            </a:r>
            <a:endParaRPr sz="150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75520" y="3593592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62728"/>
                </a:solidFill>
                <a:latin typeface="微软雅黑" panose="020B0503020204020204" charset="-122"/>
              </a:rPr>
              <a:t>32</a:t>
            </a:r>
            <a:endParaRPr sz="15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0" y="4197096"/>
            <a:ext cx="5120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197096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  <a:latin typeface="微软雅黑" panose="020B0503020204020204" charset="-122"/>
              </a:rPr>
              <a:t>虚假翻斗</a:t>
            </a:r>
            <a:endParaRPr sz="150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75520" y="4197096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62728"/>
                </a:solidFill>
                <a:latin typeface="微软雅黑" panose="020B0503020204020204" charset="-122"/>
              </a:rPr>
              <a:t>43</a:t>
            </a:r>
            <a:endParaRPr sz="15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0" y="4800600"/>
            <a:ext cx="5120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80060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  <a:latin typeface="微软雅黑" panose="020B0503020204020204" charset="-122"/>
              </a:rPr>
              <a:t>时间戳重复</a:t>
            </a:r>
            <a:endParaRPr sz="150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75520" y="480060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62728"/>
                </a:solidFill>
                <a:latin typeface="微软雅黑" panose="020B0503020204020204" charset="-122"/>
              </a:rPr>
              <a:t>5</a:t>
            </a:r>
            <a:endParaRPr sz="15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5404104"/>
            <a:ext cx="5120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404104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  <a:latin typeface="微软雅黑" panose="020B0503020204020204" charset="-122"/>
              </a:rPr>
              <a:t>时间戳乱序</a:t>
            </a:r>
            <a:endParaRPr sz="150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75520" y="5404104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62728"/>
                </a:solidFill>
                <a:latin typeface="微软雅黑" panose="020B0503020204020204" charset="-122"/>
              </a:rPr>
              <a:t>20 处</a:t>
            </a:r>
            <a:endParaRPr sz="15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三、数据质量问题分析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04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异常类型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成因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对防灾的危害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08813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缺失值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微软雅黑" panose="020B0503020204020204" charset="-122"/>
              </a:rPr>
              <a:t>通信中断/掉电</a:t>
            </a:r>
            <a:endParaRPr sz="13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  <a:latin typeface="微软雅黑" panose="020B0503020204020204" charset="-122"/>
              </a:rPr>
              <a:t>时序断档、累计量低估</a:t>
            </a:r>
            <a:endParaRPr sz="1300" b="0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514600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14600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负值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91840" y="251460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微软雅黑" panose="020B0503020204020204" charset="-122"/>
              </a:rPr>
              <a:t>传输误码</a:t>
            </a:r>
            <a:endParaRPr sz="13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  <a:latin typeface="微软雅黑" panose="020B0503020204020204" charset="-122"/>
              </a:rPr>
              <a:t>物理不可能、统计污染</a:t>
            </a:r>
            <a:endParaRPr sz="1300" b="0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3246120"/>
            <a:ext cx="108813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尖峰/超量程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91840" y="324612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微软雅黑" panose="020B0503020204020204" charset="-122"/>
              </a:rPr>
              <a:t>干扰/哨兵值999</a:t>
            </a:r>
            <a:endParaRPr sz="13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7920" y="3246120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  <a:latin typeface="微软雅黑" panose="020B0503020204020204" charset="-122"/>
              </a:rPr>
              <a:t>累计雨量灾难性虚高→误报</a:t>
            </a:r>
            <a:endParaRPr sz="1300" b="0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3977639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77639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传感器卡滞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40" y="3977639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微软雅黑" panose="020B0503020204020204" charset="-122"/>
              </a:rPr>
              <a:t>翻斗卡死/冻结</a:t>
            </a:r>
            <a:endParaRPr sz="13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0" y="3977639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  <a:latin typeface="微软雅黑" panose="020B0503020204020204" charset="-122"/>
              </a:rPr>
              <a:t>漏记或虚增降雨</a:t>
            </a:r>
            <a:endParaRPr sz="1300" b="0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" y="4709159"/>
            <a:ext cx="1088136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09159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虚假翻斗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91840" y="4709159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微软雅黑" panose="020B0503020204020204" charset="-122"/>
              </a:rPr>
              <a:t>蛛网/振动噪声</a:t>
            </a:r>
            <a:endParaRPr sz="13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7920" y="4709159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  <a:latin typeface="微软雅黑" panose="020B0503020204020204" charset="-122"/>
              </a:rPr>
              <a:t>虚增降雨频次</a:t>
            </a:r>
            <a:endParaRPr sz="1300" b="0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" y="5440679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40679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时间戳重复/乱序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91840" y="5440679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微软雅黑" panose="020B0503020204020204" charset="-122"/>
              </a:rPr>
              <a:t>重发/缓存回灌</a:t>
            </a:r>
            <a:endParaRPr sz="13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17920" y="5440679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62728"/>
                </a:solidFill>
                <a:latin typeface="微软雅黑" panose="020B0503020204020204" charset="-122"/>
              </a:rPr>
              <a:t>重复计数、窗口计算失效</a:t>
            </a:r>
            <a:endParaRPr sz="1300" b="0">
              <a:solidFill>
                <a:srgbClr val="D627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四、清洗技术路线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05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103120" cy="13716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① 时间轴规整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E8EFFA"/>
                </a:solidFill>
                <a:latin typeface="微软雅黑" panose="020B0503020204020204" charset="-122"/>
              </a:rPr>
              <a:t>10min/15min自适配</a:t>
            </a:r>
            <a:endParaRPr sz="1200" b="0">
              <a:solidFill>
                <a:srgbClr val="E8EFF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6040" y="224028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微软雅黑" panose="020B0503020204020204" charset="-122"/>
              </a:rPr>
              <a:t>▶</a:t>
            </a:r>
            <a:endParaRPr sz="20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4640" y="2011680"/>
            <a:ext cx="2103120" cy="1371600"/>
          </a:xfrm>
          <a:prstGeom prst="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2402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② 规则 QC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278892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E8EFFA"/>
                </a:solidFill>
                <a:latin typeface="微软雅黑" panose="020B0503020204020204" charset="-122"/>
              </a:rPr>
              <a:t>物理·MAD·卡滞·翻斗</a:t>
            </a:r>
            <a:endParaRPr sz="1200" b="0">
              <a:solidFill>
                <a:srgbClr val="E8EFF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92040" y="224028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微软雅黑" panose="020B0503020204020204" charset="-122"/>
              </a:rPr>
              <a:t>▶</a:t>
            </a:r>
            <a:endParaRPr sz="20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20640" y="2011680"/>
            <a:ext cx="2103120" cy="13716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2402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③ 插值修正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278892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E8EFFA"/>
                </a:solidFill>
                <a:latin typeface="微软雅黑" panose="020B0503020204020204" charset="-122"/>
              </a:rPr>
              <a:t>短缺口插值</a:t>
            </a:r>
            <a:endParaRPr sz="1200" b="0">
              <a:solidFill>
                <a:srgbClr val="E8EFF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78040" y="224028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微软雅黑" panose="020B0503020204020204" charset="-122"/>
              </a:rPr>
              <a:t>▶</a:t>
            </a:r>
            <a:endParaRPr sz="20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06640" y="2011680"/>
            <a:ext cx="2103120" cy="13716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2402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④ 质量标识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0" y="278892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E8EFFA"/>
                </a:solidFill>
                <a:latin typeface="微软雅黑" panose="020B0503020204020204" charset="-122"/>
              </a:rPr>
              <a:t>flag+confidence</a:t>
            </a:r>
            <a:endParaRPr sz="1200" b="0">
              <a:solidFill>
                <a:srgbClr val="E8EFF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64039" y="224028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微软雅黑" panose="020B0503020204020204" charset="-122"/>
              </a:rPr>
              <a:t>▶</a:t>
            </a:r>
            <a:endParaRPr sz="20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92640" y="2011680"/>
            <a:ext cx="2103120" cy="13716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2402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⑤ 辅助复核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92640" y="278892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E8EFFA"/>
                </a:solidFill>
                <a:latin typeface="微软雅黑" panose="020B0503020204020204" charset="-122"/>
              </a:rPr>
              <a:t>IF/LSTM-AE分数</a:t>
            </a:r>
            <a:endParaRPr sz="1200" b="0">
              <a:solidFill>
                <a:srgbClr val="E8EFF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核心方法要点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44805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微软雅黑" panose="020B0503020204020204" charset="-122"/>
              </a:rPr>
              <a:t>■ 异常检测：物理范围 + 稳健统计离群(中位数+MAD) + 卡滞游程 + 孤立微量翻斗</a:t>
            </a:r>
            <a:endParaRPr sz="16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微软雅黑" panose="020B0503020204020204" charset="-122"/>
              </a:rPr>
              <a:t>■ 保护真实暴雨峰值：仅判'孤立跳变'为尖峰，实现零误杀(FP=0)</a:t>
            </a:r>
            <a:endParaRPr sz="16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微软雅黑" panose="020B0503020204020204" charset="-122"/>
              </a:rPr>
              <a:t>■ 插值：仅填补≤1小时短缺口；长缺口保守置0并标注低可信，不臆造降雨</a:t>
            </a:r>
            <a:endParaRPr sz="16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微软雅黑" panose="020B0503020204020204" charset="-122"/>
              </a:rPr>
              <a:t>■ LSTM-AE 单独 F1 较低，只作为辅助复核分数；主方法仍是规则 QC</a:t>
            </a:r>
            <a:endParaRPr sz="16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五、实验结果：原始数据与异常标记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06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全量视图暴露超量程尖峰，放大视图可见负值/卡滞/虚假翻斗/缺失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pic>
        <p:nvPicPr>
          <p:cNvPr id="9" name="图片 8" descr="fig1_raw_with_anomali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41705"/>
            <a:ext cx="12191365" cy="5375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五、实验结果：清洗前后对比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07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暴雨事件放大：尖峰被移除，清洗序列(绿)紧贴真值(蓝虚线)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pic>
        <p:nvPicPr>
          <p:cNvPr id="9" name="图片 8" descr="fig3_before_af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47750"/>
            <a:ext cx="12191365" cy="4761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五、实验结果：累计雨量对比（防灾关键）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08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原始累计虚高约17倍；清洗后与真值基本重合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pic>
        <p:nvPicPr>
          <p:cNvPr id="9" name="图片 8" descr="fig4_cumulati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9355"/>
            <a:ext cx="12191365" cy="44792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五、实验结果：数据质量统计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09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异常构成、清洗前后可用性、关键质量指标对比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pic>
        <p:nvPicPr>
          <p:cNvPr id="9" name="图片 8" descr="fig2_quality_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952500"/>
            <a:ext cx="11454130" cy="54394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六、效果评估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10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异常检测（以注入真值为金标准）</a:t>
            </a:r>
            <a:endParaRPr sz="17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60604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CA02C"/>
                </a:solidFill>
                <a:latin typeface="微软雅黑" panose="020B0503020204020204" charset="-122"/>
              </a:rPr>
              <a:t>100.0%</a:t>
            </a:r>
            <a:endParaRPr sz="300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微软雅黑" panose="020B0503020204020204" charset="-122"/>
              </a:rPr>
              <a:t>精确率</a:t>
            </a:r>
            <a:endParaRPr sz="15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60604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47088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CA02C"/>
                </a:solidFill>
                <a:latin typeface="微软雅黑" panose="020B0503020204020204" charset="-122"/>
              </a:rPr>
              <a:t>97.45%</a:t>
            </a:r>
            <a:endParaRPr sz="300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29000" y="2578608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微软雅黑" panose="020B0503020204020204" charset="-122"/>
              </a:rPr>
              <a:t>召回率</a:t>
            </a:r>
            <a:endParaRPr sz="15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260604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64408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4472C4"/>
                </a:solidFill>
                <a:latin typeface="微软雅黑" panose="020B0503020204020204" charset="-122"/>
              </a:rPr>
              <a:t>98.71%</a:t>
            </a:r>
            <a:endParaRPr sz="3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995928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微软雅黑" panose="020B0503020204020204" charset="-122"/>
              </a:rPr>
              <a:t>F1</a:t>
            </a:r>
            <a:endParaRPr sz="15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29000" y="3154680"/>
            <a:ext cx="260604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264408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4472C4"/>
                </a:solidFill>
                <a:latin typeface="微软雅黑" panose="020B0503020204020204" charset="-122"/>
              </a:rPr>
              <a:t>99.84%</a:t>
            </a:r>
            <a:endParaRPr sz="30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29000" y="3995928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微软雅黑" panose="020B0503020204020204" charset="-122"/>
              </a:rPr>
              <a:t>准确率</a:t>
            </a:r>
            <a:endParaRPr sz="1500" b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62728"/>
                </a:solidFill>
                <a:latin typeface="微软雅黑" panose="020B0503020204020204" charset="-122"/>
              </a:rPr>
              <a:t>零误杀真实降雨 (FP=0)</a:t>
            </a:r>
            <a:endParaRPr sz="16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11430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微软雅黑" panose="020B0503020204020204" charset="-122"/>
              </a:rPr>
              <a:t>数值修正（总降雨量 / 逐点误差）</a:t>
            </a:r>
            <a:endParaRPr sz="17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53035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指标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0" y="173736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清洗前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173736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清洗后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0" y="2304288"/>
            <a:ext cx="5303520" cy="548640"/>
          </a:xfrm>
          <a:prstGeom prst="rect">
            <a:avLst/>
          </a:prstGeom>
          <a:solidFill>
            <a:srgbClr val="F2F5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04288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3A5F"/>
                </a:solidFill>
                <a:latin typeface="微软雅黑" panose="020B0503020204020204" charset="-122"/>
              </a:rPr>
              <a:t>总降雨量(mm)</a:t>
            </a:r>
            <a:endParaRPr sz="135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0" y="2304288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D62728"/>
                </a:solidFill>
                <a:latin typeface="微软雅黑" panose="020B0503020204020204" charset="-122"/>
              </a:rPr>
              <a:t>13222.5</a:t>
            </a:r>
            <a:endParaRPr sz="135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0" y="2304288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2CA02C"/>
                </a:solidFill>
                <a:latin typeface="微软雅黑" panose="020B0503020204020204" charset="-122"/>
              </a:rPr>
              <a:t>708.6</a:t>
            </a:r>
            <a:endParaRPr sz="135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00800" y="2871216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871216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3A5F"/>
                </a:solidFill>
                <a:latin typeface="微软雅黑" panose="020B0503020204020204" charset="-122"/>
              </a:rPr>
              <a:t>相对误差</a:t>
            </a:r>
            <a:endParaRPr sz="135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0" y="2871216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D62728"/>
                </a:solidFill>
                <a:latin typeface="微软雅黑" panose="020B0503020204020204" charset="-122"/>
              </a:rPr>
              <a:t>+1760%</a:t>
            </a:r>
            <a:endParaRPr sz="135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41280" y="2871216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2CA02C"/>
                </a:solidFill>
                <a:latin typeface="微软雅黑" panose="020B0503020204020204" charset="-122"/>
              </a:rPr>
              <a:t>-0.32%</a:t>
            </a:r>
            <a:endParaRPr sz="135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0" y="3438144"/>
            <a:ext cx="5303520" cy="548640"/>
          </a:xfrm>
          <a:prstGeom prst="rect">
            <a:avLst/>
          </a:prstGeom>
          <a:solidFill>
            <a:srgbClr val="F2F5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38144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3A5F"/>
                </a:solidFill>
                <a:latin typeface="微软雅黑" panose="020B0503020204020204" charset="-122"/>
              </a:rPr>
              <a:t>逐点 MAE</a:t>
            </a:r>
            <a:endParaRPr sz="135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86800" y="3438144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D62728"/>
                </a:solidFill>
                <a:latin typeface="微软雅黑" panose="020B0503020204020204" charset="-122"/>
              </a:rPr>
              <a:t>3.0294</a:t>
            </a:r>
            <a:endParaRPr sz="135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41280" y="3438144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2CA02C"/>
                </a:solidFill>
                <a:latin typeface="微软雅黑" panose="020B0503020204020204" charset="-122"/>
              </a:rPr>
              <a:t>0.0017</a:t>
            </a:r>
            <a:endParaRPr sz="135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00800" y="4005072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005072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3A5F"/>
                </a:solidFill>
                <a:latin typeface="微软雅黑" panose="020B0503020204020204" charset="-122"/>
              </a:rPr>
              <a:t>逐点 RMSE</a:t>
            </a:r>
            <a:endParaRPr sz="135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686800" y="4005072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D62728"/>
                </a:solidFill>
                <a:latin typeface="微软雅黑" panose="020B0503020204020204" charset="-122"/>
              </a:rPr>
              <a:t>50.1603</a:t>
            </a:r>
            <a:endParaRPr sz="135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41280" y="4005072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2CA02C"/>
                </a:solidFill>
                <a:latin typeface="微软雅黑" panose="020B0503020204020204" charset="-122"/>
              </a:rPr>
              <a:t>0.0454</a:t>
            </a:r>
            <a:endParaRPr sz="135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solidFill>
            <a:srgbClr val="F2F5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57200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3A5F"/>
                </a:solidFill>
                <a:latin typeface="微软雅黑" panose="020B0503020204020204" charset="-122"/>
              </a:rPr>
              <a:t>真值总量</a:t>
            </a:r>
            <a:endParaRPr sz="1350" b="0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686800" y="45720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D62728"/>
                </a:solidFill>
                <a:latin typeface="微软雅黑" panose="020B0503020204020204" charset="-122"/>
              </a:rPr>
              <a:t>710.9 mm</a:t>
            </a:r>
            <a:endParaRPr sz="135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241280" y="45720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2CA02C"/>
                </a:solidFill>
                <a:latin typeface="微软雅黑" panose="020B0503020204020204" charset="-122"/>
              </a:rPr>
              <a:t>—</a:t>
            </a:r>
            <a:endParaRPr sz="1350" b="1">
              <a:solidFill>
                <a:srgbClr val="2CA02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七、质量标识与可信度输出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11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ig_quality_flag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533"/>
            <a:ext cx="5212080" cy="30874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0" y="1143000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472C4"/>
                </a:solidFill>
                <a:latin typeface="微软雅黑" panose="020B0503020204020204" charset="-122"/>
              </a:rPr>
              <a:t>不仅输出 cleaned rainfall，还输出可追溯质量标识</a:t>
            </a:r>
            <a:endParaRPr sz="17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F3A5F"/>
                </a:solidFill>
                <a:latin typeface="微软雅黑" panose="020B0503020204020204" charset="-122"/>
              </a:rPr>
              <a:t>■ raw_rainfall / corrected_rainfall / smoothed_rainfall 三列并存</a:t>
            </a:r>
            <a:endParaRPr sz="155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F3A5F"/>
                </a:solidFill>
                <a:latin typeface="微软雅黑" panose="020B0503020204020204" charset="-122"/>
              </a:rPr>
              <a:t>■ quality_flag：正常、可疑但保留、异常已修正、长缺口低可信、不可用</a:t>
            </a:r>
            <a:endParaRPr sz="155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F3A5F"/>
                </a:solidFill>
                <a:latin typeface="微软雅黑" panose="020B0503020204020204" charset="-122"/>
              </a:rPr>
              <a:t>■ confidence_score：0~1 可信度，便于下游系统加权或复核</a:t>
            </a:r>
            <a:endParaRPr sz="155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F3A5F"/>
                </a:solidFill>
                <a:latin typeface="微软雅黑" panose="020B0503020204020204" charset="-122"/>
              </a:rPr>
              <a:t>■ final_decision：keep / correct / manual_review / unusable</a:t>
            </a:r>
            <a:endParaRPr sz="155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26480" y="5303520"/>
            <a:ext cx="539496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5303520"/>
            <a:ext cx="5029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微软雅黑" panose="020B0503020204020204" charset="-122"/>
              </a:rPr>
              <a:t>质量标识让清洗结果更接近真实监测业务，而不是只有一列修正后雨量。</a:t>
            </a:r>
            <a:endParaRPr sz="14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八、方法对比：规则 QC 是主方法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12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ig7_method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9974"/>
            <a:ext cx="7315200" cy="2823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1430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472C4"/>
                </a:solidFill>
                <a:latin typeface="微软雅黑" panose="020B0503020204020204" charset="-122"/>
              </a:rPr>
              <a:t>关键结论</a:t>
            </a:r>
            <a:endParaRPr sz="19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1F3A5F"/>
                </a:solidFill>
                <a:latin typeface="微软雅黑" panose="020B0503020204020204" charset="-122"/>
              </a:rPr>
              <a:t>■ 规则法 F1=98.71%，FP=0，累计雨量误差 -0.32%</a:t>
            </a:r>
            <a:endParaRPr sz="145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3A5F"/>
                </a:solidFill>
                <a:latin typeface="微软雅黑" panose="020B0503020204020204" charset="-122"/>
              </a:rPr>
              <a:t>■ LSTM-AE 单独 F1=8.43%，误报较多，不适合作为主清洗方法</a:t>
            </a:r>
            <a:endParaRPr sz="145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3A5F"/>
                </a:solidFill>
                <a:latin typeface="微软雅黑" panose="020B0503020204020204" charset="-122"/>
              </a:rPr>
              <a:t>■ 组合方法提升少量召回，但引入额外误报并削弱累计雨量</a:t>
            </a:r>
            <a:endParaRPr sz="145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3A5F"/>
                </a:solidFill>
                <a:latin typeface="微软雅黑" panose="020B0503020204020204" charset="-122"/>
              </a:rPr>
              <a:t>■ 最终采用：规则法直接修正，学习型模型只提示 manual_review</a:t>
            </a:r>
            <a:endParaRPr sz="145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九、学习型异常检测：辅助分数而非替代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13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F3A5F"/>
                </a:solidFill>
                <a:latin typeface="微软雅黑" panose="020B0503020204020204" charset="-122"/>
              </a:rPr>
              <a:t>LSTM-AE 用重构误差提供复核线索；本项目不做未来水位预测，也不把 LSTM-AE 作为主方法。</a:t>
            </a:r>
            <a:endParaRPr sz="135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pic>
        <p:nvPicPr>
          <p:cNvPr id="9" name="图片 8" descr="fig8_ml_anomaly_scor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952500"/>
            <a:ext cx="11838305" cy="5327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十、消融实验：每条规则为什么必要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14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ig9_ablation_f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77054"/>
            <a:ext cx="5577840" cy="2498051"/>
          </a:xfrm>
          <a:prstGeom prst="rect">
            <a:avLst/>
          </a:prstGeom>
        </p:spPr>
      </p:pic>
      <p:pic>
        <p:nvPicPr>
          <p:cNvPr id="7" name="Picture 6" descr="fig10_ablation_rainfal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77820"/>
            <a:ext cx="5577840" cy="24965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1206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F3A5F"/>
                </a:solidFill>
                <a:latin typeface="微软雅黑" panose="020B0503020204020204" charset="-122"/>
              </a:rPr>
              <a:t>■ 物理上限检查对累计雨量误差最关键；关闭后异常尖峰会造成灾难性虚高</a:t>
            </a:r>
            <a:endParaRPr sz="155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1F3A5F"/>
                </a:solidFill>
                <a:latin typeface="微软雅黑" panose="020B0503020204020204" charset="-122"/>
              </a:rPr>
              <a:t>■ 卡滞和虚假翻斗规则主要影响召回；smoothed 会削弱峰值，因此主结果采用 corrected</a:t>
            </a:r>
            <a:endParaRPr sz="155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十一、预警影响分析：从指标落到防灾业务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15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ig11_warning_imp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62602"/>
            <a:ext cx="5486400" cy="2709836"/>
          </a:xfrm>
          <a:prstGeom prst="rect">
            <a:avLst/>
          </a:prstGeom>
        </p:spPr>
      </p:pic>
      <p:pic>
        <p:nvPicPr>
          <p:cNvPr id="7" name="Picture 6" descr="fig12_warn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79053"/>
            <a:ext cx="5486400" cy="20769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5303520"/>
            <a:ext cx="1097280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微软雅黑" panose="020B0503020204020204" charset="-122"/>
              </a:rPr>
              <a:t>原始污染数据在多级阈值下产生大量误报；corrected 数据显著减少误报。smoothed 可能削弱峰值，适合作辅助展示而非主业务结果。</a:t>
            </a:r>
            <a:endParaRPr sz="15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十二、真实公开数据迁移验证（3RWW 15min）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16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ig13_real_data_q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43346"/>
            <a:ext cx="6766560" cy="4137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1430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472C4"/>
                </a:solidFill>
                <a:latin typeface="微软雅黑" panose="020B0503020204020204" charset="-122"/>
              </a:rPr>
              <a:t>边界说明</a:t>
            </a:r>
            <a:endParaRPr sz="19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80" b="1">
                <a:solidFill>
                  <a:srgbClr val="1F3A5F"/>
                </a:solidFill>
                <a:latin typeface="微软雅黑" panose="020B0503020204020204" charset="-122"/>
              </a:rPr>
              <a:t>■ 数据源：3 Rivers Wet Weather January 2020 15-min Rain Data</a:t>
            </a:r>
            <a:endParaRPr sz="138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80" b="1">
                <a:solidFill>
                  <a:srgbClr val="1F3A5F"/>
                </a:solidFill>
                <a:latin typeface="微软雅黑" panose="020B0503020204020204" charset="-122"/>
              </a:rPr>
              <a:t>■ 站点：Bell Acres；inch per 15min 已换算为 mm</a:t>
            </a:r>
            <a:endParaRPr sz="138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80" b="1">
                <a:solidFill>
                  <a:srgbClr val="1F3A5F"/>
                </a:solidFill>
                <a:latin typeface="微软雅黑" panose="020B0503020204020204" charset="-122"/>
              </a:rPr>
              <a:t>■ 无逐点异常真值，因此不计算 Precision/Recall/F1</a:t>
            </a:r>
            <a:endParaRPr sz="138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80" b="1">
                <a:solidFill>
                  <a:srgbClr val="1F3A5F"/>
                </a:solidFill>
                <a:latin typeface="微软雅黑" panose="020B0503020204020204" charset="-122"/>
              </a:rPr>
              <a:t>■ 来源页面说明为 ALCOSAN QA/QC 后 CSV</a:t>
            </a:r>
            <a:endParaRPr sz="138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80" b="1">
                <a:solidFill>
                  <a:srgbClr val="1F3A5F"/>
                </a:solidFill>
                <a:latin typeface="微软雅黑" panose="020B0503020204020204" charset="-122"/>
              </a:rPr>
              <a:t>■ 本项目检出的 spurious/stuck 只是规则可疑复核点，不等同官方错误</a:t>
            </a:r>
            <a:endParaRPr sz="138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十三、结论与防灾应用意义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8560" y="109728"/>
            <a:ext cx="640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472C4"/>
                </a:solidFill>
                <a:latin typeface="微软雅黑" panose="020B0503020204020204" charset="-122"/>
              </a:rPr>
              <a:t>17</a:t>
            </a:r>
            <a:endParaRPr sz="1800" b="1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微软雅黑" panose="020B0503020204020204" charset="-122"/>
              </a:rPr>
              <a:t>■ 构建完整清洗管线：异常检测 F1=98.71%、零误杀真实降雨</a:t>
            </a:r>
            <a:endParaRPr sz="18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微软雅黑" panose="020B0503020204020204" charset="-122"/>
              </a:rPr>
              <a:t>■ 清洗后总降雨量误差仅 -0.32%、逐点 RMSE 由 ~50 降至 0.0454</a:t>
            </a:r>
            <a:endParaRPr sz="18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微软雅黑" panose="020B0503020204020204" charset="-122"/>
              </a:rPr>
              <a:t>■ 未清洗时单点尖峰使 10min 雨量虚显 999mm、月累计虚高约 17 倍</a:t>
            </a:r>
            <a:endParaRPr sz="18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5A5A5A"/>
                </a:solidFill>
                <a:latin typeface="微软雅黑" panose="020B0503020204020204" charset="-122"/>
              </a:rPr>
              <a:t>– → 足以触发错误暴雨/洪水预警，或因卡滞缺失造成漏报</a:t>
            </a:r>
            <a:endParaRPr sz="1600" b="0">
              <a:solidFill>
                <a:srgbClr val="5A5A5A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微软雅黑" panose="020B0503020204020204" charset="-122"/>
              </a:rPr>
              <a:t>■ 数据清洗是监测预警链路中保障决策正确性的关键一环，而非可选预处理</a:t>
            </a:r>
            <a:endParaRPr sz="18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微软雅黑" panose="020B0503020204020204" charset="-122"/>
              </a:rPr>
              <a:t>■ 3RWW 真实公开数据只做无真值迁移验证，不夸大为检测精度证明</a:t>
            </a:r>
            <a:endParaRPr sz="1800" b="1">
              <a:solidFill>
                <a:srgbClr val="1F3A5F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微软雅黑" panose="020B0503020204020204" charset="-122"/>
              </a:rPr>
              <a:t>■ 主方法保持规则 QC；LSTM-AE 仅作为辅助复核分数</a:t>
            </a:r>
            <a:endParaRPr sz="1800" b="1">
              <a:solidFill>
                <a:srgbClr val="1F3A5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高质量数据 = 可靠预警的前提：清洗使被污染的原始观测恢复为可用于防灾决策的数据。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2772</Words>
  <Application>WPS 演示</Application>
  <PresentationFormat>On-screen Show (4:3)</PresentationFormat>
  <Paragraphs>315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净河~星空</cp:lastModifiedBy>
  <cp:revision>6</cp:revision>
  <dcterms:created xsi:type="dcterms:W3CDTF">2013-01-27T09:14:00Z</dcterms:created>
  <dcterms:modified xsi:type="dcterms:W3CDTF">2026-06-25T12:47:39Z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73F8E366E4394CF18811D797BBB9B2FC_12</vt:lpwstr>
  </property>
  <property fmtid="{D5CDD505-2E9C-101B-9397-08002B2CF9AE}" pid="3" name="KSOProductBuildVer">
    <vt:lpwstr>2052-12.1.0.26895</vt:lpwstr>
  </property>
</Properties>
</file>