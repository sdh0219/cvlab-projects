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1" r:id="rId6"/>
    <p:sldId id="262" r:id="rId7"/>
    <p:sldId id="263" r:id="rId8"/>
    <p:sldId id="264" r:id="rId9"/>
    <p:sldId id="265" r:id="rId10"/>
    <p:sldId id="267" r:id="rId11"/>
    <p:sldId id="268" r:id="rId12"/>
  </p:sldIdLst>
  <p:sldSz cx="12192000" cy="6858000"/>
  <p:notesSz cx="6858000" cy="12192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945" autoAdjust="0"/>
  </p:normalViewPr>
  <p:slideViewPr>
    <p:cSldViewPr snapToGrid="0">
      <p:cViewPr varScale="1">
        <p:scale>
          <a:sx n="70" d="100"/>
          <a:sy n="70" d="100"/>
        </p:scale>
        <p:origin x="946"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Noto Sans CJK SC"/>
              </a:rPr>
              <a:t>Click to move the slide</a:t>
            </a: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5"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5FF8E621-40E6-47B9-9F9C-2B2DDFF42431}"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 name="PlaceHolder 1"/>
          <p:cNvSpPr>
            <a:spLocks noGrp="1" noRot="1" noChangeAspect="1"/>
          </p:cNvSpPr>
          <p:nvPr>
            <p:ph type="sldImg"/>
          </p:nvPr>
        </p:nvSpPr>
        <p:spPr>
          <a:xfrm>
            <a:off x="685800" y="1143000"/>
            <a:ext cx="5486400" cy="3086100"/>
          </a:xfrm>
          <a:prstGeom prst="rect">
            <a:avLst/>
          </a:prstGeom>
          <a:ln w="0">
            <a:noFill/>
          </a:ln>
        </p:spPr>
      </p:sp>
      <p:sp>
        <p:nvSpPr>
          <p:cNvPr id="49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zh-CN" altLang="en-US" sz="1800" b="0" u="none" strike="noStrike">
                <a:solidFill>
                  <a:srgbClr val="000000"/>
                </a:solidFill>
                <a:effectLst/>
                <a:uFillTx/>
                <a:latin typeface="Arial"/>
              </a:rPr>
              <a:t>各位老师、同学大家好，我们是第九组。今天汇报的项目是“基于真实地震数据的个性化地震预警信息自动生成系统”。项目使用 </a:t>
            </a:r>
            <a:r>
              <a:rPr lang="en-US" altLang="zh-CN" sz="1800" b="0" u="none" strike="noStrike">
                <a:solidFill>
                  <a:srgbClr val="000000"/>
                </a:solidFill>
                <a:effectLst/>
                <a:uFillTx/>
                <a:latin typeface="Arial"/>
              </a:rPr>
              <a:t>USGS </a:t>
            </a:r>
            <a:r>
              <a:rPr lang="zh-CN" altLang="en-US" sz="1800" b="0" u="none" strike="noStrike">
                <a:solidFill>
                  <a:srgbClr val="000000"/>
                </a:solidFill>
                <a:effectLst/>
                <a:uFillTx/>
                <a:latin typeface="Arial"/>
              </a:rPr>
              <a:t>公开地震目录作为事实数据来源，并结合用户画像、规则模板和 </a:t>
            </a:r>
            <a:r>
              <a:rPr lang="en-US" altLang="zh-CN" sz="1800" b="0" u="none" strike="noStrike">
                <a:solidFill>
                  <a:srgbClr val="000000"/>
                </a:solidFill>
                <a:effectLst/>
                <a:uFillTx/>
                <a:latin typeface="Arial"/>
              </a:rPr>
              <a:t>Flask </a:t>
            </a:r>
            <a:r>
              <a:rPr lang="zh-CN" altLang="en-US" sz="1800" b="0" u="none" strike="noStrike">
                <a:solidFill>
                  <a:srgbClr val="000000"/>
                </a:solidFill>
                <a:effectLst/>
                <a:uFillTx/>
                <a:latin typeface="Arial"/>
              </a:rPr>
              <a:t>网页应用，把同一条地震事件转化为适合不同人群理解和执行的应急提醒。接下来我将从项目定位、数据、生成逻辑、界面和测试结果几个方面进行介绍。</a:t>
            </a:r>
            <a:endParaRPr lang="en-US" sz="1800" b="0" u="none" strike="noStrike">
              <a:solidFill>
                <a:srgbClr val="000000"/>
              </a:solidFill>
              <a:effectLst/>
              <a:uFillTx/>
              <a:latin typeface="Arial"/>
            </a:endParaRPr>
          </a:p>
        </p:txBody>
      </p:sp>
      <p:sp>
        <p:nvSpPr>
          <p:cNvPr id="491"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D8F911E-A69C-4365-827F-7799B1CC1DC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 name="PlaceHolder 1"/>
          <p:cNvSpPr>
            <a:spLocks noGrp="1" noRot="1" noChangeAspect="1"/>
          </p:cNvSpPr>
          <p:nvPr>
            <p:ph type="sldImg"/>
          </p:nvPr>
        </p:nvSpPr>
        <p:spPr>
          <a:xfrm>
            <a:off x="685800" y="1143000"/>
            <a:ext cx="5486400" cy="3086100"/>
          </a:xfrm>
          <a:prstGeom prst="rect">
            <a:avLst/>
          </a:prstGeom>
          <a:ln w="0">
            <a:noFill/>
          </a:ln>
        </p:spPr>
      </p:sp>
      <p:sp>
        <p:nvSpPr>
          <p:cNvPr id="49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zh-CN" altLang="en-US" sz="1800" b="0" u="none" strike="noStrike">
                <a:solidFill>
                  <a:srgbClr val="000000"/>
                </a:solidFill>
                <a:effectLst/>
                <a:uFillTx/>
                <a:latin typeface="Arial"/>
              </a:rPr>
              <a:t>首先介绍项目定位。传统提醒通常把同一段文字发送给所有人，但未成年人、老年人、游客和应急人员的行动能力、环境熟悉程度和职责并不相同。本项目把真实地震事件与人员画像结合，先自动识别重点需求，再生成差异化行动建议。这里需要特别说明，系统不预测地震，也不发布官方预警，页面中的风险等级仅是课程演示规则。</a:t>
            </a:r>
            <a:endParaRPr lang="en-US" sz="1800" b="0" u="none" strike="noStrike">
              <a:solidFill>
                <a:srgbClr val="000000"/>
              </a:solidFill>
              <a:effectLst/>
              <a:uFillTx/>
              <a:latin typeface="Arial"/>
            </a:endParaRPr>
          </a:p>
        </p:txBody>
      </p:sp>
      <p:sp>
        <p:nvSpPr>
          <p:cNvPr id="494"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48BDB61-8363-47E8-936B-2F47585A1B52}" type="slidenum">
              <a:rPr lang="en-US" sz="1200" b="0" u="none" strike="noStrike">
                <a:solidFill>
                  <a:schemeClr val="dk1"/>
                </a:solidFill>
                <a:effectLst/>
                <a:uFillTx/>
                <a:latin typeface="+mn-lt"/>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 name="PlaceHolder 1"/>
          <p:cNvSpPr>
            <a:spLocks noGrp="1" noRot="1" noChangeAspect="1"/>
          </p:cNvSpPr>
          <p:nvPr>
            <p:ph type="sldImg"/>
          </p:nvPr>
        </p:nvSpPr>
        <p:spPr>
          <a:xfrm>
            <a:off x="685800" y="1143000"/>
            <a:ext cx="5486400" cy="3086100"/>
          </a:xfrm>
          <a:prstGeom prst="rect">
            <a:avLst/>
          </a:prstGeom>
          <a:ln w="0">
            <a:noFill/>
          </a:ln>
        </p:spPr>
      </p:sp>
      <p:sp>
        <p:nvSpPr>
          <p:cNvPr id="49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zh-CN" altLang="en-US" sz="1800" b="0" u="none" strike="noStrike">
                <a:solidFill>
                  <a:srgbClr val="000000"/>
                </a:solidFill>
                <a:effectLst/>
                <a:uFillTx/>
                <a:latin typeface="Arial"/>
              </a:rPr>
              <a:t>这一页对应课程题目要求。数据方面，我们使用 </a:t>
            </a:r>
            <a:r>
              <a:rPr lang="en-US" altLang="zh-CN" sz="1800" b="0" u="none" strike="noStrike">
                <a:solidFill>
                  <a:srgbClr val="000000"/>
                </a:solidFill>
                <a:effectLst/>
                <a:uFillTx/>
                <a:latin typeface="Arial"/>
              </a:rPr>
              <a:t>USGS </a:t>
            </a:r>
            <a:r>
              <a:rPr lang="zh-CN" altLang="en-US" sz="1800" b="0" u="none" strike="noStrike">
                <a:solidFill>
                  <a:srgbClr val="000000"/>
                </a:solidFill>
                <a:effectLst/>
                <a:uFillTx/>
                <a:latin typeface="Arial"/>
              </a:rPr>
              <a:t>官方目录中的 </a:t>
            </a:r>
            <a:r>
              <a:rPr lang="en-US" altLang="zh-CN" sz="1800" b="0" u="none" strike="noStrike">
                <a:solidFill>
                  <a:srgbClr val="000000"/>
                </a:solidFill>
                <a:effectLst/>
                <a:uFillTx/>
                <a:latin typeface="Arial"/>
              </a:rPr>
              <a:t>200 </a:t>
            </a:r>
            <a:r>
              <a:rPr lang="zh-CN" altLang="en-US" sz="1800" b="0" u="none" strike="noStrike">
                <a:solidFill>
                  <a:srgbClr val="000000"/>
                </a:solidFill>
                <a:effectLst/>
                <a:uFillTx/>
                <a:latin typeface="Arial"/>
              </a:rPr>
              <a:t>条真实记录，并保留原始 </a:t>
            </a:r>
            <a:r>
              <a:rPr lang="en-US" altLang="zh-CN" sz="1800" b="0" u="none" strike="noStrike">
                <a:solidFill>
                  <a:srgbClr val="000000"/>
                </a:solidFill>
                <a:effectLst/>
                <a:uFillTx/>
                <a:latin typeface="Arial"/>
              </a:rPr>
              <a:t>GeoJSON</a:t>
            </a:r>
            <a:r>
              <a:rPr lang="zh-CN" altLang="en-US" sz="1800" b="0" u="none" strike="noStrike">
                <a:solidFill>
                  <a:srgbClr val="000000"/>
                </a:solidFill>
                <a:effectLst/>
                <a:uFillTx/>
                <a:latin typeface="Arial"/>
              </a:rPr>
              <a:t>、规范化 </a:t>
            </a:r>
            <a:r>
              <a:rPr lang="en-US" altLang="zh-CN" sz="1800" b="0" u="none" strike="noStrike">
                <a:solidFill>
                  <a:srgbClr val="000000"/>
                </a:solidFill>
                <a:effectLst/>
                <a:uFillTx/>
                <a:latin typeface="Arial"/>
              </a:rPr>
              <a:t>CSV</a:t>
            </a:r>
            <a:r>
              <a:rPr lang="zh-CN" altLang="en-US" sz="1800" b="0" u="none" strike="noStrike">
                <a:solidFill>
                  <a:srgbClr val="000000"/>
                </a:solidFill>
                <a:effectLst/>
                <a:uFillTx/>
                <a:latin typeface="Arial"/>
              </a:rPr>
              <a:t>、处理后数据、元数据和采集日志。用户类型保留普通居民、游客和应急人员，年龄用于自动识别未成年人和老年人。灾种只保留地震，演示等级由真实震级自动计算，最终通过用户画像、重点需求和规则模板生成个性化提醒。</a:t>
            </a:r>
            <a:endParaRPr lang="en-US" sz="1800" b="0" u="none" strike="noStrike">
              <a:solidFill>
                <a:srgbClr val="000000"/>
              </a:solidFill>
              <a:effectLst/>
              <a:uFillTx/>
              <a:latin typeface="Arial"/>
            </a:endParaRPr>
          </a:p>
        </p:txBody>
      </p:sp>
      <p:sp>
        <p:nvSpPr>
          <p:cNvPr id="497"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35CB5FF-35AF-4CEF-A30F-B96D4FFAEE2A}" type="slidenum">
              <a:rPr lang="en-US" sz="1200" b="0" u="none" strike="noStrike">
                <a:solidFill>
                  <a:schemeClr val="dk1"/>
                </a:solidFill>
                <a:effectLst/>
                <a:uFillTx/>
                <a:latin typeface="+mn-lt"/>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 name="PlaceHolder 1"/>
          <p:cNvSpPr>
            <a:spLocks noGrp="1" noRot="1" noChangeAspect="1"/>
          </p:cNvSpPr>
          <p:nvPr>
            <p:ph type="sldImg"/>
          </p:nvPr>
        </p:nvSpPr>
        <p:spPr>
          <a:xfrm>
            <a:off x="685800" y="1143000"/>
            <a:ext cx="5486400" cy="3086100"/>
          </a:xfrm>
          <a:prstGeom prst="rect">
            <a:avLst/>
          </a:prstGeom>
          <a:ln w="0">
            <a:noFill/>
          </a:ln>
        </p:spPr>
      </p:sp>
      <p:sp>
        <p:nvSpPr>
          <p:cNvPr id="49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zh-CN" altLang="en-US" sz="1800" b="0" u="none" strike="noStrike">
                <a:solidFill>
                  <a:srgbClr val="000000"/>
                </a:solidFill>
                <a:effectLst/>
                <a:uFillTx/>
                <a:latin typeface="Arial"/>
              </a:rPr>
              <a:t>项目的正式数据源只有 </a:t>
            </a:r>
            <a:r>
              <a:rPr lang="en-US" altLang="zh-CN" sz="1800" b="0" u="none" strike="noStrike">
                <a:solidFill>
                  <a:srgbClr val="000000"/>
                </a:solidFill>
                <a:effectLst/>
                <a:uFillTx/>
                <a:latin typeface="Arial"/>
              </a:rPr>
              <a:t>USGS Earthquake Catalog</a:t>
            </a:r>
            <a:r>
              <a:rPr lang="zh-CN" altLang="en-US" sz="1800" b="0" u="none" strike="noStrike">
                <a:solidFill>
                  <a:srgbClr val="000000"/>
                </a:solidFill>
                <a:effectLst/>
                <a:uFillTx/>
                <a:latin typeface="Arial"/>
              </a:rPr>
              <a:t>。本次样本设置了时间范围、最低震级、中心点、半径、排序方式和记录上限，共获得 </a:t>
            </a:r>
            <a:r>
              <a:rPr lang="en-US" altLang="zh-CN" sz="1800" b="0" u="none" strike="noStrike">
                <a:solidFill>
                  <a:srgbClr val="000000"/>
                </a:solidFill>
                <a:effectLst/>
                <a:uFillTx/>
                <a:latin typeface="Arial"/>
              </a:rPr>
              <a:t>200 </a:t>
            </a:r>
            <a:r>
              <a:rPr lang="zh-CN" altLang="en-US" sz="1800" b="0" u="none" strike="noStrike">
                <a:solidFill>
                  <a:srgbClr val="000000"/>
                </a:solidFill>
                <a:effectLst/>
                <a:uFillTx/>
                <a:latin typeface="Arial"/>
              </a:rPr>
              <a:t>条真实地震记录，没有混入模拟或随机事件。为了保证可追溯性，我们同时保存原始 </a:t>
            </a:r>
            <a:r>
              <a:rPr lang="en-US" altLang="zh-CN" sz="1800" b="0" u="none" strike="noStrike">
                <a:solidFill>
                  <a:srgbClr val="000000"/>
                </a:solidFill>
                <a:effectLst/>
                <a:uFillTx/>
                <a:latin typeface="Arial"/>
              </a:rPr>
              <a:t>GeoJSON</a:t>
            </a:r>
            <a:r>
              <a:rPr lang="zh-CN" altLang="en-US" sz="1800" b="0" u="none" strike="noStrike">
                <a:solidFill>
                  <a:srgbClr val="000000"/>
                </a:solidFill>
                <a:effectLst/>
                <a:uFillTx/>
                <a:latin typeface="Arial"/>
              </a:rPr>
              <a:t>、规范化 </a:t>
            </a:r>
            <a:r>
              <a:rPr lang="en-US" altLang="zh-CN" sz="1800" b="0" u="none" strike="noStrike">
                <a:solidFill>
                  <a:srgbClr val="000000"/>
                </a:solidFill>
                <a:effectLst/>
                <a:uFillTx/>
                <a:latin typeface="Arial"/>
              </a:rPr>
              <a:t>CSV</a:t>
            </a:r>
            <a:r>
              <a:rPr lang="zh-CN" altLang="en-US" sz="1800" b="0" u="none" strike="noStrike">
                <a:solidFill>
                  <a:srgbClr val="000000"/>
                </a:solidFill>
                <a:effectLst/>
                <a:uFillTx/>
                <a:latin typeface="Arial"/>
              </a:rPr>
              <a:t>、处理后数据、</a:t>
            </a:r>
            <a:r>
              <a:rPr lang="en-US" altLang="zh-CN" sz="1800" b="0" u="none" strike="noStrike">
                <a:solidFill>
                  <a:srgbClr val="000000"/>
                </a:solidFill>
                <a:effectLst/>
                <a:uFillTx/>
                <a:latin typeface="Arial"/>
              </a:rPr>
              <a:t>source metadata</a:t>
            </a:r>
            <a:r>
              <a:rPr lang="zh-CN" altLang="en-US" sz="1800" b="0" u="none" strike="noStrike">
                <a:solidFill>
                  <a:srgbClr val="000000"/>
                </a:solidFill>
                <a:effectLst/>
                <a:uFillTx/>
                <a:latin typeface="Arial"/>
              </a:rPr>
              <a:t>、文件哈希和 </a:t>
            </a:r>
            <a:r>
              <a:rPr lang="en-US" altLang="zh-CN" sz="1800" b="0" u="none" strike="noStrike">
                <a:solidFill>
                  <a:srgbClr val="000000"/>
                </a:solidFill>
                <a:effectLst/>
                <a:uFillTx/>
                <a:latin typeface="Arial"/>
              </a:rPr>
              <a:t>crawl log</a:t>
            </a:r>
            <a:r>
              <a:rPr lang="zh-CN" altLang="en-US" sz="1800" b="0" u="none" strike="noStrike">
                <a:solidFill>
                  <a:srgbClr val="000000"/>
                </a:solidFill>
                <a:effectLst/>
                <a:uFillTx/>
                <a:latin typeface="Arial"/>
              </a:rPr>
              <a:t>。再次强调，这些是历史地震目录数据，不等同于地震预测或官方预警。</a:t>
            </a:r>
            <a:endParaRPr lang="en-US" sz="1800" b="0" u="none" strike="noStrike">
              <a:solidFill>
                <a:srgbClr val="000000"/>
              </a:solidFill>
              <a:effectLst/>
              <a:uFillTx/>
              <a:latin typeface="Arial"/>
            </a:endParaRPr>
          </a:p>
        </p:txBody>
      </p:sp>
      <p:sp>
        <p:nvSpPr>
          <p:cNvPr id="500"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C91F627-70C4-40DC-90BC-8CB6AAB747C4}" type="slidenum">
              <a:rPr lang="en-US" sz="1200" b="0" u="none" strike="noStrike">
                <a:solidFill>
                  <a:schemeClr val="dk1"/>
                </a:solidFill>
                <a:effectLst/>
                <a:uFillTx/>
                <a:latin typeface="+mn-lt"/>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 name="PlaceHolder 1"/>
          <p:cNvSpPr>
            <a:spLocks noGrp="1" noRot="1" noChangeAspect="1"/>
          </p:cNvSpPr>
          <p:nvPr>
            <p:ph type="sldImg"/>
          </p:nvPr>
        </p:nvSpPr>
        <p:spPr>
          <a:xfrm>
            <a:off x="685800" y="1143000"/>
            <a:ext cx="5486400" cy="3086100"/>
          </a:xfrm>
          <a:prstGeom prst="rect">
            <a:avLst/>
          </a:prstGeom>
          <a:ln w="0">
            <a:noFill/>
          </a:ln>
        </p:spPr>
      </p:sp>
      <p:sp>
        <p:nvSpPr>
          <p:cNvPr id="5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zh-CN" altLang="en-US" sz="1800" b="0" u="none" strike="noStrike">
                <a:solidFill>
                  <a:srgbClr val="000000"/>
                </a:solidFill>
                <a:effectLst/>
                <a:uFillTx/>
                <a:latin typeface="Arial"/>
              </a:rPr>
              <a:t>系统采用五层结构。第一层负责从 </a:t>
            </a:r>
            <a:r>
              <a:rPr lang="en-US" altLang="zh-CN" sz="1800" b="0" u="none" strike="noStrike">
                <a:solidFill>
                  <a:srgbClr val="000000"/>
                </a:solidFill>
                <a:effectLst/>
                <a:uFillTx/>
                <a:latin typeface="Arial"/>
              </a:rPr>
              <a:t>USGS API </a:t>
            </a:r>
            <a:r>
              <a:rPr lang="zh-CN" altLang="en-US" sz="1800" b="0" u="none" strike="noStrike">
                <a:solidFill>
                  <a:srgbClr val="000000"/>
                </a:solidFill>
                <a:effectLst/>
                <a:uFillTx/>
                <a:latin typeface="Arial"/>
              </a:rPr>
              <a:t>获取数据并处理缓存和日志；第二层完成清洗、去重和四张统计图生成；第三层根据身份、年龄、位置和行动能力识别画像与重点需求，并调用规则模板生成文本；第四层由 </a:t>
            </a:r>
            <a:r>
              <a:rPr lang="en-US" altLang="zh-CN" sz="1800" b="0" u="none" strike="noStrike">
                <a:solidFill>
                  <a:srgbClr val="000000"/>
                </a:solidFill>
                <a:effectLst/>
                <a:uFillTx/>
                <a:latin typeface="Arial"/>
              </a:rPr>
              <a:t>Flask </a:t>
            </a:r>
            <a:r>
              <a:rPr lang="zh-CN" altLang="en-US" sz="1800" b="0" u="none" strike="noStrike">
                <a:solidFill>
                  <a:srgbClr val="000000"/>
                </a:solidFill>
                <a:effectLst/>
                <a:uFillTx/>
                <a:latin typeface="Arial"/>
              </a:rPr>
              <a:t>提供首页、</a:t>
            </a:r>
            <a:r>
              <a:rPr lang="en-US" altLang="zh-CN" sz="1800" b="0" u="none" strike="noStrike">
                <a:solidFill>
                  <a:srgbClr val="000000"/>
                </a:solidFill>
                <a:effectLst/>
                <a:uFillTx/>
                <a:latin typeface="Arial"/>
              </a:rPr>
              <a:t>generate </a:t>
            </a:r>
            <a:r>
              <a:rPr lang="zh-CN" altLang="en-US" sz="1800" b="0" u="none" strike="noStrike">
                <a:solidFill>
                  <a:srgbClr val="000000"/>
                </a:solidFill>
                <a:effectLst/>
                <a:uFillTx/>
                <a:latin typeface="Arial"/>
              </a:rPr>
              <a:t>和 </a:t>
            </a:r>
            <a:r>
              <a:rPr lang="en-US" altLang="zh-CN" sz="1800" b="0" u="none" strike="noStrike">
                <a:solidFill>
                  <a:srgbClr val="000000"/>
                </a:solidFill>
                <a:effectLst/>
                <a:uFillTx/>
                <a:latin typeface="Arial"/>
              </a:rPr>
              <a:t>dashboard </a:t>
            </a:r>
            <a:r>
              <a:rPr lang="zh-CN" altLang="en-US" sz="1800" b="0" u="none" strike="noStrike">
                <a:solidFill>
                  <a:srgbClr val="000000"/>
                </a:solidFill>
                <a:effectLst/>
                <a:uFillTx/>
                <a:latin typeface="Arial"/>
              </a:rPr>
              <a:t>路由；第五层负责手机弹窗和统计页面展示。整个流程把真实数据处理、自然语言生成和网页交互连接起来。</a:t>
            </a:r>
            <a:endParaRPr lang="en-US" sz="1800" b="0" u="none" strike="noStrike">
              <a:solidFill>
                <a:srgbClr val="000000"/>
              </a:solidFill>
              <a:effectLst/>
              <a:uFillTx/>
              <a:latin typeface="Arial"/>
            </a:endParaRPr>
          </a:p>
        </p:txBody>
      </p:sp>
      <p:sp>
        <p:nvSpPr>
          <p:cNvPr id="506"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7D4AC46-B8F2-4E84-90A1-7A49CF41C051}" type="slidenum">
              <a:rPr lang="en-US" sz="1200" b="0" u="none" strike="noStrike">
                <a:solidFill>
                  <a:schemeClr val="dk1"/>
                </a:solidFill>
                <a:effectLst/>
                <a:uFillTx/>
                <a:latin typeface="+mn-lt"/>
                <a:ea typeface="+mn-ea"/>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 name="PlaceHolder 1"/>
          <p:cNvSpPr>
            <a:spLocks noGrp="1" noRot="1" noChangeAspect="1"/>
          </p:cNvSpPr>
          <p:nvPr>
            <p:ph type="sldImg"/>
          </p:nvPr>
        </p:nvSpPr>
        <p:spPr>
          <a:xfrm>
            <a:off x="685800" y="1143000"/>
            <a:ext cx="5486400" cy="3086100"/>
          </a:xfrm>
          <a:prstGeom prst="rect">
            <a:avLst/>
          </a:prstGeom>
          <a:ln w="0">
            <a:noFill/>
          </a:ln>
        </p:spPr>
      </p:sp>
      <p:sp>
        <p:nvSpPr>
          <p:cNvPr id="5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zh-CN" altLang="en-US" sz="1800" b="0" u="none" strike="noStrike">
                <a:solidFill>
                  <a:srgbClr val="000000"/>
                </a:solidFill>
                <a:effectLst/>
                <a:uFillTx/>
                <a:latin typeface="Arial"/>
              </a:rPr>
              <a:t>用户端操作流程分为五步。第一步选择一条真实地震事件，列表中显示时间、震级和位置；第二步填写身份、年龄、位置和行动能力；第三步由系统自动分析用户画像、重点需求和课程演示等级；第四步在手机界面内部弹出个性化地震应急提醒；第五步可以进入 </a:t>
            </a:r>
            <a:r>
              <a:rPr lang="en-US" altLang="zh-CN" sz="1800" b="0" u="none" strike="noStrike">
                <a:solidFill>
                  <a:srgbClr val="000000"/>
                </a:solidFill>
                <a:effectLst/>
                <a:uFillTx/>
                <a:latin typeface="Arial"/>
              </a:rPr>
              <a:t>Dashboard </a:t>
            </a:r>
            <a:r>
              <a:rPr lang="zh-CN" altLang="en-US" sz="1800" b="0" u="none" strike="noStrike">
                <a:solidFill>
                  <a:srgbClr val="000000"/>
                </a:solidFill>
                <a:effectLst/>
                <a:uFillTx/>
                <a:latin typeface="Arial"/>
              </a:rPr>
              <a:t>查看真实数据统计。用户不需要手动选择灾害类型和风险等级，从而减少不合理输入。</a:t>
            </a:r>
            <a:endParaRPr lang="en-US" sz="1800" b="0" u="none" strike="noStrike">
              <a:solidFill>
                <a:srgbClr val="000000"/>
              </a:solidFill>
              <a:effectLst/>
              <a:uFillTx/>
              <a:latin typeface="Arial"/>
            </a:endParaRPr>
          </a:p>
        </p:txBody>
      </p:sp>
      <p:sp>
        <p:nvSpPr>
          <p:cNvPr id="509"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08C1911-3DB9-44A2-9873-CA99E7DDC175}" type="slidenum">
              <a:rPr lang="en-US" sz="1200" b="0" u="none" strike="noStrike">
                <a:solidFill>
                  <a:schemeClr val="dk1"/>
                </a:solidFill>
                <a:effectLst/>
                <a:uFillTx/>
                <a:latin typeface="+mn-lt"/>
                <a:ea typeface="+mn-ea"/>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 name="PlaceHolder 1"/>
          <p:cNvSpPr>
            <a:spLocks noGrp="1" noRot="1" noChangeAspect="1"/>
          </p:cNvSpPr>
          <p:nvPr>
            <p:ph type="sldImg"/>
          </p:nvPr>
        </p:nvSpPr>
        <p:spPr>
          <a:xfrm>
            <a:off x="685800" y="1143000"/>
            <a:ext cx="5486400" cy="3086100"/>
          </a:xfrm>
          <a:prstGeom prst="rect">
            <a:avLst/>
          </a:prstGeom>
          <a:ln w="0">
            <a:noFill/>
          </a:ln>
        </p:spPr>
      </p:sp>
      <p:sp>
        <p:nvSpPr>
          <p:cNvPr id="5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zh-CN" altLang="en-US" sz="1800" b="0" u="none" strike="noStrike">
                <a:solidFill>
                  <a:srgbClr val="000000"/>
                </a:solidFill>
                <a:effectLst/>
                <a:uFillTx/>
                <a:latin typeface="Arial"/>
              </a:rPr>
              <a:t>这一页是项目的核心生成逻辑。输入由两部分组成：一部分是真实地震事件的时间、震级、深度和位置，另一部分是用户身份、年龄、位置和行动能力。规则引擎依次完成震级演示分级、用户画像识别和重点需求判断，再把地震事实、画像、需求与行动建议组合成文本。例如未成年人强调听从学校或监护人安排，老年人强调家属和社区协助，游客强调当地指引，应急人员则强调巡查排险和协助转移。</a:t>
            </a:r>
            <a:endParaRPr lang="en-US" sz="1800" b="0" u="none" strike="noStrike">
              <a:solidFill>
                <a:srgbClr val="000000"/>
              </a:solidFill>
              <a:effectLst/>
              <a:uFillTx/>
              <a:latin typeface="Arial"/>
            </a:endParaRPr>
          </a:p>
        </p:txBody>
      </p:sp>
      <p:sp>
        <p:nvSpPr>
          <p:cNvPr id="512"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7937D50-5A74-49DC-9D3B-5ECBAF6ECF0A}"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 name="PlaceHolder 1"/>
          <p:cNvSpPr>
            <a:spLocks noGrp="1" noRot="1" noChangeAspect="1"/>
          </p:cNvSpPr>
          <p:nvPr>
            <p:ph type="sldImg"/>
          </p:nvPr>
        </p:nvSpPr>
        <p:spPr>
          <a:xfrm>
            <a:off x="685800" y="1143000"/>
            <a:ext cx="5486400" cy="3086100"/>
          </a:xfrm>
          <a:prstGeom prst="rect">
            <a:avLst/>
          </a:prstGeom>
          <a:ln w="0">
            <a:noFill/>
          </a:ln>
        </p:spPr>
      </p:sp>
      <p:sp>
        <p:nvSpPr>
          <p:cNvPr id="51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zh-CN" altLang="en-US" sz="1800" b="0" u="none" strike="noStrike">
                <a:solidFill>
                  <a:srgbClr val="000000"/>
                </a:solidFill>
                <a:effectLst/>
                <a:uFillTx/>
                <a:latin typeface="Arial"/>
              </a:rPr>
              <a:t>这里展示首页和手机预警弹窗。左侧只保留必要输入项，用户选择真实地震事件并填写个人场景；年龄会自动识别未成年人或老人，位置既支持手动输入，也支持浏览器定位。点击生成后，结果只在右侧手机屏幕内部显示，内容包括用户画像、重点需求、地震事实、行动建议和免责声明。底部保留统计与关闭两个操作，界面紧凑，适合现场演示。</a:t>
            </a:r>
            <a:endParaRPr lang="en-US" sz="1800" b="0" u="none" strike="noStrike">
              <a:solidFill>
                <a:srgbClr val="000000"/>
              </a:solidFill>
              <a:effectLst/>
              <a:uFillTx/>
              <a:latin typeface="Arial"/>
            </a:endParaRPr>
          </a:p>
        </p:txBody>
      </p:sp>
      <p:sp>
        <p:nvSpPr>
          <p:cNvPr id="515"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F27E40A-82FF-4741-B9A3-058DFF0B7365}" type="slidenum">
              <a:rPr lang="en-US" sz="1200" b="0" u="none" strike="noStrike">
                <a:solidFill>
                  <a:schemeClr val="dk1"/>
                </a:solidFill>
                <a:effectLst/>
                <a:uFillTx/>
                <a:latin typeface="+mn-lt"/>
                <a:ea typeface="+mn-ea"/>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 name="PlaceHolder 1"/>
          <p:cNvSpPr>
            <a:spLocks noGrp="1" noRot="1" noChangeAspect="1"/>
          </p:cNvSpPr>
          <p:nvPr>
            <p:ph type="sldImg"/>
          </p:nvPr>
        </p:nvSpPr>
        <p:spPr>
          <a:xfrm>
            <a:off x="685800" y="1143000"/>
            <a:ext cx="5486400" cy="3086100"/>
          </a:xfrm>
          <a:prstGeom prst="rect">
            <a:avLst/>
          </a:prstGeom>
          <a:ln w="0">
            <a:noFill/>
          </a:ln>
        </p:spPr>
      </p:sp>
      <p:sp>
        <p:nvSpPr>
          <p:cNvPr id="51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altLang="zh-CN" sz="1800" b="0" u="none" strike="noStrike">
                <a:solidFill>
                  <a:srgbClr val="000000"/>
                </a:solidFill>
                <a:effectLst/>
                <a:uFillTx/>
                <a:latin typeface="Arial"/>
              </a:rPr>
              <a:t>Dashboard </a:t>
            </a:r>
            <a:r>
              <a:rPr lang="zh-CN" altLang="en-US" sz="1800" b="0" u="none" strike="noStrike">
                <a:solidFill>
                  <a:srgbClr val="000000"/>
                </a:solidFill>
                <a:effectLst/>
                <a:uFillTx/>
                <a:latin typeface="Arial"/>
              </a:rPr>
              <a:t>展示的是当前 </a:t>
            </a:r>
            <a:r>
              <a:rPr lang="en-US" altLang="zh-CN" sz="1800" b="0" u="none" strike="noStrike">
                <a:solidFill>
                  <a:srgbClr val="000000"/>
                </a:solidFill>
                <a:effectLst/>
                <a:uFillTx/>
                <a:latin typeface="Arial"/>
              </a:rPr>
              <a:t>200 </a:t>
            </a:r>
            <a:r>
              <a:rPr lang="zh-CN" altLang="en-US" sz="1800" b="0" u="none" strike="noStrike">
                <a:solidFill>
                  <a:srgbClr val="000000"/>
                </a:solidFill>
                <a:effectLst/>
                <a:uFillTx/>
                <a:latin typeface="Arial"/>
              </a:rPr>
              <a:t>条真实地震样本的统计结果，包括震级分布、震源深度分布、事件时间趋势和空间散点分布四张图。同时页面还展示记录总数、数据来源、采集时间、最新事件、最大震级、平均深度和最近事件表格。这些图用于描述当前查询样本的特征，不用于预测未来地震，也不代表官方风险等级。</a:t>
            </a:r>
            <a:endParaRPr lang="en-US" sz="1800" b="0" u="none" strike="noStrike">
              <a:solidFill>
                <a:srgbClr val="000000"/>
              </a:solidFill>
              <a:effectLst/>
              <a:uFillTx/>
              <a:latin typeface="Arial"/>
            </a:endParaRPr>
          </a:p>
        </p:txBody>
      </p:sp>
      <p:sp>
        <p:nvSpPr>
          <p:cNvPr id="518"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57A1EBF-3B41-4D10-9334-A165B983A00F}" type="slidenum">
              <a:rPr lang="en-US" sz="1200" b="0" u="none" strike="noStrike">
                <a:solidFill>
                  <a:schemeClr val="dk1"/>
                </a:solidFill>
                <a:effectLst/>
                <a:uFillTx/>
                <a:latin typeface="+mn-lt"/>
                <a:ea typeface="+mn-ea"/>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 name="PlaceHolder 1"/>
          <p:cNvSpPr>
            <a:spLocks noGrp="1" noRot="1" noChangeAspect="1"/>
          </p:cNvSpPr>
          <p:nvPr>
            <p:ph type="sldImg"/>
          </p:nvPr>
        </p:nvSpPr>
        <p:spPr>
          <a:xfrm>
            <a:off x="685800" y="1143000"/>
            <a:ext cx="5486400" cy="3086100"/>
          </a:xfrm>
          <a:prstGeom prst="rect">
            <a:avLst/>
          </a:prstGeom>
          <a:ln w="0">
            <a:noFill/>
          </a:ln>
        </p:spPr>
      </p:sp>
      <p:sp>
        <p:nvSpPr>
          <p:cNvPr id="52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zh-CN" altLang="en-US" sz="1800" b="0" u="none" strike="noStrike">
                <a:solidFill>
                  <a:srgbClr val="000000"/>
                </a:solidFill>
                <a:effectLst/>
                <a:uFillTx/>
                <a:latin typeface="Arial"/>
              </a:rPr>
              <a:t>最后是测试验证。数据层面确认 </a:t>
            </a:r>
            <a:r>
              <a:rPr lang="en-US" altLang="zh-CN" sz="1800" b="0" u="none" strike="noStrike">
                <a:solidFill>
                  <a:srgbClr val="000000"/>
                </a:solidFill>
                <a:effectLst/>
                <a:uFillTx/>
                <a:latin typeface="Arial"/>
              </a:rPr>
              <a:t>200 </a:t>
            </a:r>
            <a:r>
              <a:rPr lang="zh-CN" altLang="en-US" sz="1800" b="0" u="none" strike="noStrike">
                <a:solidFill>
                  <a:srgbClr val="000000"/>
                </a:solidFill>
                <a:effectLst/>
                <a:uFillTx/>
                <a:latin typeface="Arial"/>
              </a:rPr>
              <a:t>条记录均来自 </a:t>
            </a:r>
            <a:r>
              <a:rPr lang="en-US" altLang="zh-CN" sz="1800" b="0" u="none" strike="noStrike">
                <a:solidFill>
                  <a:srgbClr val="000000"/>
                </a:solidFill>
                <a:effectLst/>
                <a:uFillTx/>
                <a:latin typeface="Arial"/>
              </a:rPr>
              <a:t>USGS</a:t>
            </a:r>
            <a:r>
              <a:rPr lang="zh-CN" altLang="en-US" sz="1800" b="0" u="none" strike="noStrike">
                <a:solidFill>
                  <a:srgbClr val="000000"/>
                </a:solidFill>
                <a:effectLst/>
                <a:uFillTx/>
                <a:latin typeface="Arial"/>
              </a:rPr>
              <a:t>，原始文件、</a:t>
            </a:r>
            <a:r>
              <a:rPr lang="en-US" altLang="zh-CN" sz="1800" b="0" u="none" strike="noStrike">
                <a:solidFill>
                  <a:srgbClr val="000000"/>
                </a:solidFill>
                <a:effectLst/>
                <a:uFillTx/>
                <a:latin typeface="Arial"/>
              </a:rPr>
              <a:t>CSV</a:t>
            </a:r>
            <a:r>
              <a:rPr lang="zh-CN" altLang="en-US" sz="1800" b="0" u="none" strike="noStrike">
                <a:solidFill>
                  <a:srgbClr val="000000"/>
                </a:solidFill>
                <a:effectLst/>
                <a:uFillTx/>
                <a:latin typeface="Arial"/>
              </a:rPr>
              <a:t>、</a:t>
            </a:r>
            <a:r>
              <a:rPr lang="en-US" altLang="zh-CN" sz="1800" b="0" u="none" strike="noStrike">
                <a:solidFill>
                  <a:srgbClr val="000000"/>
                </a:solidFill>
                <a:effectLst/>
                <a:uFillTx/>
                <a:latin typeface="Arial"/>
              </a:rPr>
              <a:t>metadata </a:t>
            </a:r>
            <a:r>
              <a:rPr lang="zh-CN" altLang="en-US" sz="1800" b="0" u="none" strike="noStrike">
                <a:solidFill>
                  <a:srgbClr val="000000"/>
                </a:solidFill>
                <a:effectLst/>
                <a:uFillTx/>
                <a:latin typeface="Arial"/>
              </a:rPr>
              <a:t>和日志齐全；功能层面覆盖未成年人、老年人、游客和应急人员四类典型场景。测试结果能够识别不同画像并给出差异化建议，例如老年人优先协助转移，游客远离危险区域，应急人员到岗巡查和协助群众。生成文本还包含免责声明，避免出现“预测地震”或“官方预警”等不准确表达。</a:t>
            </a:r>
            <a:endParaRPr lang="en-US" sz="1800" b="0" u="none" strike="noStrike">
              <a:solidFill>
                <a:srgbClr val="000000"/>
              </a:solidFill>
              <a:effectLst/>
              <a:uFillTx/>
              <a:latin typeface="Arial"/>
            </a:endParaRPr>
          </a:p>
        </p:txBody>
      </p:sp>
      <p:sp>
        <p:nvSpPr>
          <p:cNvPr id="524"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1BA1218-AC07-47B6-9D51-C44F2E476C92}" type="slidenum">
              <a:rPr lang="en-US" sz="1200" b="0" u="none" strike="noStrike">
                <a:solidFill>
                  <a:schemeClr val="dk1"/>
                </a:solidFill>
                <a:effectLst/>
                <a:uFillTx/>
                <a:latin typeface="+mn-lt"/>
                <a:ea typeface="+mn-ea"/>
              </a:rPr>
              <a:t>10</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704AA-08C0-17CA-4205-D3EEC9E491AC}"/>
            </a:ext>
          </a:extLst>
        </p:cNvPr>
        <p:cNvGrpSpPr/>
        <p:nvPr/>
      </p:nvGrpSpPr>
      <p:grpSpPr>
        <a:xfrm>
          <a:off x="0" y="0"/>
          <a:ext cx="0" cy="0"/>
          <a:chOff x="0" y="0"/>
          <a:chExt cx="0" cy="0"/>
        </a:xfrm>
      </p:grpSpPr>
      <p:sp>
        <p:nvSpPr>
          <p:cNvPr id="522" name="PlaceHolder 1">
            <a:extLst>
              <a:ext uri="{FF2B5EF4-FFF2-40B4-BE49-F238E27FC236}">
                <a16:creationId xmlns:a16="http://schemas.microsoft.com/office/drawing/2014/main" id="{9F8A8DF4-742D-DD32-22D0-3FFC18B7107F}"/>
              </a:ext>
            </a:extLst>
          </p:cNvPr>
          <p:cNvSpPr>
            <a:spLocks noGrp="1" noRot="1" noChangeAspect="1"/>
          </p:cNvSpPr>
          <p:nvPr>
            <p:ph type="sldImg"/>
          </p:nvPr>
        </p:nvSpPr>
        <p:spPr>
          <a:xfrm>
            <a:off x="685800" y="1143000"/>
            <a:ext cx="5486400" cy="3086100"/>
          </a:xfrm>
          <a:prstGeom prst="rect">
            <a:avLst/>
          </a:prstGeom>
          <a:ln w="0">
            <a:noFill/>
          </a:ln>
        </p:spPr>
      </p:sp>
      <p:sp>
        <p:nvSpPr>
          <p:cNvPr id="523" name="PlaceHolder 2">
            <a:extLst>
              <a:ext uri="{FF2B5EF4-FFF2-40B4-BE49-F238E27FC236}">
                <a16:creationId xmlns:a16="http://schemas.microsoft.com/office/drawing/2014/main" id="{37C095D0-561F-2E10-3A84-477BE4630DF8}"/>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zh-CN" altLang="en-US" sz="1800" b="0" u="none" strike="noStrike" dirty="0">
                <a:solidFill>
                  <a:srgbClr val="000000"/>
                </a:solidFill>
                <a:effectLst/>
                <a:uFillTx/>
                <a:latin typeface="Arial"/>
              </a:rPr>
              <a:t>以上是本项目的主要内容。我们完成了从真实 </a:t>
            </a:r>
            <a:r>
              <a:rPr lang="en-US" altLang="zh-CN" sz="1800" b="0" u="none" strike="noStrike" dirty="0">
                <a:solidFill>
                  <a:srgbClr val="000000"/>
                </a:solidFill>
                <a:effectLst/>
                <a:uFillTx/>
                <a:latin typeface="Arial"/>
              </a:rPr>
              <a:t>USGS </a:t>
            </a:r>
            <a:r>
              <a:rPr lang="zh-CN" altLang="en-US" sz="1800" b="0" u="none" strike="noStrike" dirty="0">
                <a:solidFill>
                  <a:srgbClr val="000000"/>
                </a:solidFill>
                <a:effectLst/>
                <a:uFillTx/>
                <a:latin typeface="Arial"/>
              </a:rPr>
              <a:t>地震数据采集、清洗与可视化，到用户画像识别、重点需求判断、个性化文本生成和 </a:t>
            </a:r>
            <a:r>
              <a:rPr lang="en-US" altLang="zh-CN" sz="1800" b="0" u="none" strike="noStrike" dirty="0">
                <a:solidFill>
                  <a:srgbClr val="000000"/>
                </a:solidFill>
                <a:effectLst/>
                <a:uFillTx/>
                <a:latin typeface="Arial"/>
              </a:rPr>
              <a:t>Flask </a:t>
            </a:r>
            <a:r>
              <a:rPr lang="zh-CN" altLang="en-US" sz="1800" b="0" u="none" strike="noStrike" dirty="0">
                <a:solidFill>
                  <a:srgbClr val="000000"/>
                </a:solidFill>
                <a:effectLst/>
                <a:uFillTx/>
                <a:latin typeface="Arial"/>
              </a:rPr>
              <a:t>页面展示的完整流程。项目的重点不是预测地震，而是让已发生地震事件的信息更容易被不同人群理解并转化为可执行行动。我的汇报到这里，谢谢各位老师</a:t>
            </a:r>
            <a:r>
              <a:rPr lang="zh-CN" altLang="en-US" sz="1800" b="0" u="none" strike="noStrike">
                <a:solidFill>
                  <a:srgbClr val="000000"/>
                </a:solidFill>
                <a:effectLst/>
                <a:uFillTx/>
                <a:latin typeface="Arial"/>
              </a:rPr>
              <a:t>和同学。</a:t>
            </a:r>
            <a:endParaRPr lang="en-US" sz="1800" b="0" u="none" strike="noStrike" dirty="0">
              <a:solidFill>
                <a:srgbClr val="000000"/>
              </a:solidFill>
              <a:effectLst/>
              <a:uFillTx/>
              <a:latin typeface="Arial"/>
            </a:endParaRPr>
          </a:p>
        </p:txBody>
      </p:sp>
      <p:sp>
        <p:nvSpPr>
          <p:cNvPr id="524" name="PlaceHolder 3">
            <a:extLst>
              <a:ext uri="{FF2B5EF4-FFF2-40B4-BE49-F238E27FC236}">
                <a16:creationId xmlns:a16="http://schemas.microsoft.com/office/drawing/2014/main" id="{0CD9B1EF-3E02-179C-85C5-1C899BB48BDA}"/>
              </a:ext>
            </a:extLst>
          </p:cNvPr>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1BA1218-AC07-47B6-9D51-C44F2E476C92}"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31850447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MASTER">
    <p:bg>
      <p:bgPr>
        <a:solidFill>
          <a:srgbClr val="F8FAFC"/>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Noto Sans CJK SC"/>
              </a:rPr>
              <a:t>Click to edit the title text format</a:t>
            </a:r>
          </a:p>
        </p:txBody>
      </p:sp>
      <p:sp>
        <p:nvSpPr>
          <p:cNvPr id="3" name="PlaceHolder 2"/>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Noto Sans CJK SC"/>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Noto Sans CJK SC"/>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Noto Sans CJK SC"/>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Noto Sans CJK SC"/>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Noto Sans CJK SC"/>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Noto Sans CJK SC"/>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Noto Sans CJK SC"/>
              </a:rPr>
              <a:t>Seventh Outline Level</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8" name="Shape 0"/>
          <p:cNvSpPr/>
          <p:nvPr/>
        </p:nvSpPr>
        <p:spPr>
          <a:xfrm>
            <a:off x="0" y="0"/>
            <a:ext cx="12191400" cy="6857640"/>
          </a:xfrm>
          <a:prstGeom prst="rect">
            <a:avLst/>
          </a:prstGeom>
          <a:solidFill>
            <a:srgbClr val="0F172A"/>
          </a:solidFill>
          <a:ln w="12700">
            <a:solidFill>
              <a:srgbClr val="0F172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 name="Shape 1"/>
          <p:cNvSpPr/>
          <p:nvPr/>
        </p:nvSpPr>
        <p:spPr>
          <a:xfrm>
            <a:off x="548640" y="5257800"/>
            <a:ext cx="786240" cy="73080"/>
          </a:xfrm>
          <a:prstGeom prst="line">
            <a:avLst/>
          </a:prstGeom>
          <a:ln w="25400">
            <a:solidFill>
              <a:srgbClr val="60A5FA">
                <a:alpha val="70000"/>
              </a:srgbClr>
            </a:solidFill>
            <a:round/>
          </a:ln>
        </p:spPr>
        <p:style>
          <a:lnRef idx="0">
            <a:scrgbClr r="0" g="0" b="0"/>
          </a:lnRef>
          <a:fillRef idx="0">
            <a:scrgbClr r="0" g="0" b="0"/>
          </a:fillRef>
          <a:effectRef idx="0">
            <a:scrgbClr r="0" g="0" b="0"/>
          </a:effectRef>
          <a:fontRef idx="minor"/>
        </p:style>
        <p:txBody>
          <a:bodyPr lIns="90000" tIns="28080" rIns="90000" bIns="28080" anchor="t" anchorCtr="1">
            <a:noAutofit/>
          </a:bodyPr>
          <a:lstStyle/>
          <a:p>
            <a:endParaRPr lang="en-US" sz="1800" b="0" u="none" strike="noStrike">
              <a:solidFill>
                <a:srgbClr val="000000"/>
              </a:solidFill>
              <a:effectLst/>
              <a:uFillTx/>
              <a:latin typeface="Arial"/>
            </a:endParaRPr>
          </a:p>
        </p:txBody>
      </p:sp>
      <p:sp>
        <p:nvSpPr>
          <p:cNvPr id="10" name="Shape 2"/>
          <p:cNvSpPr/>
          <p:nvPr/>
        </p:nvSpPr>
        <p:spPr>
          <a:xfrm flipV="1">
            <a:off x="1334880" y="5202720"/>
            <a:ext cx="786240" cy="128160"/>
          </a:xfrm>
          <a:prstGeom prst="line">
            <a:avLst/>
          </a:prstGeom>
          <a:ln w="25400">
            <a:solidFill>
              <a:srgbClr val="60A5FA">
                <a:alpha val="70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1" name="Shape 3"/>
          <p:cNvSpPr/>
          <p:nvPr/>
        </p:nvSpPr>
        <p:spPr>
          <a:xfrm>
            <a:off x="2121120" y="5202720"/>
            <a:ext cx="786600" cy="283680"/>
          </a:xfrm>
          <a:prstGeom prst="line">
            <a:avLst/>
          </a:prstGeom>
          <a:ln w="25400">
            <a:solidFill>
              <a:srgbClr val="60A5FA">
                <a:alpha val="70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2" name="Shape 4"/>
          <p:cNvSpPr/>
          <p:nvPr/>
        </p:nvSpPr>
        <p:spPr>
          <a:xfrm flipV="1">
            <a:off x="2907720" y="5047200"/>
            <a:ext cx="786240" cy="439200"/>
          </a:xfrm>
          <a:prstGeom prst="line">
            <a:avLst/>
          </a:prstGeom>
          <a:ln w="25400">
            <a:solidFill>
              <a:srgbClr val="60A5FA">
                <a:alpha val="70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3" name="Shape 5"/>
          <p:cNvSpPr/>
          <p:nvPr/>
        </p:nvSpPr>
        <p:spPr>
          <a:xfrm>
            <a:off x="3693960" y="5047200"/>
            <a:ext cx="786600" cy="320040"/>
          </a:xfrm>
          <a:prstGeom prst="line">
            <a:avLst/>
          </a:prstGeom>
          <a:ln w="25400">
            <a:solidFill>
              <a:srgbClr val="60A5FA">
                <a:alpha val="70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4" name="Shape 6"/>
          <p:cNvSpPr/>
          <p:nvPr/>
        </p:nvSpPr>
        <p:spPr>
          <a:xfrm flipV="1">
            <a:off x="4480560" y="5166360"/>
            <a:ext cx="786240" cy="200880"/>
          </a:xfrm>
          <a:prstGeom prst="line">
            <a:avLst/>
          </a:prstGeom>
          <a:ln w="25400">
            <a:solidFill>
              <a:srgbClr val="60A5FA">
                <a:alpha val="70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5" name="Shape 7"/>
          <p:cNvSpPr/>
          <p:nvPr/>
        </p:nvSpPr>
        <p:spPr>
          <a:xfrm>
            <a:off x="5266800" y="5166360"/>
            <a:ext cx="786240" cy="603360"/>
          </a:xfrm>
          <a:prstGeom prst="line">
            <a:avLst/>
          </a:prstGeom>
          <a:ln w="25400">
            <a:solidFill>
              <a:srgbClr val="60A5FA">
                <a:alpha val="70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6" name="Shape 8"/>
          <p:cNvSpPr/>
          <p:nvPr/>
        </p:nvSpPr>
        <p:spPr>
          <a:xfrm flipV="1">
            <a:off x="6053040" y="4818600"/>
            <a:ext cx="786600" cy="951120"/>
          </a:xfrm>
          <a:prstGeom prst="line">
            <a:avLst/>
          </a:prstGeom>
          <a:ln w="25400">
            <a:solidFill>
              <a:srgbClr val="60A5FA">
                <a:alpha val="70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7" name="Shape 9"/>
          <p:cNvSpPr/>
          <p:nvPr/>
        </p:nvSpPr>
        <p:spPr>
          <a:xfrm>
            <a:off x="6839640" y="4818600"/>
            <a:ext cx="786240" cy="603720"/>
          </a:xfrm>
          <a:prstGeom prst="line">
            <a:avLst/>
          </a:prstGeom>
          <a:ln w="25400">
            <a:solidFill>
              <a:srgbClr val="60A5FA">
                <a:alpha val="70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8" name="Shape 10"/>
          <p:cNvSpPr/>
          <p:nvPr/>
        </p:nvSpPr>
        <p:spPr>
          <a:xfrm flipV="1">
            <a:off x="7625880" y="5148000"/>
            <a:ext cx="786600" cy="274320"/>
          </a:xfrm>
          <a:prstGeom prst="line">
            <a:avLst/>
          </a:prstGeom>
          <a:ln w="25400">
            <a:solidFill>
              <a:srgbClr val="60A5FA">
                <a:alpha val="70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9" name="Text 11"/>
          <p:cNvSpPr/>
          <p:nvPr/>
        </p:nvSpPr>
        <p:spPr>
          <a:xfrm>
            <a:off x="685800" y="685800"/>
            <a:ext cx="109692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1000" b="1" u="none" strike="noStrike">
                <a:solidFill>
                  <a:srgbClr val="93C5FD"/>
                </a:solidFill>
                <a:effectLst/>
                <a:uFillTx/>
                <a:latin typeface="Noto Sans CJK SC"/>
                <a:ea typeface="Noto Sans CJK SC"/>
              </a:rPr>
              <a:t>项目</a:t>
            </a:r>
            <a:r>
              <a:rPr lang="en-US" sz="1000" b="1" u="none" strike="noStrike">
                <a:solidFill>
                  <a:srgbClr val="93C5FD"/>
                </a:solidFill>
                <a:effectLst/>
                <a:uFillTx/>
                <a:latin typeface="Noto Sans CJK SC"/>
                <a:ea typeface="Noto Sans CJK SC"/>
              </a:rPr>
              <a:t>09</a:t>
            </a:r>
            <a:endParaRPr lang="en-US" sz="1000" b="0" u="none" strike="noStrike">
              <a:solidFill>
                <a:srgbClr val="000000"/>
              </a:solidFill>
              <a:effectLst/>
              <a:uFillTx/>
              <a:latin typeface="Arial"/>
            </a:endParaRPr>
          </a:p>
        </p:txBody>
      </p:sp>
      <p:sp>
        <p:nvSpPr>
          <p:cNvPr id="20" name="Text 12"/>
          <p:cNvSpPr/>
          <p:nvPr/>
        </p:nvSpPr>
        <p:spPr>
          <a:xfrm>
            <a:off x="685800" y="1234440"/>
            <a:ext cx="7589160" cy="114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zh-CN" sz="3400" b="1" u="none" strike="noStrike">
                <a:solidFill>
                  <a:srgbClr val="FFFFFF"/>
                </a:solidFill>
                <a:effectLst/>
                <a:uFillTx/>
                <a:latin typeface="Noto Sans CJK SC"/>
                <a:ea typeface="Noto Sans CJK SC"/>
              </a:rPr>
              <a:t>基于真实地震数据的</a:t>
            </a:r>
            <a:endParaRPr lang="en-US" sz="3400" b="0" u="none" strike="noStrike">
              <a:solidFill>
                <a:srgbClr val="000000"/>
              </a:solidFill>
              <a:effectLst/>
              <a:uFillTx/>
              <a:latin typeface="Arial"/>
            </a:endParaRPr>
          </a:p>
          <a:p>
            <a:pPr defTabSz="914400">
              <a:lnSpc>
                <a:spcPct val="100000"/>
              </a:lnSpc>
              <a:tabLst>
                <a:tab pos="0" algn="l"/>
              </a:tabLst>
            </a:pPr>
            <a:r>
              <a:rPr lang="zh-CN" sz="3400" b="1" u="none" strike="noStrike">
                <a:solidFill>
                  <a:srgbClr val="FFFFFF"/>
                </a:solidFill>
                <a:effectLst/>
                <a:uFillTx/>
                <a:latin typeface="Noto Sans CJK SC"/>
                <a:ea typeface="Noto Sans CJK SC"/>
              </a:rPr>
              <a:t>个性化地震预警信息自动生成系统</a:t>
            </a:r>
            <a:endParaRPr lang="en-US" sz="3400" b="0" u="none" strike="noStrike">
              <a:solidFill>
                <a:srgbClr val="000000"/>
              </a:solidFill>
              <a:effectLst/>
              <a:uFillTx/>
              <a:latin typeface="Arial"/>
            </a:endParaRPr>
          </a:p>
        </p:txBody>
      </p:sp>
      <p:sp>
        <p:nvSpPr>
          <p:cNvPr id="21" name="Text 13"/>
          <p:cNvSpPr/>
          <p:nvPr/>
        </p:nvSpPr>
        <p:spPr>
          <a:xfrm>
            <a:off x="713160" y="2743200"/>
            <a:ext cx="7314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1300" b="0" u="none" strike="noStrike">
                <a:solidFill>
                  <a:srgbClr val="CBD5E1"/>
                </a:solidFill>
                <a:effectLst/>
                <a:uFillTx/>
                <a:latin typeface="Noto Sans CJK SC"/>
                <a:ea typeface="Noto Sans CJK SC"/>
              </a:rPr>
              <a:t>真实 </a:t>
            </a:r>
            <a:r>
              <a:rPr lang="en-US" sz="1300" b="0" u="none" strike="noStrike">
                <a:solidFill>
                  <a:srgbClr val="CBD5E1"/>
                </a:solidFill>
                <a:effectLst/>
                <a:uFillTx/>
                <a:latin typeface="Noto Sans CJK SC"/>
                <a:ea typeface="Noto Sans CJK SC"/>
              </a:rPr>
              <a:t>USGS </a:t>
            </a:r>
            <a:r>
              <a:rPr lang="zh-CN" sz="1300" b="0" u="none" strike="noStrike">
                <a:solidFill>
                  <a:srgbClr val="CBD5E1"/>
                </a:solidFill>
                <a:effectLst/>
                <a:uFillTx/>
                <a:latin typeface="Noto Sans CJK SC"/>
                <a:ea typeface="Noto Sans CJK SC"/>
              </a:rPr>
              <a:t>地震目录数据｜用户画像｜规则模板文本生成｜手机预警弹窗｜</a:t>
            </a:r>
            <a:r>
              <a:rPr lang="en-US" sz="1300" b="0" u="none" strike="noStrike">
                <a:solidFill>
                  <a:srgbClr val="CBD5E1"/>
                </a:solidFill>
                <a:effectLst/>
                <a:uFillTx/>
                <a:latin typeface="Noto Sans CJK SC"/>
                <a:ea typeface="Noto Sans CJK SC"/>
              </a:rPr>
              <a:t>Dashboard </a:t>
            </a:r>
            <a:r>
              <a:rPr lang="zh-CN" sz="1300" b="0" u="none" strike="noStrike">
                <a:solidFill>
                  <a:srgbClr val="CBD5E1"/>
                </a:solidFill>
                <a:effectLst/>
                <a:uFillTx/>
                <a:latin typeface="Noto Sans CJK SC"/>
                <a:ea typeface="Noto Sans CJK SC"/>
              </a:rPr>
              <a:t>统计</a:t>
            </a:r>
            <a:endParaRPr lang="en-US" sz="1300" b="0" u="none" strike="noStrike">
              <a:solidFill>
                <a:srgbClr val="000000"/>
              </a:solidFill>
              <a:effectLst/>
              <a:uFillTx/>
              <a:latin typeface="Arial"/>
            </a:endParaRPr>
          </a:p>
        </p:txBody>
      </p:sp>
      <p:sp>
        <p:nvSpPr>
          <p:cNvPr id="24" name="Text 16"/>
          <p:cNvSpPr/>
          <p:nvPr/>
        </p:nvSpPr>
        <p:spPr>
          <a:xfrm>
            <a:off x="713160" y="6172200"/>
            <a:ext cx="40230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1000" b="0" u="none" strike="noStrike" dirty="0">
                <a:solidFill>
                  <a:srgbClr val="CBD5E1"/>
                </a:solidFill>
                <a:effectLst/>
                <a:uFillTx/>
                <a:latin typeface="Noto Sans CJK SC"/>
                <a:ea typeface="Noto Sans CJK SC"/>
              </a:rPr>
              <a:t>课程：自然语言处理</a:t>
            </a:r>
            <a:endParaRPr lang="en-US" sz="1000" b="0" u="none" strike="noStrike" dirty="0">
              <a:solidFill>
                <a:srgbClr val="000000"/>
              </a:solidFill>
              <a:effectLst/>
              <a:uFillTx/>
              <a:latin typeface="Arial"/>
            </a:endParaRPr>
          </a:p>
        </p:txBody>
      </p:sp>
      <p:sp>
        <p:nvSpPr>
          <p:cNvPr id="25" name="Shape 17"/>
          <p:cNvSpPr/>
          <p:nvPr/>
        </p:nvSpPr>
        <p:spPr>
          <a:xfrm>
            <a:off x="9189720" y="960120"/>
            <a:ext cx="2331360" cy="4205880"/>
          </a:xfrm>
          <a:prstGeom prst="roundRect">
            <a:avLst>
              <a:gd name="adj" fmla="val 6275"/>
            </a:avLst>
          </a:prstGeom>
          <a:solidFill>
            <a:srgbClr val="1E293B"/>
          </a:solidFill>
          <a:ln w="12700">
            <a:solidFill>
              <a:srgbClr val="3341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6" name="Text 18"/>
          <p:cNvSpPr/>
          <p:nvPr/>
        </p:nvSpPr>
        <p:spPr>
          <a:xfrm>
            <a:off x="9399960" y="1417320"/>
            <a:ext cx="19015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DBEAFE"/>
                </a:solidFill>
                <a:effectLst/>
                <a:uFillTx/>
                <a:latin typeface="Noto Sans CJK SC"/>
                <a:ea typeface="Noto Sans CJK SC"/>
              </a:rPr>
              <a:t>USGS</a:t>
            </a:r>
            <a:endParaRPr lang="en-US" sz="1500" b="0" u="none" strike="noStrike">
              <a:solidFill>
                <a:srgbClr val="000000"/>
              </a:solidFill>
              <a:effectLst/>
              <a:uFillTx/>
              <a:latin typeface="Arial"/>
            </a:endParaRPr>
          </a:p>
          <a:p>
            <a:pPr algn="ctr" defTabSz="914400">
              <a:lnSpc>
                <a:spcPct val="100000"/>
              </a:lnSpc>
              <a:tabLst>
                <a:tab pos="0" algn="l"/>
              </a:tabLst>
            </a:pPr>
            <a:r>
              <a:rPr lang="en-US" sz="1500" b="1" u="none" strike="noStrike">
                <a:solidFill>
                  <a:srgbClr val="DBEAFE"/>
                </a:solidFill>
                <a:effectLst/>
                <a:uFillTx/>
                <a:latin typeface="Noto Sans CJK SC"/>
                <a:ea typeface="Noto Sans CJK SC"/>
              </a:rPr>
              <a:t>Earthquake Catalog</a:t>
            </a:r>
            <a:endParaRPr lang="en-US" sz="1500" b="0" u="none" strike="noStrike">
              <a:solidFill>
                <a:srgbClr val="000000"/>
              </a:solidFill>
              <a:effectLst/>
              <a:uFillTx/>
              <a:latin typeface="Arial"/>
            </a:endParaRPr>
          </a:p>
        </p:txBody>
      </p:sp>
      <p:sp>
        <p:nvSpPr>
          <p:cNvPr id="27" name="Shape 19"/>
          <p:cNvSpPr/>
          <p:nvPr/>
        </p:nvSpPr>
        <p:spPr>
          <a:xfrm>
            <a:off x="10332720" y="2148840"/>
            <a:ext cx="360" cy="658080"/>
          </a:xfrm>
          <a:prstGeom prst="line">
            <a:avLst/>
          </a:prstGeom>
          <a:ln w="25400">
            <a:solidFill>
              <a:srgbClr val="93C5F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28" name="Text 20"/>
          <p:cNvSpPr/>
          <p:nvPr/>
        </p:nvSpPr>
        <p:spPr>
          <a:xfrm>
            <a:off x="9418320" y="2907720"/>
            <a:ext cx="182844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1250" b="0" u="none" strike="noStrike">
                <a:solidFill>
                  <a:srgbClr val="FFFFFF"/>
                </a:solidFill>
                <a:effectLst/>
                <a:uFillTx/>
                <a:latin typeface="Noto Sans CJK SC"/>
                <a:ea typeface="Noto Sans CJK SC"/>
              </a:rPr>
              <a:t>用户画像 </a:t>
            </a:r>
            <a:r>
              <a:rPr lang="en-US" sz="1250" b="0" u="none" strike="noStrike">
                <a:solidFill>
                  <a:srgbClr val="FFFFFF"/>
                </a:solidFill>
                <a:effectLst/>
                <a:uFillTx/>
                <a:latin typeface="Noto Sans CJK SC"/>
                <a:ea typeface="Noto Sans CJK SC"/>
              </a:rPr>
              <a:t>+ </a:t>
            </a:r>
            <a:r>
              <a:rPr lang="zh-CN" sz="1250" b="0" u="none" strike="noStrike">
                <a:solidFill>
                  <a:srgbClr val="FFFFFF"/>
                </a:solidFill>
                <a:effectLst/>
                <a:uFillTx/>
                <a:latin typeface="Noto Sans CJK SC"/>
                <a:ea typeface="Noto Sans CJK SC"/>
              </a:rPr>
              <a:t>地震事件</a:t>
            </a:r>
            <a:endParaRPr lang="en-US" sz="1250" b="0" u="none" strike="noStrike">
              <a:solidFill>
                <a:srgbClr val="000000"/>
              </a:solidFill>
              <a:effectLst/>
              <a:uFillTx/>
              <a:latin typeface="Arial"/>
            </a:endParaRPr>
          </a:p>
          <a:p>
            <a:pPr algn="ctr" defTabSz="914400">
              <a:lnSpc>
                <a:spcPct val="100000"/>
              </a:lnSpc>
              <a:tabLst>
                <a:tab pos="0" algn="l"/>
              </a:tabLst>
            </a:pPr>
            <a:r>
              <a:rPr lang="en-US" sz="1250" b="0" u="none" strike="noStrike">
                <a:solidFill>
                  <a:srgbClr val="FFFFFF"/>
                </a:solidFill>
                <a:effectLst/>
                <a:uFillTx/>
                <a:latin typeface="Noto Sans CJK SC"/>
                <a:ea typeface="Noto Sans CJK SC"/>
              </a:rPr>
              <a:t>→ 个性化提醒</a:t>
            </a:r>
            <a:endParaRPr lang="en-US" sz="1250" b="0" u="none" strike="noStrike">
              <a:solidFill>
                <a:srgbClr val="000000"/>
              </a:solidFill>
              <a:effectLst/>
              <a:uFillTx/>
              <a:latin typeface="Arial"/>
            </a:endParaRPr>
          </a:p>
        </p:txBody>
      </p:sp>
      <p:sp>
        <p:nvSpPr>
          <p:cNvPr id="29" name="Shape 21"/>
          <p:cNvSpPr/>
          <p:nvPr/>
        </p:nvSpPr>
        <p:spPr>
          <a:xfrm>
            <a:off x="10332720" y="3611880"/>
            <a:ext cx="360" cy="566640"/>
          </a:xfrm>
          <a:prstGeom prst="line">
            <a:avLst/>
          </a:prstGeom>
          <a:ln w="25400">
            <a:solidFill>
              <a:srgbClr val="93C5F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30" name="Text 22"/>
          <p:cNvSpPr/>
          <p:nvPr/>
        </p:nvSpPr>
        <p:spPr>
          <a:xfrm>
            <a:off x="9464040" y="4370760"/>
            <a:ext cx="16912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1400" b="1" u="none" strike="noStrike">
                <a:solidFill>
                  <a:srgbClr val="FCA5A5"/>
                </a:solidFill>
                <a:effectLst/>
                <a:uFillTx/>
                <a:latin typeface="Noto Sans CJK SC"/>
                <a:ea typeface="Noto Sans CJK SC"/>
              </a:rPr>
              <a:t>手机预警弹窗</a:t>
            </a:r>
            <a:endParaRPr lang="en-US" sz="1400" b="0" u="none" strike="noStrike">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1" name="Text 0"/>
          <p:cNvSpPr/>
          <p:nvPr/>
        </p:nvSpPr>
        <p:spPr>
          <a:xfrm>
            <a:off x="548640" y="411480"/>
            <a:ext cx="81378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2600" b="1" u="none" strike="noStrike">
                <a:solidFill>
                  <a:srgbClr val="0F172A"/>
                </a:solidFill>
                <a:effectLst/>
                <a:uFillTx/>
                <a:latin typeface="Noto Sans CJK SC"/>
                <a:ea typeface="Noto Sans CJK SC"/>
              </a:rPr>
              <a:t>项目定位：从“统一提醒”到“个性化地震应急提醒”</a:t>
            </a:r>
            <a:endParaRPr lang="en-US" sz="2600" b="0" u="none" strike="noStrike">
              <a:solidFill>
                <a:srgbClr val="000000"/>
              </a:solidFill>
              <a:effectLst/>
              <a:uFillTx/>
              <a:latin typeface="Arial"/>
            </a:endParaRPr>
          </a:p>
        </p:txBody>
      </p:sp>
      <p:sp>
        <p:nvSpPr>
          <p:cNvPr id="32" name="Text 1"/>
          <p:cNvSpPr/>
          <p:nvPr/>
        </p:nvSpPr>
        <p:spPr>
          <a:xfrm>
            <a:off x="567000" y="896040"/>
            <a:ext cx="64004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1050" b="0" u="none" strike="noStrike">
                <a:solidFill>
                  <a:srgbClr val="64748B"/>
                </a:solidFill>
                <a:effectLst/>
                <a:uFillTx/>
                <a:latin typeface="Noto Sans CJK SC"/>
                <a:ea typeface="Noto Sans CJK SC"/>
              </a:rPr>
              <a:t>只聚焦地震单灾种，基于已发生的真实地震目录生成差异化提醒</a:t>
            </a:r>
            <a:endParaRPr lang="en-US" sz="1050" b="0" u="none" strike="noStrike">
              <a:solidFill>
                <a:srgbClr val="000000"/>
              </a:solidFill>
              <a:effectLst/>
              <a:uFillTx/>
              <a:latin typeface="Arial"/>
            </a:endParaRPr>
          </a:p>
        </p:txBody>
      </p:sp>
      <p:sp>
        <p:nvSpPr>
          <p:cNvPr id="33" name="Shape 2"/>
          <p:cNvSpPr/>
          <p:nvPr/>
        </p:nvSpPr>
        <p:spPr>
          <a:xfrm>
            <a:off x="548640" y="6473880"/>
            <a:ext cx="11091600" cy="360"/>
          </a:xfrm>
          <a:prstGeom prst="line">
            <a:avLst/>
          </a:prstGeom>
          <a:ln w="12700">
            <a:solidFill>
              <a:srgbClr val="E2E8F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4" name="Text 3"/>
          <p:cNvSpPr/>
          <p:nvPr/>
        </p:nvSpPr>
        <p:spPr>
          <a:xfrm>
            <a:off x="567000" y="6556320"/>
            <a:ext cx="80463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750" b="0" u="none" strike="noStrike">
                <a:solidFill>
                  <a:srgbClr val="64748B"/>
                </a:solidFill>
                <a:effectLst/>
                <a:uFillTx/>
                <a:latin typeface="Noto Sans CJK SC"/>
                <a:ea typeface="Noto Sans CJK SC"/>
              </a:rPr>
              <a:t>项目</a:t>
            </a:r>
            <a:r>
              <a:rPr lang="en-US" sz="750" b="0" u="none" strike="noStrike">
                <a:solidFill>
                  <a:srgbClr val="64748B"/>
                </a:solidFill>
                <a:effectLst/>
                <a:uFillTx/>
                <a:latin typeface="Noto Sans CJK SC"/>
                <a:ea typeface="Noto Sans CJK SC"/>
              </a:rPr>
              <a:t>09</a:t>
            </a:r>
            <a:r>
              <a:rPr lang="zh-CN" sz="750" b="0" u="none" strike="noStrike">
                <a:solidFill>
                  <a:srgbClr val="64748B"/>
                </a:solidFill>
                <a:effectLst/>
                <a:uFillTx/>
                <a:latin typeface="Noto Sans CJK SC"/>
                <a:ea typeface="Noto Sans CJK SC"/>
              </a:rPr>
              <a:t>｜真实地震数据 </a:t>
            </a:r>
            <a:r>
              <a:rPr lang="en-US" sz="750" b="0" u="none" strike="noStrike">
                <a:solidFill>
                  <a:srgbClr val="64748B"/>
                </a:solidFill>
                <a:effectLst/>
                <a:uFillTx/>
                <a:latin typeface="Noto Sans CJK SC"/>
                <a:ea typeface="Noto Sans CJK SC"/>
              </a:rPr>
              <a:t>+ </a:t>
            </a:r>
            <a:r>
              <a:rPr lang="zh-CN" sz="750" b="0" u="none" strike="noStrike">
                <a:solidFill>
                  <a:srgbClr val="64748B"/>
                </a:solidFill>
                <a:effectLst/>
                <a:uFillTx/>
                <a:latin typeface="Noto Sans CJK SC"/>
                <a:ea typeface="Noto Sans CJK SC"/>
              </a:rPr>
              <a:t>个性化地震应急提醒</a:t>
            </a:r>
            <a:endParaRPr lang="en-US" sz="750" b="0" u="none" strike="noStrike">
              <a:solidFill>
                <a:srgbClr val="000000"/>
              </a:solidFill>
              <a:effectLst/>
              <a:uFillTx/>
              <a:latin typeface="Arial"/>
            </a:endParaRPr>
          </a:p>
        </p:txBody>
      </p:sp>
      <p:sp>
        <p:nvSpPr>
          <p:cNvPr id="35" name="Text 4"/>
          <p:cNvSpPr/>
          <p:nvPr/>
        </p:nvSpPr>
        <p:spPr>
          <a:xfrm>
            <a:off x="11064240" y="6519600"/>
            <a:ext cx="5482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00" b="0" u="none" strike="noStrike">
                <a:solidFill>
                  <a:srgbClr val="64748B"/>
                </a:solidFill>
                <a:effectLst/>
                <a:uFillTx/>
                <a:latin typeface="Noto Sans CJK SC"/>
                <a:ea typeface="Noto Sans CJK SC"/>
              </a:rPr>
              <a:t>02</a:t>
            </a:r>
            <a:endParaRPr lang="en-US" sz="800" b="0" u="none" strike="noStrike">
              <a:solidFill>
                <a:srgbClr val="000000"/>
              </a:solidFill>
              <a:effectLst/>
              <a:uFillTx/>
              <a:latin typeface="Arial"/>
            </a:endParaRPr>
          </a:p>
        </p:txBody>
      </p:sp>
      <p:sp>
        <p:nvSpPr>
          <p:cNvPr id="36" name="Shape 5"/>
          <p:cNvSpPr/>
          <p:nvPr/>
        </p:nvSpPr>
        <p:spPr>
          <a:xfrm>
            <a:off x="658440" y="1600200"/>
            <a:ext cx="3108600" cy="1188360"/>
          </a:xfrm>
          <a:prstGeom prst="roundRect">
            <a:avLst>
              <a:gd name="adj" fmla="val 9231"/>
            </a:avLst>
          </a:prstGeom>
          <a:solidFill>
            <a:srgbClr val="FFFFFF">
              <a:alpha val="98000"/>
            </a:srgbClr>
          </a:solidFill>
          <a:ln w="1270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7" name="Shape 6"/>
          <p:cNvSpPr/>
          <p:nvPr/>
        </p:nvSpPr>
        <p:spPr>
          <a:xfrm>
            <a:off x="658440" y="1600200"/>
            <a:ext cx="72720" cy="1188360"/>
          </a:xfrm>
          <a:prstGeom prst="rect">
            <a:avLst/>
          </a:prstGeom>
          <a:solidFill>
            <a:srgbClr val="DC2626"/>
          </a:solidFill>
          <a:ln w="12700">
            <a:solidFill>
              <a:srgbClr val="DC262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8" name="Text 7"/>
          <p:cNvSpPr/>
          <p:nvPr/>
        </p:nvSpPr>
        <p:spPr>
          <a:xfrm>
            <a:off x="859680" y="176472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1250" b="1" u="none" strike="noStrike">
                <a:solidFill>
                  <a:srgbClr val="0F172A"/>
                </a:solidFill>
                <a:effectLst/>
                <a:uFillTx/>
                <a:latin typeface="Noto Sans CJK SC"/>
                <a:ea typeface="Noto Sans CJK SC"/>
              </a:rPr>
              <a:t>传统问题</a:t>
            </a:r>
            <a:endParaRPr lang="en-US" sz="1250" b="0" u="none" strike="noStrike">
              <a:solidFill>
                <a:srgbClr val="000000"/>
              </a:solidFill>
              <a:effectLst/>
              <a:uFillTx/>
              <a:latin typeface="Arial"/>
            </a:endParaRPr>
          </a:p>
        </p:txBody>
      </p:sp>
      <p:sp>
        <p:nvSpPr>
          <p:cNvPr id="39" name="Text 8"/>
          <p:cNvSpPr/>
          <p:nvPr/>
        </p:nvSpPr>
        <p:spPr>
          <a:xfrm>
            <a:off x="859680" y="2103120"/>
            <a:ext cx="2788560" cy="594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zh-CN" sz="930" b="0" u="none" strike="noStrike">
                <a:solidFill>
                  <a:srgbClr val="334155"/>
                </a:solidFill>
                <a:effectLst/>
                <a:uFillTx/>
                <a:latin typeface="Noto Sans CJK SC"/>
                <a:ea typeface="Noto Sans CJK SC"/>
              </a:rPr>
              <a:t>同一条地震提醒发给所有人，未成年人、老人、游客和应急人员收到的行动建议差异不明显。</a:t>
            </a:r>
            <a:endParaRPr lang="en-US" sz="930" b="0" u="none" strike="noStrike">
              <a:solidFill>
                <a:srgbClr val="000000"/>
              </a:solidFill>
              <a:effectLst/>
              <a:uFillTx/>
              <a:latin typeface="Arial"/>
            </a:endParaRPr>
          </a:p>
        </p:txBody>
      </p:sp>
      <p:sp>
        <p:nvSpPr>
          <p:cNvPr id="40" name="Shape 9"/>
          <p:cNvSpPr/>
          <p:nvPr/>
        </p:nvSpPr>
        <p:spPr>
          <a:xfrm>
            <a:off x="4526280" y="1600200"/>
            <a:ext cx="3108600" cy="1188360"/>
          </a:xfrm>
          <a:prstGeom prst="roundRect">
            <a:avLst>
              <a:gd name="adj" fmla="val 9231"/>
            </a:avLst>
          </a:prstGeom>
          <a:solidFill>
            <a:srgbClr val="FFFFFF">
              <a:alpha val="98000"/>
            </a:srgbClr>
          </a:solidFill>
          <a:ln w="1270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 name="Shape 10"/>
          <p:cNvSpPr/>
          <p:nvPr/>
        </p:nvSpPr>
        <p:spPr>
          <a:xfrm>
            <a:off x="4526280" y="1600200"/>
            <a:ext cx="72720" cy="1188360"/>
          </a:xfrm>
          <a:prstGeom prst="rect">
            <a:avLst/>
          </a:prstGeom>
          <a:solidFill>
            <a:srgbClr val="2563EB"/>
          </a:solidFill>
          <a:ln w="12700">
            <a:solidFill>
              <a:srgbClr val="2563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2" name="Text 11"/>
          <p:cNvSpPr/>
          <p:nvPr/>
        </p:nvSpPr>
        <p:spPr>
          <a:xfrm>
            <a:off x="4727520" y="176472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1250" b="1" u="none" strike="noStrike">
                <a:solidFill>
                  <a:srgbClr val="0F172A"/>
                </a:solidFill>
                <a:effectLst/>
                <a:uFillTx/>
                <a:latin typeface="Noto Sans CJK SC"/>
                <a:ea typeface="Noto Sans CJK SC"/>
              </a:rPr>
              <a:t>本项目做法</a:t>
            </a:r>
            <a:endParaRPr lang="en-US" sz="1250" b="0" u="none" strike="noStrike">
              <a:solidFill>
                <a:srgbClr val="000000"/>
              </a:solidFill>
              <a:effectLst/>
              <a:uFillTx/>
              <a:latin typeface="Arial"/>
            </a:endParaRPr>
          </a:p>
        </p:txBody>
      </p:sp>
      <p:sp>
        <p:nvSpPr>
          <p:cNvPr id="43" name="Text 12"/>
          <p:cNvSpPr/>
          <p:nvPr/>
        </p:nvSpPr>
        <p:spPr>
          <a:xfrm>
            <a:off x="4727520" y="2103120"/>
            <a:ext cx="2788560" cy="594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zh-CN" sz="930" b="0" u="none" strike="noStrike">
                <a:solidFill>
                  <a:srgbClr val="334155"/>
                </a:solidFill>
                <a:effectLst/>
                <a:uFillTx/>
                <a:latin typeface="Noto Sans CJK SC"/>
                <a:ea typeface="Noto Sans CJK SC"/>
              </a:rPr>
              <a:t>将“真实地震事件”与“人员画像”结合，自动推断重点需求，再生成更贴合人群的提醒文本。</a:t>
            </a:r>
            <a:endParaRPr lang="en-US" sz="930" b="0" u="none" strike="noStrike">
              <a:solidFill>
                <a:srgbClr val="000000"/>
              </a:solidFill>
              <a:effectLst/>
              <a:uFillTx/>
              <a:latin typeface="Arial"/>
            </a:endParaRPr>
          </a:p>
        </p:txBody>
      </p:sp>
      <p:sp>
        <p:nvSpPr>
          <p:cNvPr id="44" name="Shape 13"/>
          <p:cNvSpPr/>
          <p:nvPr/>
        </p:nvSpPr>
        <p:spPr>
          <a:xfrm>
            <a:off x="8366760" y="1600200"/>
            <a:ext cx="3108600" cy="1188360"/>
          </a:xfrm>
          <a:prstGeom prst="roundRect">
            <a:avLst>
              <a:gd name="adj" fmla="val 9231"/>
            </a:avLst>
          </a:prstGeom>
          <a:solidFill>
            <a:srgbClr val="FFFFFF">
              <a:alpha val="98000"/>
            </a:srgbClr>
          </a:solidFill>
          <a:ln w="1270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5" name="Shape 14"/>
          <p:cNvSpPr/>
          <p:nvPr/>
        </p:nvSpPr>
        <p:spPr>
          <a:xfrm>
            <a:off x="8366760" y="1600200"/>
            <a:ext cx="72720" cy="1188360"/>
          </a:xfrm>
          <a:prstGeom prst="rect">
            <a:avLst/>
          </a:prstGeom>
          <a:solidFill>
            <a:srgbClr val="F59E0B"/>
          </a:solidFill>
          <a:ln w="12700">
            <a:solidFill>
              <a:srgbClr val="F59E0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6" name="Text 15"/>
          <p:cNvSpPr/>
          <p:nvPr/>
        </p:nvSpPr>
        <p:spPr>
          <a:xfrm>
            <a:off x="8568000" y="176472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1250" b="1" u="none" strike="noStrike">
                <a:solidFill>
                  <a:srgbClr val="0F172A"/>
                </a:solidFill>
                <a:effectLst/>
                <a:uFillTx/>
                <a:latin typeface="Noto Sans CJK SC"/>
                <a:ea typeface="Noto Sans CJK SC"/>
              </a:rPr>
              <a:t>边界说明</a:t>
            </a:r>
            <a:endParaRPr lang="en-US" sz="1250" b="0" u="none" strike="noStrike">
              <a:solidFill>
                <a:srgbClr val="000000"/>
              </a:solidFill>
              <a:effectLst/>
              <a:uFillTx/>
              <a:latin typeface="Arial"/>
            </a:endParaRPr>
          </a:p>
        </p:txBody>
      </p:sp>
      <p:sp>
        <p:nvSpPr>
          <p:cNvPr id="47" name="Text 16"/>
          <p:cNvSpPr/>
          <p:nvPr/>
        </p:nvSpPr>
        <p:spPr>
          <a:xfrm>
            <a:off x="8568000" y="2103120"/>
            <a:ext cx="2788560" cy="594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zh-CN" sz="930" b="0" u="none" strike="noStrike">
                <a:solidFill>
                  <a:srgbClr val="334155"/>
                </a:solidFill>
                <a:effectLst/>
                <a:uFillTx/>
                <a:latin typeface="Noto Sans CJK SC"/>
                <a:ea typeface="Noto Sans CJK SC"/>
              </a:rPr>
              <a:t>系统不预测地震，不发布官方预警；所有风险等级均为课程演示规则，用于文本生成和展示。</a:t>
            </a:r>
            <a:endParaRPr lang="en-US" sz="930" b="0" u="none" strike="noStrike">
              <a:solidFill>
                <a:srgbClr val="000000"/>
              </a:solidFill>
              <a:effectLst/>
              <a:uFillTx/>
              <a:latin typeface="Arial"/>
            </a:endParaRPr>
          </a:p>
        </p:txBody>
      </p:sp>
      <p:sp>
        <p:nvSpPr>
          <p:cNvPr id="48" name="Text 17"/>
          <p:cNvSpPr/>
          <p:nvPr/>
        </p:nvSpPr>
        <p:spPr>
          <a:xfrm>
            <a:off x="914400" y="3474720"/>
            <a:ext cx="12798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1200" b="1" u="none" strike="noStrike">
                <a:solidFill>
                  <a:srgbClr val="64748B"/>
                </a:solidFill>
                <a:effectLst/>
                <a:uFillTx/>
                <a:latin typeface="Noto Sans CJK SC"/>
                <a:ea typeface="Noto Sans CJK SC"/>
              </a:rPr>
              <a:t>改造前</a:t>
            </a:r>
            <a:endParaRPr lang="en-US" sz="1200" b="0" u="none" strike="noStrike">
              <a:solidFill>
                <a:srgbClr val="000000"/>
              </a:solidFill>
              <a:effectLst/>
              <a:uFillTx/>
              <a:latin typeface="Arial"/>
            </a:endParaRPr>
          </a:p>
        </p:txBody>
      </p:sp>
      <p:sp>
        <p:nvSpPr>
          <p:cNvPr id="49" name="Shape 18"/>
          <p:cNvSpPr/>
          <p:nvPr/>
        </p:nvSpPr>
        <p:spPr>
          <a:xfrm>
            <a:off x="777240" y="3886200"/>
            <a:ext cx="1554120" cy="685440"/>
          </a:xfrm>
          <a:prstGeom prst="roundRect">
            <a:avLst>
              <a:gd name="adj" fmla="val 10667"/>
            </a:avLst>
          </a:prstGeom>
          <a:solidFill>
            <a:srgbClr val="F1F5F9"/>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0" name="Text 19"/>
          <p:cNvSpPr/>
          <p:nvPr/>
        </p:nvSpPr>
        <p:spPr>
          <a:xfrm>
            <a:off x="850320" y="3977640"/>
            <a:ext cx="140796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1000" b="0" u="none" strike="noStrike">
                <a:solidFill>
                  <a:srgbClr val="0F172A"/>
                </a:solidFill>
                <a:effectLst/>
                <a:uFillTx/>
                <a:latin typeface="Noto Sans CJK SC"/>
                <a:ea typeface="Noto Sans CJK SC"/>
              </a:rPr>
              <a:t>多灾种</a:t>
            </a:r>
            <a:endParaRPr lang="en-US" sz="1000" b="0" u="none" strike="noStrike">
              <a:solidFill>
                <a:srgbClr val="000000"/>
              </a:solidFill>
              <a:effectLst/>
              <a:uFillTx/>
              <a:latin typeface="Arial"/>
            </a:endParaRPr>
          </a:p>
          <a:p>
            <a:pPr algn="ctr" defTabSz="914400">
              <a:lnSpc>
                <a:spcPct val="100000"/>
              </a:lnSpc>
              <a:tabLst>
                <a:tab pos="0" algn="l"/>
              </a:tabLst>
            </a:pPr>
            <a:r>
              <a:rPr lang="zh-CN" sz="1000" b="0" u="none" strike="noStrike">
                <a:solidFill>
                  <a:srgbClr val="0F172A"/>
                </a:solidFill>
                <a:effectLst/>
                <a:uFillTx/>
                <a:latin typeface="Noto Sans CJK SC"/>
                <a:ea typeface="Noto Sans CJK SC"/>
              </a:rPr>
              <a:t>模拟数据</a:t>
            </a:r>
            <a:endParaRPr lang="en-US" sz="1000" b="0" u="none" strike="noStrike">
              <a:solidFill>
                <a:srgbClr val="000000"/>
              </a:solidFill>
              <a:effectLst/>
              <a:uFillTx/>
              <a:latin typeface="Arial"/>
            </a:endParaRPr>
          </a:p>
        </p:txBody>
      </p:sp>
      <p:sp>
        <p:nvSpPr>
          <p:cNvPr id="51" name="Shape 20"/>
          <p:cNvSpPr/>
          <p:nvPr/>
        </p:nvSpPr>
        <p:spPr>
          <a:xfrm>
            <a:off x="2606040" y="3886200"/>
            <a:ext cx="1554120" cy="685440"/>
          </a:xfrm>
          <a:prstGeom prst="roundRect">
            <a:avLst>
              <a:gd name="adj" fmla="val 10667"/>
            </a:avLst>
          </a:prstGeom>
          <a:solidFill>
            <a:srgbClr val="F1F5F9"/>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2" name="Text 21"/>
          <p:cNvSpPr/>
          <p:nvPr/>
        </p:nvSpPr>
        <p:spPr>
          <a:xfrm>
            <a:off x="2679120" y="3977640"/>
            <a:ext cx="140796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1000" b="0" u="none" strike="noStrike">
                <a:solidFill>
                  <a:srgbClr val="0F172A"/>
                </a:solidFill>
                <a:effectLst/>
                <a:uFillTx/>
                <a:latin typeface="Noto Sans CJK SC"/>
                <a:ea typeface="Noto Sans CJK SC"/>
              </a:rPr>
              <a:t>用户手动</a:t>
            </a:r>
            <a:endParaRPr lang="en-US" sz="1000" b="0" u="none" strike="noStrike">
              <a:solidFill>
                <a:srgbClr val="000000"/>
              </a:solidFill>
              <a:effectLst/>
              <a:uFillTx/>
              <a:latin typeface="Arial"/>
            </a:endParaRPr>
          </a:p>
          <a:p>
            <a:pPr algn="ctr" defTabSz="914400">
              <a:lnSpc>
                <a:spcPct val="100000"/>
              </a:lnSpc>
              <a:tabLst>
                <a:tab pos="0" algn="l"/>
              </a:tabLst>
            </a:pPr>
            <a:r>
              <a:rPr lang="zh-CN" sz="1000" b="0" u="none" strike="noStrike">
                <a:solidFill>
                  <a:srgbClr val="0F172A"/>
                </a:solidFill>
                <a:effectLst/>
                <a:uFillTx/>
                <a:latin typeface="Noto Sans CJK SC"/>
                <a:ea typeface="Noto Sans CJK SC"/>
              </a:rPr>
              <a:t>选风险等级</a:t>
            </a:r>
            <a:endParaRPr lang="en-US" sz="1000" b="0" u="none" strike="noStrike">
              <a:solidFill>
                <a:srgbClr val="000000"/>
              </a:solidFill>
              <a:effectLst/>
              <a:uFillTx/>
              <a:latin typeface="Arial"/>
            </a:endParaRPr>
          </a:p>
        </p:txBody>
      </p:sp>
      <p:sp>
        <p:nvSpPr>
          <p:cNvPr id="53" name="Shape 22"/>
          <p:cNvSpPr/>
          <p:nvPr/>
        </p:nvSpPr>
        <p:spPr>
          <a:xfrm>
            <a:off x="4434840" y="3886200"/>
            <a:ext cx="1554120" cy="685440"/>
          </a:xfrm>
          <a:prstGeom prst="roundRect">
            <a:avLst>
              <a:gd name="adj" fmla="val 10667"/>
            </a:avLst>
          </a:prstGeom>
          <a:solidFill>
            <a:srgbClr val="F1F5F9"/>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4" name="Text 23"/>
          <p:cNvSpPr/>
          <p:nvPr/>
        </p:nvSpPr>
        <p:spPr>
          <a:xfrm>
            <a:off x="4507920" y="3977640"/>
            <a:ext cx="140796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1000" b="0" u="none" strike="noStrike">
                <a:solidFill>
                  <a:srgbClr val="0F172A"/>
                </a:solidFill>
                <a:effectLst/>
                <a:uFillTx/>
                <a:latin typeface="Noto Sans CJK SC"/>
                <a:ea typeface="Noto Sans CJK SC"/>
              </a:rPr>
              <a:t>多灾害</a:t>
            </a:r>
            <a:endParaRPr lang="en-US" sz="1000" b="0" u="none" strike="noStrike">
              <a:solidFill>
                <a:srgbClr val="000000"/>
              </a:solidFill>
              <a:effectLst/>
              <a:uFillTx/>
              <a:latin typeface="Arial"/>
            </a:endParaRPr>
          </a:p>
          <a:p>
            <a:pPr algn="ctr" defTabSz="914400">
              <a:lnSpc>
                <a:spcPct val="100000"/>
              </a:lnSpc>
              <a:tabLst>
                <a:tab pos="0" algn="l"/>
              </a:tabLst>
            </a:pPr>
            <a:r>
              <a:rPr lang="zh-CN" sz="1000" b="0" u="none" strike="noStrike">
                <a:solidFill>
                  <a:srgbClr val="0F172A"/>
                </a:solidFill>
                <a:effectLst/>
                <a:uFillTx/>
                <a:latin typeface="Noto Sans CJK SC"/>
                <a:ea typeface="Noto Sans CJK SC"/>
              </a:rPr>
              <a:t>文本模板</a:t>
            </a:r>
            <a:endParaRPr lang="en-US" sz="1000" b="0" u="none" strike="noStrike">
              <a:solidFill>
                <a:srgbClr val="000000"/>
              </a:solidFill>
              <a:effectLst/>
              <a:uFillTx/>
              <a:latin typeface="Arial"/>
            </a:endParaRPr>
          </a:p>
        </p:txBody>
      </p:sp>
      <p:sp>
        <p:nvSpPr>
          <p:cNvPr id="55" name="Shape 24"/>
          <p:cNvSpPr/>
          <p:nvPr/>
        </p:nvSpPr>
        <p:spPr>
          <a:xfrm>
            <a:off x="2331720" y="4233600"/>
            <a:ext cx="27432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56" name="Shape 25"/>
          <p:cNvSpPr/>
          <p:nvPr/>
        </p:nvSpPr>
        <p:spPr>
          <a:xfrm>
            <a:off x="4160520" y="4233600"/>
            <a:ext cx="27432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57" name="Text 26"/>
          <p:cNvSpPr/>
          <p:nvPr/>
        </p:nvSpPr>
        <p:spPr>
          <a:xfrm>
            <a:off x="6492240" y="3474720"/>
            <a:ext cx="12798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1200" b="1" u="none" strike="noStrike">
                <a:solidFill>
                  <a:srgbClr val="2563EB"/>
                </a:solidFill>
                <a:effectLst/>
                <a:uFillTx/>
                <a:latin typeface="Noto Sans CJK SC"/>
                <a:ea typeface="Noto Sans CJK SC"/>
              </a:rPr>
              <a:t>改造后</a:t>
            </a:r>
            <a:endParaRPr lang="en-US" sz="1200" b="0" u="none" strike="noStrike">
              <a:solidFill>
                <a:srgbClr val="000000"/>
              </a:solidFill>
              <a:effectLst/>
              <a:uFillTx/>
              <a:latin typeface="Arial"/>
            </a:endParaRPr>
          </a:p>
        </p:txBody>
      </p:sp>
      <p:sp>
        <p:nvSpPr>
          <p:cNvPr id="58" name="Shape 27"/>
          <p:cNvSpPr/>
          <p:nvPr/>
        </p:nvSpPr>
        <p:spPr>
          <a:xfrm>
            <a:off x="6355080" y="3886200"/>
            <a:ext cx="1554120" cy="685440"/>
          </a:xfrm>
          <a:prstGeom prst="roundRect">
            <a:avLst>
              <a:gd name="adj" fmla="val 10667"/>
            </a:avLst>
          </a:prstGeom>
          <a:solidFill>
            <a:srgbClr val="DBEAFE"/>
          </a:solidFill>
          <a:ln w="12700">
            <a:solidFill>
              <a:srgbClr val="2563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9" name="Text 28"/>
          <p:cNvSpPr/>
          <p:nvPr/>
        </p:nvSpPr>
        <p:spPr>
          <a:xfrm>
            <a:off x="6428160" y="3977640"/>
            <a:ext cx="140796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a:solidFill>
                  <a:srgbClr val="0F172A"/>
                </a:solidFill>
                <a:effectLst/>
                <a:uFillTx/>
                <a:latin typeface="Noto Sans CJK SC"/>
                <a:ea typeface="Noto Sans CJK SC"/>
              </a:rPr>
              <a:t>USGS</a:t>
            </a:r>
            <a:r>
              <a:rPr lang="zh-CN" sz="1000" b="1" u="none" strike="noStrike">
                <a:solidFill>
                  <a:srgbClr val="0F172A"/>
                </a:solidFill>
                <a:effectLst/>
                <a:uFillTx/>
                <a:latin typeface="Noto Sans CJK SC"/>
                <a:ea typeface="Noto Sans CJK SC"/>
              </a:rPr>
              <a:t>真实</a:t>
            </a:r>
            <a:endParaRPr lang="en-US" sz="1000" b="0" u="none" strike="noStrike">
              <a:solidFill>
                <a:srgbClr val="000000"/>
              </a:solidFill>
              <a:effectLst/>
              <a:uFillTx/>
              <a:latin typeface="Arial"/>
            </a:endParaRPr>
          </a:p>
          <a:p>
            <a:pPr algn="ctr" defTabSz="914400">
              <a:lnSpc>
                <a:spcPct val="100000"/>
              </a:lnSpc>
              <a:tabLst>
                <a:tab pos="0" algn="l"/>
              </a:tabLst>
            </a:pPr>
            <a:r>
              <a:rPr lang="zh-CN" sz="1000" b="1" u="none" strike="noStrike">
                <a:solidFill>
                  <a:srgbClr val="0F172A"/>
                </a:solidFill>
                <a:effectLst/>
                <a:uFillTx/>
                <a:latin typeface="Noto Sans CJK SC"/>
                <a:ea typeface="Noto Sans CJK SC"/>
              </a:rPr>
              <a:t>地震目录</a:t>
            </a:r>
            <a:endParaRPr lang="en-US" sz="1000" b="0" u="none" strike="noStrike">
              <a:solidFill>
                <a:srgbClr val="000000"/>
              </a:solidFill>
              <a:effectLst/>
              <a:uFillTx/>
              <a:latin typeface="Arial"/>
            </a:endParaRPr>
          </a:p>
        </p:txBody>
      </p:sp>
      <p:sp>
        <p:nvSpPr>
          <p:cNvPr id="60" name="Shape 29"/>
          <p:cNvSpPr/>
          <p:nvPr/>
        </p:nvSpPr>
        <p:spPr>
          <a:xfrm>
            <a:off x="8183880" y="3886200"/>
            <a:ext cx="1554120" cy="685440"/>
          </a:xfrm>
          <a:prstGeom prst="roundRect">
            <a:avLst>
              <a:gd name="adj" fmla="val 10667"/>
            </a:avLst>
          </a:prstGeom>
          <a:solidFill>
            <a:srgbClr val="DBEAFE"/>
          </a:solidFill>
          <a:ln w="12700">
            <a:solidFill>
              <a:srgbClr val="2563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1" name="Text 30"/>
          <p:cNvSpPr/>
          <p:nvPr/>
        </p:nvSpPr>
        <p:spPr>
          <a:xfrm>
            <a:off x="8256960" y="3977640"/>
            <a:ext cx="140796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1000" b="1" u="none" strike="noStrike">
                <a:solidFill>
                  <a:srgbClr val="0F172A"/>
                </a:solidFill>
                <a:effectLst/>
                <a:uFillTx/>
                <a:latin typeface="Noto Sans CJK SC"/>
                <a:ea typeface="Noto Sans CJK SC"/>
              </a:rPr>
              <a:t>震级自动</a:t>
            </a:r>
            <a:endParaRPr lang="en-US" sz="1000" b="0" u="none" strike="noStrike">
              <a:solidFill>
                <a:srgbClr val="000000"/>
              </a:solidFill>
              <a:effectLst/>
              <a:uFillTx/>
              <a:latin typeface="Arial"/>
            </a:endParaRPr>
          </a:p>
          <a:p>
            <a:pPr algn="ctr" defTabSz="914400">
              <a:lnSpc>
                <a:spcPct val="100000"/>
              </a:lnSpc>
              <a:tabLst>
                <a:tab pos="0" algn="l"/>
              </a:tabLst>
            </a:pPr>
            <a:r>
              <a:rPr lang="zh-CN" sz="1000" b="1" u="none" strike="noStrike">
                <a:solidFill>
                  <a:srgbClr val="0F172A"/>
                </a:solidFill>
                <a:effectLst/>
                <a:uFillTx/>
                <a:latin typeface="Noto Sans CJK SC"/>
                <a:ea typeface="Noto Sans CJK SC"/>
              </a:rPr>
              <a:t>演示分级</a:t>
            </a:r>
            <a:endParaRPr lang="en-US" sz="1000" b="0" u="none" strike="noStrike">
              <a:solidFill>
                <a:srgbClr val="000000"/>
              </a:solidFill>
              <a:effectLst/>
              <a:uFillTx/>
              <a:latin typeface="Arial"/>
            </a:endParaRPr>
          </a:p>
        </p:txBody>
      </p:sp>
      <p:sp>
        <p:nvSpPr>
          <p:cNvPr id="62" name="Shape 31"/>
          <p:cNvSpPr/>
          <p:nvPr/>
        </p:nvSpPr>
        <p:spPr>
          <a:xfrm>
            <a:off x="10012680" y="3886200"/>
            <a:ext cx="1554120" cy="685440"/>
          </a:xfrm>
          <a:prstGeom prst="roundRect">
            <a:avLst>
              <a:gd name="adj" fmla="val 10667"/>
            </a:avLst>
          </a:prstGeom>
          <a:solidFill>
            <a:srgbClr val="FEE2E2"/>
          </a:solidFill>
          <a:ln w="12700">
            <a:solidFill>
              <a:srgbClr val="DC262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3" name="Text 32"/>
          <p:cNvSpPr/>
          <p:nvPr/>
        </p:nvSpPr>
        <p:spPr>
          <a:xfrm>
            <a:off x="10085760" y="3977640"/>
            <a:ext cx="140796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1000" b="1" u="none" strike="noStrike">
                <a:solidFill>
                  <a:srgbClr val="0F172A"/>
                </a:solidFill>
                <a:effectLst/>
                <a:uFillTx/>
                <a:latin typeface="Noto Sans CJK SC"/>
                <a:ea typeface="Noto Sans CJK SC"/>
              </a:rPr>
              <a:t>地震应急</a:t>
            </a:r>
            <a:endParaRPr lang="en-US" sz="1000" b="0" u="none" strike="noStrike">
              <a:solidFill>
                <a:srgbClr val="000000"/>
              </a:solidFill>
              <a:effectLst/>
              <a:uFillTx/>
              <a:latin typeface="Arial"/>
            </a:endParaRPr>
          </a:p>
          <a:p>
            <a:pPr algn="ctr" defTabSz="914400">
              <a:lnSpc>
                <a:spcPct val="100000"/>
              </a:lnSpc>
              <a:tabLst>
                <a:tab pos="0" algn="l"/>
              </a:tabLst>
            </a:pPr>
            <a:r>
              <a:rPr lang="zh-CN" sz="1000" b="1" u="none" strike="noStrike">
                <a:solidFill>
                  <a:srgbClr val="0F172A"/>
                </a:solidFill>
                <a:effectLst/>
                <a:uFillTx/>
                <a:latin typeface="Noto Sans CJK SC"/>
                <a:ea typeface="Noto Sans CJK SC"/>
              </a:rPr>
              <a:t>个性化提醒</a:t>
            </a:r>
            <a:endParaRPr lang="en-US" sz="1000" b="0" u="none" strike="noStrike">
              <a:solidFill>
                <a:srgbClr val="000000"/>
              </a:solidFill>
              <a:effectLst/>
              <a:uFillTx/>
              <a:latin typeface="Arial"/>
            </a:endParaRPr>
          </a:p>
        </p:txBody>
      </p:sp>
      <p:sp>
        <p:nvSpPr>
          <p:cNvPr id="64" name="Shape 33"/>
          <p:cNvSpPr/>
          <p:nvPr/>
        </p:nvSpPr>
        <p:spPr>
          <a:xfrm>
            <a:off x="7909560" y="4233600"/>
            <a:ext cx="274320" cy="360"/>
          </a:xfrm>
          <a:prstGeom prst="line">
            <a:avLst/>
          </a:prstGeom>
          <a:ln w="25400">
            <a:solidFill>
              <a:srgbClr val="2563EB"/>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65" name="Shape 34"/>
          <p:cNvSpPr/>
          <p:nvPr/>
        </p:nvSpPr>
        <p:spPr>
          <a:xfrm>
            <a:off x="9738360" y="4233600"/>
            <a:ext cx="274320" cy="360"/>
          </a:xfrm>
          <a:prstGeom prst="line">
            <a:avLst/>
          </a:prstGeom>
          <a:ln w="25400">
            <a:solidFill>
              <a:srgbClr val="2563EB"/>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66" name="Text 35"/>
          <p:cNvSpPr/>
          <p:nvPr/>
        </p:nvSpPr>
        <p:spPr>
          <a:xfrm>
            <a:off x="914400" y="5257800"/>
            <a:ext cx="98751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1400" b="1" u="none" strike="noStrike">
                <a:solidFill>
                  <a:srgbClr val="0F172A"/>
                </a:solidFill>
                <a:effectLst/>
                <a:uFillTx/>
                <a:latin typeface="Noto Sans CJK SC"/>
                <a:ea typeface="Noto Sans CJK SC"/>
              </a:rPr>
              <a:t>核心价值：让“地震事件事实”更容易被不同人群理解并转化为可执行行动。</a:t>
            </a:r>
            <a:endParaRPr lang="en-US" sz="14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67" name="Text 0"/>
          <p:cNvSpPr/>
          <p:nvPr/>
        </p:nvSpPr>
        <p:spPr>
          <a:xfrm>
            <a:off x="548640" y="411480"/>
            <a:ext cx="81378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2600" b="1" u="none" strike="noStrike" dirty="0">
                <a:solidFill>
                  <a:srgbClr val="0F172A"/>
                </a:solidFill>
                <a:effectLst/>
                <a:uFillTx/>
                <a:latin typeface="Noto Sans CJK SC"/>
                <a:ea typeface="Noto Sans CJK SC"/>
              </a:rPr>
              <a:t>题目要求与项目实现对应</a:t>
            </a:r>
            <a:endParaRPr lang="en-US" sz="2600" b="0" u="none" strike="noStrike" dirty="0">
              <a:solidFill>
                <a:srgbClr val="000000"/>
              </a:solidFill>
              <a:effectLst/>
              <a:uFillTx/>
              <a:latin typeface="Arial"/>
            </a:endParaRPr>
          </a:p>
        </p:txBody>
      </p:sp>
      <p:sp>
        <p:nvSpPr>
          <p:cNvPr id="68" name="Text 1"/>
          <p:cNvSpPr/>
          <p:nvPr/>
        </p:nvSpPr>
        <p:spPr>
          <a:xfrm>
            <a:off x="567000" y="896040"/>
            <a:ext cx="64004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1050" b="0" u="none" strike="noStrike">
                <a:solidFill>
                  <a:srgbClr val="64748B"/>
                </a:solidFill>
                <a:effectLst/>
                <a:uFillTx/>
                <a:latin typeface="Noto Sans CJK SC"/>
                <a:ea typeface="Noto Sans CJK SC"/>
              </a:rPr>
              <a:t>项目</a:t>
            </a:r>
            <a:r>
              <a:rPr lang="en-US" sz="1050" b="0" u="none" strike="noStrike">
                <a:solidFill>
                  <a:srgbClr val="64748B"/>
                </a:solidFill>
                <a:effectLst/>
                <a:uFillTx/>
                <a:latin typeface="Noto Sans CJK SC"/>
                <a:ea typeface="Noto Sans CJK SC"/>
              </a:rPr>
              <a:t>09</a:t>
            </a:r>
            <a:r>
              <a:rPr lang="zh-CN" sz="1050" b="0" u="none" strike="noStrike">
                <a:solidFill>
                  <a:srgbClr val="64748B"/>
                </a:solidFill>
                <a:effectLst/>
                <a:uFillTx/>
                <a:latin typeface="Noto Sans CJK SC"/>
                <a:ea typeface="Noto Sans CJK SC"/>
              </a:rPr>
              <a:t>要求：不同用户类型、地理位置、灾害类型、风险等级、预警文本样例、用户画像与文本生成</a:t>
            </a:r>
            <a:endParaRPr lang="en-US" sz="1050" b="0" u="none" strike="noStrike">
              <a:solidFill>
                <a:srgbClr val="000000"/>
              </a:solidFill>
              <a:effectLst/>
              <a:uFillTx/>
              <a:latin typeface="Arial"/>
            </a:endParaRPr>
          </a:p>
        </p:txBody>
      </p:sp>
      <p:sp>
        <p:nvSpPr>
          <p:cNvPr id="69" name="Shape 2"/>
          <p:cNvSpPr/>
          <p:nvPr/>
        </p:nvSpPr>
        <p:spPr>
          <a:xfrm>
            <a:off x="548640" y="6473880"/>
            <a:ext cx="11091600" cy="360"/>
          </a:xfrm>
          <a:prstGeom prst="line">
            <a:avLst/>
          </a:prstGeom>
          <a:ln w="12700">
            <a:solidFill>
              <a:srgbClr val="E2E8F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70" name="Text 3"/>
          <p:cNvSpPr/>
          <p:nvPr/>
        </p:nvSpPr>
        <p:spPr>
          <a:xfrm>
            <a:off x="567000" y="6556320"/>
            <a:ext cx="80463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750" b="0" u="none" strike="noStrike">
                <a:solidFill>
                  <a:srgbClr val="64748B"/>
                </a:solidFill>
                <a:effectLst/>
                <a:uFillTx/>
                <a:latin typeface="Noto Sans CJK SC"/>
                <a:ea typeface="Noto Sans CJK SC"/>
              </a:rPr>
              <a:t>项目</a:t>
            </a:r>
            <a:r>
              <a:rPr lang="en-US" sz="750" b="0" u="none" strike="noStrike">
                <a:solidFill>
                  <a:srgbClr val="64748B"/>
                </a:solidFill>
                <a:effectLst/>
                <a:uFillTx/>
                <a:latin typeface="Noto Sans CJK SC"/>
                <a:ea typeface="Noto Sans CJK SC"/>
              </a:rPr>
              <a:t>09</a:t>
            </a:r>
            <a:r>
              <a:rPr lang="zh-CN" sz="750" b="0" u="none" strike="noStrike">
                <a:solidFill>
                  <a:srgbClr val="64748B"/>
                </a:solidFill>
                <a:effectLst/>
                <a:uFillTx/>
                <a:latin typeface="Noto Sans CJK SC"/>
                <a:ea typeface="Noto Sans CJK SC"/>
              </a:rPr>
              <a:t>｜真实地震数据 </a:t>
            </a:r>
            <a:r>
              <a:rPr lang="en-US" sz="750" b="0" u="none" strike="noStrike">
                <a:solidFill>
                  <a:srgbClr val="64748B"/>
                </a:solidFill>
                <a:effectLst/>
                <a:uFillTx/>
                <a:latin typeface="Noto Sans CJK SC"/>
                <a:ea typeface="Noto Sans CJK SC"/>
              </a:rPr>
              <a:t>+ </a:t>
            </a:r>
            <a:r>
              <a:rPr lang="zh-CN" sz="750" b="0" u="none" strike="noStrike">
                <a:solidFill>
                  <a:srgbClr val="64748B"/>
                </a:solidFill>
                <a:effectLst/>
                <a:uFillTx/>
                <a:latin typeface="Noto Sans CJK SC"/>
                <a:ea typeface="Noto Sans CJK SC"/>
              </a:rPr>
              <a:t>个性化地震应急提醒</a:t>
            </a:r>
            <a:endParaRPr lang="en-US" sz="750" b="0" u="none" strike="noStrike">
              <a:solidFill>
                <a:srgbClr val="000000"/>
              </a:solidFill>
              <a:effectLst/>
              <a:uFillTx/>
              <a:latin typeface="Arial"/>
            </a:endParaRPr>
          </a:p>
        </p:txBody>
      </p:sp>
      <p:sp>
        <p:nvSpPr>
          <p:cNvPr id="71" name="Text 4"/>
          <p:cNvSpPr/>
          <p:nvPr/>
        </p:nvSpPr>
        <p:spPr>
          <a:xfrm>
            <a:off x="11064240" y="6519600"/>
            <a:ext cx="5482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00" b="0" u="none" strike="noStrike">
                <a:solidFill>
                  <a:srgbClr val="64748B"/>
                </a:solidFill>
                <a:effectLst/>
                <a:uFillTx/>
                <a:latin typeface="Noto Sans CJK SC"/>
                <a:ea typeface="Noto Sans CJK SC"/>
              </a:rPr>
              <a:t>03</a:t>
            </a:r>
            <a:endParaRPr lang="en-US" sz="800" b="0" u="none" strike="noStrike">
              <a:solidFill>
                <a:srgbClr val="000000"/>
              </a:solidFill>
              <a:effectLst/>
              <a:uFillTx/>
              <a:latin typeface="Arial"/>
            </a:endParaRPr>
          </a:p>
        </p:txBody>
      </p:sp>
      <p:sp>
        <p:nvSpPr>
          <p:cNvPr id="72" name="Shape 5"/>
          <p:cNvSpPr/>
          <p:nvPr/>
        </p:nvSpPr>
        <p:spPr>
          <a:xfrm>
            <a:off x="731520" y="1389960"/>
            <a:ext cx="10606680" cy="383760"/>
          </a:xfrm>
          <a:prstGeom prst="roundRect">
            <a:avLst>
              <a:gd name="adj" fmla="val 14286"/>
            </a:avLst>
          </a:prstGeom>
          <a:solidFill>
            <a:srgbClr val="0F172A"/>
          </a:solidFill>
          <a:ln w="12700">
            <a:solidFill>
              <a:srgbClr val="0F172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3" name="Text 6"/>
          <p:cNvSpPr/>
          <p:nvPr/>
        </p:nvSpPr>
        <p:spPr>
          <a:xfrm>
            <a:off x="822960" y="1490400"/>
            <a:ext cx="1828440" cy="12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900" b="1" u="none" strike="noStrike">
                <a:solidFill>
                  <a:srgbClr val="FFFFFF"/>
                </a:solidFill>
                <a:effectLst/>
                <a:uFillTx/>
                <a:latin typeface="Noto Sans CJK SC"/>
                <a:ea typeface="Noto Sans CJK SC"/>
              </a:rPr>
              <a:t>要求类别</a:t>
            </a:r>
            <a:endParaRPr lang="en-US" sz="900" b="0" u="none" strike="noStrike">
              <a:solidFill>
                <a:srgbClr val="000000"/>
              </a:solidFill>
              <a:effectLst/>
              <a:uFillTx/>
              <a:latin typeface="Arial"/>
            </a:endParaRPr>
          </a:p>
        </p:txBody>
      </p:sp>
      <p:sp>
        <p:nvSpPr>
          <p:cNvPr id="74" name="Text 7"/>
          <p:cNvSpPr/>
          <p:nvPr/>
        </p:nvSpPr>
        <p:spPr>
          <a:xfrm>
            <a:off x="2834640" y="1490400"/>
            <a:ext cx="8412120" cy="12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900" b="1" u="none" strike="noStrike">
                <a:solidFill>
                  <a:srgbClr val="FFFFFF"/>
                </a:solidFill>
                <a:effectLst/>
                <a:uFillTx/>
                <a:latin typeface="Noto Sans CJK SC"/>
                <a:ea typeface="Noto Sans CJK SC"/>
              </a:rPr>
              <a:t>本项目实现方式</a:t>
            </a:r>
            <a:endParaRPr lang="en-US" sz="900" b="0" u="none" strike="noStrike">
              <a:solidFill>
                <a:srgbClr val="000000"/>
              </a:solidFill>
              <a:effectLst/>
              <a:uFillTx/>
              <a:latin typeface="Arial"/>
            </a:endParaRPr>
          </a:p>
        </p:txBody>
      </p:sp>
      <p:sp>
        <p:nvSpPr>
          <p:cNvPr id="75" name="Shape 8"/>
          <p:cNvSpPr/>
          <p:nvPr/>
        </p:nvSpPr>
        <p:spPr>
          <a:xfrm>
            <a:off x="731520" y="1856160"/>
            <a:ext cx="2011320" cy="511560"/>
          </a:xfrm>
          <a:prstGeom prst="rect">
            <a:avLst/>
          </a:prstGeom>
          <a:solidFill>
            <a:srgbClr val="FFFFFF"/>
          </a:solidFill>
          <a:ln w="635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6" name="Shape 9"/>
          <p:cNvSpPr/>
          <p:nvPr/>
        </p:nvSpPr>
        <p:spPr>
          <a:xfrm>
            <a:off x="2743200" y="1856160"/>
            <a:ext cx="8595000" cy="511560"/>
          </a:xfrm>
          <a:prstGeom prst="rect">
            <a:avLst/>
          </a:prstGeom>
          <a:solidFill>
            <a:srgbClr val="FFFFFF"/>
          </a:solidFill>
          <a:ln w="635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7" name="Text 10"/>
          <p:cNvSpPr/>
          <p:nvPr/>
        </p:nvSpPr>
        <p:spPr>
          <a:xfrm>
            <a:off x="841320" y="2002680"/>
            <a:ext cx="179172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950" b="1" u="none" strike="noStrike">
                <a:solidFill>
                  <a:srgbClr val="2563EB"/>
                </a:solidFill>
                <a:effectLst/>
                <a:uFillTx/>
                <a:latin typeface="Noto Sans CJK SC"/>
                <a:ea typeface="Noto Sans CJK SC"/>
              </a:rPr>
              <a:t>真实数据</a:t>
            </a:r>
            <a:endParaRPr lang="en-US" sz="950" b="0" u="none" strike="noStrike">
              <a:solidFill>
                <a:srgbClr val="000000"/>
              </a:solidFill>
              <a:effectLst/>
              <a:uFillTx/>
              <a:latin typeface="Arial"/>
            </a:endParaRPr>
          </a:p>
        </p:txBody>
      </p:sp>
      <p:sp>
        <p:nvSpPr>
          <p:cNvPr id="78" name="Text 11"/>
          <p:cNvSpPr/>
          <p:nvPr/>
        </p:nvSpPr>
        <p:spPr>
          <a:xfrm>
            <a:off x="2880360" y="1965960"/>
            <a:ext cx="83206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20" b="0" u="none" strike="noStrike">
                <a:solidFill>
                  <a:srgbClr val="334155"/>
                </a:solidFill>
                <a:effectLst/>
                <a:uFillTx/>
                <a:latin typeface="Noto Sans CJK SC"/>
                <a:ea typeface="Noto Sans CJK SC"/>
              </a:rPr>
              <a:t>USGS </a:t>
            </a:r>
            <a:r>
              <a:rPr lang="zh-CN" sz="920" b="0" u="none" strike="noStrike">
                <a:solidFill>
                  <a:srgbClr val="334155"/>
                </a:solidFill>
                <a:effectLst/>
                <a:uFillTx/>
                <a:latin typeface="Noto Sans CJK SC"/>
                <a:ea typeface="Noto Sans CJK SC"/>
              </a:rPr>
              <a:t>官方地震目录：</a:t>
            </a:r>
            <a:r>
              <a:rPr lang="en-US" sz="920" b="0" u="none" strike="noStrike">
                <a:solidFill>
                  <a:srgbClr val="334155"/>
                </a:solidFill>
                <a:effectLst/>
                <a:uFillTx/>
                <a:latin typeface="Noto Sans CJK SC"/>
                <a:ea typeface="Noto Sans CJK SC"/>
              </a:rPr>
              <a:t>200</a:t>
            </a:r>
            <a:r>
              <a:rPr lang="zh-CN" sz="920" b="0" u="none" strike="noStrike">
                <a:solidFill>
                  <a:srgbClr val="334155"/>
                </a:solidFill>
                <a:effectLst/>
                <a:uFillTx/>
                <a:latin typeface="Noto Sans CJK SC"/>
                <a:ea typeface="Noto Sans CJK SC"/>
              </a:rPr>
              <a:t>条真实记录，保存原始 </a:t>
            </a:r>
            <a:r>
              <a:rPr lang="en-US" sz="920" b="0" u="none" strike="noStrike">
                <a:solidFill>
                  <a:srgbClr val="334155"/>
                </a:solidFill>
                <a:effectLst/>
                <a:uFillTx/>
                <a:latin typeface="Noto Sans CJK SC"/>
                <a:ea typeface="Noto Sans CJK SC"/>
              </a:rPr>
              <a:t>GeoJSON</a:t>
            </a:r>
            <a:r>
              <a:rPr lang="zh-CN" sz="920" b="0" u="none" strike="noStrike">
                <a:solidFill>
                  <a:srgbClr val="334155"/>
                </a:solidFill>
                <a:effectLst/>
                <a:uFillTx/>
                <a:latin typeface="Noto Sans CJK SC"/>
                <a:ea typeface="Noto Sans CJK SC"/>
              </a:rPr>
              <a:t>、</a:t>
            </a:r>
            <a:r>
              <a:rPr lang="en-US" sz="920" b="0" u="none" strike="noStrike">
                <a:solidFill>
                  <a:srgbClr val="334155"/>
                </a:solidFill>
                <a:effectLst/>
                <a:uFillTx/>
                <a:latin typeface="Noto Sans CJK SC"/>
                <a:ea typeface="Noto Sans CJK SC"/>
              </a:rPr>
              <a:t>CSV</a:t>
            </a:r>
            <a:r>
              <a:rPr lang="zh-CN" sz="920" b="0" u="none" strike="noStrike">
                <a:solidFill>
                  <a:srgbClr val="334155"/>
                </a:solidFill>
                <a:effectLst/>
                <a:uFillTx/>
                <a:latin typeface="Noto Sans CJK SC"/>
                <a:ea typeface="Noto Sans CJK SC"/>
              </a:rPr>
              <a:t>、</a:t>
            </a:r>
            <a:r>
              <a:rPr lang="en-US" sz="920" b="0" u="none" strike="noStrike">
                <a:solidFill>
                  <a:srgbClr val="334155"/>
                </a:solidFill>
                <a:effectLst/>
                <a:uFillTx/>
                <a:latin typeface="Noto Sans CJK SC"/>
                <a:ea typeface="Noto Sans CJK SC"/>
              </a:rPr>
              <a:t>metadata </a:t>
            </a:r>
            <a:r>
              <a:rPr lang="zh-CN" sz="920" b="0" u="none" strike="noStrike">
                <a:solidFill>
                  <a:srgbClr val="334155"/>
                </a:solidFill>
                <a:effectLst/>
                <a:uFillTx/>
                <a:latin typeface="Noto Sans CJK SC"/>
                <a:ea typeface="Noto Sans CJK SC"/>
              </a:rPr>
              <a:t>和 </a:t>
            </a:r>
            <a:r>
              <a:rPr lang="en-US" sz="920" b="0" u="none" strike="noStrike">
                <a:solidFill>
                  <a:srgbClr val="334155"/>
                </a:solidFill>
                <a:effectLst/>
                <a:uFillTx/>
                <a:latin typeface="Noto Sans CJK SC"/>
                <a:ea typeface="Noto Sans CJK SC"/>
              </a:rPr>
              <a:t>crawl_log</a:t>
            </a:r>
            <a:endParaRPr lang="en-US" sz="920" b="0" u="none" strike="noStrike">
              <a:solidFill>
                <a:srgbClr val="000000"/>
              </a:solidFill>
              <a:effectLst/>
              <a:uFillTx/>
              <a:latin typeface="Arial"/>
            </a:endParaRPr>
          </a:p>
        </p:txBody>
      </p:sp>
      <p:sp>
        <p:nvSpPr>
          <p:cNvPr id="79" name="Shape 12"/>
          <p:cNvSpPr/>
          <p:nvPr/>
        </p:nvSpPr>
        <p:spPr>
          <a:xfrm>
            <a:off x="731520" y="2386440"/>
            <a:ext cx="2011320" cy="511560"/>
          </a:xfrm>
          <a:prstGeom prst="rect">
            <a:avLst/>
          </a:prstGeom>
          <a:solidFill>
            <a:srgbClr val="F8FAFC"/>
          </a:solidFill>
          <a:ln w="635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0" name="Shape 13"/>
          <p:cNvSpPr/>
          <p:nvPr/>
        </p:nvSpPr>
        <p:spPr>
          <a:xfrm>
            <a:off x="2743200" y="2386440"/>
            <a:ext cx="8595000" cy="511560"/>
          </a:xfrm>
          <a:prstGeom prst="rect">
            <a:avLst/>
          </a:prstGeom>
          <a:solidFill>
            <a:srgbClr val="F8FAFC"/>
          </a:solidFill>
          <a:ln w="635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1" name="Text 14"/>
          <p:cNvSpPr/>
          <p:nvPr/>
        </p:nvSpPr>
        <p:spPr>
          <a:xfrm>
            <a:off x="841320" y="2532960"/>
            <a:ext cx="179172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950" b="1" u="none" strike="noStrike">
                <a:solidFill>
                  <a:srgbClr val="2563EB"/>
                </a:solidFill>
                <a:effectLst/>
                <a:uFillTx/>
                <a:latin typeface="Noto Sans CJK SC"/>
                <a:ea typeface="Noto Sans CJK SC"/>
              </a:rPr>
              <a:t>用户类型</a:t>
            </a:r>
            <a:endParaRPr lang="en-US" sz="950" b="0" u="none" strike="noStrike">
              <a:solidFill>
                <a:srgbClr val="000000"/>
              </a:solidFill>
              <a:effectLst/>
              <a:uFillTx/>
              <a:latin typeface="Arial"/>
            </a:endParaRPr>
          </a:p>
        </p:txBody>
      </p:sp>
      <p:sp>
        <p:nvSpPr>
          <p:cNvPr id="82" name="Text 15"/>
          <p:cNvSpPr/>
          <p:nvPr/>
        </p:nvSpPr>
        <p:spPr>
          <a:xfrm>
            <a:off x="2880360" y="2496240"/>
            <a:ext cx="83206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zh-CN" sz="920" b="0" u="none" strike="noStrike">
                <a:solidFill>
                  <a:srgbClr val="334155"/>
                </a:solidFill>
                <a:effectLst/>
                <a:uFillTx/>
                <a:latin typeface="Noto Sans CJK SC"/>
                <a:ea typeface="Noto Sans CJK SC"/>
              </a:rPr>
              <a:t>普通居民 </a:t>
            </a:r>
            <a:r>
              <a:rPr lang="en-US" sz="920" b="0" u="none" strike="noStrike">
                <a:solidFill>
                  <a:srgbClr val="334155"/>
                </a:solidFill>
                <a:effectLst/>
                <a:uFillTx/>
                <a:latin typeface="Noto Sans CJK SC"/>
                <a:ea typeface="Noto Sans CJK SC"/>
              </a:rPr>
              <a:t>/ </a:t>
            </a:r>
            <a:r>
              <a:rPr lang="zh-CN" sz="920" b="0" u="none" strike="noStrike">
                <a:solidFill>
                  <a:srgbClr val="334155"/>
                </a:solidFill>
                <a:effectLst/>
                <a:uFillTx/>
                <a:latin typeface="Noto Sans CJK SC"/>
                <a:ea typeface="Noto Sans CJK SC"/>
              </a:rPr>
              <a:t>游客 </a:t>
            </a:r>
            <a:r>
              <a:rPr lang="en-US" sz="920" b="0" u="none" strike="noStrike">
                <a:solidFill>
                  <a:srgbClr val="334155"/>
                </a:solidFill>
                <a:effectLst/>
                <a:uFillTx/>
                <a:latin typeface="Noto Sans CJK SC"/>
                <a:ea typeface="Noto Sans CJK SC"/>
              </a:rPr>
              <a:t>/ </a:t>
            </a:r>
            <a:r>
              <a:rPr lang="zh-CN" sz="920" b="0" u="none" strike="noStrike">
                <a:solidFill>
                  <a:srgbClr val="334155"/>
                </a:solidFill>
                <a:effectLst/>
                <a:uFillTx/>
                <a:latin typeface="Noto Sans CJK SC"/>
                <a:ea typeface="Noto Sans CJK SC"/>
              </a:rPr>
              <a:t>应急人员；年龄自动识别未成年人和老年人</a:t>
            </a:r>
            <a:endParaRPr lang="en-US" sz="920" b="0" u="none" strike="noStrike">
              <a:solidFill>
                <a:srgbClr val="000000"/>
              </a:solidFill>
              <a:effectLst/>
              <a:uFillTx/>
              <a:latin typeface="Arial"/>
            </a:endParaRPr>
          </a:p>
        </p:txBody>
      </p:sp>
      <p:sp>
        <p:nvSpPr>
          <p:cNvPr id="83" name="Shape 16"/>
          <p:cNvSpPr/>
          <p:nvPr/>
        </p:nvSpPr>
        <p:spPr>
          <a:xfrm>
            <a:off x="731520" y="2917080"/>
            <a:ext cx="2011320" cy="511560"/>
          </a:xfrm>
          <a:prstGeom prst="rect">
            <a:avLst/>
          </a:prstGeom>
          <a:solidFill>
            <a:srgbClr val="FFFFFF"/>
          </a:solidFill>
          <a:ln w="635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4" name="Shape 17"/>
          <p:cNvSpPr/>
          <p:nvPr/>
        </p:nvSpPr>
        <p:spPr>
          <a:xfrm>
            <a:off x="2743200" y="2917080"/>
            <a:ext cx="8595000" cy="511560"/>
          </a:xfrm>
          <a:prstGeom prst="rect">
            <a:avLst/>
          </a:prstGeom>
          <a:solidFill>
            <a:srgbClr val="FFFFFF"/>
          </a:solidFill>
          <a:ln w="635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5" name="Text 18"/>
          <p:cNvSpPr/>
          <p:nvPr/>
        </p:nvSpPr>
        <p:spPr>
          <a:xfrm>
            <a:off x="841320" y="3063240"/>
            <a:ext cx="179172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950" b="1" u="none" strike="noStrike">
                <a:solidFill>
                  <a:srgbClr val="2563EB"/>
                </a:solidFill>
                <a:effectLst/>
                <a:uFillTx/>
                <a:latin typeface="Noto Sans CJK SC"/>
                <a:ea typeface="Noto Sans CJK SC"/>
              </a:rPr>
              <a:t>地理位置</a:t>
            </a:r>
            <a:endParaRPr lang="en-US" sz="950" b="0" u="none" strike="noStrike">
              <a:solidFill>
                <a:srgbClr val="000000"/>
              </a:solidFill>
              <a:effectLst/>
              <a:uFillTx/>
              <a:latin typeface="Arial"/>
            </a:endParaRPr>
          </a:p>
        </p:txBody>
      </p:sp>
      <p:sp>
        <p:nvSpPr>
          <p:cNvPr id="86" name="Text 19"/>
          <p:cNvSpPr/>
          <p:nvPr/>
        </p:nvSpPr>
        <p:spPr>
          <a:xfrm>
            <a:off x="2880360" y="3026520"/>
            <a:ext cx="83206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zh-CN" sz="920" b="0" u="none" strike="noStrike" dirty="0">
                <a:solidFill>
                  <a:srgbClr val="334155"/>
                </a:solidFill>
                <a:effectLst/>
                <a:uFillTx/>
                <a:latin typeface="Noto Sans CJK SC"/>
                <a:ea typeface="Noto Sans CJK SC"/>
              </a:rPr>
              <a:t>手动输入 </a:t>
            </a:r>
            <a:r>
              <a:rPr lang="en-US" sz="920" b="0" u="none" strike="noStrike" dirty="0">
                <a:solidFill>
                  <a:srgbClr val="334155"/>
                </a:solidFill>
                <a:effectLst/>
                <a:uFillTx/>
                <a:latin typeface="Noto Sans CJK SC"/>
                <a:ea typeface="Noto Sans CJK SC"/>
              </a:rPr>
              <a:t>+ </a:t>
            </a:r>
            <a:r>
              <a:rPr lang="zh-CN" sz="920" b="0" u="none" strike="noStrike" dirty="0">
                <a:solidFill>
                  <a:srgbClr val="334155"/>
                </a:solidFill>
                <a:effectLst/>
                <a:uFillTx/>
                <a:latin typeface="Noto Sans CJK SC"/>
                <a:ea typeface="Noto Sans CJK SC"/>
              </a:rPr>
              <a:t>浏览器定位按钮；</a:t>
            </a:r>
            <a:endParaRPr lang="en-US" sz="920" b="0" u="none" strike="noStrike" dirty="0">
              <a:solidFill>
                <a:srgbClr val="000000"/>
              </a:solidFill>
              <a:effectLst/>
              <a:uFillTx/>
              <a:latin typeface="Arial"/>
            </a:endParaRPr>
          </a:p>
        </p:txBody>
      </p:sp>
      <p:sp>
        <p:nvSpPr>
          <p:cNvPr id="87" name="Shape 20"/>
          <p:cNvSpPr/>
          <p:nvPr/>
        </p:nvSpPr>
        <p:spPr>
          <a:xfrm>
            <a:off x="731520" y="3447360"/>
            <a:ext cx="2011320" cy="511560"/>
          </a:xfrm>
          <a:prstGeom prst="rect">
            <a:avLst/>
          </a:prstGeom>
          <a:solidFill>
            <a:srgbClr val="F8FAFC"/>
          </a:solidFill>
          <a:ln w="635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8" name="Shape 21"/>
          <p:cNvSpPr/>
          <p:nvPr/>
        </p:nvSpPr>
        <p:spPr>
          <a:xfrm>
            <a:off x="2743200" y="3447360"/>
            <a:ext cx="8595000" cy="511560"/>
          </a:xfrm>
          <a:prstGeom prst="rect">
            <a:avLst/>
          </a:prstGeom>
          <a:solidFill>
            <a:srgbClr val="F8FAFC"/>
          </a:solidFill>
          <a:ln w="635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9" name="Text 22"/>
          <p:cNvSpPr/>
          <p:nvPr/>
        </p:nvSpPr>
        <p:spPr>
          <a:xfrm>
            <a:off x="841320" y="3593520"/>
            <a:ext cx="179172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950" b="1" u="none" strike="noStrike">
                <a:solidFill>
                  <a:srgbClr val="2563EB"/>
                </a:solidFill>
                <a:effectLst/>
                <a:uFillTx/>
                <a:latin typeface="Noto Sans CJK SC"/>
                <a:ea typeface="Noto Sans CJK SC"/>
              </a:rPr>
              <a:t>灾害类型</a:t>
            </a:r>
            <a:endParaRPr lang="en-US" sz="950" b="0" u="none" strike="noStrike">
              <a:solidFill>
                <a:srgbClr val="000000"/>
              </a:solidFill>
              <a:effectLst/>
              <a:uFillTx/>
              <a:latin typeface="Arial"/>
            </a:endParaRPr>
          </a:p>
        </p:txBody>
      </p:sp>
      <p:sp>
        <p:nvSpPr>
          <p:cNvPr id="90" name="Text 23"/>
          <p:cNvSpPr/>
          <p:nvPr/>
        </p:nvSpPr>
        <p:spPr>
          <a:xfrm>
            <a:off x="2880360" y="3557160"/>
            <a:ext cx="83206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zh-CN" sz="920" b="0" u="none" strike="noStrike">
                <a:solidFill>
                  <a:srgbClr val="334155"/>
                </a:solidFill>
                <a:effectLst/>
                <a:uFillTx/>
                <a:latin typeface="Noto Sans CJK SC"/>
                <a:ea typeface="Noto Sans CJK SC"/>
              </a:rPr>
              <a:t>正式系统仅保留地震，无其他灾种下拉框</a:t>
            </a:r>
            <a:endParaRPr lang="en-US" sz="920" b="0" u="none" strike="noStrike">
              <a:solidFill>
                <a:srgbClr val="000000"/>
              </a:solidFill>
              <a:effectLst/>
              <a:uFillTx/>
              <a:latin typeface="Arial"/>
            </a:endParaRPr>
          </a:p>
        </p:txBody>
      </p:sp>
      <p:sp>
        <p:nvSpPr>
          <p:cNvPr id="91" name="Shape 24"/>
          <p:cNvSpPr/>
          <p:nvPr/>
        </p:nvSpPr>
        <p:spPr>
          <a:xfrm>
            <a:off x="731520" y="3977640"/>
            <a:ext cx="2011320" cy="511560"/>
          </a:xfrm>
          <a:prstGeom prst="rect">
            <a:avLst/>
          </a:prstGeom>
          <a:solidFill>
            <a:srgbClr val="FFFFFF"/>
          </a:solidFill>
          <a:ln w="635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2" name="Shape 25"/>
          <p:cNvSpPr/>
          <p:nvPr/>
        </p:nvSpPr>
        <p:spPr>
          <a:xfrm>
            <a:off x="2743200" y="3977640"/>
            <a:ext cx="8595000" cy="511560"/>
          </a:xfrm>
          <a:prstGeom prst="rect">
            <a:avLst/>
          </a:prstGeom>
          <a:solidFill>
            <a:srgbClr val="FFFFFF"/>
          </a:solidFill>
          <a:ln w="635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3" name="Text 26"/>
          <p:cNvSpPr/>
          <p:nvPr/>
        </p:nvSpPr>
        <p:spPr>
          <a:xfrm>
            <a:off x="841320" y="4123800"/>
            <a:ext cx="179172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950" b="1" u="none" strike="noStrike">
                <a:solidFill>
                  <a:srgbClr val="2563EB"/>
                </a:solidFill>
                <a:effectLst/>
                <a:uFillTx/>
                <a:latin typeface="Noto Sans CJK SC"/>
                <a:ea typeface="Noto Sans CJK SC"/>
              </a:rPr>
              <a:t>风险等级</a:t>
            </a:r>
            <a:endParaRPr lang="en-US" sz="950" b="0" u="none" strike="noStrike">
              <a:solidFill>
                <a:srgbClr val="000000"/>
              </a:solidFill>
              <a:effectLst/>
              <a:uFillTx/>
              <a:latin typeface="Arial"/>
            </a:endParaRPr>
          </a:p>
        </p:txBody>
      </p:sp>
      <p:sp>
        <p:nvSpPr>
          <p:cNvPr id="94" name="Text 27"/>
          <p:cNvSpPr/>
          <p:nvPr/>
        </p:nvSpPr>
        <p:spPr>
          <a:xfrm>
            <a:off x="2880360" y="4087440"/>
            <a:ext cx="83206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zh-CN" sz="920" b="0" u="none" strike="noStrike">
                <a:solidFill>
                  <a:srgbClr val="334155"/>
                </a:solidFill>
                <a:effectLst/>
                <a:uFillTx/>
                <a:latin typeface="Noto Sans CJK SC"/>
                <a:ea typeface="Noto Sans CJK SC"/>
              </a:rPr>
              <a:t>由真实震级自动计算课程演示等级，非官方标准</a:t>
            </a:r>
            <a:endParaRPr lang="en-US" sz="920" b="0" u="none" strike="noStrike">
              <a:solidFill>
                <a:srgbClr val="000000"/>
              </a:solidFill>
              <a:effectLst/>
              <a:uFillTx/>
              <a:latin typeface="Arial"/>
            </a:endParaRPr>
          </a:p>
        </p:txBody>
      </p:sp>
      <p:sp>
        <p:nvSpPr>
          <p:cNvPr id="95" name="Shape 28"/>
          <p:cNvSpPr/>
          <p:nvPr/>
        </p:nvSpPr>
        <p:spPr>
          <a:xfrm>
            <a:off x="731520" y="4507920"/>
            <a:ext cx="2011320" cy="511560"/>
          </a:xfrm>
          <a:prstGeom prst="rect">
            <a:avLst/>
          </a:prstGeom>
          <a:solidFill>
            <a:srgbClr val="F8FAFC"/>
          </a:solidFill>
          <a:ln w="635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6" name="Shape 29"/>
          <p:cNvSpPr/>
          <p:nvPr/>
        </p:nvSpPr>
        <p:spPr>
          <a:xfrm>
            <a:off x="2743200" y="4507920"/>
            <a:ext cx="8595000" cy="511560"/>
          </a:xfrm>
          <a:prstGeom prst="rect">
            <a:avLst/>
          </a:prstGeom>
          <a:solidFill>
            <a:srgbClr val="F8FAFC"/>
          </a:solidFill>
          <a:ln w="635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7" name="Text 30"/>
          <p:cNvSpPr/>
          <p:nvPr/>
        </p:nvSpPr>
        <p:spPr>
          <a:xfrm>
            <a:off x="841320" y="4654440"/>
            <a:ext cx="179172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950" b="1" u="none" strike="noStrike">
                <a:solidFill>
                  <a:srgbClr val="2563EB"/>
                </a:solidFill>
                <a:effectLst/>
                <a:uFillTx/>
                <a:latin typeface="Noto Sans CJK SC"/>
                <a:ea typeface="Noto Sans CJK SC"/>
              </a:rPr>
              <a:t>个性化生成</a:t>
            </a:r>
            <a:endParaRPr lang="en-US" sz="950" b="0" u="none" strike="noStrike">
              <a:solidFill>
                <a:srgbClr val="000000"/>
              </a:solidFill>
              <a:effectLst/>
              <a:uFillTx/>
              <a:latin typeface="Arial"/>
            </a:endParaRPr>
          </a:p>
        </p:txBody>
      </p:sp>
      <p:sp>
        <p:nvSpPr>
          <p:cNvPr id="98" name="Text 31"/>
          <p:cNvSpPr/>
          <p:nvPr/>
        </p:nvSpPr>
        <p:spPr>
          <a:xfrm>
            <a:off x="2880360" y="4617720"/>
            <a:ext cx="83206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zh-CN" sz="920" b="0" u="none" strike="noStrike">
                <a:solidFill>
                  <a:srgbClr val="334155"/>
                </a:solidFill>
                <a:effectLst/>
                <a:uFillTx/>
                <a:latin typeface="Noto Sans CJK SC"/>
                <a:ea typeface="Noto Sans CJK SC"/>
              </a:rPr>
              <a:t>用户画像 </a:t>
            </a:r>
            <a:r>
              <a:rPr lang="en-US" sz="920" b="0" u="none" strike="noStrike">
                <a:solidFill>
                  <a:srgbClr val="334155"/>
                </a:solidFill>
                <a:effectLst/>
                <a:uFillTx/>
                <a:latin typeface="Noto Sans CJK SC"/>
                <a:ea typeface="Noto Sans CJK SC"/>
              </a:rPr>
              <a:t>+ </a:t>
            </a:r>
            <a:r>
              <a:rPr lang="zh-CN" sz="920" b="0" u="none" strike="noStrike">
                <a:solidFill>
                  <a:srgbClr val="334155"/>
                </a:solidFill>
                <a:effectLst/>
                <a:uFillTx/>
                <a:latin typeface="Noto Sans CJK SC"/>
                <a:ea typeface="Noto Sans CJK SC"/>
              </a:rPr>
              <a:t>重点需求 </a:t>
            </a:r>
            <a:r>
              <a:rPr lang="en-US" sz="920" b="0" u="none" strike="noStrike">
                <a:solidFill>
                  <a:srgbClr val="334155"/>
                </a:solidFill>
                <a:effectLst/>
                <a:uFillTx/>
                <a:latin typeface="Noto Sans CJK SC"/>
                <a:ea typeface="Noto Sans CJK SC"/>
              </a:rPr>
              <a:t>+ </a:t>
            </a:r>
            <a:r>
              <a:rPr lang="zh-CN" sz="920" b="0" u="none" strike="noStrike">
                <a:solidFill>
                  <a:srgbClr val="334155"/>
                </a:solidFill>
                <a:effectLst/>
                <a:uFillTx/>
                <a:latin typeface="Noto Sans CJK SC"/>
                <a:ea typeface="Noto Sans CJK SC"/>
              </a:rPr>
              <a:t>规则模板 → 地震应急提醒</a:t>
            </a:r>
            <a:endParaRPr lang="en-US" sz="920" b="0" u="none" strike="noStrike">
              <a:solidFill>
                <a:srgbClr val="000000"/>
              </a:solidFill>
              <a:effectLst/>
              <a:uFillTx/>
              <a:latin typeface="Arial"/>
            </a:endParaRPr>
          </a:p>
        </p:txBody>
      </p:sp>
      <p:sp>
        <p:nvSpPr>
          <p:cNvPr id="99" name="Shape 32"/>
          <p:cNvSpPr/>
          <p:nvPr/>
        </p:nvSpPr>
        <p:spPr>
          <a:xfrm>
            <a:off x="731520" y="5038200"/>
            <a:ext cx="2011320" cy="511560"/>
          </a:xfrm>
          <a:prstGeom prst="rect">
            <a:avLst/>
          </a:prstGeom>
          <a:solidFill>
            <a:srgbClr val="FFFFFF"/>
          </a:solidFill>
          <a:ln w="635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0" name="Shape 33"/>
          <p:cNvSpPr/>
          <p:nvPr/>
        </p:nvSpPr>
        <p:spPr>
          <a:xfrm>
            <a:off x="2743200" y="5038200"/>
            <a:ext cx="8595000" cy="511560"/>
          </a:xfrm>
          <a:prstGeom prst="rect">
            <a:avLst/>
          </a:prstGeom>
          <a:solidFill>
            <a:srgbClr val="FFFFFF"/>
          </a:solidFill>
          <a:ln w="635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1" name="Text 34"/>
          <p:cNvSpPr/>
          <p:nvPr/>
        </p:nvSpPr>
        <p:spPr>
          <a:xfrm>
            <a:off x="841320" y="5184720"/>
            <a:ext cx="179172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950" b="1" u="none" strike="noStrike">
                <a:solidFill>
                  <a:srgbClr val="2563EB"/>
                </a:solidFill>
                <a:effectLst/>
                <a:uFillTx/>
                <a:latin typeface="Noto Sans CJK SC"/>
                <a:ea typeface="Noto Sans CJK SC"/>
              </a:rPr>
              <a:t>效果展示</a:t>
            </a:r>
            <a:endParaRPr lang="en-US" sz="950" b="0" u="none" strike="noStrike">
              <a:solidFill>
                <a:srgbClr val="000000"/>
              </a:solidFill>
              <a:effectLst/>
              <a:uFillTx/>
              <a:latin typeface="Arial"/>
            </a:endParaRPr>
          </a:p>
        </p:txBody>
      </p:sp>
      <p:sp>
        <p:nvSpPr>
          <p:cNvPr id="102" name="Text 35"/>
          <p:cNvSpPr/>
          <p:nvPr/>
        </p:nvSpPr>
        <p:spPr>
          <a:xfrm>
            <a:off x="2880360" y="5148000"/>
            <a:ext cx="83206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zh-CN" sz="920" b="0" u="none" strike="noStrike">
                <a:solidFill>
                  <a:srgbClr val="334155"/>
                </a:solidFill>
                <a:effectLst/>
                <a:uFillTx/>
                <a:latin typeface="Noto Sans CJK SC"/>
                <a:ea typeface="Noto Sans CJK SC"/>
              </a:rPr>
              <a:t>手机预警弹窗 </a:t>
            </a:r>
            <a:r>
              <a:rPr lang="en-US" sz="920" b="0" u="none" strike="noStrike">
                <a:solidFill>
                  <a:srgbClr val="334155"/>
                </a:solidFill>
                <a:effectLst/>
                <a:uFillTx/>
                <a:latin typeface="Noto Sans CJK SC"/>
                <a:ea typeface="Noto Sans CJK SC"/>
              </a:rPr>
              <a:t>+ Dashboard </a:t>
            </a:r>
            <a:r>
              <a:rPr lang="zh-CN" sz="920" b="0" u="none" strike="noStrike">
                <a:solidFill>
                  <a:srgbClr val="334155"/>
                </a:solidFill>
                <a:effectLst/>
                <a:uFillTx/>
                <a:latin typeface="Noto Sans CJK SC"/>
                <a:ea typeface="Noto Sans CJK SC"/>
              </a:rPr>
              <a:t>四张地震统计图 </a:t>
            </a:r>
            <a:r>
              <a:rPr lang="en-US" sz="920" b="0" u="none" strike="noStrike">
                <a:solidFill>
                  <a:srgbClr val="334155"/>
                </a:solidFill>
                <a:effectLst/>
                <a:uFillTx/>
                <a:latin typeface="Noto Sans CJK SC"/>
                <a:ea typeface="Noto Sans CJK SC"/>
              </a:rPr>
              <a:t>+ </a:t>
            </a:r>
            <a:r>
              <a:rPr lang="zh-CN" sz="920" b="0" u="none" strike="noStrike">
                <a:solidFill>
                  <a:srgbClr val="334155"/>
                </a:solidFill>
                <a:effectLst/>
                <a:uFillTx/>
                <a:latin typeface="Noto Sans CJK SC"/>
                <a:ea typeface="Noto Sans CJK SC"/>
              </a:rPr>
              <a:t>可追溯数据包</a:t>
            </a:r>
            <a:endParaRPr lang="en-US" sz="92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03" name="Text 0"/>
          <p:cNvSpPr/>
          <p:nvPr/>
        </p:nvSpPr>
        <p:spPr>
          <a:xfrm>
            <a:off x="548640" y="411480"/>
            <a:ext cx="81378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2600" b="1" u="none" strike="noStrike">
                <a:solidFill>
                  <a:srgbClr val="0F172A"/>
                </a:solidFill>
                <a:effectLst/>
                <a:uFillTx/>
                <a:latin typeface="Noto Sans CJK SC"/>
                <a:ea typeface="Noto Sans CJK SC"/>
              </a:rPr>
              <a:t>真实数据来源：</a:t>
            </a:r>
            <a:r>
              <a:rPr lang="en-US" sz="2600" b="1" u="none" strike="noStrike">
                <a:solidFill>
                  <a:srgbClr val="0F172A"/>
                </a:solidFill>
                <a:effectLst/>
                <a:uFillTx/>
                <a:latin typeface="Noto Sans CJK SC"/>
                <a:ea typeface="Noto Sans CJK SC"/>
              </a:rPr>
              <a:t>USGS Earthquake Catalog</a:t>
            </a:r>
            <a:endParaRPr lang="en-US" sz="2600" b="0" u="none" strike="noStrike">
              <a:solidFill>
                <a:srgbClr val="000000"/>
              </a:solidFill>
              <a:effectLst/>
              <a:uFillTx/>
              <a:latin typeface="Arial"/>
            </a:endParaRPr>
          </a:p>
        </p:txBody>
      </p:sp>
      <p:sp>
        <p:nvSpPr>
          <p:cNvPr id="104" name="Text 1"/>
          <p:cNvSpPr/>
          <p:nvPr/>
        </p:nvSpPr>
        <p:spPr>
          <a:xfrm>
            <a:off x="567000" y="896040"/>
            <a:ext cx="64004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1050" b="0" u="none" strike="noStrike">
                <a:solidFill>
                  <a:srgbClr val="64748B"/>
                </a:solidFill>
                <a:effectLst/>
                <a:uFillTx/>
                <a:latin typeface="Noto Sans CJK SC"/>
                <a:ea typeface="Noto Sans CJK SC"/>
              </a:rPr>
              <a:t>正式数据来自官方公开地震目录，系统保留原始响应与可追溯信息</a:t>
            </a:r>
            <a:endParaRPr lang="en-US" sz="1050" b="0" u="none" strike="noStrike">
              <a:solidFill>
                <a:srgbClr val="000000"/>
              </a:solidFill>
              <a:effectLst/>
              <a:uFillTx/>
              <a:latin typeface="Arial"/>
            </a:endParaRPr>
          </a:p>
        </p:txBody>
      </p:sp>
      <p:sp>
        <p:nvSpPr>
          <p:cNvPr id="105" name="Shape 2"/>
          <p:cNvSpPr/>
          <p:nvPr/>
        </p:nvSpPr>
        <p:spPr>
          <a:xfrm>
            <a:off x="548640" y="6473880"/>
            <a:ext cx="11091600" cy="360"/>
          </a:xfrm>
          <a:prstGeom prst="line">
            <a:avLst/>
          </a:prstGeom>
          <a:ln w="12700">
            <a:solidFill>
              <a:srgbClr val="E2E8F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06" name="Text 3"/>
          <p:cNvSpPr/>
          <p:nvPr/>
        </p:nvSpPr>
        <p:spPr>
          <a:xfrm>
            <a:off x="567000" y="6556320"/>
            <a:ext cx="80463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750" b="0" u="none" strike="noStrike">
                <a:solidFill>
                  <a:srgbClr val="64748B"/>
                </a:solidFill>
                <a:effectLst/>
                <a:uFillTx/>
                <a:latin typeface="Noto Sans CJK SC"/>
                <a:ea typeface="Noto Sans CJK SC"/>
              </a:rPr>
              <a:t>项目</a:t>
            </a:r>
            <a:r>
              <a:rPr lang="en-US" sz="750" b="0" u="none" strike="noStrike">
                <a:solidFill>
                  <a:srgbClr val="64748B"/>
                </a:solidFill>
                <a:effectLst/>
                <a:uFillTx/>
                <a:latin typeface="Noto Sans CJK SC"/>
                <a:ea typeface="Noto Sans CJK SC"/>
              </a:rPr>
              <a:t>09</a:t>
            </a:r>
            <a:r>
              <a:rPr lang="zh-CN" sz="750" b="0" u="none" strike="noStrike">
                <a:solidFill>
                  <a:srgbClr val="64748B"/>
                </a:solidFill>
                <a:effectLst/>
                <a:uFillTx/>
                <a:latin typeface="Noto Sans CJK SC"/>
                <a:ea typeface="Noto Sans CJK SC"/>
              </a:rPr>
              <a:t>｜真实地震数据 </a:t>
            </a:r>
            <a:r>
              <a:rPr lang="en-US" sz="750" b="0" u="none" strike="noStrike">
                <a:solidFill>
                  <a:srgbClr val="64748B"/>
                </a:solidFill>
                <a:effectLst/>
                <a:uFillTx/>
                <a:latin typeface="Noto Sans CJK SC"/>
                <a:ea typeface="Noto Sans CJK SC"/>
              </a:rPr>
              <a:t>+ </a:t>
            </a:r>
            <a:r>
              <a:rPr lang="zh-CN" sz="750" b="0" u="none" strike="noStrike">
                <a:solidFill>
                  <a:srgbClr val="64748B"/>
                </a:solidFill>
                <a:effectLst/>
                <a:uFillTx/>
                <a:latin typeface="Noto Sans CJK SC"/>
                <a:ea typeface="Noto Sans CJK SC"/>
              </a:rPr>
              <a:t>个性化地震应急提醒</a:t>
            </a:r>
            <a:endParaRPr lang="en-US" sz="750" b="0" u="none" strike="noStrike">
              <a:solidFill>
                <a:srgbClr val="000000"/>
              </a:solidFill>
              <a:effectLst/>
              <a:uFillTx/>
              <a:latin typeface="Arial"/>
            </a:endParaRPr>
          </a:p>
        </p:txBody>
      </p:sp>
      <p:sp>
        <p:nvSpPr>
          <p:cNvPr id="107" name="Text 4"/>
          <p:cNvSpPr/>
          <p:nvPr/>
        </p:nvSpPr>
        <p:spPr>
          <a:xfrm>
            <a:off x="11064240" y="6519600"/>
            <a:ext cx="5482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00" b="0" u="none" strike="noStrike">
                <a:solidFill>
                  <a:srgbClr val="64748B"/>
                </a:solidFill>
                <a:effectLst/>
                <a:uFillTx/>
                <a:latin typeface="Noto Sans CJK SC"/>
                <a:ea typeface="Noto Sans CJK SC"/>
              </a:rPr>
              <a:t>04</a:t>
            </a:r>
            <a:endParaRPr lang="en-US" sz="800" b="0" u="none" strike="noStrike">
              <a:solidFill>
                <a:srgbClr val="000000"/>
              </a:solidFill>
              <a:effectLst/>
              <a:uFillTx/>
              <a:latin typeface="Arial"/>
            </a:endParaRPr>
          </a:p>
        </p:txBody>
      </p:sp>
      <p:sp>
        <p:nvSpPr>
          <p:cNvPr id="108" name="Text 5"/>
          <p:cNvSpPr/>
          <p:nvPr/>
        </p:nvSpPr>
        <p:spPr>
          <a:xfrm>
            <a:off x="777240" y="1463040"/>
            <a:ext cx="15541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500" b="1" u="none" strike="noStrike">
                <a:solidFill>
                  <a:srgbClr val="2563EB"/>
                </a:solidFill>
                <a:effectLst/>
                <a:uFillTx/>
                <a:latin typeface="Noto Sans CJK SC"/>
                <a:ea typeface="Noto Sans CJK SC"/>
              </a:rPr>
              <a:t>200</a:t>
            </a:r>
            <a:endParaRPr lang="en-US" sz="2500" b="0" u="none" strike="noStrike">
              <a:solidFill>
                <a:srgbClr val="000000"/>
              </a:solidFill>
              <a:effectLst/>
              <a:uFillTx/>
              <a:latin typeface="Arial"/>
            </a:endParaRPr>
          </a:p>
        </p:txBody>
      </p:sp>
      <p:sp>
        <p:nvSpPr>
          <p:cNvPr id="109" name="Text 6"/>
          <p:cNvSpPr/>
          <p:nvPr/>
        </p:nvSpPr>
        <p:spPr>
          <a:xfrm>
            <a:off x="777240" y="1938600"/>
            <a:ext cx="15541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920" b="0" u="none" strike="noStrike">
                <a:solidFill>
                  <a:srgbClr val="64748B"/>
                </a:solidFill>
                <a:effectLst/>
                <a:uFillTx/>
                <a:latin typeface="Noto Sans CJK SC"/>
                <a:ea typeface="Noto Sans CJK SC"/>
              </a:rPr>
              <a:t>真实地震记录</a:t>
            </a:r>
            <a:endParaRPr lang="en-US" sz="920" b="0" u="none" strike="noStrike">
              <a:solidFill>
                <a:srgbClr val="000000"/>
              </a:solidFill>
              <a:effectLst/>
              <a:uFillTx/>
              <a:latin typeface="Arial"/>
            </a:endParaRPr>
          </a:p>
        </p:txBody>
      </p:sp>
      <p:sp>
        <p:nvSpPr>
          <p:cNvPr id="110" name="Text 7"/>
          <p:cNvSpPr/>
          <p:nvPr/>
        </p:nvSpPr>
        <p:spPr>
          <a:xfrm>
            <a:off x="2743200" y="1463040"/>
            <a:ext cx="18284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500" b="1" u="none" strike="noStrike">
                <a:solidFill>
                  <a:srgbClr val="16A34A"/>
                </a:solidFill>
                <a:effectLst/>
                <a:uFillTx/>
                <a:latin typeface="Noto Sans CJK SC"/>
                <a:ea typeface="Noto Sans CJK SC"/>
              </a:rPr>
              <a:t>USGS</a:t>
            </a:r>
            <a:endParaRPr lang="en-US" sz="2500" b="0" u="none" strike="noStrike">
              <a:solidFill>
                <a:srgbClr val="000000"/>
              </a:solidFill>
              <a:effectLst/>
              <a:uFillTx/>
              <a:latin typeface="Arial"/>
            </a:endParaRPr>
          </a:p>
        </p:txBody>
      </p:sp>
      <p:sp>
        <p:nvSpPr>
          <p:cNvPr id="111" name="Text 8"/>
          <p:cNvSpPr/>
          <p:nvPr/>
        </p:nvSpPr>
        <p:spPr>
          <a:xfrm>
            <a:off x="2743200" y="1938600"/>
            <a:ext cx="18284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920" b="0" u="none" strike="noStrike">
                <a:solidFill>
                  <a:srgbClr val="64748B"/>
                </a:solidFill>
                <a:effectLst/>
                <a:uFillTx/>
                <a:latin typeface="Noto Sans CJK SC"/>
                <a:ea typeface="Noto Sans CJK SC"/>
              </a:rPr>
              <a:t>唯一正式数据源</a:t>
            </a:r>
            <a:endParaRPr lang="en-US" sz="920" b="0" u="none" strike="noStrike">
              <a:solidFill>
                <a:srgbClr val="000000"/>
              </a:solidFill>
              <a:effectLst/>
              <a:uFillTx/>
              <a:latin typeface="Arial"/>
            </a:endParaRPr>
          </a:p>
        </p:txBody>
      </p:sp>
      <p:sp>
        <p:nvSpPr>
          <p:cNvPr id="112" name="Text 9"/>
          <p:cNvSpPr/>
          <p:nvPr/>
        </p:nvSpPr>
        <p:spPr>
          <a:xfrm>
            <a:off x="4892040" y="1463040"/>
            <a:ext cx="18284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500" b="1" u="none" strike="noStrike">
                <a:solidFill>
                  <a:srgbClr val="F59E0B"/>
                </a:solidFill>
                <a:effectLst/>
                <a:uFillTx/>
                <a:latin typeface="Noto Sans CJK SC"/>
                <a:ea typeface="Noto Sans CJK SC"/>
              </a:rPr>
              <a:t>GeoJSON</a:t>
            </a:r>
            <a:endParaRPr lang="en-US" sz="2500" b="0" u="none" strike="noStrike">
              <a:solidFill>
                <a:srgbClr val="000000"/>
              </a:solidFill>
              <a:effectLst/>
              <a:uFillTx/>
              <a:latin typeface="Arial"/>
            </a:endParaRPr>
          </a:p>
        </p:txBody>
      </p:sp>
      <p:sp>
        <p:nvSpPr>
          <p:cNvPr id="113" name="Text 10"/>
          <p:cNvSpPr/>
          <p:nvPr/>
        </p:nvSpPr>
        <p:spPr>
          <a:xfrm>
            <a:off x="4892040" y="1938600"/>
            <a:ext cx="18284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920" b="0" u="none" strike="noStrike">
                <a:solidFill>
                  <a:srgbClr val="64748B"/>
                </a:solidFill>
                <a:effectLst/>
                <a:uFillTx/>
                <a:latin typeface="Noto Sans CJK SC"/>
                <a:ea typeface="Noto Sans CJK SC"/>
              </a:rPr>
              <a:t>原始响应格式</a:t>
            </a:r>
            <a:endParaRPr lang="en-US" sz="920" b="0" u="none" strike="noStrike">
              <a:solidFill>
                <a:srgbClr val="000000"/>
              </a:solidFill>
              <a:effectLst/>
              <a:uFillTx/>
              <a:latin typeface="Arial"/>
            </a:endParaRPr>
          </a:p>
        </p:txBody>
      </p:sp>
      <p:sp>
        <p:nvSpPr>
          <p:cNvPr id="114" name="Text 11"/>
          <p:cNvSpPr/>
          <p:nvPr/>
        </p:nvSpPr>
        <p:spPr>
          <a:xfrm>
            <a:off x="6995160" y="1463040"/>
            <a:ext cx="16455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500" b="1" u="none" strike="noStrike">
                <a:solidFill>
                  <a:srgbClr val="DC2626"/>
                </a:solidFill>
                <a:effectLst/>
                <a:uFillTx/>
                <a:latin typeface="Noto Sans CJK SC"/>
                <a:ea typeface="Noto Sans CJK SC"/>
              </a:rPr>
              <a:t>0</a:t>
            </a:r>
            <a:endParaRPr lang="en-US" sz="2500" b="0" u="none" strike="noStrike">
              <a:solidFill>
                <a:srgbClr val="000000"/>
              </a:solidFill>
              <a:effectLst/>
              <a:uFillTx/>
              <a:latin typeface="Arial"/>
            </a:endParaRPr>
          </a:p>
        </p:txBody>
      </p:sp>
      <p:sp>
        <p:nvSpPr>
          <p:cNvPr id="115" name="Text 12"/>
          <p:cNvSpPr/>
          <p:nvPr/>
        </p:nvSpPr>
        <p:spPr>
          <a:xfrm>
            <a:off x="6995160" y="1938600"/>
            <a:ext cx="16455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920" b="0" u="none" strike="noStrike">
                <a:solidFill>
                  <a:srgbClr val="64748B"/>
                </a:solidFill>
                <a:effectLst/>
                <a:uFillTx/>
                <a:latin typeface="Noto Sans CJK SC"/>
                <a:ea typeface="Noto Sans CJK SC"/>
              </a:rPr>
              <a:t>模拟</a:t>
            </a:r>
            <a:r>
              <a:rPr lang="en-US" sz="920" b="0" u="none" strike="noStrike">
                <a:solidFill>
                  <a:srgbClr val="64748B"/>
                </a:solidFill>
                <a:effectLst/>
                <a:uFillTx/>
                <a:latin typeface="Noto Sans CJK SC"/>
                <a:ea typeface="Noto Sans CJK SC"/>
              </a:rPr>
              <a:t>/</a:t>
            </a:r>
            <a:r>
              <a:rPr lang="zh-CN" sz="920" b="0" u="none" strike="noStrike">
                <a:solidFill>
                  <a:srgbClr val="64748B"/>
                </a:solidFill>
                <a:effectLst/>
                <a:uFillTx/>
                <a:latin typeface="Noto Sans CJK SC"/>
                <a:ea typeface="Noto Sans CJK SC"/>
              </a:rPr>
              <a:t>随机事件</a:t>
            </a:r>
            <a:endParaRPr lang="en-US" sz="920" b="0" u="none" strike="noStrike">
              <a:solidFill>
                <a:srgbClr val="000000"/>
              </a:solidFill>
              <a:effectLst/>
              <a:uFillTx/>
              <a:latin typeface="Arial"/>
            </a:endParaRPr>
          </a:p>
        </p:txBody>
      </p:sp>
      <p:sp>
        <p:nvSpPr>
          <p:cNvPr id="116" name="Text 13"/>
          <p:cNvSpPr/>
          <p:nvPr/>
        </p:nvSpPr>
        <p:spPr>
          <a:xfrm>
            <a:off x="777240" y="2743200"/>
            <a:ext cx="18284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1200" b="1" u="none" strike="noStrike">
                <a:solidFill>
                  <a:srgbClr val="0F172A"/>
                </a:solidFill>
                <a:effectLst/>
                <a:uFillTx/>
                <a:latin typeface="Noto Sans CJK SC"/>
                <a:ea typeface="Noto Sans CJK SC"/>
              </a:rPr>
              <a:t>本次查询参数</a:t>
            </a:r>
            <a:endParaRPr lang="en-US" sz="1200" b="0" u="none" strike="noStrike">
              <a:solidFill>
                <a:srgbClr val="000000"/>
              </a:solidFill>
              <a:effectLst/>
              <a:uFillTx/>
              <a:latin typeface="Arial"/>
            </a:endParaRPr>
          </a:p>
        </p:txBody>
      </p:sp>
      <p:sp>
        <p:nvSpPr>
          <p:cNvPr id="117" name="Shape 14"/>
          <p:cNvSpPr/>
          <p:nvPr/>
        </p:nvSpPr>
        <p:spPr>
          <a:xfrm>
            <a:off x="777240" y="3154680"/>
            <a:ext cx="2788560" cy="292320"/>
          </a:xfrm>
          <a:prstGeom prst="roundRect">
            <a:avLst>
              <a:gd name="adj" fmla="val 25000"/>
            </a:avLst>
          </a:prstGeom>
          <a:solidFill>
            <a:srgbClr val="E2E8F0"/>
          </a:solidFill>
          <a:ln w="1270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8" name="Text 15"/>
          <p:cNvSpPr/>
          <p:nvPr/>
        </p:nvSpPr>
        <p:spPr>
          <a:xfrm>
            <a:off x="868680" y="3223440"/>
            <a:ext cx="2605680" cy="12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750" b="1" u="none" strike="noStrike">
                <a:solidFill>
                  <a:srgbClr val="334155"/>
                </a:solidFill>
                <a:effectLst/>
                <a:uFillTx/>
                <a:latin typeface="Noto Sans CJK SC"/>
                <a:ea typeface="Noto Sans CJK SC"/>
              </a:rPr>
              <a:t>时间：</a:t>
            </a:r>
            <a:r>
              <a:rPr lang="en-US" sz="750" b="1" u="none" strike="noStrike">
                <a:solidFill>
                  <a:srgbClr val="334155"/>
                </a:solidFill>
                <a:effectLst/>
                <a:uFillTx/>
                <a:latin typeface="Noto Sans CJK SC"/>
                <a:ea typeface="Noto Sans CJK SC"/>
              </a:rPr>
              <a:t>2025-12-24 </a:t>
            </a:r>
            <a:r>
              <a:rPr lang="zh-CN" sz="750" b="1" u="none" strike="noStrike">
                <a:solidFill>
                  <a:srgbClr val="334155"/>
                </a:solidFill>
                <a:effectLst/>
                <a:uFillTx/>
                <a:latin typeface="Noto Sans CJK SC"/>
                <a:ea typeface="Noto Sans CJK SC"/>
              </a:rPr>
              <a:t>至 </a:t>
            </a:r>
            <a:r>
              <a:rPr lang="en-US" sz="750" b="1" u="none" strike="noStrike">
                <a:solidFill>
                  <a:srgbClr val="334155"/>
                </a:solidFill>
                <a:effectLst/>
                <a:uFillTx/>
                <a:latin typeface="Noto Sans CJK SC"/>
                <a:ea typeface="Noto Sans CJK SC"/>
              </a:rPr>
              <a:t>2026-06-22</a:t>
            </a:r>
            <a:endParaRPr lang="en-US" sz="750" b="0" u="none" strike="noStrike">
              <a:solidFill>
                <a:srgbClr val="000000"/>
              </a:solidFill>
              <a:effectLst/>
              <a:uFillTx/>
              <a:latin typeface="Arial"/>
            </a:endParaRPr>
          </a:p>
        </p:txBody>
      </p:sp>
      <p:sp>
        <p:nvSpPr>
          <p:cNvPr id="119" name="Shape 16"/>
          <p:cNvSpPr/>
          <p:nvPr/>
        </p:nvSpPr>
        <p:spPr>
          <a:xfrm>
            <a:off x="4160520" y="3154680"/>
            <a:ext cx="2788560" cy="292320"/>
          </a:xfrm>
          <a:prstGeom prst="roundRect">
            <a:avLst>
              <a:gd name="adj" fmla="val 25000"/>
            </a:avLst>
          </a:prstGeom>
          <a:solidFill>
            <a:srgbClr val="E2E8F0"/>
          </a:solidFill>
          <a:ln w="1270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0" name="Text 17"/>
          <p:cNvSpPr/>
          <p:nvPr/>
        </p:nvSpPr>
        <p:spPr>
          <a:xfrm>
            <a:off x="4251960" y="3223440"/>
            <a:ext cx="2605680" cy="12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750" b="1" u="none" strike="noStrike">
                <a:solidFill>
                  <a:srgbClr val="334155"/>
                </a:solidFill>
                <a:effectLst/>
                <a:uFillTx/>
                <a:latin typeface="Noto Sans CJK SC"/>
                <a:ea typeface="Noto Sans CJK SC"/>
              </a:rPr>
              <a:t>最小震级：</a:t>
            </a:r>
            <a:r>
              <a:rPr lang="en-US" sz="750" b="1" u="none" strike="noStrike">
                <a:solidFill>
                  <a:srgbClr val="334155"/>
                </a:solidFill>
                <a:effectLst/>
                <a:uFillTx/>
                <a:latin typeface="Noto Sans CJK SC"/>
                <a:ea typeface="Noto Sans CJK SC"/>
              </a:rPr>
              <a:t>M2.5</a:t>
            </a:r>
            <a:endParaRPr lang="en-US" sz="750" b="0" u="none" strike="noStrike">
              <a:solidFill>
                <a:srgbClr val="000000"/>
              </a:solidFill>
              <a:effectLst/>
              <a:uFillTx/>
              <a:latin typeface="Arial"/>
            </a:endParaRPr>
          </a:p>
        </p:txBody>
      </p:sp>
      <p:sp>
        <p:nvSpPr>
          <p:cNvPr id="121" name="Shape 18"/>
          <p:cNvSpPr/>
          <p:nvPr/>
        </p:nvSpPr>
        <p:spPr>
          <a:xfrm>
            <a:off x="7543800" y="3154680"/>
            <a:ext cx="2788560" cy="292320"/>
          </a:xfrm>
          <a:prstGeom prst="roundRect">
            <a:avLst>
              <a:gd name="adj" fmla="val 25000"/>
            </a:avLst>
          </a:prstGeom>
          <a:solidFill>
            <a:srgbClr val="E2E8F0"/>
          </a:solidFill>
          <a:ln w="1270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2" name="Text 19"/>
          <p:cNvSpPr/>
          <p:nvPr/>
        </p:nvSpPr>
        <p:spPr>
          <a:xfrm>
            <a:off x="7635240" y="3223440"/>
            <a:ext cx="2605680" cy="12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750" b="1" u="none" strike="noStrike">
                <a:solidFill>
                  <a:srgbClr val="334155"/>
                </a:solidFill>
                <a:effectLst/>
                <a:uFillTx/>
                <a:latin typeface="Noto Sans CJK SC"/>
                <a:ea typeface="Noto Sans CJK SC"/>
              </a:rPr>
              <a:t>中心点：</a:t>
            </a:r>
            <a:r>
              <a:rPr lang="en-US" sz="750" b="1" u="none" strike="noStrike">
                <a:solidFill>
                  <a:srgbClr val="334155"/>
                </a:solidFill>
                <a:effectLst/>
                <a:uFillTx/>
                <a:latin typeface="Noto Sans CJK SC"/>
                <a:ea typeface="Noto Sans CJK SC"/>
              </a:rPr>
              <a:t>35°N, 105°E</a:t>
            </a:r>
            <a:endParaRPr lang="en-US" sz="750" b="0" u="none" strike="noStrike">
              <a:solidFill>
                <a:srgbClr val="000000"/>
              </a:solidFill>
              <a:effectLst/>
              <a:uFillTx/>
              <a:latin typeface="Arial"/>
            </a:endParaRPr>
          </a:p>
        </p:txBody>
      </p:sp>
      <p:sp>
        <p:nvSpPr>
          <p:cNvPr id="123" name="Shape 20"/>
          <p:cNvSpPr/>
          <p:nvPr/>
        </p:nvSpPr>
        <p:spPr>
          <a:xfrm>
            <a:off x="777240" y="3611880"/>
            <a:ext cx="2788560" cy="292320"/>
          </a:xfrm>
          <a:prstGeom prst="roundRect">
            <a:avLst>
              <a:gd name="adj" fmla="val 25000"/>
            </a:avLst>
          </a:prstGeom>
          <a:solidFill>
            <a:srgbClr val="E2E8F0"/>
          </a:solidFill>
          <a:ln w="1270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4" name="Text 21"/>
          <p:cNvSpPr/>
          <p:nvPr/>
        </p:nvSpPr>
        <p:spPr>
          <a:xfrm>
            <a:off x="868680" y="3680640"/>
            <a:ext cx="2605680" cy="12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750" b="1" u="none" strike="noStrike">
                <a:solidFill>
                  <a:srgbClr val="334155"/>
                </a:solidFill>
                <a:effectLst/>
                <a:uFillTx/>
                <a:latin typeface="Noto Sans CJK SC"/>
                <a:ea typeface="Noto Sans CJK SC"/>
              </a:rPr>
              <a:t>半径：</a:t>
            </a:r>
            <a:r>
              <a:rPr lang="en-US" sz="750" b="1" u="none" strike="noStrike">
                <a:solidFill>
                  <a:srgbClr val="334155"/>
                </a:solidFill>
                <a:effectLst/>
                <a:uFillTx/>
                <a:latin typeface="Noto Sans CJK SC"/>
                <a:ea typeface="Noto Sans CJK SC"/>
              </a:rPr>
              <a:t>2000 km</a:t>
            </a:r>
            <a:endParaRPr lang="en-US" sz="750" b="0" u="none" strike="noStrike">
              <a:solidFill>
                <a:srgbClr val="000000"/>
              </a:solidFill>
              <a:effectLst/>
              <a:uFillTx/>
              <a:latin typeface="Arial"/>
            </a:endParaRPr>
          </a:p>
        </p:txBody>
      </p:sp>
      <p:sp>
        <p:nvSpPr>
          <p:cNvPr id="125" name="Shape 22"/>
          <p:cNvSpPr/>
          <p:nvPr/>
        </p:nvSpPr>
        <p:spPr>
          <a:xfrm>
            <a:off x="4160520" y="3611880"/>
            <a:ext cx="2788560" cy="292320"/>
          </a:xfrm>
          <a:prstGeom prst="roundRect">
            <a:avLst>
              <a:gd name="adj" fmla="val 25000"/>
            </a:avLst>
          </a:prstGeom>
          <a:solidFill>
            <a:srgbClr val="E2E8F0"/>
          </a:solidFill>
          <a:ln w="1270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6" name="Text 23"/>
          <p:cNvSpPr/>
          <p:nvPr/>
        </p:nvSpPr>
        <p:spPr>
          <a:xfrm>
            <a:off x="4251960" y="3680640"/>
            <a:ext cx="2605680" cy="12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750" b="1" u="none" strike="noStrike">
                <a:solidFill>
                  <a:srgbClr val="334155"/>
                </a:solidFill>
                <a:effectLst/>
                <a:uFillTx/>
                <a:latin typeface="Noto Sans CJK SC"/>
                <a:ea typeface="Noto Sans CJK SC"/>
              </a:rPr>
              <a:t>排序：按时间</a:t>
            </a:r>
            <a:endParaRPr lang="en-US" sz="750" b="0" u="none" strike="noStrike">
              <a:solidFill>
                <a:srgbClr val="000000"/>
              </a:solidFill>
              <a:effectLst/>
              <a:uFillTx/>
              <a:latin typeface="Arial"/>
            </a:endParaRPr>
          </a:p>
        </p:txBody>
      </p:sp>
      <p:sp>
        <p:nvSpPr>
          <p:cNvPr id="127" name="Shape 24"/>
          <p:cNvSpPr/>
          <p:nvPr/>
        </p:nvSpPr>
        <p:spPr>
          <a:xfrm>
            <a:off x="7543800" y="3611880"/>
            <a:ext cx="2788560" cy="292320"/>
          </a:xfrm>
          <a:prstGeom prst="roundRect">
            <a:avLst>
              <a:gd name="adj" fmla="val 25000"/>
            </a:avLst>
          </a:prstGeom>
          <a:solidFill>
            <a:srgbClr val="E2E8F0"/>
          </a:solidFill>
          <a:ln w="1270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8" name="Text 25"/>
          <p:cNvSpPr/>
          <p:nvPr/>
        </p:nvSpPr>
        <p:spPr>
          <a:xfrm>
            <a:off x="7635240" y="3680640"/>
            <a:ext cx="2605680" cy="12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750" b="1" u="none" strike="noStrike">
                <a:solidFill>
                  <a:srgbClr val="334155"/>
                </a:solidFill>
                <a:effectLst/>
                <a:uFillTx/>
                <a:latin typeface="Noto Sans CJK SC"/>
                <a:ea typeface="Noto Sans CJK SC"/>
              </a:rPr>
              <a:t>上限：</a:t>
            </a:r>
            <a:r>
              <a:rPr lang="en-US" sz="750" b="1" u="none" strike="noStrike">
                <a:solidFill>
                  <a:srgbClr val="334155"/>
                </a:solidFill>
                <a:effectLst/>
                <a:uFillTx/>
                <a:latin typeface="Noto Sans CJK SC"/>
                <a:ea typeface="Noto Sans CJK SC"/>
              </a:rPr>
              <a:t>200</a:t>
            </a:r>
            <a:r>
              <a:rPr lang="zh-CN" sz="750" b="1" u="none" strike="noStrike">
                <a:solidFill>
                  <a:srgbClr val="334155"/>
                </a:solidFill>
                <a:effectLst/>
                <a:uFillTx/>
                <a:latin typeface="Noto Sans CJK SC"/>
                <a:ea typeface="Noto Sans CJK SC"/>
              </a:rPr>
              <a:t>条</a:t>
            </a:r>
            <a:endParaRPr lang="en-US" sz="750" b="0" u="none" strike="noStrike">
              <a:solidFill>
                <a:srgbClr val="000000"/>
              </a:solidFill>
              <a:effectLst/>
              <a:uFillTx/>
              <a:latin typeface="Arial"/>
            </a:endParaRPr>
          </a:p>
        </p:txBody>
      </p:sp>
      <p:sp>
        <p:nvSpPr>
          <p:cNvPr id="129" name="Text 26"/>
          <p:cNvSpPr/>
          <p:nvPr/>
        </p:nvSpPr>
        <p:spPr>
          <a:xfrm>
            <a:off x="777240" y="4206240"/>
            <a:ext cx="18284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1200" b="1" u="none" strike="noStrike">
                <a:solidFill>
                  <a:srgbClr val="0F172A"/>
                </a:solidFill>
                <a:effectLst/>
                <a:uFillTx/>
                <a:latin typeface="Noto Sans CJK SC"/>
                <a:ea typeface="Noto Sans CJK SC"/>
              </a:rPr>
              <a:t>可追溯材料</a:t>
            </a:r>
            <a:endParaRPr lang="en-US" sz="1200" b="0" u="none" strike="noStrike">
              <a:solidFill>
                <a:srgbClr val="000000"/>
              </a:solidFill>
              <a:effectLst/>
              <a:uFillTx/>
              <a:latin typeface="Arial"/>
            </a:endParaRPr>
          </a:p>
        </p:txBody>
      </p:sp>
      <p:sp>
        <p:nvSpPr>
          <p:cNvPr id="130" name="Shape 27"/>
          <p:cNvSpPr/>
          <p:nvPr/>
        </p:nvSpPr>
        <p:spPr>
          <a:xfrm>
            <a:off x="777240" y="4617720"/>
            <a:ext cx="1416960" cy="658080"/>
          </a:xfrm>
          <a:prstGeom prst="roundRect">
            <a:avLst>
              <a:gd name="adj" fmla="val 11111"/>
            </a:avLst>
          </a:prstGeom>
          <a:solidFill>
            <a:srgbClr val="FFFFFF"/>
          </a:solidFill>
          <a:ln w="12700">
            <a:solidFill>
              <a:srgbClr val="2563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1" name="Text 28"/>
          <p:cNvSpPr/>
          <p:nvPr/>
        </p:nvSpPr>
        <p:spPr>
          <a:xfrm>
            <a:off x="850320" y="4709160"/>
            <a:ext cx="127080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1000" b="1" u="none" strike="noStrike">
                <a:solidFill>
                  <a:srgbClr val="0F172A"/>
                </a:solidFill>
                <a:effectLst/>
                <a:uFillTx/>
                <a:latin typeface="Noto Sans CJK SC"/>
                <a:ea typeface="Noto Sans CJK SC"/>
              </a:rPr>
              <a:t>原始</a:t>
            </a:r>
            <a:endParaRPr lang="en-US" sz="1000" b="0" u="none" strike="noStrike">
              <a:solidFill>
                <a:srgbClr val="000000"/>
              </a:solidFill>
              <a:effectLst/>
              <a:uFillTx/>
              <a:latin typeface="Arial"/>
            </a:endParaRPr>
          </a:p>
          <a:p>
            <a:pPr algn="ctr" defTabSz="914400">
              <a:lnSpc>
                <a:spcPct val="100000"/>
              </a:lnSpc>
              <a:tabLst>
                <a:tab pos="0" algn="l"/>
              </a:tabLst>
            </a:pPr>
            <a:r>
              <a:rPr lang="en-US" sz="1000" b="1" u="none" strike="noStrike">
                <a:solidFill>
                  <a:srgbClr val="0F172A"/>
                </a:solidFill>
                <a:effectLst/>
                <a:uFillTx/>
                <a:latin typeface="Noto Sans CJK SC"/>
                <a:ea typeface="Noto Sans CJK SC"/>
              </a:rPr>
              <a:t>GeoJSON</a:t>
            </a:r>
            <a:endParaRPr lang="en-US" sz="1000" b="0" u="none" strike="noStrike">
              <a:solidFill>
                <a:srgbClr val="000000"/>
              </a:solidFill>
              <a:effectLst/>
              <a:uFillTx/>
              <a:latin typeface="Arial"/>
            </a:endParaRPr>
          </a:p>
        </p:txBody>
      </p:sp>
      <p:sp>
        <p:nvSpPr>
          <p:cNvPr id="132" name="Shape 29"/>
          <p:cNvSpPr/>
          <p:nvPr/>
        </p:nvSpPr>
        <p:spPr>
          <a:xfrm>
            <a:off x="2514600" y="4617720"/>
            <a:ext cx="1416960" cy="658080"/>
          </a:xfrm>
          <a:prstGeom prst="roundRect">
            <a:avLst>
              <a:gd name="adj" fmla="val 11111"/>
            </a:avLst>
          </a:prstGeom>
          <a:solidFill>
            <a:srgbClr val="FFFFFF"/>
          </a:solidFill>
          <a:ln w="12700">
            <a:solidFill>
              <a:srgbClr val="2563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3" name="Text 30"/>
          <p:cNvSpPr/>
          <p:nvPr/>
        </p:nvSpPr>
        <p:spPr>
          <a:xfrm>
            <a:off x="2587680" y="4709160"/>
            <a:ext cx="127080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1000" b="1" u="none" strike="noStrike">
                <a:solidFill>
                  <a:srgbClr val="0F172A"/>
                </a:solidFill>
                <a:effectLst/>
                <a:uFillTx/>
                <a:latin typeface="Noto Sans CJK SC"/>
                <a:ea typeface="Noto Sans CJK SC"/>
              </a:rPr>
              <a:t>规范化</a:t>
            </a:r>
            <a:endParaRPr lang="en-US" sz="1000" b="0" u="none" strike="noStrike">
              <a:solidFill>
                <a:srgbClr val="000000"/>
              </a:solidFill>
              <a:effectLst/>
              <a:uFillTx/>
              <a:latin typeface="Arial"/>
            </a:endParaRPr>
          </a:p>
          <a:p>
            <a:pPr algn="ctr" defTabSz="914400">
              <a:lnSpc>
                <a:spcPct val="100000"/>
              </a:lnSpc>
              <a:tabLst>
                <a:tab pos="0" algn="l"/>
              </a:tabLst>
            </a:pPr>
            <a:r>
              <a:rPr lang="en-US" sz="1000" b="1" u="none" strike="noStrike">
                <a:solidFill>
                  <a:srgbClr val="0F172A"/>
                </a:solidFill>
                <a:effectLst/>
                <a:uFillTx/>
                <a:latin typeface="Noto Sans CJK SC"/>
                <a:ea typeface="Noto Sans CJK SC"/>
              </a:rPr>
              <a:t>CSV</a:t>
            </a:r>
            <a:endParaRPr lang="en-US" sz="1000" b="0" u="none" strike="noStrike">
              <a:solidFill>
                <a:srgbClr val="000000"/>
              </a:solidFill>
              <a:effectLst/>
              <a:uFillTx/>
              <a:latin typeface="Arial"/>
            </a:endParaRPr>
          </a:p>
        </p:txBody>
      </p:sp>
      <p:sp>
        <p:nvSpPr>
          <p:cNvPr id="134" name="Shape 31"/>
          <p:cNvSpPr/>
          <p:nvPr/>
        </p:nvSpPr>
        <p:spPr>
          <a:xfrm>
            <a:off x="4251960" y="4617720"/>
            <a:ext cx="1416960" cy="658080"/>
          </a:xfrm>
          <a:prstGeom prst="roundRect">
            <a:avLst>
              <a:gd name="adj" fmla="val 11111"/>
            </a:avLst>
          </a:prstGeom>
          <a:solidFill>
            <a:srgbClr val="FFFFFF"/>
          </a:solidFill>
          <a:ln w="12700">
            <a:solidFill>
              <a:srgbClr val="2563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5" name="Text 32"/>
          <p:cNvSpPr/>
          <p:nvPr/>
        </p:nvSpPr>
        <p:spPr>
          <a:xfrm>
            <a:off x="4325040" y="4709160"/>
            <a:ext cx="127080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1000" b="1" u="none" strike="noStrike">
                <a:solidFill>
                  <a:srgbClr val="0F172A"/>
                </a:solidFill>
                <a:effectLst/>
                <a:uFillTx/>
                <a:latin typeface="Noto Sans CJK SC"/>
                <a:ea typeface="Noto Sans CJK SC"/>
              </a:rPr>
              <a:t>处理后</a:t>
            </a:r>
            <a:endParaRPr lang="en-US" sz="1000" b="0" u="none" strike="noStrike">
              <a:solidFill>
                <a:srgbClr val="000000"/>
              </a:solidFill>
              <a:effectLst/>
              <a:uFillTx/>
              <a:latin typeface="Arial"/>
            </a:endParaRPr>
          </a:p>
          <a:p>
            <a:pPr algn="ctr" defTabSz="914400">
              <a:lnSpc>
                <a:spcPct val="100000"/>
              </a:lnSpc>
              <a:tabLst>
                <a:tab pos="0" algn="l"/>
              </a:tabLst>
            </a:pPr>
            <a:r>
              <a:rPr lang="zh-CN" sz="1000" b="1" u="none" strike="noStrike">
                <a:solidFill>
                  <a:srgbClr val="0F172A"/>
                </a:solidFill>
                <a:effectLst/>
                <a:uFillTx/>
                <a:latin typeface="Noto Sans CJK SC"/>
                <a:ea typeface="Noto Sans CJK SC"/>
              </a:rPr>
              <a:t>数据集</a:t>
            </a:r>
            <a:endParaRPr lang="en-US" sz="1000" b="0" u="none" strike="noStrike">
              <a:solidFill>
                <a:srgbClr val="000000"/>
              </a:solidFill>
              <a:effectLst/>
              <a:uFillTx/>
              <a:latin typeface="Arial"/>
            </a:endParaRPr>
          </a:p>
        </p:txBody>
      </p:sp>
      <p:sp>
        <p:nvSpPr>
          <p:cNvPr id="136" name="Shape 33"/>
          <p:cNvSpPr/>
          <p:nvPr/>
        </p:nvSpPr>
        <p:spPr>
          <a:xfrm>
            <a:off x="5989320" y="4617720"/>
            <a:ext cx="1416960" cy="658080"/>
          </a:xfrm>
          <a:prstGeom prst="roundRect">
            <a:avLst>
              <a:gd name="adj" fmla="val 11111"/>
            </a:avLst>
          </a:prstGeom>
          <a:solidFill>
            <a:srgbClr val="FFFFFF"/>
          </a:solidFill>
          <a:ln w="12700">
            <a:solidFill>
              <a:srgbClr val="2563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7" name="Text 34"/>
          <p:cNvSpPr/>
          <p:nvPr/>
        </p:nvSpPr>
        <p:spPr>
          <a:xfrm>
            <a:off x="6062400" y="4709160"/>
            <a:ext cx="127080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a:solidFill>
                  <a:srgbClr val="0F172A"/>
                </a:solidFill>
                <a:effectLst/>
                <a:uFillTx/>
                <a:latin typeface="Noto Sans CJK SC"/>
                <a:ea typeface="Noto Sans CJK SC"/>
              </a:rPr>
              <a:t>metadata</a:t>
            </a:r>
            <a:endParaRPr lang="en-US" sz="1000" b="0" u="none" strike="noStrike">
              <a:solidFill>
                <a:srgbClr val="000000"/>
              </a:solidFill>
              <a:effectLst/>
              <a:uFillTx/>
              <a:latin typeface="Arial"/>
            </a:endParaRPr>
          </a:p>
          <a:p>
            <a:pPr algn="ctr" defTabSz="914400">
              <a:lnSpc>
                <a:spcPct val="100000"/>
              </a:lnSpc>
              <a:tabLst>
                <a:tab pos="0" algn="l"/>
              </a:tabLst>
            </a:pPr>
            <a:r>
              <a:rPr lang="en-US" sz="1000" b="1" u="none" strike="noStrike">
                <a:solidFill>
                  <a:srgbClr val="0F172A"/>
                </a:solidFill>
                <a:effectLst/>
                <a:uFillTx/>
                <a:latin typeface="Noto Sans CJK SC"/>
                <a:ea typeface="Noto Sans CJK SC"/>
              </a:rPr>
              <a:t>+ SHA256</a:t>
            </a:r>
            <a:endParaRPr lang="en-US" sz="1000" b="0" u="none" strike="noStrike">
              <a:solidFill>
                <a:srgbClr val="000000"/>
              </a:solidFill>
              <a:effectLst/>
              <a:uFillTx/>
              <a:latin typeface="Arial"/>
            </a:endParaRPr>
          </a:p>
        </p:txBody>
      </p:sp>
      <p:sp>
        <p:nvSpPr>
          <p:cNvPr id="138" name="Shape 35"/>
          <p:cNvSpPr/>
          <p:nvPr/>
        </p:nvSpPr>
        <p:spPr>
          <a:xfrm>
            <a:off x="7726680" y="4617720"/>
            <a:ext cx="1416960" cy="658080"/>
          </a:xfrm>
          <a:prstGeom prst="roundRect">
            <a:avLst>
              <a:gd name="adj" fmla="val 11111"/>
            </a:avLst>
          </a:prstGeom>
          <a:solidFill>
            <a:srgbClr val="FFFFFF"/>
          </a:solidFill>
          <a:ln w="12700">
            <a:solidFill>
              <a:srgbClr val="2563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9" name="Text 36"/>
          <p:cNvSpPr/>
          <p:nvPr/>
        </p:nvSpPr>
        <p:spPr>
          <a:xfrm>
            <a:off x="7799760" y="4709160"/>
            <a:ext cx="127080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a:solidFill>
                  <a:srgbClr val="0F172A"/>
                </a:solidFill>
                <a:effectLst/>
                <a:uFillTx/>
                <a:latin typeface="Noto Sans CJK SC"/>
                <a:ea typeface="Noto Sans CJK SC"/>
              </a:rPr>
              <a:t>crawl_log</a:t>
            </a:r>
            <a:endParaRPr lang="en-US" sz="1000" b="0" u="none" strike="noStrike">
              <a:solidFill>
                <a:srgbClr val="000000"/>
              </a:solidFill>
              <a:effectLst/>
              <a:uFillTx/>
              <a:latin typeface="Arial"/>
            </a:endParaRPr>
          </a:p>
          <a:p>
            <a:pPr algn="ctr" defTabSz="914400">
              <a:lnSpc>
                <a:spcPct val="100000"/>
              </a:lnSpc>
              <a:tabLst>
                <a:tab pos="0" algn="l"/>
              </a:tabLst>
            </a:pPr>
            <a:r>
              <a:rPr lang="zh-CN" sz="1000" b="1" u="none" strike="noStrike">
                <a:solidFill>
                  <a:srgbClr val="0F172A"/>
                </a:solidFill>
                <a:effectLst/>
                <a:uFillTx/>
                <a:latin typeface="Noto Sans CJK SC"/>
                <a:ea typeface="Noto Sans CJK SC"/>
              </a:rPr>
              <a:t>采集日志</a:t>
            </a:r>
            <a:endParaRPr lang="en-US" sz="1000" b="0" u="none" strike="noStrike">
              <a:solidFill>
                <a:srgbClr val="000000"/>
              </a:solidFill>
              <a:effectLst/>
              <a:uFillTx/>
              <a:latin typeface="Arial"/>
            </a:endParaRPr>
          </a:p>
        </p:txBody>
      </p:sp>
      <p:sp>
        <p:nvSpPr>
          <p:cNvPr id="140" name="Shape 37"/>
          <p:cNvSpPr/>
          <p:nvPr/>
        </p:nvSpPr>
        <p:spPr>
          <a:xfrm>
            <a:off x="2194560" y="4946760"/>
            <a:ext cx="320040" cy="360"/>
          </a:xfrm>
          <a:prstGeom prst="line">
            <a:avLst/>
          </a:prstGeom>
          <a:ln w="25400">
            <a:solidFill>
              <a:srgbClr val="2563EB"/>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41" name="Shape 38"/>
          <p:cNvSpPr/>
          <p:nvPr/>
        </p:nvSpPr>
        <p:spPr>
          <a:xfrm>
            <a:off x="3931920" y="4946760"/>
            <a:ext cx="320040" cy="360"/>
          </a:xfrm>
          <a:prstGeom prst="line">
            <a:avLst/>
          </a:prstGeom>
          <a:ln w="25400">
            <a:solidFill>
              <a:srgbClr val="2563EB"/>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42" name="Shape 39"/>
          <p:cNvSpPr/>
          <p:nvPr/>
        </p:nvSpPr>
        <p:spPr>
          <a:xfrm>
            <a:off x="5669280" y="4946760"/>
            <a:ext cx="320040" cy="360"/>
          </a:xfrm>
          <a:prstGeom prst="line">
            <a:avLst/>
          </a:prstGeom>
          <a:ln w="25400">
            <a:solidFill>
              <a:srgbClr val="2563EB"/>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43" name="Shape 40"/>
          <p:cNvSpPr/>
          <p:nvPr/>
        </p:nvSpPr>
        <p:spPr>
          <a:xfrm>
            <a:off x="7406640" y="4946760"/>
            <a:ext cx="320040" cy="360"/>
          </a:xfrm>
          <a:prstGeom prst="line">
            <a:avLst/>
          </a:prstGeom>
          <a:ln w="25400">
            <a:solidFill>
              <a:srgbClr val="2563EB"/>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44" name="Shape 41"/>
          <p:cNvSpPr/>
          <p:nvPr/>
        </p:nvSpPr>
        <p:spPr>
          <a:xfrm>
            <a:off x="9601200" y="1298520"/>
            <a:ext cx="1554120" cy="1554120"/>
          </a:xfrm>
          <a:prstGeom prst="roundRect">
            <a:avLst>
              <a:gd name="adj" fmla="val 5882"/>
            </a:avLst>
          </a:prstGeom>
          <a:solidFill>
            <a:srgbClr val="FEF2F2"/>
          </a:solidFill>
          <a:ln w="12700">
            <a:solidFill>
              <a:srgbClr val="FECAC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5" name="Text 42"/>
          <p:cNvSpPr/>
          <p:nvPr/>
        </p:nvSpPr>
        <p:spPr>
          <a:xfrm>
            <a:off x="9857160" y="1572840"/>
            <a:ext cx="105120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1100" b="1" u="none" strike="noStrike">
                <a:solidFill>
                  <a:srgbClr val="DC2626"/>
                </a:solidFill>
                <a:effectLst/>
                <a:uFillTx/>
                <a:latin typeface="Noto Sans CJK SC"/>
                <a:ea typeface="Noto Sans CJK SC"/>
              </a:rPr>
              <a:t>重要边界</a:t>
            </a:r>
            <a:endParaRPr lang="en-US" sz="1100" b="0" u="none" strike="noStrike">
              <a:solidFill>
                <a:srgbClr val="000000"/>
              </a:solidFill>
              <a:effectLst/>
              <a:uFillTx/>
              <a:latin typeface="Arial"/>
            </a:endParaRPr>
          </a:p>
        </p:txBody>
      </p:sp>
      <p:sp>
        <p:nvSpPr>
          <p:cNvPr id="146" name="Text 43"/>
          <p:cNvSpPr/>
          <p:nvPr/>
        </p:nvSpPr>
        <p:spPr>
          <a:xfrm>
            <a:off x="9802440" y="1901880"/>
            <a:ext cx="114264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zh-CN" sz="980" b="0" u="none" strike="noStrike">
                <a:solidFill>
                  <a:srgbClr val="DC2626"/>
                </a:solidFill>
                <a:effectLst/>
                <a:uFillTx/>
                <a:latin typeface="Noto Sans CJK SC"/>
                <a:ea typeface="Noto Sans CJK SC"/>
              </a:rPr>
              <a:t>历史地震目录</a:t>
            </a:r>
            <a:endParaRPr lang="en-US" sz="980" b="0" u="none" strike="noStrike">
              <a:solidFill>
                <a:srgbClr val="000000"/>
              </a:solidFill>
              <a:effectLst/>
              <a:uFillTx/>
              <a:latin typeface="Arial"/>
            </a:endParaRPr>
          </a:p>
          <a:p>
            <a:pPr algn="ctr" defTabSz="914400">
              <a:lnSpc>
                <a:spcPct val="100000"/>
              </a:lnSpc>
              <a:tabLst>
                <a:tab pos="0" algn="l"/>
              </a:tabLst>
            </a:pPr>
            <a:r>
              <a:rPr lang="en-US" sz="980" b="0" u="none" strike="noStrike">
                <a:solidFill>
                  <a:srgbClr val="DC2626"/>
                </a:solidFill>
                <a:effectLst/>
                <a:uFillTx/>
                <a:latin typeface="Noto Sans CJK SC"/>
                <a:ea typeface="Noto Sans CJK SC"/>
              </a:rPr>
              <a:t>≠ 地震预测</a:t>
            </a:r>
            <a:endParaRPr lang="en-US" sz="980" b="0" u="none" strike="noStrike">
              <a:solidFill>
                <a:srgbClr val="000000"/>
              </a:solidFill>
              <a:effectLst/>
              <a:uFillTx/>
              <a:latin typeface="Arial"/>
            </a:endParaRPr>
          </a:p>
          <a:p>
            <a:pPr algn="ctr" defTabSz="914400">
              <a:lnSpc>
                <a:spcPct val="100000"/>
              </a:lnSpc>
              <a:tabLst>
                <a:tab pos="0" algn="l"/>
              </a:tabLst>
            </a:pPr>
            <a:r>
              <a:rPr lang="en-US" sz="980" b="0" u="none" strike="noStrike">
                <a:solidFill>
                  <a:srgbClr val="DC2626"/>
                </a:solidFill>
                <a:effectLst/>
                <a:uFillTx/>
                <a:latin typeface="Noto Sans CJK SC"/>
                <a:ea typeface="Noto Sans CJK SC"/>
              </a:rPr>
              <a:t>≠ 官方预警</a:t>
            </a:r>
            <a:endParaRPr lang="en-US" sz="98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89" name="Text 0"/>
          <p:cNvSpPr/>
          <p:nvPr/>
        </p:nvSpPr>
        <p:spPr>
          <a:xfrm>
            <a:off x="548640" y="411480"/>
            <a:ext cx="81378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2600" b="1" u="none" strike="noStrike">
                <a:solidFill>
                  <a:srgbClr val="0F172A"/>
                </a:solidFill>
                <a:effectLst/>
                <a:uFillTx/>
                <a:latin typeface="Noto Sans CJK SC"/>
                <a:ea typeface="Noto Sans CJK SC"/>
              </a:rPr>
              <a:t>系统总体架构</a:t>
            </a:r>
            <a:endParaRPr lang="en-US" sz="2600" b="0" u="none" strike="noStrike">
              <a:solidFill>
                <a:srgbClr val="000000"/>
              </a:solidFill>
              <a:effectLst/>
              <a:uFillTx/>
              <a:latin typeface="Arial"/>
            </a:endParaRPr>
          </a:p>
        </p:txBody>
      </p:sp>
      <p:sp>
        <p:nvSpPr>
          <p:cNvPr id="190" name="Text 1"/>
          <p:cNvSpPr/>
          <p:nvPr/>
        </p:nvSpPr>
        <p:spPr>
          <a:xfrm>
            <a:off x="567000" y="896040"/>
            <a:ext cx="64004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1050" b="0" u="none" strike="noStrike">
                <a:solidFill>
                  <a:srgbClr val="64748B"/>
                </a:solidFill>
                <a:effectLst/>
                <a:uFillTx/>
                <a:latin typeface="Noto Sans CJK SC"/>
                <a:ea typeface="Noto Sans CJK SC"/>
              </a:rPr>
              <a:t>从真实地震数据到手机端个性化提醒的端到端流程</a:t>
            </a:r>
            <a:endParaRPr lang="en-US" sz="1050" b="0" u="none" strike="noStrike">
              <a:solidFill>
                <a:srgbClr val="000000"/>
              </a:solidFill>
              <a:effectLst/>
              <a:uFillTx/>
              <a:latin typeface="Arial"/>
            </a:endParaRPr>
          </a:p>
        </p:txBody>
      </p:sp>
      <p:sp>
        <p:nvSpPr>
          <p:cNvPr id="191" name="Shape 2"/>
          <p:cNvSpPr/>
          <p:nvPr/>
        </p:nvSpPr>
        <p:spPr>
          <a:xfrm>
            <a:off x="548640" y="6473880"/>
            <a:ext cx="11091600" cy="360"/>
          </a:xfrm>
          <a:prstGeom prst="line">
            <a:avLst/>
          </a:prstGeom>
          <a:ln w="12700">
            <a:solidFill>
              <a:srgbClr val="E2E8F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92" name="Text 3"/>
          <p:cNvSpPr/>
          <p:nvPr/>
        </p:nvSpPr>
        <p:spPr>
          <a:xfrm>
            <a:off x="567000" y="6556320"/>
            <a:ext cx="80463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750" b="0" u="none" strike="noStrike">
                <a:solidFill>
                  <a:srgbClr val="64748B"/>
                </a:solidFill>
                <a:effectLst/>
                <a:uFillTx/>
                <a:latin typeface="Noto Sans CJK SC"/>
                <a:ea typeface="Noto Sans CJK SC"/>
              </a:rPr>
              <a:t>项目</a:t>
            </a:r>
            <a:r>
              <a:rPr lang="en-US" sz="750" b="0" u="none" strike="noStrike">
                <a:solidFill>
                  <a:srgbClr val="64748B"/>
                </a:solidFill>
                <a:effectLst/>
                <a:uFillTx/>
                <a:latin typeface="Noto Sans CJK SC"/>
                <a:ea typeface="Noto Sans CJK SC"/>
              </a:rPr>
              <a:t>09</a:t>
            </a:r>
            <a:r>
              <a:rPr lang="zh-CN" sz="750" b="0" u="none" strike="noStrike">
                <a:solidFill>
                  <a:srgbClr val="64748B"/>
                </a:solidFill>
                <a:effectLst/>
                <a:uFillTx/>
                <a:latin typeface="Noto Sans CJK SC"/>
                <a:ea typeface="Noto Sans CJK SC"/>
              </a:rPr>
              <a:t>｜真实地震数据 </a:t>
            </a:r>
            <a:r>
              <a:rPr lang="en-US" sz="750" b="0" u="none" strike="noStrike">
                <a:solidFill>
                  <a:srgbClr val="64748B"/>
                </a:solidFill>
                <a:effectLst/>
                <a:uFillTx/>
                <a:latin typeface="Noto Sans CJK SC"/>
                <a:ea typeface="Noto Sans CJK SC"/>
              </a:rPr>
              <a:t>+ </a:t>
            </a:r>
            <a:r>
              <a:rPr lang="zh-CN" sz="750" b="0" u="none" strike="noStrike">
                <a:solidFill>
                  <a:srgbClr val="64748B"/>
                </a:solidFill>
                <a:effectLst/>
                <a:uFillTx/>
                <a:latin typeface="Noto Sans CJK SC"/>
                <a:ea typeface="Noto Sans CJK SC"/>
              </a:rPr>
              <a:t>个性化地震应急提醒</a:t>
            </a:r>
            <a:endParaRPr lang="en-US" sz="750" b="0" u="none" strike="noStrike">
              <a:solidFill>
                <a:srgbClr val="000000"/>
              </a:solidFill>
              <a:effectLst/>
              <a:uFillTx/>
              <a:latin typeface="Arial"/>
            </a:endParaRPr>
          </a:p>
        </p:txBody>
      </p:sp>
      <p:sp>
        <p:nvSpPr>
          <p:cNvPr id="193" name="Text 4"/>
          <p:cNvSpPr/>
          <p:nvPr/>
        </p:nvSpPr>
        <p:spPr>
          <a:xfrm>
            <a:off x="11064240" y="6519600"/>
            <a:ext cx="5482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00" b="0" u="none" strike="noStrike">
                <a:solidFill>
                  <a:srgbClr val="64748B"/>
                </a:solidFill>
                <a:effectLst/>
                <a:uFillTx/>
                <a:latin typeface="Noto Sans CJK SC"/>
                <a:ea typeface="Noto Sans CJK SC"/>
              </a:rPr>
              <a:t>06</a:t>
            </a:r>
            <a:endParaRPr lang="en-US" sz="800" b="0" u="none" strike="noStrike">
              <a:solidFill>
                <a:srgbClr val="000000"/>
              </a:solidFill>
              <a:effectLst/>
              <a:uFillTx/>
              <a:latin typeface="Arial"/>
            </a:endParaRPr>
          </a:p>
        </p:txBody>
      </p:sp>
      <p:sp>
        <p:nvSpPr>
          <p:cNvPr id="194" name="Shape 5"/>
          <p:cNvSpPr/>
          <p:nvPr/>
        </p:nvSpPr>
        <p:spPr>
          <a:xfrm>
            <a:off x="2011680" y="1920240"/>
            <a:ext cx="777240" cy="360"/>
          </a:xfrm>
          <a:prstGeom prst="line">
            <a:avLst/>
          </a:prstGeom>
          <a:ln w="25400">
            <a:solidFill>
              <a:srgbClr val="2563EB"/>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95" name="Shape 6"/>
          <p:cNvSpPr/>
          <p:nvPr/>
        </p:nvSpPr>
        <p:spPr>
          <a:xfrm>
            <a:off x="4434840" y="1920240"/>
            <a:ext cx="777240" cy="360"/>
          </a:xfrm>
          <a:prstGeom prst="line">
            <a:avLst/>
          </a:prstGeom>
          <a:ln w="25400">
            <a:solidFill>
              <a:srgbClr val="2563EB"/>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96" name="Shape 7"/>
          <p:cNvSpPr/>
          <p:nvPr/>
        </p:nvSpPr>
        <p:spPr>
          <a:xfrm>
            <a:off x="6858000" y="1920240"/>
            <a:ext cx="777240" cy="360"/>
          </a:xfrm>
          <a:prstGeom prst="line">
            <a:avLst/>
          </a:prstGeom>
          <a:ln w="25400">
            <a:solidFill>
              <a:srgbClr val="2563EB"/>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97" name="Shape 8"/>
          <p:cNvSpPr/>
          <p:nvPr/>
        </p:nvSpPr>
        <p:spPr>
          <a:xfrm>
            <a:off x="9281160" y="1920240"/>
            <a:ext cx="777240" cy="360"/>
          </a:xfrm>
          <a:prstGeom prst="line">
            <a:avLst/>
          </a:prstGeom>
          <a:ln w="25400">
            <a:solidFill>
              <a:srgbClr val="2563EB"/>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98" name="Shape 9"/>
          <p:cNvSpPr/>
          <p:nvPr/>
        </p:nvSpPr>
        <p:spPr>
          <a:xfrm>
            <a:off x="6035040" y="2834640"/>
            <a:ext cx="360" cy="822960"/>
          </a:xfrm>
          <a:prstGeom prst="line">
            <a:avLst/>
          </a:prstGeom>
          <a:ln w="25400">
            <a:solidFill>
              <a:srgbClr val="2563EB"/>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199" name="Shape 10"/>
          <p:cNvSpPr/>
          <p:nvPr/>
        </p:nvSpPr>
        <p:spPr>
          <a:xfrm>
            <a:off x="594360" y="1371600"/>
            <a:ext cx="1599840" cy="1096920"/>
          </a:xfrm>
          <a:prstGeom prst="roundRect">
            <a:avLst>
              <a:gd name="adj" fmla="val 6667"/>
            </a:avLst>
          </a:prstGeom>
          <a:solidFill>
            <a:srgbClr val="FFFFFF"/>
          </a:solidFill>
          <a:ln w="12700">
            <a:solidFill>
              <a:srgbClr val="2563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0" name="Text 11"/>
          <p:cNvSpPr/>
          <p:nvPr/>
        </p:nvSpPr>
        <p:spPr>
          <a:xfrm>
            <a:off x="667440" y="1463040"/>
            <a:ext cx="14536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950" b="1" u="none" strike="noStrike">
                <a:solidFill>
                  <a:srgbClr val="0F172A"/>
                </a:solidFill>
                <a:effectLst/>
                <a:uFillTx/>
                <a:latin typeface="Noto Sans CJK SC"/>
                <a:ea typeface="Noto Sans CJK SC"/>
              </a:rPr>
              <a:t>数据采集层</a:t>
            </a:r>
            <a:endParaRPr lang="en-US" sz="950" b="0" u="none" strike="noStrike">
              <a:solidFill>
                <a:srgbClr val="000000"/>
              </a:solidFill>
              <a:effectLst/>
              <a:uFillTx/>
              <a:latin typeface="Arial"/>
            </a:endParaRPr>
          </a:p>
          <a:p>
            <a:pPr algn="ctr" defTabSz="914400">
              <a:lnSpc>
                <a:spcPct val="100000"/>
              </a:lnSpc>
              <a:tabLst>
                <a:tab pos="0" algn="l"/>
              </a:tabLst>
            </a:pPr>
            <a:r>
              <a:rPr lang="en-US" sz="950" b="1" u="none" strike="noStrike">
                <a:solidFill>
                  <a:srgbClr val="0F172A"/>
                </a:solidFill>
                <a:effectLst/>
                <a:uFillTx/>
                <a:latin typeface="Noto Sans CJK SC"/>
                <a:ea typeface="Noto Sans CJK SC"/>
              </a:rPr>
              <a:t>USGS API / </a:t>
            </a:r>
            <a:r>
              <a:rPr lang="zh-CN" sz="950" b="1" u="none" strike="noStrike">
                <a:solidFill>
                  <a:srgbClr val="0F172A"/>
                </a:solidFill>
                <a:effectLst/>
                <a:uFillTx/>
                <a:latin typeface="Noto Sans CJK SC"/>
                <a:ea typeface="Noto Sans CJK SC"/>
              </a:rPr>
              <a:t>缓存 </a:t>
            </a:r>
            <a:r>
              <a:rPr lang="en-US" sz="950" b="1" u="none" strike="noStrike">
                <a:solidFill>
                  <a:srgbClr val="0F172A"/>
                </a:solidFill>
                <a:effectLst/>
                <a:uFillTx/>
                <a:latin typeface="Noto Sans CJK SC"/>
                <a:ea typeface="Noto Sans CJK SC"/>
              </a:rPr>
              <a:t>/ </a:t>
            </a:r>
            <a:r>
              <a:rPr lang="zh-CN" sz="950" b="1" u="none" strike="noStrike">
                <a:solidFill>
                  <a:srgbClr val="0F172A"/>
                </a:solidFill>
                <a:effectLst/>
                <a:uFillTx/>
                <a:latin typeface="Noto Sans CJK SC"/>
                <a:ea typeface="Noto Sans CJK SC"/>
              </a:rPr>
              <a:t>日志</a:t>
            </a:r>
            <a:endParaRPr lang="en-US" sz="950" b="0" u="none" strike="noStrike">
              <a:solidFill>
                <a:srgbClr val="000000"/>
              </a:solidFill>
              <a:effectLst/>
              <a:uFillTx/>
              <a:latin typeface="Arial"/>
            </a:endParaRPr>
          </a:p>
        </p:txBody>
      </p:sp>
      <p:sp>
        <p:nvSpPr>
          <p:cNvPr id="201" name="Shape 12"/>
          <p:cNvSpPr/>
          <p:nvPr/>
        </p:nvSpPr>
        <p:spPr>
          <a:xfrm>
            <a:off x="2880360" y="1371600"/>
            <a:ext cx="1599840" cy="1096920"/>
          </a:xfrm>
          <a:prstGeom prst="roundRect">
            <a:avLst>
              <a:gd name="adj" fmla="val 6667"/>
            </a:avLst>
          </a:prstGeom>
          <a:solidFill>
            <a:srgbClr val="FFFFFF"/>
          </a:solidFill>
          <a:ln w="12700">
            <a:solidFill>
              <a:srgbClr val="2563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2" name="Text 13"/>
          <p:cNvSpPr/>
          <p:nvPr/>
        </p:nvSpPr>
        <p:spPr>
          <a:xfrm>
            <a:off x="2953440" y="1463040"/>
            <a:ext cx="14536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950" b="1" u="none" strike="noStrike">
                <a:solidFill>
                  <a:srgbClr val="0F172A"/>
                </a:solidFill>
                <a:effectLst/>
                <a:uFillTx/>
                <a:latin typeface="Noto Sans CJK SC"/>
                <a:ea typeface="Noto Sans CJK SC"/>
              </a:rPr>
              <a:t>数据处理层</a:t>
            </a:r>
            <a:endParaRPr lang="en-US" sz="950" b="0" u="none" strike="noStrike">
              <a:solidFill>
                <a:srgbClr val="000000"/>
              </a:solidFill>
              <a:effectLst/>
              <a:uFillTx/>
              <a:latin typeface="Arial"/>
            </a:endParaRPr>
          </a:p>
          <a:p>
            <a:pPr algn="ctr" defTabSz="914400">
              <a:lnSpc>
                <a:spcPct val="100000"/>
              </a:lnSpc>
              <a:tabLst>
                <a:tab pos="0" algn="l"/>
              </a:tabLst>
            </a:pPr>
            <a:r>
              <a:rPr lang="zh-CN" sz="950" b="1" u="none" strike="noStrike">
                <a:solidFill>
                  <a:srgbClr val="0F172A"/>
                </a:solidFill>
                <a:effectLst/>
                <a:uFillTx/>
                <a:latin typeface="Noto Sans CJK SC"/>
                <a:ea typeface="Noto Sans CJK SC"/>
              </a:rPr>
              <a:t>清洗 </a:t>
            </a:r>
            <a:r>
              <a:rPr lang="en-US" sz="950" b="1" u="none" strike="noStrike">
                <a:solidFill>
                  <a:srgbClr val="0F172A"/>
                </a:solidFill>
                <a:effectLst/>
                <a:uFillTx/>
                <a:latin typeface="Noto Sans CJK SC"/>
                <a:ea typeface="Noto Sans CJK SC"/>
              </a:rPr>
              <a:t>/ </a:t>
            </a:r>
            <a:r>
              <a:rPr lang="zh-CN" sz="950" b="1" u="none" strike="noStrike">
                <a:solidFill>
                  <a:srgbClr val="0F172A"/>
                </a:solidFill>
                <a:effectLst/>
                <a:uFillTx/>
                <a:latin typeface="Noto Sans CJK SC"/>
                <a:ea typeface="Noto Sans CJK SC"/>
              </a:rPr>
              <a:t>去重 </a:t>
            </a:r>
            <a:r>
              <a:rPr lang="en-US" sz="950" b="1" u="none" strike="noStrike">
                <a:solidFill>
                  <a:srgbClr val="0F172A"/>
                </a:solidFill>
                <a:effectLst/>
                <a:uFillTx/>
                <a:latin typeface="Noto Sans CJK SC"/>
                <a:ea typeface="Noto Sans CJK SC"/>
              </a:rPr>
              <a:t>/ </a:t>
            </a:r>
            <a:r>
              <a:rPr lang="zh-CN" sz="950" b="1" u="none" strike="noStrike">
                <a:solidFill>
                  <a:srgbClr val="0F172A"/>
                </a:solidFill>
                <a:effectLst/>
                <a:uFillTx/>
                <a:latin typeface="Noto Sans CJK SC"/>
                <a:ea typeface="Noto Sans CJK SC"/>
              </a:rPr>
              <a:t>四图输出</a:t>
            </a:r>
            <a:endParaRPr lang="en-US" sz="950" b="0" u="none" strike="noStrike">
              <a:solidFill>
                <a:srgbClr val="000000"/>
              </a:solidFill>
              <a:effectLst/>
              <a:uFillTx/>
              <a:latin typeface="Arial"/>
            </a:endParaRPr>
          </a:p>
        </p:txBody>
      </p:sp>
      <p:sp>
        <p:nvSpPr>
          <p:cNvPr id="203" name="Shape 14"/>
          <p:cNvSpPr/>
          <p:nvPr/>
        </p:nvSpPr>
        <p:spPr>
          <a:xfrm>
            <a:off x="5166360" y="1371600"/>
            <a:ext cx="1599840" cy="1096920"/>
          </a:xfrm>
          <a:prstGeom prst="roundRect">
            <a:avLst>
              <a:gd name="adj" fmla="val 6667"/>
            </a:avLst>
          </a:prstGeom>
          <a:solidFill>
            <a:srgbClr val="FFFFFF"/>
          </a:solidFill>
          <a:ln w="12700">
            <a:solidFill>
              <a:srgbClr val="2563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4" name="Text 15"/>
          <p:cNvSpPr/>
          <p:nvPr/>
        </p:nvSpPr>
        <p:spPr>
          <a:xfrm>
            <a:off x="5239440" y="1463040"/>
            <a:ext cx="14536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950" b="1" u="none" strike="noStrike">
                <a:solidFill>
                  <a:srgbClr val="0F172A"/>
                </a:solidFill>
                <a:effectLst/>
                <a:uFillTx/>
                <a:latin typeface="Noto Sans CJK SC"/>
                <a:ea typeface="Noto Sans CJK SC"/>
              </a:rPr>
              <a:t>规则生成层</a:t>
            </a:r>
            <a:endParaRPr lang="en-US" sz="950" b="0" u="none" strike="noStrike">
              <a:solidFill>
                <a:srgbClr val="000000"/>
              </a:solidFill>
              <a:effectLst/>
              <a:uFillTx/>
              <a:latin typeface="Arial"/>
            </a:endParaRPr>
          </a:p>
          <a:p>
            <a:pPr algn="ctr" defTabSz="914400">
              <a:lnSpc>
                <a:spcPct val="100000"/>
              </a:lnSpc>
              <a:tabLst>
                <a:tab pos="0" algn="l"/>
              </a:tabLst>
            </a:pPr>
            <a:r>
              <a:rPr lang="zh-CN" sz="950" b="1" u="none" strike="noStrike">
                <a:solidFill>
                  <a:srgbClr val="0F172A"/>
                </a:solidFill>
                <a:effectLst/>
                <a:uFillTx/>
                <a:latin typeface="Noto Sans CJK SC"/>
                <a:ea typeface="Noto Sans CJK SC"/>
              </a:rPr>
              <a:t>画像 </a:t>
            </a:r>
            <a:r>
              <a:rPr lang="en-US" sz="950" b="1" u="none" strike="noStrike">
                <a:solidFill>
                  <a:srgbClr val="0F172A"/>
                </a:solidFill>
                <a:effectLst/>
                <a:uFillTx/>
                <a:latin typeface="Noto Sans CJK SC"/>
                <a:ea typeface="Noto Sans CJK SC"/>
              </a:rPr>
              <a:t>/ </a:t>
            </a:r>
            <a:r>
              <a:rPr lang="zh-CN" sz="950" b="1" u="none" strike="noStrike">
                <a:solidFill>
                  <a:srgbClr val="0F172A"/>
                </a:solidFill>
                <a:effectLst/>
                <a:uFillTx/>
                <a:latin typeface="Noto Sans CJK SC"/>
                <a:ea typeface="Noto Sans CJK SC"/>
              </a:rPr>
              <a:t>需求 </a:t>
            </a:r>
            <a:r>
              <a:rPr lang="en-US" sz="950" b="1" u="none" strike="noStrike">
                <a:solidFill>
                  <a:srgbClr val="0F172A"/>
                </a:solidFill>
                <a:effectLst/>
                <a:uFillTx/>
                <a:latin typeface="Noto Sans CJK SC"/>
                <a:ea typeface="Noto Sans CJK SC"/>
              </a:rPr>
              <a:t>/ </a:t>
            </a:r>
            <a:r>
              <a:rPr lang="zh-CN" sz="950" b="1" u="none" strike="noStrike">
                <a:solidFill>
                  <a:srgbClr val="0F172A"/>
                </a:solidFill>
                <a:effectLst/>
                <a:uFillTx/>
                <a:latin typeface="Noto Sans CJK SC"/>
                <a:ea typeface="Noto Sans CJK SC"/>
              </a:rPr>
              <a:t>文本模板</a:t>
            </a:r>
            <a:endParaRPr lang="en-US" sz="950" b="0" u="none" strike="noStrike">
              <a:solidFill>
                <a:srgbClr val="000000"/>
              </a:solidFill>
              <a:effectLst/>
              <a:uFillTx/>
              <a:latin typeface="Arial"/>
            </a:endParaRPr>
          </a:p>
        </p:txBody>
      </p:sp>
      <p:sp>
        <p:nvSpPr>
          <p:cNvPr id="205" name="Shape 16"/>
          <p:cNvSpPr/>
          <p:nvPr/>
        </p:nvSpPr>
        <p:spPr>
          <a:xfrm>
            <a:off x="7452360" y="1371600"/>
            <a:ext cx="1599840" cy="1096920"/>
          </a:xfrm>
          <a:prstGeom prst="roundRect">
            <a:avLst>
              <a:gd name="adj" fmla="val 6667"/>
            </a:avLst>
          </a:prstGeom>
          <a:solidFill>
            <a:srgbClr val="FFFFFF"/>
          </a:solidFill>
          <a:ln w="12700">
            <a:solidFill>
              <a:srgbClr val="2563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6" name="Text 17"/>
          <p:cNvSpPr/>
          <p:nvPr/>
        </p:nvSpPr>
        <p:spPr>
          <a:xfrm>
            <a:off x="7525440" y="1463040"/>
            <a:ext cx="14536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50" b="1" u="none" strike="noStrike">
                <a:solidFill>
                  <a:srgbClr val="0F172A"/>
                </a:solidFill>
                <a:effectLst/>
                <a:uFillTx/>
                <a:latin typeface="Noto Sans CJK SC"/>
                <a:ea typeface="Noto Sans CJK SC"/>
              </a:rPr>
              <a:t>Flask </a:t>
            </a:r>
            <a:r>
              <a:rPr lang="zh-CN" sz="950" b="1" u="none" strike="noStrike">
                <a:solidFill>
                  <a:srgbClr val="0F172A"/>
                </a:solidFill>
                <a:effectLst/>
                <a:uFillTx/>
                <a:latin typeface="Noto Sans CJK SC"/>
                <a:ea typeface="Noto Sans CJK SC"/>
              </a:rPr>
              <a:t>服务层</a:t>
            </a:r>
            <a:endParaRPr lang="en-US" sz="950" b="0" u="none" strike="noStrike">
              <a:solidFill>
                <a:srgbClr val="000000"/>
              </a:solidFill>
              <a:effectLst/>
              <a:uFillTx/>
              <a:latin typeface="Arial"/>
            </a:endParaRPr>
          </a:p>
          <a:p>
            <a:pPr algn="ctr" defTabSz="914400">
              <a:lnSpc>
                <a:spcPct val="100000"/>
              </a:lnSpc>
              <a:tabLst>
                <a:tab pos="0" algn="l"/>
              </a:tabLst>
            </a:pPr>
            <a:r>
              <a:rPr lang="zh-CN" sz="950" b="1" u="none" strike="noStrike">
                <a:solidFill>
                  <a:srgbClr val="0F172A"/>
                </a:solidFill>
                <a:effectLst/>
                <a:uFillTx/>
                <a:latin typeface="Noto Sans CJK SC"/>
                <a:ea typeface="Noto Sans CJK SC"/>
              </a:rPr>
              <a:t>首页 </a:t>
            </a:r>
            <a:r>
              <a:rPr lang="en-US" sz="950" b="1" u="none" strike="noStrike">
                <a:solidFill>
                  <a:srgbClr val="0F172A"/>
                </a:solidFill>
                <a:effectLst/>
                <a:uFillTx/>
                <a:latin typeface="Noto Sans CJK SC"/>
                <a:ea typeface="Noto Sans CJK SC"/>
              </a:rPr>
              <a:t>/ generate / dashboard</a:t>
            </a:r>
            <a:endParaRPr lang="en-US" sz="950" b="0" u="none" strike="noStrike">
              <a:solidFill>
                <a:srgbClr val="000000"/>
              </a:solidFill>
              <a:effectLst/>
              <a:uFillTx/>
              <a:latin typeface="Arial"/>
            </a:endParaRPr>
          </a:p>
        </p:txBody>
      </p:sp>
      <p:sp>
        <p:nvSpPr>
          <p:cNvPr id="207" name="Shape 18"/>
          <p:cNvSpPr/>
          <p:nvPr/>
        </p:nvSpPr>
        <p:spPr>
          <a:xfrm>
            <a:off x="9738360" y="1371600"/>
            <a:ext cx="1599840" cy="1096920"/>
          </a:xfrm>
          <a:prstGeom prst="roundRect">
            <a:avLst>
              <a:gd name="adj" fmla="val 6667"/>
            </a:avLst>
          </a:prstGeom>
          <a:solidFill>
            <a:srgbClr val="FFFFFF"/>
          </a:solidFill>
          <a:ln w="12700">
            <a:solidFill>
              <a:srgbClr val="2563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8" name="Text 19"/>
          <p:cNvSpPr/>
          <p:nvPr/>
        </p:nvSpPr>
        <p:spPr>
          <a:xfrm>
            <a:off x="9811440" y="1463040"/>
            <a:ext cx="14536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950" b="1" u="none" strike="noStrike">
                <a:solidFill>
                  <a:srgbClr val="0F172A"/>
                </a:solidFill>
                <a:effectLst/>
                <a:uFillTx/>
                <a:latin typeface="Noto Sans CJK SC"/>
                <a:ea typeface="Noto Sans CJK SC"/>
              </a:rPr>
              <a:t>前端展示层</a:t>
            </a:r>
            <a:endParaRPr lang="en-US" sz="950" b="0" u="none" strike="noStrike">
              <a:solidFill>
                <a:srgbClr val="000000"/>
              </a:solidFill>
              <a:effectLst/>
              <a:uFillTx/>
              <a:latin typeface="Arial"/>
            </a:endParaRPr>
          </a:p>
          <a:p>
            <a:pPr algn="ctr" defTabSz="914400">
              <a:lnSpc>
                <a:spcPct val="100000"/>
              </a:lnSpc>
              <a:tabLst>
                <a:tab pos="0" algn="l"/>
              </a:tabLst>
            </a:pPr>
            <a:r>
              <a:rPr lang="zh-CN" sz="950" b="1" u="none" strike="noStrike">
                <a:solidFill>
                  <a:srgbClr val="0F172A"/>
                </a:solidFill>
                <a:effectLst/>
                <a:uFillTx/>
                <a:latin typeface="Noto Sans CJK SC"/>
                <a:ea typeface="Noto Sans CJK SC"/>
              </a:rPr>
              <a:t>手机弹窗 </a:t>
            </a:r>
            <a:r>
              <a:rPr lang="en-US" sz="950" b="1" u="none" strike="noStrike">
                <a:solidFill>
                  <a:srgbClr val="0F172A"/>
                </a:solidFill>
                <a:effectLst/>
                <a:uFillTx/>
                <a:latin typeface="Noto Sans CJK SC"/>
                <a:ea typeface="Noto Sans CJK SC"/>
              </a:rPr>
              <a:t>/ </a:t>
            </a:r>
            <a:r>
              <a:rPr lang="zh-CN" sz="950" b="1" u="none" strike="noStrike">
                <a:solidFill>
                  <a:srgbClr val="0F172A"/>
                </a:solidFill>
                <a:effectLst/>
                <a:uFillTx/>
                <a:latin typeface="Noto Sans CJK SC"/>
                <a:ea typeface="Noto Sans CJK SC"/>
              </a:rPr>
              <a:t>数据统计</a:t>
            </a:r>
            <a:endParaRPr lang="en-US" sz="950" b="0" u="none" strike="noStrike">
              <a:solidFill>
                <a:srgbClr val="000000"/>
              </a:solidFill>
              <a:effectLst/>
              <a:uFillTx/>
              <a:latin typeface="Arial"/>
            </a:endParaRPr>
          </a:p>
        </p:txBody>
      </p:sp>
      <p:sp>
        <p:nvSpPr>
          <p:cNvPr id="209" name="Shape 20"/>
          <p:cNvSpPr/>
          <p:nvPr/>
        </p:nvSpPr>
        <p:spPr>
          <a:xfrm>
            <a:off x="3749040" y="3703320"/>
            <a:ext cx="4571640" cy="1325520"/>
          </a:xfrm>
          <a:prstGeom prst="roundRect">
            <a:avLst>
              <a:gd name="adj" fmla="val 6897"/>
            </a:avLst>
          </a:prstGeom>
          <a:solidFill>
            <a:srgbClr val="EFF6FF"/>
          </a:solidFill>
          <a:ln w="12700">
            <a:solidFill>
              <a:srgbClr val="BFDB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10" name="Text 21"/>
          <p:cNvSpPr/>
          <p:nvPr/>
        </p:nvSpPr>
        <p:spPr>
          <a:xfrm>
            <a:off x="4023360" y="3913560"/>
            <a:ext cx="40230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1400" b="1" u="none" strike="noStrike">
                <a:solidFill>
                  <a:srgbClr val="0F172A"/>
                </a:solidFill>
                <a:effectLst/>
                <a:uFillTx/>
                <a:latin typeface="Noto Sans CJK SC"/>
                <a:ea typeface="Noto Sans CJK SC"/>
              </a:rPr>
              <a:t>用户交互输入</a:t>
            </a:r>
            <a:endParaRPr lang="en-US" sz="1400" b="0" u="none" strike="noStrike">
              <a:solidFill>
                <a:srgbClr val="000000"/>
              </a:solidFill>
              <a:effectLst/>
              <a:uFillTx/>
              <a:latin typeface="Arial"/>
            </a:endParaRPr>
          </a:p>
        </p:txBody>
      </p:sp>
      <p:sp>
        <p:nvSpPr>
          <p:cNvPr id="211" name="Text 22"/>
          <p:cNvSpPr/>
          <p:nvPr/>
        </p:nvSpPr>
        <p:spPr>
          <a:xfrm>
            <a:off x="3977640" y="4370760"/>
            <a:ext cx="411444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1050" b="0" u="none" strike="noStrike">
                <a:solidFill>
                  <a:srgbClr val="334155"/>
                </a:solidFill>
                <a:effectLst/>
                <a:uFillTx/>
                <a:latin typeface="Noto Sans CJK SC"/>
                <a:ea typeface="Noto Sans CJK SC"/>
              </a:rPr>
              <a:t>人员身份｜年龄｜位置</a:t>
            </a:r>
            <a:r>
              <a:rPr lang="en-US" sz="1050" b="0" u="none" strike="noStrike">
                <a:solidFill>
                  <a:srgbClr val="334155"/>
                </a:solidFill>
                <a:effectLst/>
                <a:uFillTx/>
                <a:latin typeface="Noto Sans CJK SC"/>
                <a:ea typeface="Noto Sans CJK SC"/>
              </a:rPr>
              <a:t>/</a:t>
            </a:r>
            <a:r>
              <a:rPr lang="zh-CN" sz="1050" b="0" u="none" strike="noStrike">
                <a:solidFill>
                  <a:srgbClr val="334155"/>
                </a:solidFill>
                <a:effectLst/>
                <a:uFillTx/>
                <a:latin typeface="Noto Sans CJK SC"/>
                <a:ea typeface="Noto Sans CJK SC"/>
              </a:rPr>
              <a:t>定位｜行动能力｜选择真实地震事件</a:t>
            </a:r>
            <a:endParaRPr lang="en-US" sz="1050" b="0" u="none" strike="noStrike">
              <a:solidFill>
                <a:srgbClr val="000000"/>
              </a:solidFill>
              <a:effectLst/>
              <a:uFillTx/>
              <a:latin typeface="Arial"/>
            </a:endParaRPr>
          </a:p>
        </p:txBody>
      </p:sp>
      <p:sp>
        <p:nvSpPr>
          <p:cNvPr id="212" name="Text 23"/>
          <p:cNvSpPr/>
          <p:nvPr/>
        </p:nvSpPr>
        <p:spPr>
          <a:xfrm>
            <a:off x="1645920" y="5715000"/>
            <a:ext cx="88693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endParaRPr lang="en-US" sz="1200" b="0" u="none" strike="noStrike" dirty="0">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13" name="Text 0"/>
          <p:cNvSpPr/>
          <p:nvPr/>
        </p:nvSpPr>
        <p:spPr>
          <a:xfrm>
            <a:off x="548640" y="411480"/>
            <a:ext cx="81378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2600" b="1" u="none" strike="noStrike">
                <a:solidFill>
                  <a:srgbClr val="0F172A"/>
                </a:solidFill>
                <a:effectLst/>
                <a:uFillTx/>
                <a:latin typeface="Noto Sans CJK SC"/>
                <a:ea typeface="Noto Sans CJK SC"/>
              </a:rPr>
              <a:t>用户端完整功能流程</a:t>
            </a:r>
            <a:endParaRPr lang="en-US" sz="2600" b="0" u="none" strike="noStrike">
              <a:solidFill>
                <a:srgbClr val="000000"/>
              </a:solidFill>
              <a:effectLst/>
              <a:uFillTx/>
              <a:latin typeface="Arial"/>
            </a:endParaRPr>
          </a:p>
        </p:txBody>
      </p:sp>
      <p:sp>
        <p:nvSpPr>
          <p:cNvPr id="214" name="Text 1"/>
          <p:cNvSpPr/>
          <p:nvPr/>
        </p:nvSpPr>
        <p:spPr>
          <a:xfrm>
            <a:off x="567000" y="896040"/>
            <a:ext cx="64004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1050" b="0" u="none" strike="noStrike">
                <a:solidFill>
                  <a:srgbClr val="64748B"/>
                </a:solidFill>
                <a:effectLst/>
                <a:uFillTx/>
                <a:latin typeface="Noto Sans CJK SC"/>
                <a:ea typeface="Noto Sans CJK SC"/>
              </a:rPr>
              <a:t>用户不用选择灾害类型和风险等级，只需选择真实地震事件并填写基础信息</a:t>
            </a:r>
            <a:endParaRPr lang="en-US" sz="1050" b="0" u="none" strike="noStrike">
              <a:solidFill>
                <a:srgbClr val="000000"/>
              </a:solidFill>
              <a:effectLst/>
              <a:uFillTx/>
              <a:latin typeface="Arial"/>
            </a:endParaRPr>
          </a:p>
        </p:txBody>
      </p:sp>
      <p:sp>
        <p:nvSpPr>
          <p:cNvPr id="215" name="Shape 2"/>
          <p:cNvSpPr/>
          <p:nvPr/>
        </p:nvSpPr>
        <p:spPr>
          <a:xfrm>
            <a:off x="548640" y="6473880"/>
            <a:ext cx="11091600" cy="360"/>
          </a:xfrm>
          <a:prstGeom prst="line">
            <a:avLst/>
          </a:prstGeom>
          <a:ln w="12700">
            <a:solidFill>
              <a:srgbClr val="E2E8F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16" name="Text 3"/>
          <p:cNvSpPr/>
          <p:nvPr/>
        </p:nvSpPr>
        <p:spPr>
          <a:xfrm>
            <a:off x="567000" y="6556320"/>
            <a:ext cx="80463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750" b="0" u="none" strike="noStrike">
                <a:solidFill>
                  <a:srgbClr val="64748B"/>
                </a:solidFill>
                <a:effectLst/>
                <a:uFillTx/>
                <a:latin typeface="Noto Sans CJK SC"/>
                <a:ea typeface="Noto Sans CJK SC"/>
              </a:rPr>
              <a:t>项目</a:t>
            </a:r>
            <a:r>
              <a:rPr lang="en-US" sz="750" b="0" u="none" strike="noStrike">
                <a:solidFill>
                  <a:srgbClr val="64748B"/>
                </a:solidFill>
                <a:effectLst/>
                <a:uFillTx/>
                <a:latin typeface="Noto Sans CJK SC"/>
                <a:ea typeface="Noto Sans CJK SC"/>
              </a:rPr>
              <a:t>09</a:t>
            </a:r>
            <a:r>
              <a:rPr lang="zh-CN" sz="750" b="0" u="none" strike="noStrike">
                <a:solidFill>
                  <a:srgbClr val="64748B"/>
                </a:solidFill>
                <a:effectLst/>
                <a:uFillTx/>
                <a:latin typeface="Noto Sans CJK SC"/>
                <a:ea typeface="Noto Sans CJK SC"/>
              </a:rPr>
              <a:t>｜真实地震数据 </a:t>
            </a:r>
            <a:r>
              <a:rPr lang="en-US" sz="750" b="0" u="none" strike="noStrike">
                <a:solidFill>
                  <a:srgbClr val="64748B"/>
                </a:solidFill>
                <a:effectLst/>
                <a:uFillTx/>
                <a:latin typeface="Noto Sans CJK SC"/>
                <a:ea typeface="Noto Sans CJK SC"/>
              </a:rPr>
              <a:t>+ </a:t>
            </a:r>
            <a:r>
              <a:rPr lang="zh-CN" sz="750" b="0" u="none" strike="noStrike">
                <a:solidFill>
                  <a:srgbClr val="64748B"/>
                </a:solidFill>
                <a:effectLst/>
                <a:uFillTx/>
                <a:latin typeface="Noto Sans CJK SC"/>
                <a:ea typeface="Noto Sans CJK SC"/>
              </a:rPr>
              <a:t>个性化地震应急提醒</a:t>
            </a:r>
            <a:endParaRPr lang="en-US" sz="750" b="0" u="none" strike="noStrike">
              <a:solidFill>
                <a:srgbClr val="000000"/>
              </a:solidFill>
              <a:effectLst/>
              <a:uFillTx/>
              <a:latin typeface="Arial"/>
            </a:endParaRPr>
          </a:p>
        </p:txBody>
      </p:sp>
      <p:sp>
        <p:nvSpPr>
          <p:cNvPr id="217" name="Text 4"/>
          <p:cNvSpPr/>
          <p:nvPr/>
        </p:nvSpPr>
        <p:spPr>
          <a:xfrm>
            <a:off x="11064240" y="6519600"/>
            <a:ext cx="5482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00" b="0" u="none" strike="noStrike">
                <a:solidFill>
                  <a:srgbClr val="64748B"/>
                </a:solidFill>
                <a:effectLst/>
                <a:uFillTx/>
                <a:latin typeface="Noto Sans CJK SC"/>
                <a:ea typeface="Noto Sans CJK SC"/>
              </a:rPr>
              <a:t>07</a:t>
            </a:r>
            <a:endParaRPr lang="en-US" sz="800" b="0" u="none" strike="noStrike">
              <a:solidFill>
                <a:srgbClr val="000000"/>
              </a:solidFill>
              <a:effectLst/>
              <a:uFillTx/>
              <a:latin typeface="Arial"/>
            </a:endParaRPr>
          </a:p>
        </p:txBody>
      </p:sp>
      <p:sp>
        <p:nvSpPr>
          <p:cNvPr id="218" name="Shape 5"/>
          <p:cNvSpPr/>
          <p:nvPr/>
        </p:nvSpPr>
        <p:spPr>
          <a:xfrm>
            <a:off x="8549640" y="1234440"/>
            <a:ext cx="2239920" cy="4251600"/>
          </a:xfrm>
          <a:prstGeom prst="roundRect">
            <a:avLst>
              <a:gd name="adj" fmla="val 10204"/>
            </a:avLst>
          </a:prstGeom>
          <a:solidFill>
            <a:srgbClr val="111827"/>
          </a:solidFill>
          <a:ln w="25400">
            <a:solidFill>
              <a:srgbClr val="1F293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19" name="Shape 6"/>
          <p:cNvSpPr/>
          <p:nvPr/>
        </p:nvSpPr>
        <p:spPr>
          <a:xfrm>
            <a:off x="8732520" y="1508760"/>
            <a:ext cx="1874160" cy="3702960"/>
          </a:xfrm>
          <a:prstGeom prst="roundRect">
            <a:avLst>
              <a:gd name="adj" fmla="val 7805"/>
            </a:avLst>
          </a:prstGeom>
          <a:solidFill>
            <a:srgbClr val="F8FAFC"/>
          </a:solidFill>
          <a:ln w="12700">
            <a:solidFill>
              <a:srgbClr val="E5E7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0" name="Shape 7"/>
          <p:cNvSpPr/>
          <p:nvPr/>
        </p:nvSpPr>
        <p:spPr>
          <a:xfrm>
            <a:off x="8942760" y="2011680"/>
            <a:ext cx="1462680" cy="456840"/>
          </a:xfrm>
          <a:prstGeom prst="roundRect">
            <a:avLst>
              <a:gd name="adj" fmla="val 16000"/>
            </a:avLst>
          </a:prstGeom>
          <a:solidFill>
            <a:srgbClr val="DC2626"/>
          </a:solidFill>
          <a:ln w="12700">
            <a:solidFill>
              <a:srgbClr val="DC262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21" name="Text 8"/>
          <p:cNvSpPr/>
          <p:nvPr/>
        </p:nvSpPr>
        <p:spPr>
          <a:xfrm>
            <a:off x="9070920" y="2157840"/>
            <a:ext cx="11883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20" b="1" u="none" strike="noStrike">
                <a:solidFill>
                  <a:srgbClr val="FFFFFF"/>
                </a:solidFill>
                <a:effectLst/>
                <a:uFillTx/>
                <a:latin typeface="Noto Sans CJK SC"/>
                <a:ea typeface="Noto Sans CJK SC"/>
              </a:rPr>
              <a:t>⚠ 地震提醒</a:t>
            </a:r>
            <a:endParaRPr lang="en-US" sz="820" b="0" u="none" strike="noStrike">
              <a:solidFill>
                <a:srgbClr val="000000"/>
              </a:solidFill>
              <a:effectLst/>
              <a:uFillTx/>
              <a:latin typeface="Arial"/>
            </a:endParaRPr>
          </a:p>
        </p:txBody>
      </p:sp>
      <p:sp>
        <p:nvSpPr>
          <p:cNvPr id="222" name="Text 9"/>
          <p:cNvSpPr/>
          <p:nvPr/>
        </p:nvSpPr>
        <p:spPr>
          <a:xfrm>
            <a:off x="8942760" y="2788920"/>
            <a:ext cx="146268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850" b="0" u="none" strike="noStrike">
                <a:solidFill>
                  <a:srgbClr val="334155"/>
                </a:solidFill>
                <a:effectLst/>
                <a:uFillTx/>
                <a:latin typeface="Noto Sans CJK SC"/>
                <a:ea typeface="Noto Sans CJK SC"/>
              </a:rPr>
              <a:t>系统根据真实地震事件</a:t>
            </a:r>
            <a:endParaRPr lang="en-US" sz="850" b="0" u="none" strike="noStrike">
              <a:solidFill>
                <a:srgbClr val="000000"/>
              </a:solidFill>
              <a:effectLst/>
              <a:uFillTx/>
              <a:latin typeface="Arial"/>
            </a:endParaRPr>
          </a:p>
          <a:p>
            <a:pPr algn="ctr" defTabSz="914400">
              <a:lnSpc>
                <a:spcPct val="100000"/>
              </a:lnSpc>
              <a:tabLst>
                <a:tab pos="0" algn="l"/>
              </a:tabLst>
            </a:pPr>
            <a:r>
              <a:rPr lang="zh-CN" sz="850" b="0" u="none" strike="noStrike">
                <a:solidFill>
                  <a:srgbClr val="334155"/>
                </a:solidFill>
                <a:effectLst/>
                <a:uFillTx/>
                <a:latin typeface="Noto Sans CJK SC"/>
                <a:ea typeface="Noto Sans CJK SC"/>
              </a:rPr>
              <a:t>和用户画像生成</a:t>
            </a:r>
            <a:endParaRPr lang="en-US" sz="850" b="0" u="none" strike="noStrike">
              <a:solidFill>
                <a:srgbClr val="000000"/>
              </a:solidFill>
              <a:effectLst/>
              <a:uFillTx/>
              <a:latin typeface="Arial"/>
            </a:endParaRPr>
          </a:p>
          <a:p>
            <a:pPr algn="ctr" defTabSz="914400">
              <a:lnSpc>
                <a:spcPct val="100000"/>
              </a:lnSpc>
              <a:tabLst>
                <a:tab pos="0" algn="l"/>
              </a:tabLst>
            </a:pPr>
            <a:r>
              <a:rPr lang="zh-CN" sz="850" b="0" u="none" strike="noStrike">
                <a:solidFill>
                  <a:srgbClr val="334155"/>
                </a:solidFill>
                <a:effectLst/>
                <a:uFillTx/>
                <a:latin typeface="Noto Sans CJK SC"/>
                <a:ea typeface="Noto Sans CJK SC"/>
              </a:rPr>
              <a:t>个性化应急提醒</a:t>
            </a:r>
            <a:endParaRPr lang="en-US" sz="850" b="0" u="none" strike="noStrike">
              <a:solidFill>
                <a:srgbClr val="000000"/>
              </a:solidFill>
              <a:effectLst/>
              <a:uFillTx/>
              <a:latin typeface="Arial"/>
            </a:endParaRPr>
          </a:p>
        </p:txBody>
      </p:sp>
      <p:sp>
        <p:nvSpPr>
          <p:cNvPr id="223" name="Text 10"/>
          <p:cNvSpPr/>
          <p:nvPr/>
        </p:nvSpPr>
        <p:spPr>
          <a:xfrm>
            <a:off x="9070920" y="4736520"/>
            <a:ext cx="11883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750" b="0" u="none" strike="noStrike">
                <a:solidFill>
                  <a:srgbClr val="2563EB"/>
                </a:solidFill>
                <a:effectLst/>
                <a:uFillTx/>
                <a:latin typeface="Noto Sans CJK SC"/>
                <a:ea typeface="Noto Sans CJK SC"/>
              </a:rPr>
              <a:t>查看统计｜关闭</a:t>
            </a:r>
            <a:endParaRPr lang="en-US" sz="750" b="0" u="none" strike="noStrike">
              <a:solidFill>
                <a:srgbClr val="000000"/>
              </a:solidFill>
              <a:effectLst/>
              <a:uFillTx/>
              <a:latin typeface="Arial"/>
            </a:endParaRPr>
          </a:p>
        </p:txBody>
      </p:sp>
      <p:sp>
        <p:nvSpPr>
          <p:cNvPr id="224" name="Text 11"/>
          <p:cNvSpPr/>
          <p:nvPr/>
        </p:nvSpPr>
        <p:spPr>
          <a:xfrm>
            <a:off x="713160" y="1454040"/>
            <a:ext cx="3470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2563EB"/>
                </a:solidFill>
                <a:effectLst/>
                <a:uFillTx/>
                <a:latin typeface="Noto Sans CJK SC"/>
                <a:ea typeface="Noto Sans CJK SC"/>
              </a:rPr>
              <a:t>①</a:t>
            </a:r>
            <a:endParaRPr lang="en-US" sz="1400" b="0" u="none" strike="noStrike">
              <a:solidFill>
                <a:srgbClr val="000000"/>
              </a:solidFill>
              <a:effectLst/>
              <a:uFillTx/>
              <a:latin typeface="Arial"/>
            </a:endParaRPr>
          </a:p>
        </p:txBody>
      </p:sp>
      <p:sp>
        <p:nvSpPr>
          <p:cNvPr id="225" name="Text 12"/>
          <p:cNvSpPr/>
          <p:nvPr/>
        </p:nvSpPr>
        <p:spPr>
          <a:xfrm>
            <a:off x="1207080" y="1417320"/>
            <a:ext cx="20113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1300" b="1" u="none" strike="noStrike">
                <a:solidFill>
                  <a:srgbClr val="0F172A"/>
                </a:solidFill>
                <a:effectLst/>
                <a:uFillTx/>
                <a:latin typeface="Noto Sans CJK SC"/>
                <a:ea typeface="Noto Sans CJK SC"/>
              </a:rPr>
              <a:t>选择真实地震事件</a:t>
            </a:r>
            <a:endParaRPr lang="en-US" sz="1300" b="0" u="none" strike="noStrike">
              <a:solidFill>
                <a:srgbClr val="000000"/>
              </a:solidFill>
              <a:effectLst/>
              <a:uFillTx/>
              <a:latin typeface="Arial"/>
            </a:endParaRPr>
          </a:p>
        </p:txBody>
      </p:sp>
      <p:sp>
        <p:nvSpPr>
          <p:cNvPr id="226" name="Text 13"/>
          <p:cNvSpPr/>
          <p:nvPr/>
        </p:nvSpPr>
        <p:spPr>
          <a:xfrm>
            <a:off x="3520440" y="1444680"/>
            <a:ext cx="42058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1000" b="0" u="none" strike="noStrike">
                <a:solidFill>
                  <a:srgbClr val="334155"/>
                </a:solidFill>
                <a:effectLst/>
                <a:uFillTx/>
                <a:latin typeface="Noto Sans CJK SC"/>
                <a:ea typeface="Noto Sans CJK SC"/>
              </a:rPr>
              <a:t>列表显示：时间｜震级｜位置</a:t>
            </a:r>
            <a:endParaRPr lang="en-US" sz="1000" b="0" u="none" strike="noStrike">
              <a:solidFill>
                <a:srgbClr val="000000"/>
              </a:solidFill>
              <a:effectLst/>
              <a:uFillTx/>
              <a:latin typeface="Arial"/>
            </a:endParaRPr>
          </a:p>
        </p:txBody>
      </p:sp>
      <p:sp>
        <p:nvSpPr>
          <p:cNvPr id="227" name="Shape 14"/>
          <p:cNvSpPr/>
          <p:nvPr/>
        </p:nvSpPr>
        <p:spPr>
          <a:xfrm>
            <a:off x="877680" y="1856160"/>
            <a:ext cx="360" cy="347400"/>
          </a:xfrm>
          <a:prstGeom prst="line">
            <a:avLst/>
          </a:prstGeom>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228" name="Text 15"/>
          <p:cNvSpPr/>
          <p:nvPr/>
        </p:nvSpPr>
        <p:spPr>
          <a:xfrm>
            <a:off x="713160" y="2322720"/>
            <a:ext cx="3470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2563EB"/>
                </a:solidFill>
                <a:effectLst/>
                <a:uFillTx/>
                <a:latin typeface="Noto Sans CJK SC"/>
                <a:ea typeface="Noto Sans CJK SC"/>
              </a:rPr>
              <a:t>②</a:t>
            </a:r>
            <a:endParaRPr lang="en-US" sz="1400" b="0" u="none" strike="noStrike">
              <a:solidFill>
                <a:srgbClr val="000000"/>
              </a:solidFill>
              <a:effectLst/>
              <a:uFillTx/>
              <a:latin typeface="Arial"/>
            </a:endParaRPr>
          </a:p>
        </p:txBody>
      </p:sp>
      <p:sp>
        <p:nvSpPr>
          <p:cNvPr id="229" name="Text 16"/>
          <p:cNvSpPr/>
          <p:nvPr/>
        </p:nvSpPr>
        <p:spPr>
          <a:xfrm>
            <a:off x="1207080" y="2286000"/>
            <a:ext cx="20113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1300" b="1" u="none" strike="noStrike">
                <a:solidFill>
                  <a:srgbClr val="0F172A"/>
                </a:solidFill>
                <a:effectLst/>
                <a:uFillTx/>
                <a:latin typeface="Noto Sans CJK SC"/>
                <a:ea typeface="Noto Sans CJK SC"/>
              </a:rPr>
              <a:t>输入个人场景</a:t>
            </a:r>
            <a:endParaRPr lang="en-US" sz="1300" b="0" u="none" strike="noStrike">
              <a:solidFill>
                <a:srgbClr val="000000"/>
              </a:solidFill>
              <a:effectLst/>
              <a:uFillTx/>
              <a:latin typeface="Arial"/>
            </a:endParaRPr>
          </a:p>
        </p:txBody>
      </p:sp>
      <p:sp>
        <p:nvSpPr>
          <p:cNvPr id="230" name="Text 17"/>
          <p:cNvSpPr/>
          <p:nvPr/>
        </p:nvSpPr>
        <p:spPr>
          <a:xfrm>
            <a:off x="3520440" y="2313360"/>
            <a:ext cx="42058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1000" b="0" u="none" strike="noStrike">
                <a:solidFill>
                  <a:srgbClr val="334155"/>
                </a:solidFill>
                <a:effectLst/>
                <a:uFillTx/>
                <a:latin typeface="Noto Sans CJK SC"/>
                <a:ea typeface="Noto Sans CJK SC"/>
              </a:rPr>
              <a:t>身份、年龄、位置、行动能力</a:t>
            </a:r>
            <a:endParaRPr lang="en-US" sz="1000" b="0" u="none" strike="noStrike">
              <a:solidFill>
                <a:srgbClr val="000000"/>
              </a:solidFill>
              <a:effectLst/>
              <a:uFillTx/>
              <a:latin typeface="Arial"/>
            </a:endParaRPr>
          </a:p>
        </p:txBody>
      </p:sp>
      <p:sp>
        <p:nvSpPr>
          <p:cNvPr id="231" name="Shape 18"/>
          <p:cNvSpPr/>
          <p:nvPr/>
        </p:nvSpPr>
        <p:spPr>
          <a:xfrm>
            <a:off x="877680" y="2724840"/>
            <a:ext cx="360" cy="347400"/>
          </a:xfrm>
          <a:prstGeom prst="line">
            <a:avLst/>
          </a:prstGeom>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232" name="Text 19"/>
          <p:cNvSpPr/>
          <p:nvPr/>
        </p:nvSpPr>
        <p:spPr>
          <a:xfrm>
            <a:off x="713160" y="3191400"/>
            <a:ext cx="3470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2563EB"/>
                </a:solidFill>
                <a:effectLst/>
                <a:uFillTx/>
                <a:latin typeface="Noto Sans CJK SC"/>
                <a:ea typeface="Noto Sans CJK SC"/>
              </a:rPr>
              <a:t>③</a:t>
            </a:r>
            <a:endParaRPr lang="en-US" sz="1400" b="0" u="none" strike="noStrike">
              <a:solidFill>
                <a:srgbClr val="000000"/>
              </a:solidFill>
              <a:effectLst/>
              <a:uFillTx/>
              <a:latin typeface="Arial"/>
            </a:endParaRPr>
          </a:p>
        </p:txBody>
      </p:sp>
      <p:sp>
        <p:nvSpPr>
          <p:cNvPr id="233" name="Text 20"/>
          <p:cNvSpPr/>
          <p:nvPr/>
        </p:nvSpPr>
        <p:spPr>
          <a:xfrm>
            <a:off x="1207080" y="3154680"/>
            <a:ext cx="20113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1300" b="1" u="none" strike="noStrike">
                <a:solidFill>
                  <a:srgbClr val="0F172A"/>
                </a:solidFill>
                <a:effectLst/>
                <a:uFillTx/>
                <a:latin typeface="Noto Sans CJK SC"/>
                <a:ea typeface="Noto Sans CJK SC"/>
              </a:rPr>
              <a:t>自动分析</a:t>
            </a:r>
            <a:endParaRPr lang="en-US" sz="1300" b="0" u="none" strike="noStrike">
              <a:solidFill>
                <a:srgbClr val="000000"/>
              </a:solidFill>
              <a:effectLst/>
              <a:uFillTx/>
              <a:latin typeface="Arial"/>
            </a:endParaRPr>
          </a:p>
        </p:txBody>
      </p:sp>
      <p:sp>
        <p:nvSpPr>
          <p:cNvPr id="234" name="Text 21"/>
          <p:cNvSpPr/>
          <p:nvPr/>
        </p:nvSpPr>
        <p:spPr>
          <a:xfrm>
            <a:off x="3520440" y="3182040"/>
            <a:ext cx="42058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1000" b="0" u="none" strike="noStrike">
                <a:solidFill>
                  <a:srgbClr val="334155"/>
                </a:solidFill>
                <a:effectLst/>
                <a:uFillTx/>
                <a:latin typeface="Noto Sans CJK SC"/>
                <a:ea typeface="Noto Sans CJK SC"/>
              </a:rPr>
              <a:t>用户画像 </a:t>
            </a:r>
            <a:r>
              <a:rPr lang="en-US" sz="1000" b="0" u="none" strike="noStrike">
                <a:solidFill>
                  <a:srgbClr val="334155"/>
                </a:solidFill>
                <a:effectLst/>
                <a:uFillTx/>
                <a:latin typeface="Noto Sans CJK SC"/>
                <a:ea typeface="Noto Sans CJK SC"/>
              </a:rPr>
              <a:t>+ </a:t>
            </a:r>
            <a:r>
              <a:rPr lang="zh-CN" sz="1000" b="0" u="none" strike="noStrike">
                <a:solidFill>
                  <a:srgbClr val="334155"/>
                </a:solidFill>
                <a:effectLst/>
                <a:uFillTx/>
                <a:latin typeface="Noto Sans CJK SC"/>
                <a:ea typeface="Noto Sans CJK SC"/>
              </a:rPr>
              <a:t>重点需求 </a:t>
            </a:r>
            <a:r>
              <a:rPr lang="en-US" sz="1000" b="0" u="none" strike="noStrike">
                <a:solidFill>
                  <a:srgbClr val="334155"/>
                </a:solidFill>
                <a:effectLst/>
                <a:uFillTx/>
                <a:latin typeface="Noto Sans CJK SC"/>
                <a:ea typeface="Noto Sans CJK SC"/>
              </a:rPr>
              <a:t>+ </a:t>
            </a:r>
            <a:r>
              <a:rPr lang="zh-CN" sz="1000" b="0" u="none" strike="noStrike">
                <a:solidFill>
                  <a:srgbClr val="334155"/>
                </a:solidFill>
                <a:effectLst/>
                <a:uFillTx/>
                <a:latin typeface="Noto Sans CJK SC"/>
                <a:ea typeface="Noto Sans CJK SC"/>
              </a:rPr>
              <a:t>演示等级</a:t>
            </a:r>
            <a:endParaRPr lang="en-US" sz="1000" b="0" u="none" strike="noStrike">
              <a:solidFill>
                <a:srgbClr val="000000"/>
              </a:solidFill>
              <a:effectLst/>
              <a:uFillTx/>
              <a:latin typeface="Arial"/>
            </a:endParaRPr>
          </a:p>
        </p:txBody>
      </p:sp>
      <p:sp>
        <p:nvSpPr>
          <p:cNvPr id="235" name="Shape 22"/>
          <p:cNvSpPr/>
          <p:nvPr/>
        </p:nvSpPr>
        <p:spPr>
          <a:xfrm>
            <a:off x="877680" y="3593520"/>
            <a:ext cx="360" cy="347400"/>
          </a:xfrm>
          <a:prstGeom prst="line">
            <a:avLst/>
          </a:prstGeom>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236" name="Text 23"/>
          <p:cNvSpPr/>
          <p:nvPr/>
        </p:nvSpPr>
        <p:spPr>
          <a:xfrm>
            <a:off x="713160" y="4060080"/>
            <a:ext cx="3470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2563EB"/>
                </a:solidFill>
                <a:effectLst/>
                <a:uFillTx/>
                <a:latin typeface="Noto Sans CJK SC"/>
                <a:ea typeface="Noto Sans CJK SC"/>
              </a:rPr>
              <a:t>④</a:t>
            </a:r>
            <a:endParaRPr lang="en-US" sz="1400" b="0" u="none" strike="noStrike">
              <a:solidFill>
                <a:srgbClr val="000000"/>
              </a:solidFill>
              <a:effectLst/>
              <a:uFillTx/>
              <a:latin typeface="Arial"/>
            </a:endParaRPr>
          </a:p>
        </p:txBody>
      </p:sp>
      <p:sp>
        <p:nvSpPr>
          <p:cNvPr id="237" name="Text 24"/>
          <p:cNvSpPr/>
          <p:nvPr/>
        </p:nvSpPr>
        <p:spPr>
          <a:xfrm>
            <a:off x="1207080" y="4023360"/>
            <a:ext cx="20113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1300" b="1" u="none" strike="noStrike">
                <a:solidFill>
                  <a:srgbClr val="0F172A"/>
                </a:solidFill>
                <a:effectLst/>
                <a:uFillTx/>
                <a:latin typeface="Noto Sans CJK SC"/>
                <a:ea typeface="Noto Sans CJK SC"/>
              </a:rPr>
              <a:t>生成提醒</a:t>
            </a:r>
            <a:endParaRPr lang="en-US" sz="1300" b="0" u="none" strike="noStrike">
              <a:solidFill>
                <a:srgbClr val="000000"/>
              </a:solidFill>
              <a:effectLst/>
              <a:uFillTx/>
              <a:latin typeface="Arial"/>
            </a:endParaRPr>
          </a:p>
        </p:txBody>
      </p:sp>
      <p:sp>
        <p:nvSpPr>
          <p:cNvPr id="238" name="Text 25"/>
          <p:cNvSpPr/>
          <p:nvPr/>
        </p:nvSpPr>
        <p:spPr>
          <a:xfrm>
            <a:off x="3520440" y="4050720"/>
            <a:ext cx="42058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1000" b="0" u="none" strike="noStrike">
                <a:solidFill>
                  <a:srgbClr val="334155"/>
                </a:solidFill>
                <a:effectLst/>
                <a:uFillTx/>
                <a:latin typeface="Noto Sans CJK SC"/>
                <a:ea typeface="Noto Sans CJK SC"/>
              </a:rPr>
              <a:t>手机内部弹出地震应急提醒</a:t>
            </a:r>
            <a:endParaRPr lang="en-US" sz="1000" b="0" u="none" strike="noStrike">
              <a:solidFill>
                <a:srgbClr val="000000"/>
              </a:solidFill>
              <a:effectLst/>
              <a:uFillTx/>
              <a:latin typeface="Arial"/>
            </a:endParaRPr>
          </a:p>
        </p:txBody>
      </p:sp>
      <p:sp>
        <p:nvSpPr>
          <p:cNvPr id="239" name="Shape 26"/>
          <p:cNvSpPr/>
          <p:nvPr/>
        </p:nvSpPr>
        <p:spPr>
          <a:xfrm>
            <a:off x="877680" y="4462200"/>
            <a:ext cx="360" cy="347400"/>
          </a:xfrm>
          <a:prstGeom prst="line">
            <a:avLst/>
          </a:prstGeom>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240" name="Text 27"/>
          <p:cNvSpPr/>
          <p:nvPr/>
        </p:nvSpPr>
        <p:spPr>
          <a:xfrm>
            <a:off x="713160" y="4928760"/>
            <a:ext cx="3470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2563EB"/>
                </a:solidFill>
                <a:effectLst/>
                <a:uFillTx/>
                <a:latin typeface="Noto Sans CJK SC"/>
                <a:ea typeface="Noto Sans CJK SC"/>
              </a:rPr>
              <a:t>⑤</a:t>
            </a:r>
            <a:endParaRPr lang="en-US" sz="1400" b="0" u="none" strike="noStrike">
              <a:solidFill>
                <a:srgbClr val="000000"/>
              </a:solidFill>
              <a:effectLst/>
              <a:uFillTx/>
              <a:latin typeface="Arial"/>
            </a:endParaRPr>
          </a:p>
        </p:txBody>
      </p:sp>
      <p:sp>
        <p:nvSpPr>
          <p:cNvPr id="241" name="Text 28"/>
          <p:cNvSpPr/>
          <p:nvPr/>
        </p:nvSpPr>
        <p:spPr>
          <a:xfrm>
            <a:off x="1207080" y="4892040"/>
            <a:ext cx="20113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1300" b="1" u="none" strike="noStrike">
                <a:solidFill>
                  <a:srgbClr val="0F172A"/>
                </a:solidFill>
                <a:effectLst/>
                <a:uFillTx/>
                <a:latin typeface="Noto Sans CJK SC"/>
                <a:ea typeface="Noto Sans CJK SC"/>
              </a:rPr>
              <a:t>查看统计</a:t>
            </a:r>
            <a:endParaRPr lang="en-US" sz="1300" b="0" u="none" strike="noStrike">
              <a:solidFill>
                <a:srgbClr val="000000"/>
              </a:solidFill>
              <a:effectLst/>
              <a:uFillTx/>
              <a:latin typeface="Arial"/>
            </a:endParaRPr>
          </a:p>
        </p:txBody>
      </p:sp>
      <p:sp>
        <p:nvSpPr>
          <p:cNvPr id="242" name="Text 29"/>
          <p:cNvSpPr/>
          <p:nvPr/>
        </p:nvSpPr>
        <p:spPr>
          <a:xfrm>
            <a:off x="3520440" y="4919400"/>
            <a:ext cx="42058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u="none" strike="noStrike">
                <a:solidFill>
                  <a:srgbClr val="334155"/>
                </a:solidFill>
                <a:effectLst/>
                <a:uFillTx/>
                <a:latin typeface="Noto Sans CJK SC"/>
                <a:ea typeface="Noto Sans CJK SC"/>
              </a:rPr>
              <a:t>Dashboard </a:t>
            </a:r>
            <a:r>
              <a:rPr lang="zh-CN" sz="1000" b="0" u="none" strike="noStrike">
                <a:solidFill>
                  <a:srgbClr val="334155"/>
                </a:solidFill>
                <a:effectLst/>
                <a:uFillTx/>
                <a:latin typeface="Noto Sans CJK SC"/>
                <a:ea typeface="Noto Sans CJK SC"/>
              </a:rPr>
              <a:t>展示真实地震数据图表</a:t>
            </a:r>
            <a:endParaRPr lang="en-US" sz="1000" b="0" u="none" strike="noStrike">
              <a:solidFill>
                <a:srgbClr val="000000"/>
              </a:solidFill>
              <a:effectLst/>
              <a:uFillTx/>
              <a:latin typeface="Arial"/>
            </a:endParaRPr>
          </a:p>
        </p:txBody>
      </p:sp>
      <p:sp>
        <p:nvSpPr>
          <p:cNvPr id="243" name="Shape 30"/>
          <p:cNvSpPr/>
          <p:nvPr/>
        </p:nvSpPr>
        <p:spPr>
          <a:xfrm>
            <a:off x="914400" y="5715000"/>
            <a:ext cx="6583320" cy="566640"/>
          </a:xfrm>
          <a:prstGeom prst="roundRect">
            <a:avLst>
              <a:gd name="adj" fmla="val 19355"/>
            </a:avLst>
          </a:prstGeom>
          <a:solidFill>
            <a:srgbClr val="FFFFFF">
              <a:alpha val="98000"/>
            </a:srgbClr>
          </a:solidFill>
          <a:ln w="1270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44" name="Shape 31"/>
          <p:cNvSpPr/>
          <p:nvPr/>
        </p:nvSpPr>
        <p:spPr>
          <a:xfrm>
            <a:off x="914400" y="5715000"/>
            <a:ext cx="72720" cy="566640"/>
          </a:xfrm>
          <a:prstGeom prst="rect">
            <a:avLst/>
          </a:prstGeom>
          <a:solidFill>
            <a:srgbClr val="2563EB"/>
          </a:solidFill>
          <a:ln w="12700">
            <a:solidFill>
              <a:srgbClr val="2563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45" name="Text 32"/>
          <p:cNvSpPr/>
          <p:nvPr/>
        </p:nvSpPr>
        <p:spPr>
          <a:xfrm>
            <a:off x="1115640" y="5879520"/>
            <a:ext cx="62632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1250" b="1" u="none" strike="noStrike">
                <a:solidFill>
                  <a:srgbClr val="0F172A"/>
                </a:solidFill>
                <a:effectLst/>
                <a:uFillTx/>
                <a:latin typeface="Noto Sans CJK SC"/>
                <a:ea typeface="Noto Sans CJK SC"/>
              </a:rPr>
              <a:t>页面关键点</a:t>
            </a:r>
            <a:endParaRPr lang="en-US" sz="1250" b="0" u="none" strike="noStrike">
              <a:solidFill>
                <a:srgbClr val="000000"/>
              </a:solidFill>
              <a:effectLst/>
              <a:uFillTx/>
              <a:latin typeface="Arial"/>
            </a:endParaRPr>
          </a:p>
        </p:txBody>
      </p:sp>
      <p:sp>
        <p:nvSpPr>
          <p:cNvPr id="246" name="Text 33"/>
          <p:cNvSpPr/>
          <p:nvPr/>
        </p:nvSpPr>
        <p:spPr>
          <a:xfrm>
            <a:off x="1115640" y="6190560"/>
            <a:ext cx="6263280" cy="270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32500" lnSpcReduction="20000"/>
          </a:bodyPr>
          <a:lstStyle/>
          <a:p>
            <a:pPr defTabSz="914400">
              <a:lnSpc>
                <a:spcPct val="100000"/>
              </a:lnSpc>
              <a:tabLst>
                <a:tab pos="0" algn="l"/>
              </a:tabLst>
            </a:pPr>
            <a:r>
              <a:rPr lang="zh-CN" sz="930" b="0" u="none" strike="noStrike">
                <a:solidFill>
                  <a:srgbClr val="334155"/>
                </a:solidFill>
                <a:effectLst/>
                <a:uFillTx/>
                <a:latin typeface="Noto Sans CJK SC"/>
                <a:ea typeface="Noto Sans CJK SC"/>
              </a:rPr>
              <a:t>首页不再出现灾害类型下拉框；地震事件与演示等级均来自真实事件和规则，用户不能手动制造风险等级。</a:t>
            </a:r>
            <a:endParaRPr lang="en-US" sz="930" b="0" u="none" strike="noStrike">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47" name="Text 0"/>
          <p:cNvSpPr/>
          <p:nvPr/>
        </p:nvSpPr>
        <p:spPr>
          <a:xfrm>
            <a:off x="548640" y="411480"/>
            <a:ext cx="81378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2600" b="1" u="none" strike="noStrike">
                <a:solidFill>
                  <a:srgbClr val="0F172A"/>
                </a:solidFill>
                <a:effectLst/>
                <a:uFillTx/>
                <a:latin typeface="Noto Sans CJK SC"/>
                <a:ea typeface="Noto Sans CJK SC"/>
              </a:rPr>
              <a:t>个性化逻辑：画像 → 重点需求 → 文本</a:t>
            </a:r>
            <a:endParaRPr lang="en-US" sz="2600" b="0" u="none" strike="noStrike">
              <a:solidFill>
                <a:srgbClr val="000000"/>
              </a:solidFill>
              <a:effectLst/>
              <a:uFillTx/>
              <a:latin typeface="Arial"/>
            </a:endParaRPr>
          </a:p>
        </p:txBody>
      </p:sp>
      <p:sp>
        <p:nvSpPr>
          <p:cNvPr id="248" name="Text 1"/>
          <p:cNvSpPr/>
          <p:nvPr/>
        </p:nvSpPr>
        <p:spPr>
          <a:xfrm>
            <a:off x="567000" y="896040"/>
            <a:ext cx="64004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1050" b="0" u="none" strike="noStrike">
                <a:solidFill>
                  <a:srgbClr val="64748B"/>
                </a:solidFill>
                <a:effectLst/>
                <a:uFillTx/>
                <a:latin typeface="Noto Sans CJK SC"/>
                <a:ea typeface="Noto Sans CJK SC"/>
              </a:rPr>
              <a:t>系统的“智能性”体现在自动判断，而不是让用户手动填更多表单</a:t>
            </a:r>
            <a:endParaRPr lang="en-US" sz="1050" b="0" u="none" strike="noStrike">
              <a:solidFill>
                <a:srgbClr val="000000"/>
              </a:solidFill>
              <a:effectLst/>
              <a:uFillTx/>
              <a:latin typeface="Arial"/>
            </a:endParaRPr>
          </a:p>
        </p:txBody>
      </p:sp>
      <p:sp>
        <p:nvSpPr>
          <p:cNvPr id="249" name="Shape 2"/>
          <p:cNvSpPr/>
          <p:nvPr/>
        </p:nvSpPr>
        <p:spPr>
          <a:xfrm>
            <a:off x="548640" y="6473880"/>
            <a:ext cx="11091600" cy="360"/>
          </a:xfrm>
          <a:prstGeom prst="line">
            <a:avLst/>
          </a:prstGeom>
          <a:ln w="12700">
            <a:solidFill>
              <a:srgbClr val="E2E8F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50" name="Text 3"/>
          <p:cNvSpPr/>
          <p:nvPr/>
        </p:nvSpPr>
        <p:spPr>
          <a:xfrm>
            <a:off x="567000" y="6556320"/>
            <a:ext cx="80463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750" b="0" u="none" strike="noStrike">
                <a:solidFill>
                  <a:srgbClr val="64748B"/>
                </a:solidFill>
                <a:effectLst/>
                <a:uFillTx/>
                <a:latin typeface="Noto Sans CJK SC"/>
                <a:ea typeface="Noto Sans CJK SC"/>
              </a:rPr>
              <a:t>项目</a:t>
            </a:r>
            <a:r>
              <a:rPr lang="en-US" sz="750" b="0" u="none" strike="noStrike">
                <a:solidFill>
                  <a:srgbClr val="64748B"/>
                </a:solidFill>
                <a:effectLst/>
                <a:uFillTx/>
                <a:latin typeface="Noto Sans CJK SC"/>
                <a:ea typeface="Noto Sans CJK SC"/>
              </a:rPr>
              <a:t>09</a:t>
            </a:r>
            <a:r>
              <a:rPr lang="zh-CN" sz="750" b="0" u="none" strike="noStrike">
                <a:solidFill>
                  <a:srgbClr val="64748B"/>
                </a:solidFill>
                <a:effectLst/>
                <a:uFillTx/>
                <a:latin typeface="Noto Sans CJK SC"/>
                <a:ea typeface="Noto Sans CJK SC"/>
              </a:rPr>
              <a:t>｜真实地震数据 </a:t>
            </a:r>
            <a:r>
              <a:rPr lang="en-US" sz="750" b="0" u="none" strike="noStrike">
                <a:solidFill>
                  <a:srgbClr val="64748B"/>
                </a:solidFill>
                <a:effectLst/>
                <a:uFillTx/>
                <a:latin typeface="Noto Sans CJK SC"/>
                <a:ea typeface="Noto Sans CJK SC"/>
              </a:rPr>
              <a:t>+ </a:t>
            </a:r>
            <a:r>
              <a:rPr lang="zh-CN" sz="750" b="0" u="none" strike="noStrike">
                <a:solidFill>
                  <a:srgbClr val="64748B"/>
                </a:solidFill>
                <a:effectLst/>
                <a:uFillTx/>
                <a:latin typeface="Noto Sans CJK SC"/>
                <a:ea typeface="Noto Sans CJK SC"/>
              </a:rPr>
              <a:t>个性化地震应急提醒</a:t>
            </a:r>
            <a:endParaRPr lang="en-US" sz="750" b="0" u="none" strike="noStrike">
              <a:solidFill>
                <a:srgbClr val="000000"/>
              </a:solidFill>
              <a:effectLst/>
              <a:uFillTx/>
              <a:latin typeface="Arial"/>
            </a:endParaRPr>
          </a:p>
        </p:txBody>
      </p:sp>
      <p:sp>
        <p:nvSpPr>
          <p:cNvPr id="251" name="Text 4"/>
          <p:cNvSpPr/>
          <p:nvPr/>
        </p:nvSpPr>
        <p:spPr>
          <a:xfrm>
            <a:off x="11064240" y="6519600"/>
            <a:ext cx="5482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00" b="0" u="none" strike="noStrike">
                <a:solidFill>
                  <a:srgbClr val="64748B"/>
                </a:solidFill>
                <a:effectLst/>
                <a:uFillTx/>
                <a:latin typeface="Noto Sans CJK SC"/>
                <a:ea typeface="Noto Sans CJK SC"/>
              </a:rPr>
              <a:t>08</a:t>
            </a:r>
            <a:endParaRPr lang="en-US" sz="800" b="0" u="none" strike="noStrike">
              <a:solidFill>
                <a:srgbClr val="000000"/>
              </a:solidFill>
              <a:effectLst/>
              <a:uFillTx/>
              <a:latin typeface="Arial"/>
            </a:endParaRPr>
          </a:p>
        </p:txBody>
      </p:sp>
      <p:sp>
        <p:nvSpPr>
          <p:cNvPr id="252" name="Text 5"/>
          <p:cNvSpPr/>
          <p:nvPr/>
        </p:nvSpPr>
        <p:spPr>
          <a:xfrm>
            <a:off x="2971800" y="1965960"/>
            <a:ext cx="365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0" u="none" strike="noStrike">
                <a:solidFill>
                  <a:srgbClr val="2563EB"/>
                </a:solidFill>
                <a:effectLst/>
                <a:uFillTx/>
                <a:latin typeface="Noto Sans CJK SC"/>
                <a:ea typeface="Noto Sans CJK SC"/>
              </a:rPr>
              <a:t>→</a:t>
            </a:r>
            <a:endParaRPr lang="en-US" sz="2200" b="0" u="none" strike="noStrike">
              <a:solidFill>
                <a:srgbClr val="000000"/>
              </a:solidFill>
              <a:effectLst/>
              <a:uFillTx/>
              <a:latin typeface="Arial"/>
            </a:endParaRPr>
          </a:p>
        </p:txBody>
      </p:sp>
      <p:sp>
        <p:nvSpPr>
          <p:cNvPr id="253" name="Text 6"/>
          <p:cNvSpPr/>
          <p:nvPr/>
        </p:nvSpPr>
        <p:spPr>
          <a:xfrm>
            <a:off x="2971800" y="3383280"/>
            <a:ext cx="365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0" u="none" strike="noStrike">
                <a:solidFill>
                  <a:srgbClr val="2563EB"/>
                </a:solidFill>
                <a:effectLst/>
                <a:uFillTx/>
                <a:latin typeface="Noto Sans CJK SC"/>
                <a:ea typeface="Noto Sans CJK SC"/>
              </a:rPr>
              <a:t>→</a:t>
            </a:r>
            <a:endParaRPr lang="en-US" sz="2200" b="0" u="none" strike="noStrike">
              <a:solidFill>
                <a:srgbClr val="000000"/>
              </a:solidFill>
              <a:effectLst/>
              <a:uFillTx/>
              <a:latin typeface="Arial"/>
            </a:endParaRPr>
          </a:p>
        </p:txBody>
      </p:sp>
      <p:sp>
        <p:nvSpPr>
          <p:cNvPr id="254" name="Text 7"/>
          <p:cNvSpPr/>
          <p:nvPr/>
        </p:nvSpPr>
        <p:spPr>
          <a:xfrm>
            <a:off x="2971800" y="4526280"/>
            <a:ext cx="365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0" u="none" strike="noStrike">
                <a:solidFill>
                  <a:srgbClr val="2563EB"/>
                </a:solidFill>
                <a:effectLst/>
                <a:uFillTx/>
                <a:latin typeface="Noto Sans CJK SC"/>
                <a:ea typeface="Noto Sans CJK SC"/>
              </a:rPr>
              <a:t>→</a:t>
            </a:r>
            <a:endParaRPr lang="en-US" sz="2200" b="0" u="none" strike="noStrike">
              <a:solidFill>
                <a:srgbClr val="000000"/>
              </a:solidFill>
              <a:effectLst/>
              <a:uFillTx/>
              <a:latin typeface="Arial"/>
            </a:endParaRPr>
          </a:p>
        </p:txBody>
      </p:sp>
      <p:sp>
        <p:nvSpPr>
          <p:cNvPr id="255" name="Text 8"/>
          <p:cNvSpPr/>
          <p:nvPr/>
        </p:nvSpPr>
        <p:spPr>
          <a:xfrm>
            <a:off x="7498080" y="3291840"/>
            <a:ext cx="3654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0" u="none" strike="noStrike">
                <a:solidFill>
                  <a:srgbClr val="DC2626"/>
                </a:solidFill>
                <a:effectLst/>
                <a:uFillTx/>
                <a:latin typeface="Noto Sans CJK SC"/>
                <a:ea typeface="Noto Sans CJK SC"/>
              </a:rPr>
              <a:t>→</a:t>
            </a:r>
            <a:endParaRPr lang="en-US" sz="2200" b="0" u="none" strike="noStrike">
              <a:solidFill>
                <a:srgbClr val="000000"/>
              </a:solidFill>
              <a:effectLst/>
              <a:uFillTx/>
              <a:latin typeface="Arial"/>
            </a:endParaRPr>
          </a:p>
        </p:txBody>
      </p:sp>
      <p:sp>
        <p:nvSpPr>
          <p:cNvPr id="256" name="Shape 9"/>
          <p:cNvSpPr/>
          <p:nvPr/>
        </p:nvSpPr>
        <p:spPr>
          <a:xfrm>
            <a:off x="685800" y="1417320"/>
            <a:ext cx="1782720" cy="776880"/>
          </a:xfrm>
          <a:prstGeom prst="roundRect">
            <a:avLst>
              <a:gd name="adj" fmla="val 9412"/>
            </a:avLst>
          </a:prstGeom>
          <a:solidFill>
            <a:srgbClr val="FFFFFF"/>
          </a:solidFill>
          <a:ln w="12700">
            <a:solidFill>
              <a:srgbClr val="2563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7" name="Text 10"/>
          <p:cNvSpPr/>
          <p:nvPr/>
        </p:nvSpPr>
        <p:spPr>
          <a:xfrm>
            <a:off x="758880" y="1508760"/>
            <a:ext cx="163656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950" b="1" u="none" strike="noStrike">
                <a:solidFill>
                  <a:srgbClr val="0F172A"/>
                </a:solidFill>
                <a:effectLst/>
                <a:uFillTx/>
                <a:latin typeface="Noto Sans CJK SC"/>
                <a:ea typeface="Noto Sans CJK SC"/>
              </a:rPr>
              <a:t>真实地震事件</a:t>
            </a:r>
            <a:endParaRPr lang="en-US" sz="950" b="0" u="none" strike="noStrike">
              <a:solidFill>
                <a:srgbClr val="000000"/>
              </a:solidFill>
              <a:effectLst/>
              <a:uFillTx/>
              <a:latin typeface="Arial"/>
            </a:endParaRPr>
          </a:p>
          <a:p>
            <a:pPr algn="ctr" defTabSz="914400">
              <a:lnSpc>
                <a:spcPct val="100000"/>
              </a:lnSpc>
              <a:tabLst>
                <a:tab pos="0" algn="l"/>
              </a:tabLst>
            </a:pPr>
            <a:r>
              <a:rPr lang="zh-CN" sz="950" b="1" u="none" strike="noStrike">
                <a:solidFill>
                  <a:srgbClr val="0F172A"/>
                </a:solidFill>
                <a:effectLst/>
                <a:uFillTx/>
                <a:latin typeface="Noto Sans CJK SC"/>
                <a:ea typeface="Noto Sans CJK SC"/>
              </a:rPr>
              <a:t>时间 </a:t>
            </a:r>
            <a:r>
              <a:rPr lang="en-US" sz="950" b="1" u="none" strike="noStrike">
                <a:solidFill>
                  <a:srgbClr val="0F172A"/>
                </a:solidFill>
                <a:effectLst/>
                <a:uFillTx/>
                <a:latin typeface="Noto Sans CJK SC"/>
                <a:ea typeface="Noto Sans CJK SC"/>
              </a:rPr>
              <a:t>/ </a:t>
            </a:r>
            <a:r>
              <a:rPr lang="zh-CN" sz="950" b="1" u="none" strike="noStrike">
                <a:solidFill>
                  <a:srgbClr val="0F172A"/>
                </a:solidFill>
                <a:effectLst/>
                <a:uFillTx/>
                <a:latin typeface="Noto Sans CJK SC"/>
                <a:ea typeface="Noto Sans CJK SC"/>
              </a:rPr>
              <a:t>震级 </a:t>
            </a:r>
            <a:r>
              <a:rPr lang="en-US" sz="950" b="1" u="none" strike="noStrike">
                <a:solidFill>
                  <a:srgbClr val="0F172A"/>
                </a:solidFill>
                <a:effectLst/>
                <a:uFillTx/>
                <a:latin typeface="Noto Sans CJK SC"/>
                <a:ea typeface="Noto Sans CJK SC"/>
              </a:rPr>
              <a:t>/ </a:t>
            </a:r>
            <a:r>
              <a:rPr lang="zh-CN" sz="950" b="1" u="none" strike="noStrike">
                <a:solidFill>
                  <a:srgbClr val="0F172A"/>
                </a:solidFill>
                <a:effectLst/>
                <a:uFillTx/>
                <a:latin typeface="Noto Sans CJK SC"/>
                <a:ea typeface="Noto Sans CJK SC"/>
              </a:rPr>
              <a:t>深度 </a:t>
            </a:r>
            <a:r>
              <a:rPr lang="en-US" sz="950" b="1" u="none" strike="noStrike">
                <a:solidFill>
                  <a:srgbClr val="0F172A"/>
                </a:solidFill>
                <a:effectLst/>
                <a:uFillTx/>
                <a:latin typeface="Noto Sans CJK SC"/>
                <a:ea typeface="Noto Sans CJK SC"/>
              </a:rPr>
              <a:t>/ </a:t>
            </a:r>
            <a:r>
              <a:rPr lang="zh-CN" sz="950" b="1" u="none" strike="noStrike">
                <a:solidFill>
                  <a:srgbClr val="0F172A"/>
                </a:solidFill>
                <a:effectLst/>
                <a:uFillTx/>
                <a:latin typeface="Noto Sans CJK SC"/>
                <a:ea typeface="Noto Sans CJK SC"/>
              </a:rPr>
              <a:t>位置</a:t>
            </a:r>
            <a:endParaRPr lang="en-US" sz="950" b="0" u="none" strike="noStrike">
              <a:solidFill>
                <a:srgbClr val="000000"/>
              </a:solidFill>
              <a:effectLst/>
              <a:uFillTx/>
              <a:latin typeface="Arial"/>
            </a:endParaRPr>
          </a:p>
        </p:txBody>
      </p:sp>
      <p:sp>
        <p:nvSpPr>
          <p:cNvPr id="258" name="Shape 11"/>
          <p:cNvSpPr/>
          <p:nvPr/>
        </p:nvSpPr>
        <p:spPr>
          <a:xfrm>
            <a:off x="685800" y="2834640"/>
            <a:ext cx="1782720" cy="776880"/>
          </a:xfrm>
          <a:prstGeom prst="roundRect">
            <a:avLst>
              <a:gd name="adj" fmla="val 9412"/>
            </a:avLst>
          </a:prstGeom>
          <a:solidFill>
            <a:srgbClr val="FFFFFF"/>
          </a:solidFill>
          <a:ln w="12700">
            <a:solidFill>
              <a:srgbClr val="2563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9" name="Text 12"/>
          <p:cNvSpPr/>
          <p:nvPr/>
        </p:nvSpPr>
        <p:spPr>
          <a:xfrm>
            <a:off x="758880" y="2926080"/>
            <a:ext cx="163656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950" b="1" u="none" strike="noStrike">
                <a:solidFill>
                  <a:srgbClr val="0F172A"/>
                </a:solidFill>
                <a:effectLst/>
                <a:uFillTx/>
                <a:latin typeface="Noto Sans CJK SC"/>
                <a:ea typeface="Noto Sans CJK SC"/>
              </a:rPr>
              <a:t>用户基础信息</a:t>
            </a:r>
            <a:endParaRPr lang="en-US" sz="950" b="0" u="none" strike="noStrike">
              <a:solidFill>
                <a:srgbClr val="000000"/>
              </a:solidFill>
              <a:effectLst/>
              <a:uFillTx/>
              <a:latin typeface="Arial"/>
            </a:endParaRPr>
          </a:p>
          <a:p>
            <a:pPr algn="ctr" defTabSz="914400">
              <a:lnSpc>
                <a:spcPct val="100000"/>
              </a:lnSpc>
              <a:tabLst>
                <a:tab pos="0" algn="l"/>
              </a:tabLst>
            </a:pPr>
            <a:r>
              <a:rPr lang="zh-CN" sz="950" b="1" u="none" strike="noStrike">
                <a:solidFill>
                  <a:srgbClr val="0F172A"/>
                </a:solidFill>
                <a:effectLst/>
                <a:uFillTx/>
                <a:latin typeface="Noto Sans CJK SC"/>
                <a:ea typeface="Noto Sans CJK SC"/>
              </a:rPr>
              <a:t>身份 </a:t>
            </a:r>
            <a:r>
              <a:rPr lang="en-US" sz="950" b="1" u="none" strike="noStrike">
                <a:solidFill>
                  <a:srgbClr val="0F172A"/>
                </a:solidFill>
                <a:effectLst/>
                <a:uFillTx/>
                <a:latin typeface="Noto Sans CJK SC"/>
                <a:ea typeface="Noto Sans CJK SC"/>
              </a:rPr>
              <a:t>/ </a:t>
            </a:r>
            <a:r>
              <a:rPr lang="zh-CN" sz="950" b="1" u="none" strike="noStrike">
                <a:solidFill>
                  <a:srgbClr val="0F172A"/>
                </a:solidFill>
                <a:effectLst/>
                <a:uFillTx/>
                <a:latin typeface="Noto Sans CJK SC"/>
                <a:ea typeface="Noto Sans CJK SC"/>
              </a:rPr>
              <a:t>年龄 </a:t>
            </a:r>
            <a:r>
              <a:rPr lang="en-US" sz="950" b="1" u="none" strike="noStrike">
                <a:solidFill>
                  <a:srgbClr val="0F172A"/>
                </a:solidFill>
                <a:effectLst/>
                <a:uFillTx/>
                <a:latin typeface="Noto Sans CJK SC"/>
                <a:ea typeface="Noto Sans CJK SC"/>
              </a:rPr>
              <a:t>/ </a:t>
            </a:r>
            <a:r>
              <a:rPr lang="zh-CN" sz="950" b="1" u="none" strike="noStrike">
                <a:solidFill>
                  <a:srgbClr val="0F172A"/>
                </a:solidFill>
                <a:effectLst/>
                <a:uFillTx/>
                <a:latin typeface="Noto Sans CJK SC"/>
                <a:ea typeface="Noto Sans CJK SC"/>
              </a:rPr>
              <a:t>位置 </a:t>
            </a:r>
            <a:r>
              <a:rPr lang="en-US" sz="950" b="1" u="none" strike="noStrike">
                <a:solidFill>
                  <a:srgbClr val="0F172A"/>
                </a:solidFill>
                <a:effectLst/>
                <a:uFillTx/>
                <a:latin typeface="Noto Sans CJK SC"/>
                <a:ea typeface="Noto Sans CJK SC"/>
              </a:rPr>
              <a:t>/ </a:t>
            </a:r>
            <a:r>
              <a:rPr lang="zh-CN" sz="950" b="1" u="none" strike="noStrike">
                <a:solidFill>
                  <a:srgbClr val="0F172A"/>
                </a:solidFill>
                <a:effectLst/>
                <a:uFillTx/>
                <a:latin typeface="Noto Sans CJK SC"/>
                <a:ea typeface="Noto Sans CJK SC"/>
              </a:rPr>
              <a:t>行动能力</a:t>
            </a:r>
            <a:endParaRPr lang="en-US" sz="950" b="0" u="none" strike="noStrike">
              <a:solidFill>
                <a:srgbClr val="000000"/>
              </a:solidFill>
              <a:effectLst/>
              <a:uFillTx/>
              <a:latin typeface="Arial"/>
            </a:endParaRPr>
          </a:p>
        </p:txBody>
      </p:sp>
      <p:sp>
        <p:nvSpPr>
          <p:cNvPr id="260" name="Shape 13"/>
          <p:cNvSpPr/>
          <p:nvPr/>
        </p:nvSpPr>
        <p:spPr>
          <a:xfrm>
            <a:off x="685800" y="4251960"/>
            <a:ext cx="1782720" cy="776880"/>
          </a:xfrm>
          <a:prstGeom prst="roundRect">
            <a:avLst>
              <a:gd name="adj" fmla="val 9412"/>
            </a:avLst>
          </a:prstGeom>
          <a:solidFill>
            <a:srgbClr val="FFFFFF"/>
          </a:solidFill>
          <a:ln w="12700">
            <a:solidFill>
              <a:srgbClr val="2563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61" name="Text 14"/>
          <p:cNvSpPr/>
          <p:nvPr/>
        </p:nvSpPr>
        <p:spPr>
          <a:xfrm>
            <a:off x="758880" y="4343400"/>
            <a:ext cx="163656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950" b="1" u="none" strike="noStrike">
                <a:solidFill>
                  <a:srgbClr val="0F172A"/>
                </a:solidFill>
                <a:effectLst/>
                <a:uFillTx/>
                <a:latin typeface="Noto Sans CJK SC"/>
                <a:ea typeface="Noto Sans CJK SC"/>
              </a:rPr>
              <a:t>课程演示规则</a:t>
            </a:r>
            <a:endParaRPr lang="en-US" sz="950" b="0" u="none" strike="noStrike">
              <a:solidFill>
                <a:srgbClr val="000000"/>
              </a:solidFill>
              <a:effectLst/>
              <a:uFillTx/>
              <a:latin typeface="Arial"/>
            </a:endParaRPr>
          </a:p>
          <a:p>
            <a:pPr algn="ctr" defTabSz="914400">
              <a:lnSpc>
                <a:spcPct val="100000"/>
              </a:lnSpc>
              <a:tabLst>
                <a:tab pos="0" algn="l"/>
              </a:tabLst>
            </a:pPr>
            <a:r>
              <a:rPr lang="zh-CN" sz="950" b="1" u="none" strike="noStrike">
                <a:solidFill>
                  <a:srgbClr val="0F172A"/>
                </a:solidFill>
                <a:effectLst/>
                <a:uFillTx/>
                <a:latin typeface="Noto Sans CJK SC"/>
                <a:ea typeface="Noto Sans CJK SC"/>
              </a:rPr>
              <a:t>震级分级 </a:t>
            </a:r>
            <a:r>
              <a:rPr lang="en-US" sz="950" b="1" u="none" strike="noStrike">
                <a:solidFill>
                  <a:srgbClr val="0F172A"/>
                </a:solidFill>
                <a:effectLst/>
                <a:uFillTx/>
                <a:latin typeface="Noto Sans CJK SC"/>
                <a:ea typeface="Noto Sans CJK SC"/>
              </a:rPr>
              <a:t>/ </a:t>
            </a:r>
            <a:r>
              <a:rPr lang="zh-CN" sz="950" b="1" u="none" strike="noStrike">
                <a:solidFill>
                  <a:srgbClr val="0F172A"/>
                </a:solidFill>
                <a:effectLst/>
                <a:uFillTx/>
                <a:latin typeface="Noto Sans CJK SC"/>
                <a:ea typeface="Noto Sans CJK SC"/>
              </a:rPr>
              <a:t>画像规则 </a:t>
            </a:r>
            <a:r>
              <a:rPr lang="en-US" sz="950" b="1" u="none" strike="noStrike">
                <a:solidFill>
                  <a:srgbClr val="0F172A"/>
                </a:solidFill>
                <a:effectLst/>
                <a:uFillTx/>
                <a:latin typeface="Noto Sans CJK SC"/>
                <a:ea typeface="Noto Sans CJK SC"/>
              </a:rPr>
              <a:t>/ </a:t>
            </a:r>
            <a:r>
              <a:rPr lang="zh-CN" sz="950" b="1" u="none" strike="noStrike">
                <a:solidFill>
                  <a:srgbClr val="0F172A"/>
                </a:solidFill>
                <a:effectLst/>
                <a:uFillTx/>
                <a:latin typeface="Noto Sans CJK SC"/>
                <a:ea typeface="Noto Sans CJK SC"/>
              </a:rPr>
              <a:t>需求规则</a:t>
            </a:r>
            <a:endParaRPr lang="en-US" sz="950" b="0" u="none" strike="noStrike">
              <a:solidFill>
                <a:srgbClr val="000000"/>
              </a:solidFill>
              <a:effectLst/>
              <a:uFillTx/>
              <a:latin typeface="Arial"/>
            </a:endParaRPr>
          </a:p>
        </p:txBody>
      </p:sp>
      <p:sp>
        <p:nvSpPr>
          <p:cNvPr id="262" name="Shape 15"/>
          <p:cNvSpPr/>
          <p:nvPr/>
        </p:nvSpPr>
        <p:spPr>
          <a:xfrm>
            <a:off x="4572000" y="2423160"/>
            <a:ext cx="2697120" cy="1691280"/>
          </a:xfrm>
          <a:prstGeom prst="roundRect">
            <a:avLst>
              <a:gd name="adj" fmla="val 5405"/>
            </a:avLst>
          </a:prstGeom>
          <a:solidFill>
            <a:srgbClr val="EFF6FF"/>
          </a:solidFill>
          <a:ln w="12700">
            <a:solidFill>
              <a:srgbClr val="BFDB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63" name="Text 16"/>
          <p:cNvSpPr/>
          <p:nvPr/>
        </p:nvSpPr>
        <p:spPr>
          <a:xfrm>
            <a:off x="4827960" y="2670120"/>
            <a:ext cx="21942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1500" b="1" u="none" strike="noStrike">
                <a:solidFill>
                  <a:srgbClr val="0F172A"/>
                </a:solidFill>
                <a:effectLst/>
                <a:uFillTx/>
                <a:latin typeface="Noto Sans CJK SC"/>
                <a:ea typeface="Noto Sans CJK SC"/>
              </a:rPr>
              <a:t>生成逻辑引擎</a:t>
            </a:r>
            <a:endParaRPr lang="en-US" sz="1500" b="0" u="none" strike="noStrike">
              <a:solidFill>
                <a:srgbClr val="000000"/>
              </a:solidFill>
              <a:effectLst/>
              <a:uFillTx/>
              <a:latin typeface="Arial"/>
            </a:endParaRPr>
          </a:p>
        </p:txBody>
      </p:sp>
      <p:sp>
        <p:nvSpPr>
          <p:cNvPr id="264" name="Text 17"/>
          <p:cNvSpPr/>
          <p:nvPr/>
        </p:nvSpPr>
        <p:spPr>
          <a:xfrm>
            <a:off x="4892040" y="3063240"/>
            <a:ext cx="205704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1050" b="0" u="none" strike="noStrike">
                <a:solidFill>
                  <a:srgbClr val="334155"/>
                </a:solidFill>
                <a:effectLst/>
                <a:uFillTx/>
                <a:latin typeface="Noto Sans CJK SC"/>
                <a:ea typeface="Noto Sans CJK SC"/>
              </a:rPr>
              <a:t>用户画像</a:t>
            </a:r>
            <a:endParaRPr lang="en-US" sz="1050" b="0" u="none" strike="noStrike">
              <a:solidFill>
                <a:srgbClr val="000000"/>
              </a:solidFill>
              <a:effectLst/>
              <a:uFillTx/>
              <a:latin typeface="Arial"/>
            </a:endParaRPr>
          </a:p>
          <a:p>
            <a:pPr algn="ctr" defTabSz="914400">
              <a:lnSpc>
                <a:spcPct val="100000"/>
              </a:lnSpc>
              <a:tabLst>
                <a:tab pos="0" algn="l"/>
              </a:tabLst>
            </a:pPr>
            <a:r>
              <a:rPr lang="zh-CN" sz="1050" b="0" u="none" strike="noStrike">
                <a:solidFill>
                  <a:srgbClr val="334155"/>
                </a:solidFill>
                <a:effectLst/>
                <a:uFillTx/>
                <a:latin typeface="Noto Sans CJK SC"/>
                <a:ea typeface="Noto Sans CJK SC"/>
              </a:rPr>
              <a:t>重点需求</a:t>
            </a:r>
            <a:endParaRPr lang="en-US" sz="1050" b="0" u="none" strike="noStrike">
              <a:solidFill>
                <a:srgbClr val="000000"/>
              </a:solidFill>
              <a:effectLst/>
              <a:uFillTx/>
              <a:latin typeface="Arial"/>
            </a:endParaRPr>
          </a:p>
          <a:p>
            <a:pPr algn="ctr" defTabSz="914400">
              <a:lnSpc>
                <a:spcPct val="100000"/>
              </a:lnSpc>
              <a:tabLst>
                <a:tab pos="0" algn="l"/>
              </a:tabLst>
            </a:pPr>
            <a:r>
              <a:rPr lang="zh-CN" sz="1050" b="0" u="none" strike="noStrike">
                <a:solidFill>
                  <a:srgbClr val="334155"/>
                </a:solidFill>
                <a:effectLst/>
                <a:uFillTx/>
                <a:latin typeface="Noto Sans CJK SC"/>
                <a:ea typeface="Noto Sans CJK SC"/>
              </a:rPr>
              <a:t>规则模板文本生成</a:t>
            </a:r>
            <a:endParaRPr lang="en-US" sz="1050" b="0" u="none" strike="noStrike">
              <a:solidFill>
                <a:srgbClr val="000000"/>
              </a:solidFill>
              <a:effectLst/>
              <a:uFillTx/>
              <a:latin typeface="Arial"/>
            </a:endParaRPr>
          </a:p>
        </p:txBody>
      </p:sp>
      <p:sp>
        <p:nvSpPr>
          <p:cNvPr id="265" name="Shape 18"/>
          <p:cNvSpPr/>
          <p:nvPr/>
        </p:nvSpPr>
        <p:spPr>
          <a:xfrm>
            <a:off x="8321040" y="2331720"/>
            <a:ext cx="2880000" cy="1919880"/>
          </a:xfrm>
          <a:prstGeom prst="roundRect">
            <a:avLst>
              <a:gd name="adj" fmla="val 5714"/>
            </a:avLst>
          </a:prstGeom>
          <a:solidFill>
            <a:srgbClr val="FEF2F2"/>
          </a:solidFill>
          <a:ln w="12700">
            <a:solidFill>
              <a:srgbClr val="FECAC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66" name="Text 19"/>
          <p:cNvSpPr/>
          <p:nvPr/>
        </p:nvSpPr>
        <p:spPr>
          <a:xfrm>
            <a:off x="8558640" y="2633400"/>
            <a:ext cx="237708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1400" b="1" u="none" strike="noStrike">
                <a:solidFill>
                  <a:srgbClr val="DC2626"/>
                </a:solidFill>
                <a:effectLst/>
                <a:uFillTx/>
                <a:latin typeface="Noto Sans CJK SC"/>
                <a:ea typeface="Noto Sans CJK SC"/>
              </a:rPr>
              <a:t>个性化地震应急提醒</a:t>
            </a:r>
            <a:endParaRPr lang="en-US" sz="1400" b="0" u="none" strike="noStrike">
              <a:solidFill>
                <a:srgbClr val="000000"/>
              </a:solidFill>
              <a:effectLst/>
              <a:uFillTx/>
              <a:latin typeface="Arial"/>
            </a:endParaRPr>
          </a:p>
        </p:txBody>
      </p:sp>
      <p:sp>
        <p:nvSpPr>
          <p:cNvPr id="267" name="Text 20"/>
          <p:cNvSpPr/>
          <p:nvPr/>
        </p:nvSpPr>
        <p:spPr>
          <a:xfrm>
            <a:off x="8577000" y="3035880"/>
            <a:ext cx="233136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1030" b="0" u="none" strike="noStrike" dirty="0">
                <a:solidFill>
                  <a:srgbClr val="334155"/>
                </a:solidFill>
                <a:effectLst/>
                <a:uFillTx/>
                <a:latin typeface="Noto Sans CJK SC"/>
                <a:ea typeface="Noto Sans CJK SC"/>
              </a:rPr>
              <a:t>地震事实 </a:t>
            </a:r>
            <a:r>
              <a:rPr lang="en-US" sz="1030" b="0" u="none" strike="noStrike" dirty="0">
                <a:solidFill>
                  <a:srgbClr val="334155"/>
                </a:solidFill>
                <a:effectLst/>
                <a:uFillTx/>
                <a:latin typeface="Noto Sans CJK SC"/>
                <a:ea typeface="Noto Sans CJK SC"/>
              </a:rPr>
              <a:t>+ </a:t>
            </a:r>
            <a:r>
              <a:rPr lang="zh-CN" sz="1030" b="0" u="none" strike="noStrike" dirty="0">
                <a:solidFill>
                  <a:srgbClr val="334155"/>
                </a:solidFill>
                <a:effectLst/>
                <a:uFillTx/>
                <a:latin typeface="Noto Sans CJK SC"/>
                <a:ea typeface="Noto Sans CJK SC"/>
              </a:rPr>
              <a:t>用户画像 </a:t>
            </a:r>
            <a:r>
              <a:rPr lang="en-US" sz="1030" b="0" u="none" strike="noStrike" dirty="0">
                <a:solidFill>
                  <a:srgbClr val="334155"/>
                </a:solidFill>
                <a:effectLst/>
                <a:uFillTx/>
                <a:latin typeface="Noto Sans CJK SC"/>
                <a:ea typeface="Noto Sans CJK SC"/>
              </a:rPr>
              <a:t>+</a:t>
            </a:r>
            <a:endParaRPr lang="en-US" sz="1030" b="0" u="none" strike="noStrike" dirty="0">
              <a:solidFill>
                <a:srgbClr val="000000"/>
              </a:solidFill>
              <a:effectLst/>
              <a:uFillTx/>
              <a:latin typeface="Arial"/>
            </a:endParaRPr>
          </a:p>
          <a:p>
            <a:pPr algn="ctr" defTabSz="914400">
              <a:lnSpc>
                <a:spcPct val="100000"/>
              </a:lnSpc>
              <a:tabLst>
                <a:tab pos="0" algn="l"/>
              </a:tabLst>
            </a:pPr>
            <a:r>
              <a:rPr lang="zh-CN" sz="1030" b="0" u="none" strike="noStrike" dirty="0">
                <a:solidFill>
                  <a:srgbClr val="334155"/>
                </a:solidFill>
                <a:effectLst/>
                <a:uFillTx/>
                <a:latin typeface="Noto Sans CJK SC"/>
                <a:ea typeface="Noto Sans CJK SC"/>
              </a:rPr>
              <a:t>重点需求 </a:t>
            </a:r>
            <a:r>
              <a:rPr lang="en-US" sz="1030" b="0" u="none" strike="noStrike" dirty="0">
                <a:solidFill>
                  <a:srgbClr val="334155"/>
                </a:solidFill>
                <a:effectLst/>
                <a:uFillTx/>
                <a:latin typeface="Noto Sans CJK SC"/>
                <a:ea typeface="Noto Sans CJK SC"/>
              </a:rPr>
              <a:t>+ </a:t>
            </a:r>
            <a:r>
              <a:rPr lang="zh-CN" sz="1030" b="0" u="none" strike="noStrike" dirty="0">
                <a:solidFill>
                  <a:srgbClr val="334155"/>
                </a:solidFill>
                <a:effectLst/>
                <a:uFillTx/>
                <a:latin typeface="Noto Sans CJK SC"/>
                <a:ea typeface="Noto Sans CJK SC"/>
              </a:rPr>
              <a:t>行动建议 </a:t>
            </a:r>
            <a:endParaRPr lang="en-US" sz="1030" b="0" u="none" strike="noStrike" dirty="0">
              <a:solidFill>
                <a:srgbClr val="000000"/>
              </a:solidFill>
              <a:effectLst/>
              <a:uFillTx/>
              <a:latin typeface="Arial"/>
            </a:endParaRPr>
          </a:p>
        </p:txBody>
      </p:sp>
      <p:sp>
        <p:nvSpPr>
          <p:cNvPr id="268" name="Shape 21"/>
          <p:cNvSpPr/>
          <p:nvPr/>
        </p:nvSpPr>
        <p:spPr>
          <a:xfrm>
            <a:off x="914400" y="5111640"/>
            <a:ext cx="118440" cy="118440"/>
          </a:xfrm>
          <a:prstGeom prst="ellipse">
            <a:avLst/>
          </a:prstGeom>
          <a:solidFill>
            <a:srgbClr val="16A34A"/>
          </a:solidFill>
          <a:ln w="12700">
            <a:solidFill>
              <a:srgbClr val="16A34A"/>
            </a:solidFill>
            <a:round/>
          </a:ln>
        </p:spPr>
        <p:style>
          <a:lnRef idx="0">
            <a:scrgbClr r="0" g="0" b="0"/>
          </a:lnRef>
          <a:fillRef idx="0">
            <a:scrgbClr r="0" g="0" b="0"/>
          </a:fillRef>
          <a:effectRef idx="0">
            <a:scrgbClr r="0" g="0" b="0"/>
          </a:effectRef>
          <a:fontRef idx="minor"/>
        </p:style>
        <p:txBody>
          <a:bodyPr lIns="90000" tIns="38880" rIns="90000" bIns="38880" anchor="t">
            <a:noAutofit/>
          </a:bodyPr>
          <a:lstStyle/>
          <a:p>
            <a:endParaRPr lang="en-US" sz="1800" b="0" u="none" strike="noStrike">
              <a:solidFill>
                <a:srgbClr val="FFFFFF"/>
              </a:solidFill>
              <a:effectLst/>
              <a:uFillTx/>
              <a:latin typeface="Arial"/>
            </a:endParaRPr>
          </a:p>
        </p:txBody>
      </p:sp>
      <p:sp>
        <p:nvSpPr>
          <p:cNvPr id="269" name="Text 22"/>
          <p:cNvSpPr/>
          <p:nvPr/>
        </p:nvSpPr>
        <p:spPr>
          <a:xfrm>
            <a:off x="1134000" y="5029200"/>
            <a:ext cx="48459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zh-CN" sz="820" b="0" u="none" strike="noStrike">
                <a:solidFill>
                  <a:srgbClr val="334155"/>
                </a:solidFill>
                <a:effectLst/>
                <a:uFillTx/>
                <a:latin typeface="Noto Sans CJK SC"/>
                <a:ea typeface="Noto Sans CJK SC"/>
              </a:rPr>
              <a:t>年龄 </a:t>
            </a:r>
            <a:r>
              <a:rPr lang="en-US" sz="820" b="0" u="none" strike="noStrike">
                <a:solidFill>
                  <a:srgbClr val="334155"/>
                </a:solidFill>
                <a:effectLst/>
                <a:uFillTx/>
                <a:latin typeface="Noto Sans CJK SC"/>
                <a:ea typeface="Noto Sans CJK SC"/>
              </a:rPr>
              <a:t>&lt; 18</a:t>
            </a:r>
            <a:r>
              <a:rPr lang="zh-CN" sz="820" b="0" u="none" strike="noStrike">
                <a:solidFill>
                  <a:srgbClr val="334155"/>
                </a:solidFill>
                <a:effectLst/>
                <a:uFillTx/>
                <a:latin typeface="Noto Sans CJK SC"/>
                <a:ea typeface="Noto Sans CJK SC"/>
              </a:rPr>
              <a:t>：学生</a:t>
            </a:r>
            <a:r>
              <a:rPr lang="en-US" sz="820" b="0" u="none" strike="noStrike">
                <a:solidFill>
                  <a:srgbClr val="334155"/>
                </a:solidFill>
                <a:effectLst/>
                <a:uFillTx/>
                <a:latin typeface="Noto Sans CJK SC"/>
                <a:ea typeface="Noto Sans CJK SC"/>
              </a:rPr>
              <a:t>/</a:t>
            </a:r>
            <a:r>
              <a:rPr lang="zh-CN" sz="820" b="0" u="none" strike="noStrike">
                <a:solidFill>
                  <a:srgbClr val="334155"/>
                </a:solidFill>
                <a:effectLst/>
                <a:uFillTx/>
                <a:latin typeface="Noto Sans CJK SC"/>
                <a:ea typeface="Noto Sans CJK SC"/>
              </a:rPr>
              <a:t>未成年人群体</a:t>
            </a:r>
            <a:endParaRPr lang="en-US" sz="820" b="0" u="none" strike="noStrike">
              <a:solidFill>
                <a:srgbClr val="000000"/>
              </a:solidFill>
              <a:effectLst/>
              <a:uFillTx/>
              <a:latin typeface="Arial"/>
            </a:endParaRPr>
          </a:p>
        </p:txBody>
      </p:sp>
      <p:sp>
        <p:nvSpPr>
          <p:cNvPr id="270" name="Shape 23"/>
          <p:cNvSpPr/>
          <p:nvPr/>
        </p:nvSpPr>
        <p:spPr>
          <a:xfrm>
            <a:off x="914400" y="5385960"/>
            <a:ext cx="118440" cy="118440"/>
          </a:xfrm>
          <a:prstGeom prst="ellipse">
            <a:avLst/>
          </a:prstGeom>
          <a:solidFill>
            <a:srgbClr val="16A34A"/>
          </a:solidFill>
          <a:ln w="12700">
            <a:solidFill>
              <a:srgbClr val="16A34A"/>
            </a:solidFill>
            <a:round/>
          </a:ln>
        </p:spPr>
        <p:style>
          <a:lnRef idx="0">
            <a:scrgbClr r="0" g="0" b="0"/>
          </a:lnRef>
          <a:fillRef idx="0">
            <a:scrgbClr r="0" g="0" b="0"/>
          </a:fillRef>
          <a:effectRef idx="0">
            <a:scrgbClr r="0" g="0" b="0"/>
          </a:effectRef>
          <a:fontRef idx="minor"/>
        </p:style>
        <p:txBody>
          <a:bodyPr lIns="90000" tIns="38880" rIns="90000" bIns="38880" anchor="t">
            <a:noAutofit/>
          </a:bodyPr>
          <a:lstStyle/>
          <a:p>
            <a:endParaRPr lang="en-US" sz="1800" b="0" u="none" strike="noStrike">
              <a:solidFill>
                <a:srgbClr val="FFFFFF"/>
              </a:solidFill>
              <a:effectLst/>
              <a:uFillTx/>
              <a:latin typeface="Arial"/>
            </a:endParaRPr>
          </a:p>
        </p:txBody>
      </p:sp>
      <p:sp>
        <p:nvSpPr>
          <p:cNvPr id="271" name="Text 24"/>
          <p:cNvSpPr/>
          <p:nvPr/>
        </p:nvSpPr>
        <p:spPr>
          <a:xfrm>
            <a:off x="1134000" y="5303520"/>
            <a:ext cx="48459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zh-CN" sz="820" b="0" u="none" strike="noStrike">
                <a:solidFill>
                  <a:srgbClr val="334155"/>
                </a:solidFill>
                <a:effectLst/>
                <a:uFillTx/>
                <a:latin typeface="Noto Sans CJK SC"/>
                <a:ea typeface="Noto Sans CJK SC"/>
              </a:rPr>
              <a:t>年龄 ≥ </a:t>
            </a:r>
            <a:r>
              <a:rPr lang="en-US" sz="820" b="0" u="none" strike="noStrike">
                <a:solidFill>
                  <a:srgbClr val="334155"/>
                </a:solidFill>
                <a:effectLst/>
                <a:uFillTx/>
                <a:latin typeface="Noto Sans CJK SC"/>
                <a:ea typeface="Noto Sans CJK SC"/>
              </a:rPr>
              <a:t>60</a:t>
            </a:r>
            <a:r>
              <a:rPr lang="zh-CN" sz="820" b="0" u="none" strike="noStrike">
                <a:solidFill>
                  <a:srgbClr val="334155"/>
                </a:solidFill>
                <a:effectLst/>
                <a:uFillTx/>
                <a:latin typeface="Noto Sans CJK SC"/>
                <a:ea typeface="Noto Sans CJK SC"/>
              </a:rPr>
              <a:t>：老年重点关注人群</a:t>
            </a:r>
            <a:endParaRPr lang="en-US" sz="820" b="0" u="none" strike="noStrike">
              <a:solidFill>
                <a:srgbClr val="000000"/>
              </a:solidFill>
              <a:effectLst/>
              <a:uFillTx/>
              <a:latin typeface="Arial"/>
            </a:endParaRPr>
          </a:p>
        </p:txBody>
      </p:sp>
      <p:sp>
        <p:nvSpPr>
          <p:cNvPr id="272" name="Shape 25"/>
          <p:cNvSpPr/>
          <p:nvPr/>
        </p:nvSpPr>
        <p:spPr>
          <a:xfrm>
            <a:off x="914400" y="5660280"/>
            <a:ext cx="118440" cy="118440"/>
          </a:xfrm>
          <a:prstGeom prst="ellipse">
            <a:avLst/>
          </a:prstGeom>
          <a:solidFill>
            <a:srgbClr val="16A34A"/>
          </a:solidFill>
          <a:ln w="12700">
            <a:solidFill>
              <a:srgbClr val="16A34A"/>
            </a:solidFill>
            <a:round/>
          </a:ln>
        </p:spPr>
        <p:style>
          <a:lnRef idx="0">
            <a:scrgbClr r="0" g="0" b="0"/>
          </a:lnRef>
          <a:fillRef idx="0">
            <a:scrgbClr r="0" g="0" b="0"/>
          </a:fillRef>
          <a:effectRef idx="0">
            <a:scrgbClr r="0" g="0" b="0"/>
          </a:effectRef>
          <a:fontRef idx="minor"/>
        </p:style>
        <p:txBody>
          <a:bodyPr lIns="90000" tIns="38880" rIns="90000" bIns="38880" anchor="t">
            <a:noAutofit/>
          </a:bodyPr>
          <a:lstStyle/>
          <a:p>
            <a:endParaRPr lang="en-US" sz="1800" b="0" u="none" strike="noStrike">
              <a:solidFill>
                <a:srgbClr val="FFFFFF"/>
              </a:solidFill>
              <a:effectLst/>
              <a:uFillTx/>
              <a:latin typeface="Arial"/>
            </a:endParaRPr>
          </a:p>
        </p:txBody>
      </p:sp>
      <p:sp>
        <p:nvSpPr>
          <p:cNvPr id="273" name="Text 26"/>
          <p:cNvSpPr/>
          <p:nvPr/>
        </p:nvSpPr>
        <p:spPr>
          <a:xfrm>
            <a:off x="1134000" y="5577840"/>
            <a:ext cx="48459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zh-CN" sz="820" b="0" u="none" strike="noStrike">
                <a:solidFill>
                  <a:srgbClr val="334155"/>
                </a:solidFill>
                <a:effectLst/>
                <a:uFillTx/>
                <a:latin typeface="Noto Sans CJK SC"/>
                <a:ea typeface="Noto Sans CJK SC"/>
              </a:rPr>
              <a:t>游客：外来不熟悉环境人群</a:t>
            </a:r>
            <a:endParaRPr lang="en-US" sz="820" b="0" u="none" strike="noStrike">
              <a:solidFill>
                <a:srgbClr val="000000"/>
              </a:solidFill>
              <a:effectLst/>
              <a:uFillTx/>
              <a:latin typeface="Arial"/>
            </a:endParaRPr>
          </a:p>
        </p:txBody>
      </p:sp>
      <p:sp>
        <p:nvSpPr>
          <p:cNvPr id="274" name="Shape 27"/>
          <p:cNvSpPr/>
          <p:nvPr/>
        </p:nvSpPr>
        <p:spPr>
          <a:xfrm>
            <a:off x="914400" y="5934600"/>
            <a:ext cx="118440" cy="118440"/>
          </a:xfrm>
          <a:prstGeom prst="ellipse">
            <a:avLst/>
          </a:prstGeom>
          <a:solidFill>
            <a:srgbClr val="16A34A"/>
          </a:solidFill>
          <a:ln w="12700">
            <a:solidFill>
              <a:srgbClr val="16A34A"/>
            </a:solidFill>
            <a:round/>
          </a:ln>
        </p:spPr>
        <p:style>
          <a:lnRef idx="0">
            <a:scrgbClr r="0" g="0" b="0"/>
          </a:lnRef>
          <a:fillRef idx="0">
            <a:scrgbClr r="0" g="0" b="0"/>
          </a:fillRef>
          <a:effectRef idx="0">
            <a:scrgbClr r="0" g="0" b="0"/>
          </a:effectRef>
          <a:fontRef idx="minor"/>
        </p:style>
        <p:txBody>
          <a:bodyPr lIns="90000" tIns="38880" rIns="90000" bIns="38880" anchor="t">
            <a:noAutofit/>
          </a:bodyPr>
          <a:lstStyle/>
          <a:p>
            <a:endParaRPr lang="en-US" sz="1800" b="0" u="none" strike="noStrike">
              <a:solidFill>
                <a:srgbClr val="FFFFFF"/>
              </a:solidFill>
              <a:effectLst/>
              <a:uFillTx/>
              <a:latin typeface="Arial"/>
            </a:endParaRPr>
          </a:p>
        </p:txBody>
      </p:sp>
      <p:sp>
        <p:nvSpPr>
          <p:cNvPr id="275" name="Text 28"/>
          <p:cNvSpPr/>
          <p:nvPr/>
        </p:nvSpPr>
        <p:spPr>
          <a:xfrm>
            <a:off x="1134000" y="5852160"/>
            <a:ext cx="48459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zh-CN" sz="820" b="0" u="none" strike="noStrike">
                <a:solidFill>
                  <a:srgbClr val="334155"/>
                </a:solidFill>
                <a:effectLst/>
                <a:uFillTx/>
                <a:latin typeface="Noto Sans CJK SC"/>
                <a:ea typeface="Noto Sans CJK SC"/>
              </a:rPr>
              <a:t>应急人员：应急处置工作人员</a:t>
            </a:r>
            <a:endParaRPr lang="en-US" sz="820" b="0" u="none" strike="noStrike">
              <a:solidFill>
                <a:srgbClr val="000000"/>
              </a:solidFill>
              <a:effectLst/>
              <a:uFillTx/>
              <a:latin typeface="Arial"/>
            </a:endParaRPr>
          </a:p>
        </p:txBody>
      </p:sp>
      <p:sp>
        <p:nvSpPr>
          <p:cNvPr id="276" name="Shape 29"/>
          <p:cNvSpPr/>
          <p:nvPr/>
        </p:nvSpPr>
        <p:spPr>
          <a:xfrm>
            <a:off x="914400" y="6208920"/>
            <a:ext cx="118440" cy="118440"/>
          </a:xfrm>
          <a:prstGeom prst="ellipse">
            <a:avLst/>
          </a:prstGeom>
          <a:solidFill>
            <a:srgbClr val="16A34A"/>
          </a:solidFill>
          <a:ln w="12700">
            <a:solidFill>
              <a:srgbClr val="16A34A"/>
            </a:solidFill>
            <a:round/>
          </a:ln>
        </p:spPr>
        <p:style>
          <a:lnRef idx="0">
            <a:scrgbClr r="0" g="0" b="0"/>
          </a:lnRef>
          <a:fillRef idx="0">
            <a:scrgbClr r="0" g="0" b="0"/>
          </a:fillRef>
          <a:effectRef idx="0">
            <a:scrgbClr r="0" g="0" b="0"/>
          </a:effectRef>
          <a:fontRef idx="minor"/>
        </p:style>
        <p:txBody>
          <a:bodyPr lIns="90000" tIns="38880" rIns="90000" bIns="38880" anchor="t">
            <a:noAutofit/>
          </a:bodyPr>
          <a:lstStyle/>
          <a:p>
            <a:endParaRPr lang="en-US" sz="1800" b="0" u="none" strike="noStrike">
              <a:solidFill>
                <a:srgbClr val="FFFFFF"/>
              </a:solidFill>
              <a:effectLst/>
              <a:uFillTx/>
              <a:latin typeface="Arial"/>
            </a:endParaRPr>
          </a:p>
        </p:txBody>
      </p:sp>
      <p:sp>
        <p:nvSpPr>
          <p:cNvPr id="277" name="Text 30"/>
          <p:cNvSpPr/>
          <p:nvPr/>
        </p:nvSpPr>
        <p:spPr>
          <a:xfrm>
            <a:off x="1134000" y="6126480"/>
            <a:ext cx="48459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zh-CN" sz="820" b="0" u="none" strike="noStrike">
                <a:solidFill>
                  <a:srgbClr val="334155"/>
                </a:solidFill>
                <a:effectLst/>
                <a:uFillTx/>
                <a:latin typeface="Noto Sans CJK SC"/>
                <a:ea typeface="Noto Sans CJK SC"/>
              </a:rPr>
              <a:t>行动能力弱</a:t>
            </a:r>
            <a:r>
              <a:rPr lang="en-US" sz="820" b="0" u="none" strike="noStrike">
                <a:solidFill>
                  <a:srgbClr val="334155"/>
                </a:solidFill>
                <a:effectLst/>
                <a:uFillTx/>
                <a:latin typeface="Noto Sans CJK SC"/>
                <a:ea typeface="Noto Sans CJK SC"/>
              </a:rPr>
              <a:t>/</a:t>
            </a:r>
            <a:r>
              <a:rPr lang="zh-CN" sz="820" b="0" u="none" strike="noStrike">
                <a:solidFill>
                  <a:srgbClr val="334155"/>
                </a:solidFill>
                <a:effectLst/>
                <a:uFillTx/>
                <a:latin typeface="Noto Sans CJK SC"/>
                <a:ea typeface="Noto Sans CJK SC"/>
              </a:rPr>
              <a:t>需协助：优先协助转移</a:t>
            </a:r>
            <a:endParaRPr lang="en-US" sz="820" b="0" u="none" strike="noStrike">
              <a:solidFill>
                <a:srgbClr val="000000"/>
              </a:solidFill>
              <a:effectLst/>
              <a:uFillTx/>
              <a:latin typeface="Arial"/>
            </a:endParaRPr>
          </a:p>
        </p:txBody>
      </p:sp>
      <p:sp>
        <p:nvSpPr>
          <p:cNvPr id="278" name="Shape 31"/>
          <p:cNvSpPr/>
          <p:nvPr/>
        </p:nvSpPr>
        <p:spPr>
          <a:xfrm>
            <a:off x="6583680" y="5111640"/>
            <a:ext cx="118440" cy="118440"/>
          </a:xfrm>
          <a:prstGeom prst="ellipse">
            <a:avLst/>
          </a:prstGeom>
          <a:solidFill>
            <a:srgbClr val="DC2626"/>
          </a:solidFill>
          <a:ln w="12700">
            <a:solidFill>
              <a:srgbClr val="DC2626"/>
            </a:solidFill>
            <a:round/>
          </a:ln>
        </p:spPr>
        <p:style>
          <a:lnRef idx="0">
            <a:scrgbClr r="0" g="0" b="0"/>
          </a:lnRef>
          <a:fillRef idx="0">
            <a:scrgbClr r="0" g="0" b="0"/>
          </a:fillRef>
          <a:effectRef idx="0">
            <a:scrgbClr r="0" g="0" b="0"/>
          </a:effectRef>
          <a:fontRef idx="minor"/>
        </p:style>
        <p:txBody>
          <a:bodyPr lIns="90000" tIns="38880" rIns="90000" bIns="38880" anchor="t">
            <a:noAutofit/>
          </a:bodyPr>
          <a:lstStyle/>
          <a:p>
            <a:endParaRPr lang="en-US" sz="1800" b="0" u="none" strike="noStrike">
              <a:solidFill>
                <a:srgbClr val="FFFFFF"/>
              </a:solidFill>
              <a:effectLst/>
              <a:uFillTx/>
              <a:latin typeface="Arial"/>
            </a:endParaRPr>
          </a:p>
        </p:txBody>
      </p:sp>
      <p:sp>
        <p:nvSpPr>
          <p:cNvPr id="279" name="Text 32"/>
          <p:cNvSpPr/>
          <p:nvPr/>
        </p:nvSpPr>
        <p:spPr>
          <a:xfrm>
            <a:off x="6803280" y="5029200"/>
            <a:ext cx="45716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zh-CN" sz="820" b="0" u="none" strike="noStrike">
                <a:solidFill>
                  <a:srgbClr val="334155"/>
                </a:solidFill>
                <a:effectLst/>
                <a:uFillTx/>
                <a:latin typeface="Noto Sans CJK SC"/>
                <a:ea typeface="Noto Sans CJK SC"/>
              </a:rPr>
              <a:t>未成年人：听从学校</a:t>
            </a:r>
            <a:r>
              <a:rPr lang="en-US" sz="820" b="0" u="none" strike="noStrike">
                <a:solidFill>
                  <a:srgbClr val="334155"/>
                </a:solidFill>
                <a:effectLst/>
                <a:uFillTx/>
                <a:latin typeface="Noto Sans CJK SC"/>
                <a:ea typeface="Noto Sans CJK SC"/>
              </a:rPr>
              <a:t>/</a:t>
            </a:r>
            <a:r>
              <a:rPr lang="zh-CN" sz="820" b="0" u="none" strike="noStrike">
                <a:solidFill>
                  <a:srgbClr val="334155"/>
                </a:solidFill>
                <a:effectLst/>
                <a:uFillTx/>
                <a:latin typeface="Noto Sans CJK SC"/>
                <a:ea typeface="Noto Sans CJK SC"/>
              </a:rPr>
              <a:t>监护人安排</a:t>
            </a:r>
            <a:endParaRPr lang="en-US" sz="820" b="0" u="none" strike="noStrike">
              <a:solidFill>
                <a:srgbClr val="000000"/>
              </a:solidFill>
              <a:effectLst/>
              <a:uFillTx/>
              <a:latin typeface="Arial"/>
            </a:endParaRPr>
          </a:p>
        </p:txBody>
      </p:sp>
      <p:sp>
        <p:nvSpPr>
          <p:cNvPr id="280" name="Shape 33"/>
          <p:cNvSpPr/>
          <p:nvPr/>
        </p:nvSpPr>
        <p:spPr>
          <a:xfrm>
            <a:off x="6583680" y="5385960"/>
            <a:ext cx="118440" cy="118440"/>
          </a:xfrm>
          <a:prstGeom prst="ellipse">
            <a:avLst/>
          </a:prstGeom>
          <a:solidFill>
            <a:srgbClr val="DC2626"/>
          </a:solidFill>
          <a:ln w="12700">
            <a:solidFill>
              <a:srgbClr val="DC2626"/>
            </a:solidFill>
            <a:round/>
          </a:ln>
        </p:spPr>
        <p:style>
          <a:lnRef idx="0">
            <a:scrgbClr r="0" g="0" b="0"/>
          </a:lnRef>
          <a:fillRef idx="0">
            <a:scrgbClr r="0" g="0" b="0"/>
          </a:fillRef>
          <a:effectRef idx="0">
            <a:scrgbClr r="0" g="0" b="0"/>
          </a:effectRef>
          <a:fontRef idx="minor"/>
        </p:style>
        <p:txBody>
          <a:bodyPr lIns="90000" tIns="38880" rIns="90000" bIns="38880" anchor="t">
            <a:noAutofit/>
          </a:bodyPr>
          <a:lstStyle/>
          <a:p>
            <a:endParaRPr lang="en-US" sz="1800" b="0" u="none" strike="noStrike">
              <a:solidFill>
                <a:srgbClr val="FFFFFF"/>
              </a:solidFill>
              <a:effectLst/>
              <a:uFillTx/>
              <a:latin typeface="Arial"/>
            </a:endParaRPr>
          </a:p>
        </p:txBody>
      </p:sp>
      <p:sp>
        <p:nvSpPr>
          <p:cNvPr id="281" name="Text 34"/>
          <p:cNvSpPr/>
          <p:nvPr/>
        </p:nvSpPr>
        <p:spPr>
          <a:xfrm>
            <a:off x="6803280" y="5303520"/>
            <a:ext cx="45716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zh-CN" sz="820" b="0" u="none" strike="noStrike">
                <a:solidFill>
                  <a:srgbClr val="334155"/>
                </a:solidFill>
                <a:effectLst/>
                <a:uFillTx/>
                <a:latin typeface="Noto Sans CJK SC"/>
                <a:ea typeface="Noto Sans CJK SC"/>
              </a:rPr>
              <a:t>老年人：联系家属</a:t>
            </a:r>
            <a:r>
              <a:rPr lang="en-US" sz="820" b="0" u="none" strike="noStrike">
                <a:solidFill>
                  <a:srgbClr val="334155"/>
                </a:solidFill>
                <a:effectLst/>
                <a:uFillTx/>
                <a:latin typeface="Noto Sans CJK SC"/>
                <a:ea typeface="Noto Sans CJK SC"/>
              </a:rPr>
              <a:t>/</a:t>
            </a:r>
            <a:r>
              <a:rPr lang="zh-CN" sz="820" b="0" u="none" strike="noStrike">
                <a:solidFill>
                  <a:srgbClr val="334155"/>
                </a:solidFill>
                <a:effectLst/>
                <a:uFillTx/>
                <a:latin typeface="Noto Sans CJK SC"/>
                <a:ea typeface="Noto Sans CJK SC"/>
              </a:rPr>
              <a:t>社区协助</a:t>
            </a:r>
            <a:endParaRPr lang="en-US" sz="820" b="0" u="none" strike="noStrike">
              <a:solidFill>
                <a:srgbClr val="000000"/>
              </a:solidFill>
              <a:effectLst/>
              <a:uFillTx/>
              <a:latin typeface="Arial"/>
            </a:endParaRPr>
          </a:p>
        </p:txBody>
      </p:sp>
      <p:sp>
        <p:nvSpPr>
          <p:cNvPr id="282" name="Shape 35"/>
          <p:cNvSpPr/>
          <p:nvPr/>
        </p:nvSpPr>
        <p:spPr>
          <a:xfrm>
            <a:off x="6583680" y="5660280"/>
            <a:ext cx="118440" cy="118440"/>
          </a:xfrm>
          <a:prstGeom prst="ellipse">
            <a:avLst/>
          </a:prstGeom>
          <a:solidFill>
            <a:srgbClr val="DC2626"/>
          </a:solidFill>
          <a:ln w="12700">
            <a:solidFill>
              <a:srgbClr val="DC2626"/>
            </a:solidFill>
            <a:round/>
          </a:ln>
        </p:spPr>
        <p:style>
          <a:lnRef idx="0">
            <a:scrgbClr r="0" g="0" b="0"/>
          </a:lnRef>
          <a:fillRef idx="0">
            <a:scrgbClr r="0" g="0" b="0"/>
          </a:fillRef>
          <a:effectRef idx="0">
            <a:scrgbClr r="0" g="0" b="0"/>
          </a:effectRef>
          <a:fontRef idx="minor"/>
        </p:style>
        <p:txBody>
          <a:bodyPr lIns="90000" tIns="38880" rIns="90000" bIns="38880" anchor="t">
            <a:noAutofit/>
          </a:bodyPr>
          <a:lstStyle/>
          <a:p>
            <a:endParaRPr lang="en-US" sz="1800" b="0" u="none" strike="noStrike">
              <a:solidFill>
                <a:srgbClr val="FFFFFF"/>
              </a:solidFill>
              <a:effectLst/>
              <a:uFillTx/>
              <a:latin typeface="Arial"/>
            </a:endParaRPr>
          </a:p>
        </p:txBody>
      </p:sp>
      <p:sp>
        <p:nvSpPr>
          <p:cNvPr id="283" name="Text 36"/>
          <p:cNvSpPr/>
          <p:nvPr/>
        </p:nvSpPr>
        <p:spPr>
          <a:xfrm>
            <a:off x="6803280" y="5577840"/>
            <a:ext cx="45716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zh-CN" sz="820" b="0" u="none" strike="noStrike">
                <a:solidFill>
                  <a:srgbClr val="334155"/>
                </a:solidFill>
                <a:effectLst/>
                <a:uFillTx/>
                <a:latin typeface="Noto Sans CJK SC"/>
                <a:ea typeface="Noto Sans CJK SC"/>
              </a:rPr>
              <a:t>游客：关注当地指引，远离危险区域</a:t>
            </a:r>
            <a:endParaRPr lang="en-US" sz="820" b="0" u="none" strike="noStrike">
              <a:solidFill>
                <a:srgbClr val="000000"/>
              </a:solidFill>
              <a:effectLst/>
              <a:uFillTx/>
              <a:latin typeface="Arial"/>
            </a:endParaRPr>
          </a:p>
        </p:txBody>
      </p:sp>
      <p:sp>
        <p:nvSpPr>
          <p:cNvPr id="284" name="Shape 37"/>
          <p:cNvSpPr/>
          <p:nvPr/>
        </p:nvSpPr>
        <p:spPr>
          <a:xfrm>
            <a:off x="6583680" y="5934600"/>
            <a:ext cx="118440" cy="118440"/>
          </a:xfrm>
          <a:prstGeom prst="ellipse">
            <a:avLst/>
          </a:prstGeom>
          <a:solidFill>
            <a:srgbClr val="DC2626"/>
          </a:solidFill>
          <a:ln w="12700">
            <a:solidFill>
              <a:srgbClr val="DC2626"/>
            </a:solidFill>
            <a:round/>
          </a:ln>
        </p:spPr>
        <p:style>
          <a:lnRef idx="0">
            <a:scrgbClr r="0" g="0" b="0"/>
          </a:lnRef>
          <a:fillRef idx="0">
            <a:scrgbClr r="0" g="0" b="0"/>
          </a:fillRef>
          <a:effectRef idx="0">
            <a:scrgbClr r="0" g="0" b="0"/>
          </a:effectRef>
          <a:fontRef idx="minor"/>
        </p:style>
        <p:txBody>
          <a:bodyPr lIns="90000" tIns="38880" rIns="90000" bIns="38880" anchor="t">
            <a:noAutofit/>
          </a:bodyPr>
          <a:lstStyle/>
          <a:p>
            <a:endParaRPr lang="en-US" sz="1800" b="0" u="none" strike="noStrike">
              <a:solidFill>
                <a:srgbClr val="FFFFFF"/>
              </a:solidFill>
              <a:effectLst/>
              <a:uFillTx/>
              <a:latin typeface="Arial"/>
            </a:endParaRPr>
          </a:p>
        </p:txBody>
      </p:sp>
      <p:sp>
        <p:nvSpPr>
          <p:cNvPr id="285" name="Text 38"/>
          <p:cNvSpPr/>
          <p:nvPr/>
        </p:nvSpPr>
        <p:spPr>
          <a:xfrm>
            <a:off x="6803280" y="5852160"/>
            <a:ext cx="45716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zh-CN" sz="820" b="0" u="none" strike="noStrike">
                <a:solidFill>
                  <a:srgbClr val="334155"/>
                </a:solidFill>
                <a:effectLst/>
                <a:uFillTx/>
                <a:latin typeface="Noto Sans CJK SC"/>
                <a:ea typeface="Noto Sans CJK SC"/>
              </a:rPr>
              <a:t>应急人员：巡查排险、协助转移</a:t>
            </a:r>
            <a:endParaRPr lang="en-US" sz="820" b="0" u="none" strike="noStrike">
              <a:solidFill>
                <a:srgbClr val="000000"/>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86" name="Text 0"/>
          <p:cNvSpPr/>
          <p:nvPr/>
        </p:nvSpPr>
        <p:spPr>
          <a:xfrm>
            <a:off x="548640" y="411480"/>
            <a:ext cx="81378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2600" b="1" u="none" strike="noStrike">
                <a:solidFill>
                  <a:srgbClr val="0F172A"/>
                </a:solidFill>
                <a:effectLst/>
                <a:uFillTx/>
                <a:latin typeface="Noto Sans CJK SC"/>
                <a:ea typeface="Noto Sans CJK SC"/>
              </a:rPr>
              <a:t>首页与手机弹窗：从输入到结果</a:t>
            </a:r>
            <a:endParaRPr lang="en-US" sz="2600" b="0" u="none" strike="noStrike">
              <a:solidFill>
                <a:srgbClr val="000000"/>
              </a:solidFill>
              <a:effectLst/>
              <a:uFillTx/>
              <a:latin typeface="Arial"/>
            </a:endParaRPr>
          </a:p>
        </p:txBody>
      </p:sp>
      <p:sp>
        <p:nvSpPr>
          <p:cNvPr id="287" name="Text 1"/>
          <p:cNvSpPr/>
          <p:nvPr/>
        </p:nvSpPr>
        <p:spPr>
          <a:xfrm>
            <a:off x="567000" y="896040"/>
            <a:ext cx="64004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1050" b="0" u="none" strike="noStrike">
                <a:solidFill>
                  <a:srgbClr val="64748B"/>
                </a:solidFill>
                <a:effectLst/>
                <a:uFillTx/>
                <a:latin typeface="Noto Sans CJK SC"/>
                <a:ea typeface="Noto Sans CJK SC"/>
              </a:rPr>
              <a:t>核心界面简洁：左侧填信息，右侧模拟手机收到地震提醒</a:t>
            </a:r>
            <a:endParaRPr lang="en-US" sz="1050" b="0" u="none" strike="noStrike">
              <a:solidFill>
                <a:srgbClr val="000000"/>
              </a:solidFill>
              <a:effectLst/>
              <a:uFillTx/>
              <a:latin typeface="Arial"/>
            </a:endParaRPr>
          </a:p>
        </p:txBody>
      </p:sp>
      <p:sp>
        <p:nvSpPr>
          <p:cNvPr id="288" name="Shape 2"/>
          <p:cNvSpPr/>
          <p:nvPr/>
        </p:nvSpPr>
        <p:spPr>
          <a:xfrm>
            <a:off x="548640" y="6473880"/>
            <a:ext cx="11091600" cy="360"/>
          </a:xfrm>
          <a:prstGeom prst="line">
            <a:avLst/>
          </a:prstGeom>
          <a:ln w="12700">
            <a:solidFill>
              <a:srgbClr val="E2E8F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89" name="Text 3"/>
          <p:cNvSpPr/>
          <p:nvPr/>
        </p:nvSpPr>
        <p:spPr>
          <a:xfrm>
            <a:off x="567000" y="6556320"/>
            <a:ext cx="80463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750" b="0" u="none" strike="noStrike">
                <a:solidFill>
                  <a:srgbClr val="64748B"/>
                </a:solidFill>
                <a:effectLst/>
                <a:uFillTx/>
                <a:latin typeface="Noto Sans CJK SC"/>
                <a:ea typeface="Noto Sans CJK SC"/>
              </a:rPr>
              <a:t>项目</a:t>
            </a:r>
            <a:r>
              <a:rPr lang="en-US" sz="750" b="0" u="none" strike="noStrike">
                <a:solidFill>
                  <a:srgbClr val="64748B"/>
                </a:solidFill>
                <a:effectLst/>
                <a:uFillTx/>
                <a:latin typeface="Noto Sans CJK SC"/>
                <a:ea typeface="Noto Sans CJK SC"/>
              </a:rPr>
              <a:t>09</a:t>
            </a:r>
            <a:r>
              <a:rPr lang="zh-CN" sz="750" b="0" u="none" strike="noStrike">
                <a:solidFill>
                  <a:srgbClr val="64748B"/>
                </a:solidFill>
                <a:effectLst/>
                <a:uFillTx/>
                <a:latin typeface="Noto Sans CJK SC"/>
                <a:ea typeface="Noto Sans CJK SC"/>
              </a:rPr>
              <a:t>｜真实地震数据 </a:t>
            </a:r>
            <a:r>
              <a:rPr lang="en-US" sz="750" b="0" u="none" strike="noStrike">
                <a:solidFill>
                  <a:srgbClr val="64748B"/>
                </a:solidFill>
                <a:effectLst/>
                <a:uFillTx/>
                <a:latin typeface="Noto Sans CJK SC"/>
                <a:ea typeface="Noto Sans CJK SC"/>
              </a:rPr>
              <a:t>+ </a:t>
            </a:r>
            <a:r>
              <a:rPr lang="zh-CN" sz="750" b="0" u="none" strike="noStrike">
                <a:solidFill>
                  <a:srgbClr val="64748B"/>
                </a:solidFill>
                <a:effectLst/>
                <a:uFillTx/>
                <a:latin typeface="Noto Sans CJK SC"/>
                <a:ea typeface="Noto Sans CJK SC"/>
              </a:rPr>
              <a:t>个性化地震应急提醒</a:t>
            </a:r>
            <a:endParaRPr lang="en-US" sz="750" b="0" u="none" strike="noStrike">
              <a:solidFill>
                <a:srgbClr val="000000"/>
              </a:solidFill>
              <a:effectLst/>
              <a:uFillTx/>
              <a:latin typeface="Arial"/>
            </a:endParaRPr>
          </a:p>
        </p:txBody>
      </p:sp>
      <p:sp>
        <p:nvSpPr>
          <p:cNvPr id="290" name="Text 4"/>
          <p:cNvSpPr/>
          <p:nvPr/>
        </p:nvSpPr>
        <p:spPr>
          <a:xfrm>
            <a:off x="11064240" y="6519600"/>
            <a:ext cx="5482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00" b="0" u="none" strike="noStrike">
                <a:solidFill>
                  <a:srgbClr val="64748B"/>
                </a:solidFill>
                <a:effectLst/>
                <a:uFillTx/>
                <a:latin typeface="Noto Sans CJK SC"/>
                <a:ea typeface="Noto Sans CJK SC"/>
              </a:rPr>
              <a:t>09</a:t>
            </a:r>
            <a:endParaRPr lang="en-US" sz="800" b="0" u="none" strike="noStrike">
              <a:solidFill>
                <a:srgbClr val="000000"/>
              </a:solidFill>
              <a:effectLst/>
              <a:uFillTx/>
              <a:latin typeface="Arial"/>
            </a:endParaRPr>
          </a:p>
        </p:txBody>
      </p:sp>
      <p:sp>
        <p:nvSpPr>
          <p:cNvPr id="291" name="Shape 5"/>
          <p:cNvSpPr/>
          <p:nvPr/>
        </p:nvSpPr>
        <p:spPr>
          <a:xfrm>
            <a:off x="731520" y="1325880"/>
            <a:ext cx="4023000" cy="4388760"/>
          </a:xfrm>
          <a:prstGeom prst="roundRect">
            <a:avLst>
              <a:gd name="adj" fmla="val 2727"/>
            </a:avLst>
          </a:prstGeom>
          <a:solidFill>
            <a:srgbClr val="FFFFFF"/>
          </a:solidFill>
          <a:ln w="1270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2" name="Text 6"/>
          <p:cNvSpPr/>
          <p:nvPr/>
        </p:nvSpPr>
        <p:spPr>
          <a:xfrm>
            <a:off x="1051560" y="1600200"/>
            <a:ext cx="3291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1500" b="1" u="none" strike="noStrike">
                <a:solidFill>
                  <a:srgbClr val="0F172A"/>
                </a:solidFill>
                <a:effectLst/>
                <a:uFillTx/>
                <a:latin typeface="Noto Sans CJK SC"/>
                <a:ea typeface="Noto Sans CJK SC"/>
              </a:rPr>
              <a:t>左侧输入区</a:t>
            </a:r>
            <a:endParaRPr lang="en-US" sz="1500" b="0" u="none" strike="noStrike">
              <a:solidFill>
                <a:srgbClr val="000000"/>
              </a:solidFill>
              <a:effectLst/>
              <a:uFillTx/>
              <a:latin typeface="Arial"/>
            </a:endParaRPr>
          </a:p>
        </p:txBody>
      </p:sp>
      <p:sp>
        <p:nvSpPr>
          <p:cNvPr id="293" name="Shape 7"/>
          <p:cNvSpPr/>
          <p:nvPr/>
        </p:nvSpPr>
        <p:spPr>
          <a:xfrm>
            <a:off x="1143000" y="2103120"/>
            <a:ext cx="3200040" cy="319680"/>
          </a:xfrm>
          <a:prstGeom prst="roundRect">
            <a:avLst>
              <a:gd name="adj" fmla="val 14286"/>
            </a:avLst>
          </a:prstGeom>
          <a:solidFill>
            <a:srgbClr val="F8FAFC"/>
          </a:solidFill>
          <a:ln w="1270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4" name="Text 8"/>
          <p:cNvSpPr/>
          <p:nvPr/>
        </p:nvSpPr>
        <p:spPr>
          <a:xfrm>
            <a:off x="1261800" y="2194560"/>
            <a:ext cx="297144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85000" lnSpcReduction="19999"/>
          </a:bodyPr>
          <a:lstStyle/>
          <a:p>
            <a:pPr defTabSz="914400">
              <a:lnSpc>
                <a:spcPct val="100000"/>
              </a:lnSpc>
              <a:tabLst>
                <a:tab pos="0" algn="l"/>
              </a:tabLst>
            </a:pPr>
            <a:r>
              <a:rPr lang="zh-CN" sz="880" b="0" u="none" strike="noStrike">
                <a:solidFill>
                  <a:srgbClr val="334155"/>
                </a:solidFill>
                <a:effectLst/>
                <a:uFillTx/>
                <a:latin typeface="Noto Sans CJK SC"/>
                <a:ea typeface="Noto Sans CJK SC"/>
              </a:rPr>
              <a:t>真实地震事件</a:t>
            </a:r>
            <a:endParaRPr lang="en-US" sz="880" b="0" u="none" strike="noStrike">
              <a:solidFill>
                <a:srgbClr val="000000"/>
              </a:solidFill>
              <a:effectLst/>
              <a:uFillTx/>
              <a:latin typeface="Arial"/>
            </a:endParaRPr>
          </a:p>
        </p:txBody>
      </p:sp>
      <p:sp>
        <p:nvSpPr>
          <p:cNvPr id="295" name="Shape 9"/>
          <p:cNvSpPr/>
          <p:nvPr/>
        </p:nvSpPr>
        <p:spPr>
          <a:xfrm>
            <a:off x="1143000" y="2606040"/>
            <a:ext cx="3200040" cy="319680"/>
          </a:xfrm>
          <a:prstGeom prst="roundRect">
            <a:avLst>
              <a:gd name="adj" fmla="val 14286"/>
            </a:avLst>
          </a:prstGeom>
          <a:solidFill>
            <a:srgbClr val="F8FAFC"/>
          </a:solidFill>
          <a:ln w="1270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6" name="Text 10"/>
          <p:cNvSpPr/>
          <p:nvPr/>
        </p:nvSpPr>
        <p:spPr>
          <a:xfrm>
            <a:off x="1261800" y="2697480"/>
            <a:ext cx="297144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85000" lnSpcReduction="19999"/>
          </a:bodyPr>
          <a:lstStyle/>
          <a:p>
            <a:pPr defTabSz="914400">
              <a:lnSpc>
                <a:spcPct val="100000"/>
              </a:lnSpc>
              <a:tabLst>
                <a:tab pos="0" algn="l"/>
              </a:tabLst>
            </a:pPr>
            <a:r>
              <a:rPr lang="zh-CN" sz="880" b="0" u="none" strike="noStrike">
                <a:solidFill>
                  <a:srgbClr val="334155"/>
                </a:solidFill>
                <a:effectLst/>
                <a:uFillTx/>
                <a:latin typeface="Noto Sans CJK SC"/>
                <a:ea typeface="Noto Sans CJK SC"/>
              </a:rPr>
              <a:t>人员身份：普通居民 </a:t>
            </a:r>
            <a:r>
              <a:rPr lang="en-US" sz="880" b="0" u="none" strike="noStrike">
                <a:solidFill>
                  <a:srgbClr val="334155"/>
                </a:solidFill>
                <a:effectLst/>
                <a:uFillTx/>
                <a:latin typeface="Noto Sans CJK SC"/>
                <a:ea typeface="Noto Sans CJK SC"/>
              </a:rPr>
              <a:t>/ </a:t>
            </a:r>
            <a:r>
              <a:rPr lang="zh-CN" sz="880" b="0" u="none" strike="noStrike">
                <a:solidFill>
                  <a:srgbClr val="334155"/>
                </a:solidFill>
                <a:effectLst/>
                <a:uFillTx/>
                <a:latin typeface="Noto Sans CJK SC"/>
                <a:ea typeface="Noto Sans CJK SC"/>
              </a:rPr>
              <a:t>游客 </a:t>
            </a:r>
            <a:r>
              <a:rPr lang="en-US" sz="880" b="0" u="none" strike="noStrike">
                <a:solidFill>
                  <a:srgbClr val="334155"/>
                </a:solidFill>
                <a:effectLst/>
                <a:uFillTx/>
                <a:latin typeface="Noto Sans CJK SC"/>
                <a:ea typeface="Noto Sans CJK SC"/>
              </a:rPr>
              <a:t>/ </a:t>
            </a:r>
            <a:r>
              <a:rPr lang="zh-CN" sz="880" b="0" u="none" strike="noStrike">
                <a:solidFill>
                  <a:srgbClr val="334155"/>
                </a:solidFill>
                <a:effectLst/>
                <a:uFillTx/>
                <a:latin typeface="Noto Sans CJK SC"/>
                <a:ea typeface="Noto Sans CJK SC"/>
              </a:rPr>
              <a:t>应急人员</a:t>
            </a:r>
            <a:endParaRPr lang="en-US" sz="880" b="0" u="none" strike="noStrike">
              <a:solidFill>
                <a:srgbClr val="000000"/>
              </a:solidFill>
              <a:effectLst/>
              <a:uFillTx/>
              <a:latin typeface="Arial"/>
            </a:endParaRPr>
          </a:p>
        </p:txBody>
      </p:sp>
      <p:sp>
        <p:nvSpPr>
          <p:cNvPr id="297" name="Shape 11"/>
          <p:cNvSpPr/>
          <p:nvPr/>
        </p:nvSpPr>
        <p:spPr>
          <a:xfrm>
            <a:off x="1143000" y="3108960"/>
            <a:ext cx="3200040" cy="319680"/>
          </a:xfrm>
          <a:prstGeom prst="roundRect">
            <a:avLst>
              <a:gd name="adj" fmla="val 14286"/>
            </a:avLst>
          </a:prstGeom>
          <a:solidFill>
            <a:srgbClr val="F8FAFC"/>
          </a:solidFill>
          <a:ln w="1270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8" name="Text 12"/>
          <p:cNvSpPr/>
          <p:nvPr/>
        </p:nvSpPr>
        <p:spPr>
          <a:xfrm>
            <a:off x="1261800" y="3200400"/>
            <a:ext cx="297144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85000" lnSpcReduction="19999"/>
          </a:bodyPr>
          <a:lstStyle/>
          <a:p>
            <a:pPr defTabSz="914400">
              <a:lnSpc>
                <a:spcPct val="100000"/>
              </a:lnSpc>
              <a:tabLst>
                <a:tab pos="0" algn="l"/>
              </a:tabLst>
            </a:pPr>
            <a:r>
              <a:rPr lang="zh-CN" sz="880" b="0" u="none" strike="noStrike">
                <a:solidFill>
                  <a:srgbClr val="334155"/>
                </a:solidFill>
                <a:effectLst/>
                <a:uFillTx/>
                <a:latin typeface="Noto Sans CJK SC"/>
                <a:ea typeface="Noto Sans CJK SC"/>
              </a:rPr>
              <a:t>年龄：自动识别未成年人</a:t>
            </a:r>
            <a:r>
              <a:rPr lang="en-US" sz="880" b="0" u="none" strike="noStrike">
                <a:solidFill>
                  <a:srgbClr val="334155"/>
                </a:solidFill>
                <a:effectLst/>
                <a:uFillTx/>
                <a:latin typeface="Noto Sans CJK SC"/>
                <a:ea typeface="Noto Sans CJK SC"/>
              </a:rPr>
              <a:t>/</a:t>
            </a:r>
            <a:r>
              <a:rPr lang="zh-CN" sz="880" b="0" u="none" strike="noStrike">
                <a:solidFill>
                  <a:srgbClr val="334155"/>
                </a:solidFill>
                <a:effectLst/>
                <a:uFillTx/>
                <a:latin typeface="Noto Sans CJK SC"/>
                <a:ea typeface="Noto Sans CJK SC"/>
              </a:rPr>
              <a:t>老人</a:t>
            </a:r>
            <a:endParaRPr lang="en-US" sz="880" b="0" u="none" strike="noStrike">
              <a:solidFill>
                <a:srgbClr val="000000"/>
              </a:solidFill>
              <a:effectLst/>
              <a:uFillTx/>
              <a:latin typeface="Arial"/>
            </a:endParaRPr>
          </a:p>
        </p:txBody>
      </p:sp>
      <p:sp>
        <p:nvSpPr>
          <p:cNvPr id="299" name="Shape 13"/>
          <p:cNvSpPr/>
          <p:nvPr/>
        </p:nvSpPr>
        <p:spPr>
          <a:xfrm>
            <a:off x="1143000" y="3611880"/>
            <a:ext cx="3200040" cy="319680"/>
          </a:xfrm>
          <a:prstGeom prst="roundRect">
            <a:avLst>
              <a:gd name="adj" fmla="val 14286"/>
            </a:avLst>
          </a:prstGeom>
          <a:solidFill>
            <a:srgbClr val="F8FAFC"/>
          </a:solidFill>
          <a:ln w="1270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0" name="Text 14"/>
          <p:cNvSpPr/>
          <p:nvPr/>
        </p:nvSpPr>
        <p:spPr>
          <a:xfrm>
            <a:off x="1261800" y="3703320"/>
            <a:ext cx="297144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85000" lnSpcReduction="19999"/>
          </a:bodyPr>
          <a:lstStyle/>
          <a:p>
            <a:pPr defTabSz="914400">
              <a:lnSpc>
                <a:spcPct val="100000"/>
              </a:lnSpc>
              <a:tabLst>
                <a:tab pos="0" algn="l"/>
              </a:tabLst>
            </a:pPr>
            <a:r>
              <a:rPr lang="zh-CN" sz="880" b="0" u="none" strike="noStrike">
                <a:solidFill>
                  <a:srgbClr val="334155"/>
                </a:solidFill>
                <a:effectLst/>
                <a:uFillTx/>
                <a:latin typeface="Noto Sans CJK SC"/>
                <a:ea typeface="Noto Sans CJK SC"/>
              </a:rPr>
              <a:t>位置：手动输入或一键定位</a:t>
            </a:r>
            <a:endParaRPr lang="en-US" sz="880" b="0" u="none" strike="noStrike">
              <a:solidFill>
                <a:srgbClr val="000000"/>
              </a:solidFill>
              <a:effectLst/>
              <a:uFillTx/>
              <a:latin typeface="Arial"/>
            </a:endParaRPr>
          </a:p>
        </p:txBody>
      </p:sp>
      <p:sp>
        <p:nvSpPr>
          <p:cNvPr id="301" name="Shape 15"/>
          <p:cNvSpPr/>
          <p:nvPr/>
        </p:nvSpPr>
        <p:spPr>
          <a:xfrm>
            <a:off x="1143000" y="4114800"/>
            <a:ext cx="3200040" cy="319680"/>
          </a:xfrm>
          <a:prstGeom prst="roundRect">
            <a:avLst>
              <a:gd name="adj" fmla="val 14286"/>
            </a:avLst>
          </a:prstGeom>
          <a:solidFill>
            <a:srgbClr val="F8FAFC"/>
          </a:solidFill>
          <a:ln w="1270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2" name="Text 16"/>
          <p:cNvSpPr/>
          <p:nvPr/>
        </p:nvSpPr>
        <p:spPr>
          <a:xfrm>
            <a:off x="1261800" y="4206240"/>
            <a:ext cx="297144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85000" lnSpcReduction="19999"/>
          </a:bodyPr>
          <a:lstStyle/>
          <a:p>
            <a:pPr defTabSz="914400">
              <a:lnSpc>
                <a:spcPct val="100000"/>
              </a:lnSpc>
              <a:tabLst>
                <a:tab pos="0" algn="l"/>
              </a:tabLst>
            </a:pPr>
            <a:r>
              <a:rPr lang="zh-CN" sz="880" b="0" u="none" strike="noStrike">
                <a:solidFill>
                  <a:srgbClr val="334155"/>
                </a:solidFill>
                <a:effectLst/>
                <a:uFillTx/>
                <a:latin typeface="Noto Sans CJK SC"/>
                <a:ea typeface="Noto Sans CJK SC"/>
              </a:rPr>
              <a:t>行动能力：正常 </a:t>
            </a:r>
            <a:r>
              <a:rPr lang="en-US" sz="880" b="0" u="none" strike="noStrike">
                <a:solidFill>
                  <a:srgbClr val="334155"/>
                </a:solidFill>
                <a:effectLst/>
                <a:uFillTx/>
                <a:latin typeface="Noto Sans CJK SC"/>
                <a:ea typeface="Noto Sans CJK SC"/>
              </a:rPr>
              <a:t>/ </a:t>
            </a:r>
            <a:r>
              <a:rPr lang="zh-CN" sz="880" b="0" u="none" strike="noStrike">
                <a:solidFill>
                  <a:srgbClr val="334155"/>
                </a:solidFill>
                <a:effectLst/>
                <a:uFillTx/>
                <a:latin typeface="Noto Sans CJK SC"/>
                <a:ea typeface="Noto Sans CJK SC"/>
              </a:rPr>
              <a:t>较弱 </a:t>
            </a:r>
            <a:r>
              <a:rPr lang="en-US" sz="880" b="0" u="none" strike="noStrike">
                <a:solidFill>
                  <a:srgbClr val="334155"/>
                </a:solidFill>
                <a:effectLst/>
                <a:uFillTx/>
                <a:latin typeface="Noto Sans CJK SC"/>
                <a:ea typeface="Noto Sans CJK SC"/>
              </a:rPr>
              <a:t>/ </a:t>
            </a:r>
            <a:r>
              <a:rPr lang="zh-CN" sz="880" b="0" u="none" strike="noStrike">
                <a:solidFill>
                  <a:srgbClr val="334155"/>
                </a:solidFill>
                <a:effectLst/>
                <a:uFillTx/>
                <a:latin typeface="Noto Sans CJK SC"/>
                <a:ea typeface="Noto Sans CJK SC"/>
              </a:rPr>
              <a:t>需协助</a:t>
            </a:r>
            <a:endParaRPr lang="en-US" sz="880" b="0" u="none" strike="noStrike">
              <a:solidFill>
                <a:srgbClr val="000000"/>
              </a:solidFill>
              <a:effectLst/>
              <a:uFillTx/>
              <a:latin typeface="Arial"/>
            </a:endParaRPr>
          </a:p>
        </p:txBody>
      </p:sp>
      <p:sp>
        <p:nvSpPr>
          <p:cNvPr id="303" name="Shape 17"/>
          <p:cNvSpPr/>
          <p:nvPr/>
        </p:nvSpPr>
        <p:spPr>
          <a:xfrm>
            <a:off x="1417320" y="4800600"/>
            <a:ext cx="2651400" cy="438480"/>
          </a:xfrm>
          <a:prstGeom prst="roundRect">
            <a:avLst>
              <a:gd name="adj" fmla="val 16667"/>
            </a:avLst>
          </a:prstGeom>
          <a:solidFill>
            <a:srgbClr val="2563EB"/>
          </a:solidFill>
          <a:ln w="12700">
            <a:solidFill>
              <a:srgbClr val="2563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04" name="Text 18"/>
          <p:cNvSpPr/>
          <p:nvPr/>
        </p:nvSpPr>
        <p:spPr>
          <a:xfrm>
            <a:off x="1691640" y="4946760"/>
            <a:ext cx="21027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1000" b="1" u="none" strike="noStrike">
                <a:solidFill>
                  <a:srgbClr val="FFFFFF"/>
                </a:solidFill>
                <a:effectLst/>
                <a:uFillTx/>
                <a:latin typeface="Noto Sans CJK SC"/>
                <a:ea typeface="Noto Sans CJK SC"/>
              </a:rPr>
              <a:t>生成地震应急提醒</a:t>
            </a:r>
            <a:endParaRPr lang="en-US" sz="1000" b="0" u="none" strike="noStrike">
              <a:solidFill>
                <a:srgbClr val="000000"/>
              </a:solidFill>
              <a:effectLst/>
              <a:uFillTx/>
              <a:latin typeface="Arial"/>
            </a:endParaRPr>
          </a:p>
        </p:txBody>
      </p:sp>
      <p:sp>
        <p:nvSpPr>
          <p:cNvPr id="305" name="Shape 19"/>
          <p:cNvSpPr/>
          <p:nvPr/>
        </p:nvSpPr>
        <p:spPr>
          <a:xfrm>
            <a:off x="7452360" y="1097280"/>
            <a:ext cx="2514240" cy="4708800"/>
          </a:xfrm>
          <a:prstGeom prst="roundRect">
            <a:avLst>
              <a:gd name="adj" fmla="val 10182"/>
            </a:avLst>
          </a:prstGeom>
          <a:solidFill>
            <a:srgbClr val="111827"/>
          </a:solidFill>
          <a:ln w="25400">
            <a:solidFill>
              <a:srgbClr val="1F293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06" name="Shape 20"/>
          <p:cNvSpPr/>
          <p:nvPr/>
        </p:nvSpPr>
        <p:spPr>
          <a:xfrm>
            <a:off x="7653600" y="1389960"/>
            <a:ext cx="2111760" cy="4132800"/>
          </a:xfrm>
          <a:prstGeom prst="roundRect">
            <a:avLst>
              <a:gd name="adj" fmla="val 7792"/>
            </a:avLst>
          </a:prstGeom>
          <a:solidFill>
            <a:srgbClr val="F1F5F9"/>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7" name="Shape 21"/>
          <p:cNvSpPr/>
          <p:nvPr/>
        </p:nvSpPr>
        <p:spPr>
          <a:xfrm>
            <a:off x="7891200" y="1828800"/>
            <a:ext cx="1645560" cy="2651400"/>
          </a:xfrm>
          <a:prstGeom prst="roundRect">
            <a:avLst>
              <a:gd name="adj" fmla="val 6667"/>
            </a:avLst>
          </a:prstGeom>
          <a:solidFill>
            <a:srgbClr val="FFFFFF">
              <a:alpha val="88000"/>
            </a:srgbClr>
          </a:solidFill>
          <a:ln w="15240">
            <a:solidFill>
              <a:srgbClr val="FCA5A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8" name="Shape 22"/>
          <p:cNvSpPr/>
          <p:nvPr/>
        </p:nvSpPr>
        <p:spPr>
          <a:xfrm>
            <a:off x="7891200" y="1828800"/>
            <a:ext cx="1645560" cy="383760"/>
          </a:xfrm>
          <a:prstGeom prst="roundRect">
            <a:avLst>
              <a:gd name="adj" fmla="val 16667"/>
            </a:avLst>
          </a:prstGeom>
          <a:solidFill>
            <a:srgbClr val="DC2626"/>
          </a:solidFill>
          <a:ln w="12700">
            <a:solidFill>
              <a:srgbClr val="DC262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09" name="Text 23"/>
          <p:cNvSpPr/>
          <p:nvPr/>
        </p:nvSpPr>
        <p:spPr>
          <a:xfrm>
            <a:off x="8001000" y="1947600"/>
            <a:ext cx="141696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40" b="1" u="none" strike="noStrike">
                <a:solidFill>
                  <a:srgbClr val="FFFFFF"/>
                </a:solidFill>
                <a:effectLst/>
                <a:uFillTx/>
                <a:latin typeface="Noto Sans CJK SC"/>
                <a:ea typeface="Noto Sans CJK SC"/>
              </a:rPr>
              <a:t>⚠ M4.5 </a:t>
            </a:r>
            <a:r>
              <a:rPr lang="zh-CN" sz="740" b="1" u="none" strike="noStrike">
                <a:solidFill>
                  <a:srgbClr val="FFFFFF"/>
                </a:solidFill>
                <a:effectLst/>
                <a:uFillTx/>
                <a:latin typeface="Noto Sans CJK SC"/>
                <a:ea typeface="Noto Sans CJK SC"/>
              </a:rPr>
              <a:t>地震提醒</a:t>
            </a:r>
            <a:endParaRPr lang="en-US" sz="740" b="0" u="none" strike="noStrike">
              <a:solidFill>
                <a:srgbClr val="000000"/>
              </a:solidFill>
              <a:effectLst/>
              <a:uFillTx/>
              <a:latin typeface="Arial"/>
            </a:endParaRPr>
          </a:p>
        </p:txBody>
      </p:sp>
      <p:sp>
        <p:nvSpPr>
          <p:cNvPr id="310" name="Text 24"/>
          <p:cNvSpPr/>
          <p:nvPr/>
        </p:nvSpPr>
        <p:spPr>
          <a:xfrm>
            <a:off x="8092440" y="2432160"/>
            <a:ext cx="1234080" cy="959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780" b="0" u="none" strike="noStrike">
                <a:solidFill>
                  <a:srgbClr val="334155"/>
                </a:solidFill>
                <a:effectLst/>
                <a:uFillTx/>
                <a:latin typeface="Noto Sans CJK SC"/>
                <a:ea typeface="Noto Sans CJK SC"/>
              </a:rPr>
              <a:t>用户画像</a:t>
            </a:r>
            <a:endParaRPr lang="en-US" sz="780" b="0" u="none" strike="noStrike">
              <a:solidFill>
                <a:srgbClr val="000000"/>
              </a:solidFill>
              <a:effectLst/>
              <a:uFillTx/>
              <a:latin typeface="Arial"/>
            </a:endParaRPr>
          </a:p>
          <a:p>
            <a:pPr algn="ctr" defTabSz="914400">
              <a:lnSpc>
                <a:spcPct val="100000"/>
              </a:lnSpc>
              <a:tabLst>
                <a:tab pos="0" algn="l"/>
              </a:tabLst>
            </a:pPr>
            <a:r>
              <a:rPr lang="zh-CN" sz="780" b="0" u="none" strike="noStrike">
                <a:solidFill>
                  <a:srgbClr val="334155"/>
                </a:solidFill>
                <a:effectLst/>
                <a:uFillTx/>
                <a:latin typeface="Noto Sans CJK SC"/>
                <a:ea typeface="Noto Sans CJK SC"/>
              </a:rPr>
              <a:t>重点需求</a:t>
            </a:r>
            <a:endParaRPr lang="en-US" sz="780" b="0" u="none" strike="noStrike">
              <a:solidFill>
                <a:srgbClr val="000000"/>
              </a:solidFill>
              <a:effectLst/>
              <a:uFillTx/>
              <a:latin typeface="Arial"/>
            </a:endParaRPr>
          </a:p>
          <a:p>
            <a:pPr algn="ctr" defTabSz="914400">
              <a:lnSpc>
                <a:spcPct val="100000"/>
              </a:lnSpc>
              <a:tabLst>
                <a:tab pos="0" algn="l"/>
              </a:tabLst>
            </a:pPr>
            <a:r>
              <a:rPr lang="zh-CN" sz="780" b="0" u="none" strike="noStrike">
                <a:solidFill>
                  <a:srgbClr val="334155"/>
                </a:solidFill>
                <a:effectLst/>
                <a:uFillTx/>
                <a:latin typeface="Noto Sans CJK SC"/>
                <a:ea typeface="Noto Sans CJK SC"/>
              </a:rPr>
              <a:t>地震事实</a:t>
            </a:r>
            <a:endParaRPr lang="en-US" sz="780" b="0" u="none" strike="noStrike">
              <a:solidFill>
                <a:srgbClr val="000000"/>
              </a:solidFill>
              <a:effectLst/>
              <a:uFillTx/>
              <a:latin typeface="Arial"/>
            </a:endParaRPr>
          </a:p>
          <a:p>
            <a:pPr algn="ctr" defTabSz="914400">
              <a:lnSpc>
                <a:spcPct val="100000"/>
              </a:lnSpc>
              <a:tabLst>
                <a:tab pos="0" algn="l"/>
              </a:tabLst>
            </a:pPr>
            <a:r>
              <a:rPr lang="zh-CN" sz="780" b="0" u="none" strike="noStrike">
                <a:solidFill>
                  <a:srgbClr val="334155"/>
                </a:solidFill>
                <a:effectLst/>
                <a:uFillTx/>
                <a:latin typeface="Noto Sans CJK SC"/>
                <a:ea typeface="Noto Sans CJK SC"/>
              </a:rPr>
              <a:t>行动建议</a:t>
            </a:r>
            <a:endParaRPr lang="en-US" sz="780" b="0" u="none" strike="noStrike">
              <a:solidFill>
                <a:srgbClr val="000000"/>
              </a:solidFill>
              <a:effectLst/>
              <a:uFillTx/>
              <a:latin typeface="Arial"/>
            </a:endParaRPr>
          </a:p>
          <a:p>
            <a:pPr algn="ctr" defTabSz="914400">
              <a:lnSpc>
                <a:spcPct val="100000"/>
              </a:lnSpc>
              <a:tabLst>
                <a:tab pos="0" algn="l"/>
              </a:tabLst>
            </a:pPr>
            <a:r>
              <a:rPr lang="zh-CN" sz="780" b="0" u="none" strike="noStrike">
                <a:solidFill>
                  <a:srgbClr val="334155"/>
                </a:solidFill>
                <a:effectLst/>
                <a:uFillTx/>
                <a:latin typeface="Noto Sans CJK SC"/>
                <a:ea typeface="Noto Sans CJK SC"/>
              </a:rPr>
              <a:t>免责声明</a:t>
            </a:r>
            <a:endParaRPr lang="en-US" sz="780" b="0" u="none" strike="noStrike">
              <a:solidFill>
                <a:srgbClr val="000000"/>
              </a:solidFill>
              <a:effectLst/>
              <a:uFillTx/>
              <a:latin typeface="Arial"/>
            </a:endParaRPr>
          </a:p>
        </p:txBody>
      </p:sp>
      <p:sp>
        <p:nvSpPr>
          <p:cNvPr id="311" name="Shape 25"/>
          <p:cNvSpPr/>
          <p:nvPr/>
        </p:nvSpPr>
        <p:spPr>
          <a:xfrm>
            <a:off x="8119800" y="4041720"/>
            <a:ext cx="566640" cy="219240"/>
          </a:xfrm>
          <a:prstGeom prst="roundRect">
            <a:avLst>
              <a:gd name="adj" fmla="val 16667"/>
            </a:avLst>
          </a:prstGeom>
          <a:solidFill>
            <a:srgbClr val="2563EB"/>
          </a:solidFill>
          <a:ln w="12700">
            <a:solidFill>
              <a:srgbClr val="2563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12" name="Text 26"/>
          <p:cNvSpPr/>
          <p:nvPr/>
        </p:nvSpPr>
        <p:spPr>
          <a:xfrm>
            <a:off x="8247960" y="4105800"/>
            <a:ext cx="310680" cy="72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550" b="0" u="none" strike="noStrike">
                <a:solidFill>
                  <a:srgbClr val="FFFFFF"/>
                </a:solidFill>
                <a:effectLst/>
                <a:uFillTx/>
                <a:latin typeface="Noto Sans CJK SC"/>
                <a:ea typeface="Noto Sans CJK SC"/>
              </a:rPr>
              <a:t>统计</a:t>
            </a:r>
            <a:endParaRPr lang="en-US" sz="550" b="0" u="none" strike="noStrike">
              <a:solidFill>
                <a:srgbClr val="000000"/>
              </a:solidFill>
              <a:effectLst/>
              <a:uFillTx/>
              <a:latin typeface="Arial"/>
            </a:endParaRPr>
          </a:p>
        </p:txBody>
      </p:sp>
      <p:sp>
        <p:nvSpPr>
          <p:cNvPr id="313" name="Shape 27"/>
          <p:cNvSpPr/>
          <p:nvPr/>
        </p:nvSpPr>
        <p:spPr>
          <a:xfrm>
            <a:off x="8823960" y="4041720"/>
            <a:ext cx="566640" cy="219240"/>
          </a:xfrm>
          <a:prstGeom prst="roundRect">
            <a:avLst>
              <a:gd name="adj" fmla="val 16667"/>
            </a:avLst>
          </a:prstGeom>
          <a:solidFill>
            <a:srgbClr val="E2E8F0"/>
          </a:solidFill>
          <a:ln w="1270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4" name="Text 28"/>
          <p:cNvSpPr/>
          <p:nvPr/>
        </p:nvSpPr>
        <p:spPr>
          <a:xfrm>
            <a:off x="8942760" y="4105800"/>
            <a:ext cx="310680" cy="72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550" b="0" u="none" strike="noStrike">
                <a:solidFill>
                  <a:srgbClr val="334155"/>
                </a:solidFill>
                <a:effectLst/>
                <a:uFillTx/>
                <a:latin typeface="Noto Sans CJK SC"/>
                <a:ea typeface="Noto Sans CJK SC"/>
              </a:rPr>
              <a:t>关闭</a:t>
            </a:r>
            <a:endParaRPr lang="en-US" sz="550" b="0" u="none" strike="noStrike">
              <a:solidFill>
                <a:srgbClr val="000000"/>
              </a:solidFill>
              <a:effectLst/>
              <a:uFillTx/>
              <a:latin typeface="Arial"/>
            </a:endParaRPr>
          </a:p>
        </p:txBody>
      </p:sp>
      <p:sp>
        <p:nvSpPr>
          <p:cNvPr id="315" name="Shape 29"/>
          <p:cNvSpPr/>
          <p:nvPr/>
        </p:nvSpPr>
        <p:spPr>
          <a:xfrm>
            <a:off x="4983480" y="3401280"/>
            <a:ext cx="2103120" cy="360"/>
          </a:xfrm>
          <a:prstGeom prst="line">
            <a:avLst/>
          </a:prstGeom>
          <a:ln w="25400">
            <a:solidFill>
              <a:srgbClr val="2563EB"/>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16" name="Shape 30"/>
          <p:cNvSpPr/>
          <p:nvPr/>
        </p:nvSpPr>
        <p:spPr>
          <a:xfrm>
            <a:off x="914400" y="5870520"/>
            <a:ext cx="10149480" cy="411120"/>
          </a:xfrm>
          <a:prstGeom prst="roundRect">
            <a:avLst>
              <a:gd name="adj" fmla="val 26667"/>
            </a:avLst>
          </a:prstGeom>
          <a:solidFill>
            <a:srgbClr val="FFFFFF">
              <a:alpha val="98000"/>
            </a:srgbClr>
          </a:solidFill>
          <a:ln w="1270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7" name="Shape 31"/>
          <p:cNvSpPr/>
          <p:nvPr/>
        </p:nvSpPr>
        <p:spPr>
          <a:xfrm>
            <a:off x="914400" y="5870520"/>
            <a:ext cx="72720" cy="411120"/>
          </a:xfrm>
          <a:prstGeom prst="rect">
            <a:avLst/>
          </a:prstGeom>
          <a:solidFill>
            <a:srgbClr val="2563EB"/>
          </a:solidFill>
          <a:ln w="12700">
            <a:solidFill>
              <a:srgbClr val="2563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18" name="Text 32"/>
          <p:cNvSpPr/>
          <p:nvPr/>
        </p:nvSpPr>
        <p:spPr>
          <a:xfrm>
            <a:off x="1115640" y="6035040"/>
            <a:ext cx="98294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1250" b="1" u="none" strike="noStrike">
                <a:solidFill>
                  <a:srgbClr val="0F172A"/>
                </a:solidFill>
                <a:effectLst/>
                <a:uFillTx/>
                <a:latin typeface="Noto Sans CJK SC"/>
                <a:ea typeface="Noto Sans CJK SC"/>
              </a:rPr>
              <a:t>界面设计原则</a:t>
            </a:r>
            <a:endParaRPr lang="en-US" sz="1250" b="0" u="none" strike="noStrike">
              <a:solidFill>
                <a:srgbClr val="000000"/>
              </a:solidFill>
              <a:effectLst/>
              <a:uFillTx/>
              <a:latin typeface="Arial"/>
            </a:endParaRPr>
          </a:p>
        </p:txBody>
      </p:sp>
      <p:sp>
        <p:nvSpPr>
          <p:cNvPr id="319" name="Text 33"/>
          <p:cNvSpPr/>
          <p:nvPr/>
        </p:nvSpPr>
        <p:spPr>
          <a:xfrm>
            <a:off x="1115640" y="6190560"/>
            <a:ext cx="9829440" cy="182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zh-CN" sz="930" b="0" u="none" strike="noStrike">
                <a:solidFill>
                  <a:srgbClr val="334155"/>
                </a:solidFill>
                <a:effectLst/>
                <a:uFillTx/>
                <a:latin typeface="Noto Sans CJK SC"/>
                <a:ea typeface="Noto Sans CJK SC"/>
              </a:rPr>
              <a:t>输入项尽量少，重点需求和演示等级由系统自动判断；弹窗只在手机内部展示，避免干扰页面。</a:t>
            </a:r>
            <a:endParaRPr lang="en-US" sz="93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20" name="Text 0"/>
          <p:cNvSpPr/>
          <p:nvPr/>
        </p:nvSpPr>
        <p:spPr>
          <a:xfrm>
            <a:off x="548640" y="411480"/>
            <a:ext cx="81378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0F172A"/>
                </a:solidFill>
                <a:effectLst/>
                <a:uFillTx/>
                <a:latin typeface="Noto Sans CJK SC"/>
                <a:ea typeface="Noto Sans CJK SC"/>
              </a:rPr>
              <a:t>Dashboard</a:t>
            </a:r>
            <a:r>
              <a:rPr lang="zh-CN" sz="2600" b="1" u="none" strike="noStrike">
                <a:solidFill>
                  <a:srgbClr val="0F172A"/>
                </a:solidFill>
                <a:effectLst/>
                <a:uFillTx/>
                <a:latin typeface="Noto Sans CJK SC"/>
                <a:ea typeface="Noto Sans CJK SC"/>
              </a:rPr>
              <a:t>：真实地震数据统计展示</a:t>
            </a:r>
            <a:endParaRPr lang="en-US" sz="2600" b="0" u="none" strike="noStrike">
              <a:solidFill>
                <a:srgbClr val="000000"/>
              </a:solidFill>
              <a:effectLst/>
              <a:uFillTx/>
              <a:latin typeface="Arial"/>
            </a:endParaRPr>
          </a:p>
        </p:txBody>
      </p:sp>
      <p:sp>
        <p:nvSpPr>
          <p:cNvPr id="321" name="Text 1"/>
          <p:cNvSpPr/>
          <p:nvPr/>
        </p:nvSpPr>
        <p:spPr>
          <a:xfrm>
            <a:off x="567000" y="896040"/>
            <a:ext cx="64004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1050" b="0" u="none" strike="noStrike">
                <a:solidFill>
                  <a:srgbClr val="64748B"/>
                </a:solidFill>
                <a:effectLst/>
                <a:uFillTx/>
                <a:latin typeface="Noto Sans CJK SC"/>
                <a:ea typeface="Noto Sans CJK SC"/>
              </a:rPr>
              <a:t>四张图均由真实地震目录数据生成，不再展示多灾种图</a:t>
            </a:r>
            <a:endParaRPr lang="en-US" sz="1050" b="0" u="none" strike="noStrike">
              <a:solidFill>
                <a:srgbClr val="000000"/>
              </a:solidFill>
              <a:effectLst/>
              <a:uFillTx/>
              <a:latin typeface="Arial"/>
            </a:endParaRPr>
          </a:p>
        </p:txBody>
      </p:sp>
      <p:sp>
        <p:nvSpPr>
          <p:cNvPr id="322" name="Shape 2"/>
          <p:cNvSpPr/>
          <p:nvPr/>
        </p:nvSpPr>
        <p:spPr>
          <a:xfrm>
            <a:off x="548640" y="6473880"/>
            <a:ext cx="11091600" cy="360"/>
          </a:xfrm>
          <a:prstGeom prst="line">
            <a:avLst/>
          </a:prstGeom>
          <a:ln w="12700">
            <a:solidFill>
              <a:srgbClr val="E2E8F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23" name="Text 3"/>
          <p:cNvSpPr/>
          <p:nvPr/>
        </p:nvSpPr>
        <p:spPr>
          <a:xfrm>
            <a:off x="567000" y="6556320"/>
            <a:ext cx="80463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750" b="0" u="none" strike="noStrike">
                <a:solidFill>
                  <a:srgbClr val="64748B"/>
                </a:solidFill>
                <a:effectLst/>
                <a:uFillTx/>
                <a:latin typeface="Noto Sans CJK SC"/>
                <a:ea typeface="Noto Sans CJK SC"/>
              </a:rPr>
              <a:t>项目</a:t>
            </a:r>
            <a:r>
              <a:rPr lang="en-US" sz="750" b="0" u="none" strike="noStrike">
                <a:solidFill>
                  <a:srgbClr val="64748B"/>
                </a:solidFill>
                <a:effectLst/>
                <a:uFillTx/>
                <a:latin typeface="Noto Sans CJK SC"/>
                <a:ea typeface="Noto Sans CJK SC"/>
              </a:rPr>
              <a:t>09</a:t>
            </a:r>
            <a:r>
              <a:rPr lang="zh-CN" sz="750" b="0" u="none" strike="noStrike">
                <a:solidFill>
                  <a:srgbClr val="64748B"/>
                </a:solidFill>
                <a:effectLst/>
                <a:uFillTx/>
                <a:latin typeface="Noto Sans CJK SC"/>
                <a:ea typeface="Noto Sans CJK SC"/>
              </a:rPr>
              <a:t>｜真实地震数据 </a:t>
            </a:r>
            <a:r>
              <a:rPr lang="en-US" sz="750" b="0" u="none" strike="noStrike">
                <a:solidFill>
                  <a:srgbClr val="64748B"/>
                </a:solidFill>
                <a:effectLst/>
                <a:uFillTx/>
                <a:latin typeface="Noto Sans CJK SC"/>
                <a:ea typeface="Noto Sans CJK SC"/>
              </a:rPr>
              <a:t>+ </a:t>
            </a:r>
            <a:r>
              <a:rPr lang="zh-CN" sz="750" b="0" u="none" strike="noStrike">
                <a:solidFill>
                  <a:srgbClr val="64748B"/>
                </a:solidFill>
                <a:effectLst/>
                <a:uFillTx/>
                <a:latin typeface="Noto Sans CJK SC"/>
                <a:ea typeface="Noto Sans CJK SC"/>
              </a:rPr>
              <a:t>个性化地震应急提醒</a:t>
            </a:r>
            <a:endParaRPr lang="en-US" sz="750" b="0" u="none" strike="noStrike">
              <a:solidFill>
                <a:srgbClr val="000000"/>
              </a:solidFill>
              <a:effectLst/>
              <a:uFillTx/>
              <a:latin typeface="Arial"/>
            </a:endParaRPr>
          </a:p>
        </p:txBody>
      </p:sp>
      <p:sp>
        <p:nvSpPr>
          <p:cNvPr id="324" name="Text 4"/>
          <p:cNvSpPr/>
          <p:nvPr/>
        </p:nvSpPr>
        <p:spPr>
          <a:xfrm>
            <a:off x="11064240" y="6519600"/>
            <a:ext cx="5482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00" b="0" u="none" strike="noStrike">
                <a:solidFill>
                  <a:srgbClr val="64748B"/>
                </a:solidFill>
                <a:effectLst/>
                <a:uFillTx/>
                <a:latin typeface="Noto Sans CJK SC"/>
                <a:ea typeface="Noto Sans CJK SC"/>
              </a:rPr>
              <a:t>10</a:t>
            </a:r>
            <a:endParaRPr lang="en-US" sz="800" b="0" u="none" strike="noStrike">
              <a:solidFill>
                <a:srgbClr val="000000"/>
              </a:solidFill>
              <a:effectLst/>
              <a:uFillTx/>
              <a:latin typeface="Arial"/>
            </a:endParaRPr>
          </a:p>
        </p:txBody>
      </p:sp>
      <p:sp>
        <p:nvSpPr>
          <p:cNvPr id="325" name="Shape 5"/>
          <p:cNvSpPr/>
          <p:nvPr/>
        </p:nvSpPr>
        <p:spPr>
          <a:xfrm>
            <a:off x="777240" y="1417320"/>
            <a:ext cx="2605680" cy="1828440"/>
          </a:xfrm>
          <a:prstGeom prst="roundRect">
            <a:avLst>
              <a:gd name="adj" fmla="val 4500"/>
            </a:avLst>
          </a:prstGeom>
          <a:solidFill>
            <a:srgbClr val="FFFFFF"/>
          </a:solidFill>
          <a:ln w="1270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26" name="Text 6"/>
          <p:cNvSpPr/>
          <p:nvPr/>
        </p:nvSpPr>
        <p:spPr>
          <a:xfrm>
            <a:off x="887040" y="1554480"/>
            <a:ext cx="23770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1000" b="1" u="none" strike="noStrike">
                <a:solidFill>
                  <a:srgbClr val="0F172A"/>
                </a:solidFill>
                <a:effectLst/>
                <a:uFillTx/>
                <a:latin typeface="Noto Sans CJK SC"/>
                <a:ea typeface="Noto Sans CJK SC"/>
              </a:rPr>
              <a:t>震级分布</a:t>
            </a:r>
            <a:endParaRPr lang="en-US" sz="1000" b="0" u="none" strike="noStrike">
              <a:solidFill>
                <a:srgbClr val="000000"/>
              </a:solidFill>
              <a:effectLst/>
              <a:uFillTx/>
              <a:latin typeface="Arial"/>
            </a:endParaRPr>
          </a:p>
        </p:txBody>
      </p:sp>
      <p:sp>
        <p:nvSpPr>
          <p:cNvPr id="327" name="Shape 7"/>
          <p:cNvSpPr/>
          <p:nvPr/>
        </p:nvSpPr>
        <p:spPr>
          <a:xfrm>
            <a:off x="1280160" y="2606040"/>
            <a:ext cx="237240" cy="411120"/>
          </a:xfrm>
          <a:prstGeom prst="rect">
            <a:avLst/>
          </a:prstGeom>
          <a:solidFill>
            <a:srgbClr val="F59E0B"/>
          </a:solidFill>
          <a:ln w="12700">
            <a:solidFill>
              <a:srgbClr val="F59E0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28" name="Shape 8"/>
          <p:cNvSpPr/>
          <p:nvPr/>
        </p:nvSpPr>
        <p:spPr>
          <a:xfrm>
            <a:off x="1691640" y="2148840"/>
            <a:ext cx="237240" cy="868320"/>
          </a:xfrm>
          <a:prstGeom prst="rect">
            <a:avLst/>
          </a:prstGeom>
          <a:solidFill>
            <a:srgbClr val="2563EB"/>
          </a:solidFill>
          <a:ln w="12700">
            <a:solidFill>
              <a:srgbClr val="2563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29" name="Shape 9"/>
          <p:cNvSpPr/>
          <p:nvPr/>
        </p:nvSpPr>
        <p:spPr>
          <a:xfrm>
            <a:off x="2103120" y="2423160"/>
            <a:ext cx="237240" cy="594000"/>
          </a:xfrm>
          <a:prstGeom prst="rect">
            <a:avLst/>
          </a:prstGeom>
          <a:solidFill>
            <a:srgbClr val="F59E0B"/>
          </a:solidFill>
          <a:ln w="12700">
            <a:solidFill>
              <a:srgbClr val="F59E0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30" name="Shape 10"/>
          <p:cNvSpPr/>
          <p:nvPr/>
        </p:nvSpPr>
        <p:spPr>
          <a:xfrm>
            <a:off x="2514600" y="1874520"/>
            <a:ext cx="237240" cy="1142640"/>
          </a:xfrm>
          <a:prstGeom prst="rect">
            <a:avLst/>
          </a:prstGeom>
          <a:solidFill>
            <a:srgbClr val="2563EB"/>
          </a:solidFill>
          <a:ln w="12700">
            <a:solidFill>
              <a:srgbClr val="2563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1" name="Shape 11"/>
          <p:cNvSpPr/>
          <p:nvPr/>
        </p:nvSpPr>
        <p:spPr>
          <a:xfrm>
            <a:off x="1161000" y="3017520"/>
            <a:ext cx="1828800" cy="360"/>
          </a:xfrm>
          <a:prstGeom prst="line">
            <a:avLst/>
          </a:prstGeom>
          <a:ln w="1270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32" name="Shape 12"/>
          <p:cNvSpPr/>
          <p:nvPr/>
        </p:nvSpPr>
        <p:spPr>
          <a:xfrm>
            <a:off x="3611880" y="1417320"/>
            <a:ext cx="2605680" cy="1828440"/>
          </a:xfrm>
          <a:prstGeom prst="roundRect">
            <a:avLst>
              <a:gd name="adj" fmla="val 4500"/>
            </a:avLst>
          </a:prstGeom>
          <a:solidFill>
            <a:srgbClr val="FFFFFF"/>
          </a:solidFill>
          <a:ln w="1270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33" name="Text 13"/>
          <p:cNvSpPr/>
          <p:nvPr/>
        </p:nvSpPr>
        <p:spPr>
          <a:xfrm>
            <a:off x="3721680" y="1554480"/>
            <a:ext cx="23770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1000" b="1" u="none" strike="noStrike">
                <a:solidFill>
                  <a:srgbClr val="0F172A"/>
                </a:solidFill>
                <a:effectLst/>
                <a:uFillTx/>
                <a:latin typeface="Noto Sans CJK SC"/>
                <a:ea typeface="Noto Sans CJK SC"/>
              </a:rPr>
              <a:t>震源深度分布</a:t>
            </a:r>
            <a:endParaRPr lang="en-US" sz="1000" b="0" u="none" strike="noStrike">
              <a:solidFill>
                <a:srgbClr val="000000"/>
              </a:solidFill>
              <a:effectLst/>
              <a:uFillTx/>
              <a:latin typeface="Arial"/>
            </a:endParaRPr>
          </a:p>
        </p:txBody>
      </p:sp>
      <p:sp>
        <p:nvSpPr>
          <p:cNvPr id="334" name="Shape 14"/>
          <p:cNvSpPr/>
          <p:nvPr/>
        </p:nvSpPr>
        <p:spPr>
          <a:xfrm>
            <a:off x="4114800" y="2606040"/>
            <a:ext cx="237240" cy="411120"/>
          </a:xfrm>
          <a:prstGeom prst="rect">
            <a:avLst/>
          </a:prstGeom>
          <a:solidFill>
            <a:srgbClr val="F59E0B"/>
          </a:solidFill>
          <a:ln w="12700">
            <a:solidFill>
              <a:srgbClr val="F59E0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35" name="Shape 15"/>
          <p:cNvSpPr/>
          <p:nvPr/>
        </p:nvSpPr>
        <p:spPr>
          <a:xfrm>
            <a:off x="4526280" y="2148840"/>
            <a:ext cx="237240" cy="868320"/>
          </a:xfrm>
          <a:prstGeom prst="rect">
            <a:avLst/>
          </a:prstGeom>
          <a:solidFill>
            <a:srgbClr val="2563EB"/>
          </a:solidFill>
          <a:ln w="12700">
            <a:solidFill>
              <a:srgbClr val="2563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6" name="Shape 16"/>
          <p:cNvSpPr/>
          <p:nvPr/>
        </p:nvSpPr>
        <p:spPr>
          <a:xfrm>
            <a:off x="4937760" y="2423160"/>
            <a:ext cx="237240" cy="594000"/>
          </a:xfrm>
          <a:prstGeom prst="rect">
            <a:avLst/>
          </a:prstGeom>
          <a:solidFill>
            <a:srgbClr val="F59E0B"/>
          </a:solidFill>
          <a:ln w="12700">
            <a:solidFill>
              <a:srgbClr val="F59E0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37" name="Shape 17"/>
          <p:cNvSpPr/>
          <p:nvPr/>
        </p:nvSpPr>
        <p:spPr>
          <a:xfrm>
            <a:off x="5349240" y="1874520"/>
            <a:ext cx="237240" cy="1142640"/>
          </a:xfrm>
          <a:prstGeom prst="rect">
            <a:avLst/>
          </a:prstGeom>
          <a:solidFill>
            <a:srgbClr val="2563EB"/>
          </a:solidFill>
          <a:ln w="12700">
            <a:solidFill>
              <a:srgbClr val="2563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8" name="Shape 18"/>
          <p:cNvSpPr/>
          <p:nvPr/>
        </p:nvSpPr>
        <p:spPr>
          <a:xfrm>
            <a:off x="3995640" y="3017520"/>
            <a:ext cx="1828800" cy="360"/>
          </a:xfrm>
          <a:prstGeom prst="line">
            <a:avLst/>
          </a:prstGeom>
          <a:ln w="1270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39" name="Shape 19"/>
          <p:cNvSpPr/>
          <p:nvPr/>
        </p:nvSpPr>
        <p:spPr>
          <a:xfrm>
            <a:off x="6446520" y="1417320"/>
            <a:ext cx="2605680" cy="1828440"/>
          </a:xfrm>
          <a:prstGeom prst="roundRect">
            <a:avLst>
              <a:gd name="adj" fmla="val 4500"/>
            </a:avLst>
          </a:prstGeom>
          <a:solidFill>
            <a:srgbClr val="FFFFFF"/>
          </a:solidFill>
          <a:ln w="1270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0" name="Text 20"/>
          <p:cNvSpPr/>
          <p:nvPr/>
        </p:nvSpPr>
        <p:spPr>
          <a:xfrm>
            <a:off x="6556320" y="1554480"/>
            <a:ext cx="23770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1000" b="1" u="none" strike="noStrike">
                <a:solidFill>
                  <a:srgbClr val="0F172A"/>
                </a:solidFill>
                <a:effectLst/>
                <a:uFillTx/>
                <a:latin typeface="Noto Sans CJK SC"/>
                <a:ea typeface="Noto Sans CJK SC"/>
              </a:rPr>
              <a:t>事件时间趋势</a:t>
            </a:r>
            <a:endParaRPr lang="en-US" sz="1000" b="0" u="none" strike="noStrike">
              <a:solidFill>
                <a:srgbClr val="000000"/>
              </a:solidFill>
              <a:effectLst/>
              <a:uFillTx/>
              <a:latin typeface="Arial"/>
            </a:endParaRPr>
          </a:p>
        </p:txBody>
      </p:sp>
      <p:sp>
        <p:nvSpPr>
          <p:cNvPr id="341" name="Shape 21"/>
          <p:cNvSpPr/>
          <p:nvPr/>
        </p:nvSpPr>
        <p:spPr>
          <a:xfrm>
            <a:off x="6858000" y="2286000"/>
            <a:ext cx="320040" cy="228600"/>
          </a:xfrm>
          <a:prstGeom prst="line">
            <a:avLst/>
          </a:prstGeom>
          <a:ln w="25400">
            <a:solidFill>
              <a:srgbClr val="2563EB"/>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342" name="Shape 22"/>
          <p:cNvSpPr/>
          <p:nvPr/>
        </p:nvSpPr>
        <p:spPr>
          <a:xfrm flipV="1">
            <a:off x="7178040" y="1920240"/>
            <a:ext cx="320040" cy="594360"/>
          </a:xfrm>
          <a:prstGeom prst="line">
            <a:avLst/>
          </a:prstGeom>
          <a:ln w="25400">
            <a:solidFill>
              <a:srgbClr val="2563EB"/>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343" name="Shape 23"/>
          <p:cNvSpPr/>
          <p:nvPr/>
        </p:nvSpPr>
        <p:spPr>
          <a:xfrm>
            <a:off x="7498080" y="1920240"/>
            <a:ext cx="320040" cy="411480"/>
          </a:xfrm>
          <a:prstGeom prst="line">
            <a:avLst/>
          </a:prstGeom>
          <a:ln w="25400">
            <a:solidFill>
              <a:srgbClr val="2563EB"/>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344" name="Shape 24"/>
          <p:cNvSpPr/>
          <p:nvPr/>
        </p:nvSpPr>
        <p:spPr>
          <a:xfrm flipV="1">
            <a:off x="7818120" y="1737360"/>
            <a:ext cx="320040" cy="594360"/>
          </a:xfrm>
          <a:prstGeom prst="line">
            <a:avLst/>
          </a:prstGeom>
          <a:ln w="25400">
            <a:solidFill>
              <a:srgbClr val="2563EB"/>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345" name="Shape 25"/>
          <p:cNvSpPr/>
          <p:nvPr/>
        </p:nvSpPr>
        <p:spPr>
          <a:xfrm>
            <a:off x="8138160" y="1737360"/>
            <a:ext cx="320040" cy="411480"/>
          </a:xfrm>
          <a:prstGeom prst="line">
            <a:avLst/>
          </a:prstGeom>
          <a:ln w="25400">
            <a:solidFill>
              <a:srgbClr val="2563EB"/>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346" name="Shape 26"/>
          <p:cNvSpPr/>
          <p:nvPr/>
        </p:nvSpPr>
        <p:spPr>
          <a:xfrm>
            <a:off x="9281160" y="1417320"/>
            <a:ext cx="2605680" cy="1828440"/>
          </a:xfrm>
          <a:prstGeom prst="roundRect">
            <a:avLst>
              <a:gd name="adj" fmla="val 4500"/>
            </a:avLst>
          </a:prstGeom>
          <a:solidFill>
            <a:srgbClr val="FFFFFF"/>
          </a:solidFill>
          <a:ln w="1270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7" name="Text 27"/>
          <p:cNvSpPr/>
          <p:nvPr/>
        </p:nvSpPr>
        <p:spPr>
          <a:xfrm>
            <a:off x="9390960" y="1554480"/>
            <a:ext cx="23770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1000" b="1" u="none" strike="noStrike">
                <a:solidFill>
                  <a:srgbClr val="0F172A"/>
                </a:solidFill>
                <a:effectLst/>
                <a:uFillTx/>
                <a:latin typeface="Noto Sans CJK SC"/>
                <a:ea typeface="Noto Sans CJK SC"/>
              </a:rPr>
              <a:t>空间散点分布</a:t>
            </a:r>
            <a:endParaRPr lang="en-US" sz="1000" b="0" u="none" strike="noStrike">
              <a:solidFill>
                <a:srgbClr val="000000"/>
              </a:solidFill>
              <a:effectLst/>
              <a:uFillTx/>
              <a:latin typeface="Arial"/>
            </a:endParaRPr>
          </a:p>
        </p:txBody>
      </p:sp>
      <p:sp>
        <p:nvSpPr>
          <p:cNvPr id="348" name="Shape 28"/>
          <p:cNvSpPr/>
          <p:nvPr/>
        </p:nvSpPr>
        <p:spPr>
          <a:xfrm>
            <a:off x="10012680" y="2468880"/>
            <a:ext cx="72720" cy="72720"/>
          </a:xfrm>
          <a:prstGeom prst="ellipse">
            <a:avLst/>
          </a:prstGeom>
          <a:solidFill>
            <a:srgbClr val="DC2626"/>
          </a:solidFill>
          <a:ln w="12700">
            <a:solidFill>
              <a:srgbClr val="DC2626"/>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en-US" sz="1800" b="0" u="none" strike="noStrike">
              <a:solidFill>
                <a:srgbClr val="FFFFFF"/>
              </a:solidFill>
              <a:effectLst/>
              <a:uFillTx/>
              <a:latin typeface="Arial"/>
            </a:endParaRPr>
          </a:p>
        </p:txBody>
      </p:sp>
      <p:sp>
        <p:nvSpPr>
          <p:cNvPr id="349" name="Shape 29"/>
          <p:cNvSpPr/>
          <p:nvPr/>
        </p:nvSpPr>
        <p:spPr>
          <a:xfrm>
            <a:off x="10469880" y="2651760"/>
            <a:ext cx="72720" cy="72720"/>
          </a:xfrm>
          <a:prstGeom prst="ellipse">
            <a:avLst/>
          </a:prstGeom>
          <a:solidFill>
            <a:srgbClr val="DC2626"/>
          </a:solidFill>
          <a:ln w="12700">
            <a:solidFill>
              <a:srgbClr val="DC2626"/>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en-US" sz="1800" b="0" u="none" strike="noStrike">
              <a:solidFill>
                <a:srgbClr val="FFFFFF"/>
              </a:solidFill>
              <a:effectLst/>
              <a:uFillTx/>
              <a:latin typeface="Arial"/>
            </a:endParaRPr>
          </a:p>
        </p:txBody>
      </p:sp>
      <p:sp>
        <p:nvSpPr>
          <p:cNvPr id="350" name="Shape 30"/>
          <p:cNvSpPr/>
          <p:nvPr/>
        </p:nvSpPr>
        <p:spPr>
          <a:xfrm>
            <a:off x="11018520" y="2331720"/>
            <a:ext cx="72720" cy="72720"/>
          </a:xfrm>
          <a:prstGeom prst="ellipse">
            <a:avLst/>
          </a:prstGeom>
          <a:solidFill>
            <a:srgbClr val="DC2626"/>
          </a:solidFill>
          <a:ln w="12700">
            <a:solidFill>
              <a:srgbClr val="DC2626"/>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en-US" sz="1800" b="0" u="none" strike="noStrike">
              <a:solidFill>
                <a:srgbClr val="FFFFFF"/>
              </a:solidFill>
              <a:effectLst/>
              <a:uFillTx/>
              <a:latin typeface="Arial"/>
            </a:endParaRPr>
          </a:p>
        </p:txBody>
      </p:sp>
      <p:sp>
        <p:nvSpPr>
          <p:cNvPr id="351" name="Shape 31"/>
          <p:cNvSpPr/>
          <p:nvPr/>
        </p:nvSpPr>
        <p:spPr>
          <a:xfrm>
            <a:off x="10287000" y="2971800"/>
            <a:ext cx="72720" cy="72720"/>
          </a:xfrm>
          <a:prstGeom prst="ellipse">
            <a:avLst/>
          </a:prstGeom>
          <a:solidFill>
            <a:srgbClr val="DC2626"/>
          </a:solidFill>
          <a:ln w="12700">
            <a:solidFill>
              <a:srgbClr val="DC2626"/>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en-US" sz="1800" b="0" u="none" strike="noStrike">
              <a:solidFill>
                <a:srgbClr val="FFFFFF"/>
              </a:solidFill>
              <a:effectLst/>
              <a:uFillTx/>
              <a:latin typeface="Arial"/>
            </a:endParaRPr>
          </a:p>
        </p:txBody>
      </p:sp>
      <p:sp>
        <p:nvSpPr>
          <p:cNvPr id="352" name="Shape 32"/>
          <p:cNvSpPr/>
          <p:nvPr/>
        </p:nvSpPr>
        <p:spPr>
          <a:xfrm>
            <a:off x="11201400" y="2816280"/>
            <a:ext cx="72720" cy="72720"/>
          </a:xfrm>
          <a:prstGeom prst="ellipse">
            <a:avLst/>
          </a:prstGeom>
          <a:solidFill>
            <a:srgbClr val="DC2626"/>
          </a:solidFill>
          <a:ln w="12700">
            <a:solidFill>
              <a:srgbClr val="DC2626"/>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en-US" sz="1800" b="0" u="none" strike="noStrike">
              <a:solidFill>
                <a:srgbClr val="FFFFFF"/>
              </a:solidFill>
              <a:effectLst/>
              <a:uFillTx/>
              <a:latin typeface="Arial"/>
            </a:endParaRPr>
          </a:p>
        </p:txBody>
      </p:sp>
      <p:sp>
        <p:nvSpPr>
          <p:cNvPr id="353" name="Shape 33"/>
          <p:cNvSpPr/>
          <p:nvPr/>
        </p:nvSpPr>
        <p:spPr>
          <a:xfrm>
            <a:off x="10744200" y="2148840"/>
            <a:ext cx="72720" cy="72720"/>
          </a:xfrm>
          <a:prstGeom prst="ellipse">
            <a:avLst/>
          </a:prstGeom>
          <a:solidFill>
            <a:srgbClr val="DC2626"/>
          </a:solidFill>
          <a:ln w="12700">
            <a:solidFill>
              <a:srgbClr val="DC2626"/>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endParaRPr lang="en-US" sz="1800" b="0" u="none" strike="noStrike">
              <a:solidFill>
                <a:srgbClr val="FFFFFF"/>
              </a:solidFill>
              <a:effectLst/>
              <a:uFillTx/>
              <a:latin typeface="Arial"/>
            </a:endParaRPr>
          </a:p>
        </p:txBody>
      </p:sp>
      <p:sp>
        <p:nvSpPr>
          <p:cNvPr id="354" name="Text 34"/>
          <p:cNvSpPr/>
          <p:nvPr/>
        </p:nvSpPr>
        <p:spPr>
          <a:xfrm>
            <a:off x="1143000" y="3931920"/>
            <a:ext cx="1371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500" b="1" u="none" strike="noStrike">
                <a:solidFill>
                  <a:srgbClr val="2563EB"/>
                </a:solidFill>
                <a:effectLst/>
                <a:uFillTx/>
                <a:latin typeface="Noto Sans CJK SC"/>
                <a:ea typeface="Noto Sans CJK SC"/>
              </a:rPr>
              <a:t>200</a:t>
            </a:r>
            <a:endParaRPr lang="en-US" sz="2500" b="0" u="none" strike="noStrike">
              <a:solidFill>
                <a:srgbClr val="000000"/>
              </a:solidFill>
              <a:effectLst/>
              <a:uFillTx/>
              <a:latin typeface="Arial"/>
            </a:endParaRPr>
          </a:p>
        </p:txBody>
      </p:sp>
      <p:sp>
        <p:nvSpPr>
          <p:cNvPr id="355" name="Text 35"/>
          <p:cNvSpPr/>
          <p:nvPr/>
        </p:nvSpPr>
        <p:spPr>
          <a:xfrm>
            <a:off x="1143000" y="4407480"/>
            <a:ext cx="1371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920" b="0" u="none" strike="noStrike">
                <a:solidFill>
                  <a:srgbClr val="64748B"/>
                </a:solidFill>
                <a:effectLst/>
                <a:uFillTx/>
                <a:latin typeface="Noto Sans CJK SC"/>
                <a:ea typeface="Noto Sans CJK SC"/>
              </a:rPr>
              <a:t>真实地震事件</a:t>
            </a:r>
            <a:endParaRPr lang="en-US" sz="920" b="0" u="none" strike="noStrike">
              <a:solidFill>
                <a:srgbClr val="000000"/>
              </a:solidFill>
              <a:effectLst/>
              <a:uFillTx/>
              <a:latin typeface="Arial"/>
            </a:endParaRPr>
          </a:p>
        </p:txBody>
      </p:sp>
      <p:sp>
        <p:nvSpPr>
          <p:cNvPr id="356" name="Text 36"/>
          <p:cNvSpPr/>
          <p:nvPr/>
        </p:nvSpPr>
        <p:spPr>
          <a:xfrm>
            <a:off x="3291840" y="3931920"/>
            <a:ext cx="14626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500" b="1" u="none" strike="noStrike">
                <a:solidFill>
                  <a:srgbClr val="16A34A"/>
                </a:solidFill>
                <a:effectLst/>
                <a:uFillTx/>
                <a:latin typeface="Noto Sans CJK SC"/>
                <a:ea typeface="Noto Sans CJK SC"/>
              </a:rPr>
              <a:t>USGS</a:t>
            </a:r>
            <a:endParaRPr lang="en-US" sz="2500" b="0" u="none" strike="noStrike">
              <a:solidFill>
                <a:srgbClr val="000000"/>
              </a:solidFill>
              <a:effectLst/>
              <a:uFillTx/>
              <a:latin typeface="Arial"/>
            </a:endParaRPr>
          </a:p>
        </p:txBody>
      </p:sp>
      <p:sp>
        <p:nvSpPr>
          <p:cNvPr id="357" name="Text 37"/>
          <p:cNvSpPr/>
          <p:nvPr/>
        </p:nvSpPr>
        <p:spPr>
          <a:xfrm>
            <a:off x="3291840" y="4407480"/>
            <a:ext cx="14626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920" b="0" u="none" strike="noStrike">
                <a:solidFill>
                  <a:srgbClr val="64748B"/>
                </a:solidFill>
                <a:effectLst/>
                <a:uFillTx/>
                <a:latin typeface="Noto Sans CJK SC"/>
                <a:ea typeface="Noto Sans CJK SC"/>
              </a:rPr>
              <a:t>数据来源</a:t>
            </a:r>
            <a:endParaRPr lang="en-US" sz="920" b="0" u="none" strike="noStrike">
              <a:solidFill>
                <a:srgbClr val="000000"/>
              </a:solidFill>
              <a:effectLst/>
              <a:uFillTx/>
              <a:latin typeface="Arial"/>
            </a:endParaRPr>
          </a:p>
        </p:txBody>
      </p:sp>
      <p:sp>
        <p:nvSpPr>
          <p:cNvPr id="358" name="Text 38"/>
          <p:cNvSpPr/>
          <p:nvPr/>
        </p:nvSpPr>
        <p:spPr>
          <a:xfrm>
            <a:off x="5349240" y="3931920"/>
            <a:ext cx="16455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500" b="1" u="none" strike="noStrike">
                <a:solidFill>
                  <a:srgbClr val="F59E0B"/>
                </a:solidFill>
                <a:effectLst/>
                <a:uFillTx/>
                <a:latin typeface="Noto Sans CJK SC"/>
                <a:ea typeface="Noto Sans CJK SC"/>
              </a:rPr>
              <a:t>M≥2.5</a:t>
            </a:r>
            <a:endParaRPr lang="en-US" sz="2500" b="0" u="none" strike="noStrike">
              <a:solidFill>
                <a:srgbClr val="000000"/>
              </a:solidFill>
              <a:effectLst/>
              <a:uFillTx/>
              <a:latin typeface="Arial"/>
            </a:endParaRPr>
          </a:p>
        </p:txBody>
      </p:sp>
      <p:sp>
        <p:nvSpPr>
          <p:cNvPr id="359" name="Text 39"/>
          <p:cNvSpPr/>
          <p:nvPr/>
        </p:nvSpPr>
        <p:spPr>
          <a:xfrm>
            <a:off x="5349240" y="4407480"/>
            <a:ext cx="16455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920" b="0" u="none" strike="noStrike">
                <a:solidFill>
                  <a:srgbClr val="64748B"/>
                </a:solidFill>
                <a:effectLst/>
                <a:uFillTx/>
                <a:latin typeface="Noto Sans CJK SC"/>
                <a:ea typeface="Noto Sans CJK SC"/>
              </a:rPr>
              <a:t>最小震级过滤</a:t>
            </a:r>
            <a:endParaRPr lang="en-US" sz="920" b="0" u="none" strike="noStrike">
              <a:solidFill>
                <a:srgbClr val="000000"/>
              </a:solidFill>
              <a:effectLst/>
              <a:uFillTx/>
              <a:latin typeface="Arial"/>
            </a:endParaRPr>
          </a:p>
        </p:txBody>
      </p:sp>
      <p:sp>
        <p:nvSpPr>
          <p:cNvPr id="360" name="Text 40"/>
          <p:cNvSpPr/>
          <p:nvPr/>
        </p:nvSpPr>
        <p:spPr>
          <a:xfrm>
            <a:off x="7543800" y="3931920"/>
            <a:ext cx="13712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500" b="1" u="none" strike="noStrike">
                <a:solidFill>
                  <a:srgbClr val="DC2626"/>
                </a:solidFill>
                <a:effectLst/>
                <a:uFillTx/>
                <a:latin typeface="Noto Sans CJK SC"/>
                <a:ea typeface="Noto Sans CJK SC"/>
              </a:rPr>
              <a:t>4</a:t>
            </a:r>
            <a:endParaRPr lang="en-US" sz="2500" b="0" u="none" strike="noStrike">
              <a:solidFill>
                <a:srgbClr val="000000"/>
              </a:solidFill>
              <a:effectLst/>
              <a:uFillTx/>
              <a:latin typeface="Arial"/>
            </a:endParaRPr>
          </a:p>
        </p:txBody>
      </p:sp>
      <p:sp>
        <p:nvSpPr>
          <p:cNvPr id="361" name="Text 41"/>
          <p:cNvSpPr/>
          <p:nvPr/>
        </p:nvSpPr>
        <p:spPr>
          <a:xfrm>
            <a:off x="7543800" y="4407480"/>
            <a:ext cx="13712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zh-CN" sz="920" b="0" u="none" strike="noStrike">
                <a:solidFill>
                  <a:srgbClr val="64748B"/>
                </a:solidFill>
                <a:effectLst/>
                <a:uFillTx/>
                <a:latin typeface="Noto Sans CJK SC"/>
                <a:ea typeface="Noto Sans CJK SC"/>
              </a:rPr>
              <a:t>地震统计图</a:t>
            </a:r>
            <a:endParaRPr lang="en-US" sz="920" b="0" u="none" strike="noStrike">
              <a:solidFill>
                <a:srgbClr val="000000"/>
              </a:solidFill>
              <a:effectLst/>
              <a:uFillTx/>
              <a:latin typeface="Arial"/>
            </a:endParaRPr>
          </a:p>
        </p:txBody>
      </p:sp>
      <p:sp>
        <p:nvSpPr>
          <p:cNvPr id="362" name="Shape 42"/>
          <p:cNvSpPr/>
          <p:nvPr/>
        </p:nvSpPr>
        <p:spPr>
          <a:xfrm>
            <a:off x="914400" y="5349240"/>
            <a:ext cx="4937400" cy="685440"/>
          </a:xfrm>
          <a:prstGeom prst="roundRect">
            <a:avLst>
              <a:gd name="adj" fmla="val 16000"/>
            </a:avLst>
          </a:prstGeom>
          <a:solidFill>
            <a:srgbClr val="FFFFFF">
              <a:alpha val="98000"/>
            </a:srgbClr>
          </a:solidFill>
          <a:ln w="1270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63" name="Shape 43"/>
          <p:cNvSpPr/>
          <p:nvPr/>
        </p:nvSpPr>
        <p:spPr>
          <a:xfrm>
            <a:off x="914400" y="5349240"/>
            <a:ext cx="72720" cy="685440"/>
          </a:xfrm>
          <a:prstGeom prst="rect">
            <a:avLst/>
          </a:prstGeom>
          <a:solidFill>
            <a:srgbClr val="2563EB"/>
          </a:solidFill>
          <a:ln w="12700">
            <a:solidFill>
              <a:srgbClr val="2563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64" name="Text 44"/>
          <p:cNvSpPr/>
          <p:nvPr/>
        </p:nvSpPr>
        <p:spPr>
          <a:xfrm>
            <a:off x="1115640" y="5513760"/>
            <a:ext cx="46173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0F172A"/>
                </a:solidFill>
                <a:effectLst/>
                <a:uFillTx/>
                <a:latin typeface="Noto Sans CJK SC"/>
                <a:ea typeface="Noto Sans CJK SC"/>
              </a:rPr>
              <a:t>Dashboard </a:t>
            </a:r>
            <a:r>
              <a:rPr lang="zh-CN" sz="1250" b="1" u="none" strike="noStrike">
                <a:solidFill>
                  <a:srgbClr val="0F172A"/>
                </a:solidFill>
                <a:effectLst/>
                <a:uFillTx/>
                <a:latin typeface="Noto Sans CJK SC"/>
                <a:ea typeface="Noto Sans CJK SC"/>
              </a:rPr>
              <a:t>功能</a:t>
            </a:r>
            <a:endParaRPr lang="en-US" sz="1250" b="0" u="none" strike="noStrike">
              <a:solidFill>
                <a:srgbClr val="000000"/>
              </a:solidFill>
              <a:effectLst/>
              <a:uFillTx/>
              <a:latin typeface="Arial"/>
            </a:endParaRPr>
          </a:p>
        </p:txBody>
      </p:sp>
      <p:sp>
        <p:nvSpPr>
          <p:cNvPr id="365" name="Text 45"/>
          <p:cNvSpPr/>
          <p:nvPr/>
        </p:nvSpPr>
        <p:spPr>
          <a:xfrm>
            <a:off x="1115640" y="5852160"/>
            <a:ext cx="4617360" cy="91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5000" lnSpcReduction="20000"/>
          </a:bodyPr>
          <a:lstStyle/>
          <a:p>
            <a:pPr defTabSz="914400">
              <a:lnSpc>
                <a:spcPct val="100000"/>
              </a:lnSpc>
              <a:tabLst>
                <a:tab pos="0" algn="l"/>
              </a:tabLst>
            </a:pPr>
            <a:r>
              <a:rPr lang="zh-CN" sz="930" b="0" u="none" strike="noStrike">
                <a:solidFill>
                  <a:srgbClr val="334155"/>
                </a:solidFill>
                <a:effectLst/>
                <a:uFillTx/>
                <a:latin typeface="Noto Sans CJK SC"/>
                <a:ea typeface="Noto Sans CJK SC"/>
              </a:rPr>
              <a:t>展示记录总数、数据来源、采集时间、最新事件、最大震级、平均震源深度，以及最近地震事件表格。</a:t>
            </a:r>
            <a:endParaRPr lang="en-US" sz="930" b="0" u="none" strike="noStrike">
              <a:solidFill>
                <a:srgbClr val="000000"/>
              </a:solidFill>
              <a:effectLst/>
              <a:uFillTx/>
              <a:latin typeface="Arial"/>
            </a:endParaRPr>
          </a:p>
        </p:txBody>
      </p:sp>
      <p:sp>
        <p:nvSpPr>
          <p:cNvPr id="366" name="Shape 46"/>
          <p:cNvSpPr/>
          <p:nvPr/>
        </p:nvSpPr>
        <p:spPr>
          <a:xfrm>
            <a:off x="6400800" y="5349240"/>
            <a:ext cx="4663080" cy="685440"/>
          </a:xfrm>
          <a:prstGeom prst="roundRect">
            <a:avLst>
              <a:gd name="adj" fmla="val 16000"/>
            </a:avLst>
          </a:prstGeom>
          <a:solidFill>
            <a:srgbClr val="FFFFFF">
              <a:alpha val="98000"/>
            </a:srgbClr>
          </a:solidFill>
          <a:ln w="1270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67" name="Shape 47"/>
          <p:cNvSpPr/>
          <p:nvPr/>
        </p:nvSpPr>
        <p:spPr>
          <a:xfrm>
            <a:off x="6400800" y="5349240"/>
            <a:ext cx="72720" cy="685440"/>
          </a:xfrm>
          <a:prstGeom prst="rect">
            <a:avLst/>
          </a:prstGeom>
          <a:solidFill>
            <a:srgbClr val="DC2626"/>
          </a:solidFill>
          <a:ln w="12700">
            <a:solidFill>
              <a:srgbClr val="DC262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68" name="Text 48"/>
          <p:cNvSpPr/>
          <p:nvPr/>
        </p:nvSpPr>
        <p:spPr>
          <a:xfrm>
            <a:off x="6602040" y="5513760"/>
            <a:ext cx="43430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1250" b="1" u="none" strike="noStrike">
                <a:solidFill>
                  <a:srgbClr val="0F172A"/>
                </a:solidFill>
                <a:effectLst/>
                <a:uFillTx/>
                <a:latin typeface="Noto Sans CJK SC"/>
                <a:ea typeface="Noto Sans CJK SC"/>
              </a:rPr>
              <a:t>分析边界</a:t>
            </a:r>
            <a:endParaRPr lang="en-US" sz="1250" b="0" u="none" strike="noStrike">
              <a:solidFill>
                <a:srgbClr val="000000"/>
              </a:solidFill>
              <a:effectLst/>
              <a:uFillTx/>
              <a:latin typeface="Arial"/>
            </a:endParaRPr>
          </a:p>
        </p:txBody>
      </p:sp>
      <p:sp>
        <p:nvSpPr>
          <p:cNvPr id="369" name="Text 49"/>
          <p:cNvSpPr/>
          <p:nvPr/>
        </p:nvSpPr>
        <p:spPr>
          <a:xfrm>
            <a:off x="6602040" y="5852160"/>
            <a:ext cx="4343040" cy="91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5000" lnSpcReduction="20000"/>
          </a:bodyPr>
          <a:lstStyle/>
          <a:p>
            <a:pPr defTabSz="914400">
              <a:lnSpc>
                <a:spcPct val="100000"/>
              </a:lnSpc>
              <a:tabLst>
                <a:tab pos="0" algn="l"/>
              </a:tabLst>
            </a:pPr>
            <a:r>
              <a:rPr lang="zh-CN" sz="930" b="0" u="none" strike="noStrike">
                <a:solidFill>
                  <a:srgbClr val="334155"/>
                </a:solidFill>
                <a:effectLst/>
                <a:uFillTx/>
                <a:latin typeface="Noto Sans CJK SC"/>
                <a:ea typeface="Noto Sans CJK SC"/>
              </a:rPr>
              <a:t>统计图只描述当前查询样本，不用于预测未来地震，也不判断官方风险等级。</a:t>
            </a:r>
            <a:endParaRPr lang="en-US" sz="930" b="0" u="none" strike="noStrike">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406" name="Text 0"/>
          <p:cNvSpPr/>
          <p:nvPr/>
        </p:nvSpPr>
        <p:spPr>
          <a:xfrm>
            <a:off x="548640" y="411480"/>
            <a:ext cx="81378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2600" b="1" u="none" strike="noStrike">
                <a:solidFill>
                  <a:srgbClr val="0F172A"/>
                </a:solidFill>
                <a:effectLst/>
                <a:uFillTx/>
                <a:latin typeface="Noto Sans CJK SC"/>
                <a:ea typeface="Noto Sans CJK SC"/>
              </a:rPr>
              <a:t>测试验证：功能、数据与安全边界</a:t>
            </a:r>
            <a:endParaRPr lang="en-US" sz="2600" b="0" u="none" strike="noStrike">
              <a:solidFill>
                <a:srgbClr val="000000"/>
              </a:solidFill>
              <a:effectLst/>
              <a:uFillTx/>
              <a:latin typeface="Arial"/>
            </a:endParaRPr>
          </a:p>
        </p:txBody>
      </p:sp>
      <p:sp>
        <p:nvSpPr>
          <p:cNvPr id="407" name="Text 1"/>
          <p:cNvSpPr/>
          <p:nvPr/>
        </p:nvSpPr>
        <p:spPr>
          <a:xfrm>
            <a:off x="567000" y="896040"/>
            <a:ext cx="64004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1050" b="0" u="none" strike="noStrike">
                <a:solidFill>
                  <a:srgbClr val="64748B"/>
                </a:solidFill>
                <a:effectLst/>
                <a:uFillTx/>
                <a:latin typeface="Noto Sans CJK SC"/>
                <a:ea typeface="Noto Sans CJK SC"/>
              </a:rPr>
              <a:t>通过“真实数据 </a:t>
            </a:r>
            <a:r>
              <a:rPr lang="en-US" sz="1050" b="0" u="none" strike="noStrike">
                <a:solidFill>
                  <a:srgbClr val="64748B"/>
                </a:solidFill>
                <a:effectLst/>
                <a:uFillTx/>
                <a:latin typeface="Noto Sans CJK SC"/>
                <a:ea typeface="Noto Sans CJK SC"/>
              </a:rPr>
              <a:t>+ </a:t>
            </a:r>
            <a:r>
              <a:rPr lang="zh-CN" sz="1050" b="0" u="none" strike="noStrike">
                <a:solidFill>
                  <a:srgbClr val="64748B"/>
                </a:solidFill>
                <a:effectLst/>
                <a:uFillTx/>
                <a:latin typeface="Noto Sans CJK SC"/>
                <a:ea typeface="Noto Sans CJK SC"/>
              </a:rPr>
              <a:t>四类用户场景 </a:t>
            </a:r>
            <a:r>
              <a:rPr lang="en-US" sz="1050" b="0" u="none" strike="noStrike">
                <a:solidFill>
                  <a:srgbClr val="64748B"/>
                </a:solidFill>
                <a:effectLst/>
                <a:uFillTx/>
                <a:latin typeface="Noto Sans CJK SC"/>
                <a:ea typeface="Noto Sans CJK SC"/>
              </a:rPr>
              <a:t>+ </a:t>
            </a:r>
            <a:r>
              <a:rPr lang="zh-CN" sz="1050" b="0" u="none" strike="noStrike">
                <a:solidFill>
                  <a:srgbClr val="64748B"/>
                </a:solidFill>
                <a:effectLst/>
                <a:uFillTx/>
                <a:latin typeface="Noto Sans CJK SC"/>
                <a:ea typeface="Noto Sans CJK SC"/>
              </a:rPr>
              <a:t>页面运行”验证系统完整性</a:t>
            </a:r>
            <a:endParaRPr lang="en-US" sz="1050" b="0" u="none" strike="noStrike">
              <a:solidFill>
                <a:srgbClr val="000000"/>
              </a:solidFill>
              <a:effectLst/>
              <a:uFillTx/>
              <a:latin typeface="Arial"/>
            </a:endParaRPr>
          </a:p>
        </p:txBody>
      </p:sp>
      <p:sp>
        <p:nvSpPr>
          <p:cNvPr id="408" name="Shape 2"/>
          <p:cNvSpPr/>
          <p:nvPr/>
        </p:nvSpPr>
        <p:spPr>
          <a:xfrm>
            <a:off x="548640" y="6473880"/>
            <a:ext cx="11091600" cy="360"/>
          </a:xfrm>
          <a:prstGeom prst="line">
            <a:avLst/>
          </a:prstGeom>
          <a:ln w="12700">
            <a:solidFill>
              <a:srgbClr val="E2E8F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09" name="Text 3"/>
          <p:cNvSpPr/>
          <p:nvPr/>
        </p:nvSpPr>
        <p:spPr>
          <a:xfrm>
            <a:off x="567000" y="6556320"/>
            <a:ext cx="80463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750" b="0" u="none" strike="noStrike">
                <a:solidFill>
                  <a:srgbClr val="64748B"/>
                </a:solidFill>
                <a:effectLst/>
                <a:uFillTx/>
                <a:latin typeface="Noto Sans CJK SC"/>
                <a:ea typeface="Noto Sans CJK SC"/>
              </a:rPr>
              <a:t>项目</a:t>
            </a:r>
            <a:r>
              <a:rPr lang="en-US" sz="750" b="0" u="none" strike="noStrike">
                <a:solidFill>
                  <a:srgbClr val="64748B"/>
                </a:solidFill>
                <a:effectLst/>
                <a:uFillTx/>
                <a:latin typeface="Noto Sans CJK SC"/>
                <a:ea typeface="Noto Sans CJK SC"/>
              </a:rPr>
              <a:t>09</a:t>
            </a:r>
            <a:r>
              <a:rPr lang="zh-CN" sz="750" b="0" u="none" strike="noStrike">
                <a:solidFill>
                  <a:srgbClr val="64748B"/>
                </a:solidFill>
                <a:effectLst/>
                <a:uFillTx/>
                <a:latin typeface="Noto Sans CJK SC"/>
                <a:ea typeface="Noto Sans CJK SC"/>
              </a:rPr>
              <a:t>｜真实地震数据 </a:t>
            </a:r>
            <a:r>
              <a:rPr lang="en-US" sz="750" b="0" u="none" strike="noStrike">
                <a:solidFill>
                  <a:srgbClr val="64748B"/>
                </a:solidFill>
                <a:effectLst/>
                <a:uFillTx/>
                <a:latin typeface="Noto Sans CJK SC"/>
                <a:ea typeface="Noto Sans CJK SC"/>
              </a:rPr>
              <a:t>+ </a:t>
            </a:r>
            <a:r>
              <a:rPr lang="zh-CN" sz="750" b="0" u="none" strike="noStrike">
                <a:solidFill>
                  <a:srgbClr val="64748B"/>
                </a:solidFill>
                <a:effectLst/>
                <a:uFillTx/>
                <a:latin typeface="Noto Sans CJK SC"/>
                <a:ea typeface="Noto Sans CJK SC"/>
              </a:rPr>
              <a:t>个性化地震应急提醒</a:t>
            </a:r>
            <a:endParaRPr lang="en-US" sz="750" b="0" u="none" strike="noStrike">
              <a:solidFill>
                <a:srgbClr val="000000"/>
              </a:solidFill>
              <a:effectLst/>
              <a:uFillTx/>
              <a:latin typeface="Arial"/>
            </a:endParaRPr>
          </a:p>
        </p:txBody>
      </p:sp>
      <p:sp>
        <p:nvSpPr>
          <p:cNvPr id="410" name="Text 4"/>
          <p:cNvSpPr/>
          <p:nvPr/>
        </p:nvSpPr>
        <p:spPr>
          <a:xfrm>
            <a:off x="11064240" y="6519600"/>
            <a:ext cx="5482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00" b="0" u="none" strike="noStrike">
                <a:solidFill>
                  <a:srgbClr val="64748B"/>
                </a:solidFill>
                <a:effectLst/>
                <a:uFillTx/>
                <a:latin typeface="Noto Sans CJK SC"/>
                <a:ea typeface="Noto Sans CJK SC"/>
              </a:rPr>
              <a:t>12</a:t>
            </a:r>
            <a:endParaRPr lang="en-US" sz="800" b="0" u="none" strike="noStrike">
              <a:solidFill>
                <a:srgbClr val="000000"/>
              </a:solidFill>
              <a:effectLst/>
              <a:uFillTx/>
              <a:latin typeface="Arial"/>
            </a:endParaRPr>
          </a:p>
        </p:txBody>
      </p:sp>
      <p:sp>
        <p:nvSpPr>
          <p:cNvPr id="411" name="Shape 5"/>
          <p:cNvSpPr/>
          <p:nvPr/>
        </p:nvSpPr>
        <p:spPr>
          <a:xfrm>
            <a:off x="822960" y="1325880"/>
            <a:ext cx="4800240" cy="914040"/>
          </a:xfrm>
          <a:prstGeom prst="roundRect">
            <a:avLst>
              <a:gd name="adj" fmla="val 8000"/>
            </a:avLst>
          </a:prstGeom>
          <a:solidFill>
            <a:srgbClr val="FFFFFF"/>
          </a:solidFill>
          <a:ln w="1270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2" name="Shape 6"/>
          <p:cNvSpPr/>
          <p:nvPr/>
        </p:nvSpPr>
        <p:spPr>
          <a:xfrm>
            <a:off x="822960" y="1325880"/>
            <a:ext cx="72720" cy="914040"/>
          </a:xfrm>
          <a:prstGeom prst="rect">
            <a:avLst/>
          </a:prstGeom>
          <a:solidFill>
            <a:srgbClr val="16A34A"/>
          </a:solidFill>
          <a:ln w="12700">
            <a:solidFill>
              <a:srgbClr val="16A3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13" name="Text 7"/>
          <p:cNvSpPr/>
          <p:nvPr/>
        </p:nvSpPr>
        <p:spPr>
          <a:xfrm>
            <a:off x="1051560" y="1490400"/>
            <a:ext cx="11426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1200" b="1" u="none" strike="noStrike">
                <a:solidFill>
                  <a:srgbClr val="0F172A"/>
                </a:solidFill>
                <a:effectLst/>
                <a:uFillTx/>
                <a:latin typeface="Noto Sans CJK SC"/>
                <a:ea typeface="Noto Sans CJK SC"/>
              </a:rPr>
              <a:t>真实数据</a:t>
            </a:r>
            <a:endParaRPr lang="en-US" sz="1200" b="0" u="none" strike="noStrike">
              <a:solidFill>
                <a:srgbClr val="000000"/>
              </a:solidFill>
              <a:effectLst/>
              <a:uFillTx/>
              <a:latin typeface="Arial"/>
            </a:endParaRPr>
          </a:p>
        </p:txBody>
      </p:sp>
      <p:sp>
        <p:nvSpPr>
          <p:cNvPr id="414" name="Text 8"/>
          <p:cNvSpPr/>
          <p:nvPr/>
        </p:nvSpPr>
        <p:spPr>
          <a:xfrm>
            <a:off x="2240280" y="1481400"/>
            <a:ext cx="31543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50" b="0" u="none" strike="noStrike">
                <a:solidFill>
                  <a:srgbClr val="334155"/>
                </a:solidFill>
                <a:effectLst/>
                <a:uFillTx/>
                <a:latin typeface="Noto Sans CJK SC"/>
                <a:ea typeface="Noto Sans CJK SC"/>
              </a:rPr>
              <a:t>USGS </a:t>
            </a:r>
            <a:r>
              <a:rPr lang="zh-CN" sz="950" b="0" u="none" strike="noStrike">
                <a:solidFill>
                  <a:srgbClr val="334155"/>
                </a:solidFill>
                <a:effectLst/>
                <a:uFillTx/>
                <a:latin typeface="Noto Sans CJK SC"/>
                <a:ea typeface="Noto Sans CJK SC"/>
              </a:rPr>
              <a:t>联网采集 </a:t>
            </a:r>
            <a:r>
              <a:rPr lang="en-US" sz="950" b="0" u="none" strike="noStrike">
                <a:solidFill>
                  <a:srgbClr val="334155"/>
                </a:solidFill>
                <a:effectLst/>
                <a:uFillTx/>
                <a:latin typeface="Noto Sans CJK SC"/>
                <a:ea typeface="Noto Sans CJK SC"/>
              </a:rPr>
              <a:t>200</a:t>
            </a:r>
            <a:r>
              <a:rPr lang="zh-CN" sz="950" b="0" u="none" strike="noStrike">
                <a:solidFill>
                  <a:srgbClr val="334155"/>
                </a:solidFill>
                <a:effectLst/>
                <a:uFillTx/>
                <a:latin typeface="Noto Sans CJK SC"/>
                <a:ea typeface="Noto Sans CJK SC"/>
              </a:rPr>
              <a:t>条；原始 </a:t>
            </a:r>
            <a:r>
              <a:rPr lang="en-US" sz="950" b="0" u="none" strike="noStrike">
                <a:solidFill>
                  <a:srgbClr val="334155"/>
                </a:solidFill>
                <a:effectLst/>
                <a:uFillTx/>
                <a:latin typeface="Noto Sans CJK SC"/>
                <a:ea typeface="Noto Sans CJK SC"/>
              </a:rPr>
              <a:t>GeoJSON + CSV + metadata + </a:t>
            </a:r>
            <a:r>
              <a:rPr lang="zh-CN" sz="950" b="0" u="none" strike="noStrike">
                <a:solidFill>
                  <a:srgbClr val="334155"/>
                </a:solidFill>
                <a:effectLst/>
                <a:uFillTx/>
                <a:latin typeface="Noto Sans CJK SC"/>
                <a:ea typeface="Noto Sans CJK SC"/>
              </a:rPr>
              <a:t>日志齐全</a:t>
            </a:r>
            <a:endParaRPr lang="en-US" sz="950" b="0" u="none" strike="noStrike">
              <a:solidFill>
                <a:srgbClr val="000000"/>
              </a:solidFill>
              <a:effectLst/>
              <a:uFillTx/>
              <a:latin typeface="Arial"/>
            </a:endParaRPr>
          </a:p>
        </p:txBody>
      </p:sp>
      <p:sp>
        <p:nvSpPr>
          <p:cNvPr id="415" name="Shape 9"/>
          <p:cNvSpPr/>
          <p:nvPr/>
        </p:nvSpPr>
        <p:spPr>
          <a:xfrm>
            <a:off x="822960" y="2651760"/>
            <a:ext cx="4800240" cy="914040"/>
          </a:xfrm>
          <a:prstGeom prst="roundRect">
            <a:avLst>
              <a:gd name="adj" fmla="val 8000"/>
            </a:avLst>
          </a:prstGeom>
          <a:solidFill>
            <a:srgbClr val="FFFFFF"/>
          </a:solidFill>
          <a:ln w="1270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6" name="Shape 10"/>
          <p:cNvSpPr/>
          <p:nvPr/>
        </p:nvSpPr>
        <p:spPr>
          <a:xfrm>
            <a:off x="822960" y="2651760"/>
            <a:ext cx="72720" cy="914040"/>
          </a:xfrm>
          <a:prstGeom prst="rect">
            <a:avLst/>
          </a:prstGeom>
          <a:solidFill>
            <a:srgbClr val="2563EB"/>
          </a:solidFill>
          <a:ln w="12700">
            <a:solidFill>
              <a:srgbClr val="2563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17" name="Text 11"/>
          <p:cNvSpPr/>
          <p:nvPr/>
        </p:nvSpPr>
        <p:spPr>
          <a:xfrm>
            <a:off x="1051560" y="2816280"/>
            <a:ext cx="11426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1200" b="1" u="none" strike="noStrike">
                <a:solidFill>
                  <a:srgbClr val="0F172A"/>
                </a:solidFill>
                <a:effectLst/>
                <a:uFillTx/>
                <a:latin typeface="Noto Sans CJK SC"/>
                <a:ea typeface="Noto Sans CJK SC"/>
              </a:rPr>
              <a:t>未成年人</a:t>
            </a:r>
            <a:endParaRPr lang="en-US" sz="1200" b="0" u="none" strike="noStrike">
              <a:solidFill>
                <a:srgbClr val="000000"/>
              </a:solidFill>
              <a:effectLst/>
              <a:uFillTx/>
              <a:latin typeface="Arial"/>
            </a:endParaRPr>
          </a:p>
        </p:txBody>
      </p:sp>
      <p:sp>
        <p:nvSpPr>
          <p:cNvPr id="418" name="Text 12"/>
          <p:cNvSpPr/>
          <p:nvPr/>
        </p:nvSpPr>
        <p:spPr>
          <a:xfrm>
            <a:off x="2240280" y="2807280"/>
            <a:ext cx="31543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zh-CN" sz="950" b="0" u="none" strike="noStrike">
                <a:solidFill>
                  <a:srgbClr val="334155"/>
                </a:solidFill>
                <a:effectLst/>
                <a:uFillTx/>
                <a:latin typeface="Noto Sans CJK SC"/>
                <a:ea typeface="Noto Sans CJK SC"/>
              </a:rPr>
              <a:t>普通居民｜</a:t>
            </a:r>
            <a:r>
              <a:rPr lang="en-US" sz="950" b="0" u="none" strike="noStrike">
                <a:solidFill>
                  <a:srgbClr val="334155"/>
                </a:solidFill>
                <a:effectLst/>
                <a:uFillTx/>
                <a:latin typeface="Noto Sans CJK SC"/>
                <a:ea typeface="Noto Sans CJK SC"/>
              </a:rPr>
              <a:t>13</a:t>
            </a:r>
            <a:r>
              <a:rPr lang="zh-CN" sz="950" b="0" u="none" strike="noStrike">
                <a:solidFill>
                  <a:srgbClr val="334155"/>
                </a:solidFill>
                <a:effectLst/>
                <a:uFillTx/>
                <a:latin typeface="Noto Sans CJK SC"/>
                <a:ea typeface="Noto Sans CJK SC"/>
              </a:rPr>
              <a:t>岁 → 学生</a:t>
            </a:r>
            <a:r>
              <a:rPr lang="en-US" sz="950" b="0" u="none" strike="noStrike">
                <a:solidFill>
                  <a:srgbClr val="334155"/>
                </a:solidFill>
                <a:effectLst/>
                <a:uFillTx/>
                <a:latin typeface="Noto Sans CJK SC"/>
                <a:ea typeface="Noto Sans CJK SC"/>
              </a:rPr>
              <a:t>/</a:t>
            </a:r>
            <a:r>
              <a:rPr lang="zh-CN" sz="950" b="0" u="none" strike="noStrike">
                <a:solidFill>
                  <a:srgbClr val="334155"/>
                </a:solidFill>
                <a:effectLst/>
                <a:uFillTx/>
                <a:latin typeface="Noto Sans CJK SC"/>
                <a:ea typeface="Noto Sans CJK SC"/>
              </a:rPr>
              <a:t>未成年人群体，强调听从学校</a:t>
            </a:r>
            <a:r>
              <a:rPr lang="en-US" sz="950" b="0" u="none" strike="noStrike">
                <a:solidFill>
                  <a:srgbClr val="334155"/>
                </a:solidFill>
                <a:effectLst/>
                <a:uFillTx/>
                <a:latin typeface="Noto Sans CJK SC"/>
                <a:ea typeface="Noto Sans CJK SC"/>
              </a:rPr>
              <a:t>/</a:t>
            </a:r>
            <a:r>
              <a:rPr lang="zh-CN" sz="950" b="0" u="none" strike="noStrike">
                <a:solidFill>
                  <a:srgbClr val="334155"/>
                </a:solidFill>
                <a:effectLst/>
                <a:uFillTx/>
                <a:latin typeface="Noto Sans CJK SC"/>
                <a:ea typeface="Noto Sans CJK SC"/>
              </a:rPr>
              <a:t>监护人安排</a:t>
            </a:r>
            <a:endParaRPr lang="en-US" sz="950" b="0" u="none" strike="noStrike">
              <a:solidFill>
                <a:srgbClr val="000000"/>
              </a:solidFill>
              <a:effectLst/>
              <a:uFillTx/>
              <a:latin typeface="Arial"/>
            </a:endParaRPr>
          </a:p>
        </p:txBody>
      </p:sp>
      <p:sp>
        <p:nvSpPr>
          <p:cNvPr id="419" name="Shape 13"/>
          <p:cNvSpPr/>
          <p:nvPr/>
        </p:nvSpPr>
        <p:spPr>
          <a:xfrm>
            <a:off x="822960" y="3977640"/>
            <a:ext cx="4800240" cy="914040"/>
          </a:xfrm>
          <a:prstGeom prst="roundRect">
            <a:avLst>
              <a:gd name="adj" fmla="val 8000"/>
            </a:avLst>
          </a:prstGeom>
          <a:solidFill>
            <a:srgbClr val="FFFFFF"/>
          </a:solidFill>
          <a:ln w="1270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20" name="Shape 14"/>
          <p:cNvSpPr/>
          <p:nvPr/>
        </p:nvSpPr>
        <p:spPr>
          <a:xfrm>
            <a:off x="822960" y="3977640"/>
            <a:ext cx="72720" cy="914040"/>
          </a:xfrm>
          <a:prstGeom prst="rect">
            <a:avLst/>
          </a:prstGeom>
          <a:solidFill>
            <a:srgbClr val="F59E0B"/>
          </a:solidFill>
          <a:ln w="12700">
            <a:solidFill>
              <a:srgbClr val="F59E0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21" name="Text 15"/>
          <p:cNvSpPr/>
          <p:nvPr/>
        </p:nvSpPr>
        <p:spPr>
          <a:xfrm>
            <a:off x="1051560" y="4142160"/>
            <a:ext cx="11426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1200" b="1" u="none" strike="noStrike">
                <a:solidFill>
                  <a:srgbClr val="0F172A"/>
                </a:solidFill>
                <a:effectLst/>
                <a:uFillTx/>
                <a:latin typeface="Noto Sans CJK SC"/>
                <a:ea typeface="Noto Sans CJK SC"/>
              </a:rPr>
              <a:t>老年人</a:t>
            </a:r>
            <a:endParaRPr lang="en-US" sz="1200" b="0" u="none" strike="noStrike">
              <a:solidFill>
                <a:srgbClr val="000000"/>
              </a:solidFill>
              <a:effectLst/>
              <a:uFillTx/>
              <a:latin typeface="Arial"/>
            </a:endParaRPr>
          </a:p>
        </p:txBody>
      </p:sp>
      <p:sp>
        <p:nvSpPr>
          <p:cNvPr id="422" name="Text 16"/>
          <p:cNvSpPr/>
          <p:nvPr/>
        </p:nvSpPr>
        <p:spPr>
          <a:xfrm>
            <a:off x="2240280" y="4133160"/>
            <a:ext cx="31543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zh-CN" sz="950" b="0" u="none" strike="noStrike">
                <a:solidFill>
                  <a:srgbClr val="334155"/>
                </a:solidFill>
                <a:effectLst/>
                <a:uFillTx/>
                <a:latin typeface="Noto Sans CJK SC"/>
                <a:ea typeface="Noto Sans CJK SC"/>
              </a:rPr>
              <a:t>普通居民｜</a:t>
            </a:r>
            <a:r>
              <a:rPr lang="en-US" sz="950" b="0" u="none" strike="noStrike">
                <a:solidFill>
                  <a:srgbClr val="334155"/>
                </a:solidFill>
                <a:effectLst/>
                <a:uFillTx/>
                <a:latin typeface="Noto Sans CJK SC"/>
                <a:ea typeface="Noto Sans CJK SC"/>
              </a:rPr>
              <a:t>72</a:t>
            </a:r>
            <a:r>
              <a:rPr lang="zh-CN" sz="950" b="0" u="none" strike="noStrike">
                <a:solidFill>
                  <a:srgbClr val="334155"/>
                </a:solidFill>
                <a:effectLst/>
                <a:uFillTx/>
                <a:latin typeface="Noto Sans CJK SC"/>
                <a:ea typeface="Noto Sans CJK SC"/>
              </a:rPr>
              <a:t>岁｜需协助 → 老年重点关注 </a:t>
            </a:r>
            <a:r>
              <a:rPr lang="en-US" sz="950" b="0" u="none" strike="noStrike">
                <a:solidFill>
                  <a:srgbClr val="334155"/>
                </a:solidFill>
                <a:effectLst/>
                <a:uFillTx/>
                <a:latin typeface="Noto Sans CJK SC"/>
                <a:ea typeface="Noto Sans CJK SC"/>
              </a:rPr>
              <a:t>+ </a:t>
            </a:r>
            <a:r>
              <a:rPr lang="zh-CN" sz="950" b="0" u="none" strike="noStrike">
                <a:solidFill>
                  <a:srgbClr val="334155"/>
                </a:solidFill>
                <a:effectLst/>
                <a:uFillTx/>
                <a:latin typeface="Noto Sans CJK SC"/>
                <a:ea typeface="Noto Sans CJK SC"/>
              </a:rPr>
              <a:t>协助转移</a:t>
            </a:r>
            <a:endParaRPr lang="en-US" sz="950" b="0" u="none" strike="noStrike">
              <a:solidFill>
                <a:srgbClr val="000000"/>
              </a:solidFill>
              <a:effectLst/>
              <a:uFillTx/>
              <a:latin typeface="Arial"/>
            </a:endParaRPr>
          </a:p>
        </p:txBody>
      </p:sp>
      <p:sp>
        <p:nvSpPr>
          <p:cNvPr id="423" name="Shape 17"/>
          <p:cNvSpPr/>
          <p:nvPr/>
        </p:nvSpPr>
        <p:spPr>
          <a:xfrm>
            <a:off x="6446520" y="1325880"/>
            <a:ext cx="4800240" cy="914040"/>
          </a:xfrm>
          <a:prstGeom prst="roundRect">
            <a:avLst>
              <a:gd name="adj" fmla="val 8000"/>
            </a:avLst>
          </a:prstGeom>
          <a:solidFill>
            <a:srgbClr val="FFFFFF"/>
          </a:solidFill>
          <a:ln w="1270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24" name="Shape 18"/>
          <p:cNvSpPr/>
          <p:nvPr/>
        </p:nvSpPr>
        <p:spPr>
          <a:xfrm>
            <a:off x="6446520" y="1325880"/>
            <a:ext cx="72720" cy="914040"/>
          </a:xfrm>
          <a:prstGeom prst="rect">
            <a:avLst/>
          </a:prstGeom>
          <a:solidFill>
            <a:srgbClr val="2563EB"/>
          </a:solidFill>
          <a:ln w="12700">
            <a:solidFill>
              <a:srgbClr val="2563E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25" name="Text 19"/>
          <p:cNvSpPr/>
          <p:nvPr/>
        </p:nvSpPr>
        <p:spPr>
          <a:xfrm>
            <a:off x="6675120" y="1490400"/>
            <a:ext cx="11426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1200" b="1" u="none" strike="noStrike">
                <a:solidFill>
                  <a:srgbClr val="0F172A"/>
                </a:solidFill>
                <a:effectLst/>
                <a:uFillTx/>
                <a:latin typeface="Noto Sans CJK SC"/>
                <a:ea typeface="Noto Sans CJK SC"/>
              </a:rPr>
              <a:t>游客</a:t>
            </a:r>
            <a:endParaRPr lang="en-US" sz="1200" b="0" u="none" strike="noStrike">
              <a:solidFill>
                <a:srgbClr val="000000"/>
              </a:solidFill>
              <a:effectLst/>
              <a:uFillTx/>
              <a:latin typeface="Arial"/>
            </a:endParaRPr>
          </a:p>
        </p:txBody>
      </p:sp>
      <p:sp>
        <p:nvSpPr>
          <p:cNvPr id="426" name="Text 20"/>
          <p:cNvSpPr/>
          <p:nvPr/>
        </p:nvSpPr>
        <p:spPr>
          <a:xfrm>
            <a:off x="7863840" y="1481400"/>
            <a:ext cx="31543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zh-CN" sz="950" b="0" u="none" strike="noStrike">
                <a:solidFill>
                  <a:srgbClr val="334155"/>
                </a:solidFill>
                <a:effectLst/>
                <a:uFillTx/>
                <a:latin typeface="Noto Sans CJK SC"/>
                <a:ea typeface="Noto Sans CJK SC"/>
              </a:rPr>
              <a:t>游客｜山区场景 → 关注当地指引，远离危险区域</a:t>
            </a:r>
            <a:endParaRPr lang="en-US" sz="950" b="0" u="none" strike="noStrike">
              <a:solidFill>
                <a:srgbClr val="000000"/>
              </a:solidFill>
              <a:effectLst/>
              <a:uFillTx/>
              <a:latin typeface="Arial"/>
            </a:endParaRPr>
          </a:p>
        </p:txBody>
      </p:sp>
      <p:sp>
        <p:nvSpPr>
          <p:cNvPr id="427" name="Shape 21"/>
          <p:cNvSpPr/>
          <p:nvPr/>
        </p:nvSpPr>
        <p:spPr>
          <a:xfrm>
            <a:off x="6446520" y="2651760"/>
            <a:ext cx="4800240" cy="914040"/>
          </a:xfrm>
          <a:prstGeom prst="roundRect">
            <a:avLst>
              <a:gd name="adj" fmla="val 8000"/>
            </a:avLst>
          </a:prstGeom>
          <a:solidFill>
            <a:srgbClr val="FFFFFF"/>
          </a:solidFill>
          <a:ln w="1270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28" name="Shape 22"/>
          <p:cNvSpPr/>
          <p:nvPr/>
        </p:nvSpPr>
        <p:spPr>
          <a:xfrm>
            <a:off x="6446520" y="2651760"/>
            <a:ext cx="72720" cy="914040"/>
          </a:xfrm>
          <a:prstGeom prst="rect">
            <a:avLst/>
          </a:prstGeom>
          <a:solidFill>
            <a:srgbClr val="DC2626"/>
          </a:solidFill>
          <a:ln w="12700">
            <a:solidFill>
              <a:srgbClr val="DC262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29" name="Text 23"/>
          <p:cNvSpPr/>
          <p:nvPr/>
        </p:nvSpPr>
        <p:spPr>
          <a:xfrm>
            <a:off x="6675120" y="2816280"/>
            <a:ext cx="11426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1200" b="1" u="none" strike="noStrike">
                <a:solidFill>
                  <a:srgbClr val="0F172A"/>
                </a:solidFill>
                <a:effectLst/>
                <a:uFillTx/>
                <a:latin typeface="Noto Sans CJK SC"/>
                <a:ea typeface="Noto Sans CJK SC"/>
              </a:rPr>
              <a:t>应急人员</a:t>
            </a:r>
            <a:endParaRPr lang="en-US" sz="1200" b="0" u="none" strike="noStrike">
              <a:solidFill>
                <a:srgbClr val="000000"/>
              </a:solidFill>
              <a:effectLst/>
              <a:uFillTx/>
              <a:latin typeface="Arial"/>
            </a:endParaRPr>
          </a:p>
        </p:txBody>
      </p:sp>
      <p:sp>
        <p:nvSpPr>
          <p:cNvPr id="430" name="Text 24"/>
          <p:cNvSpPr/>
          <p:nvPr/>
        </p:nvSpPr>
        <p:spPr>
          <a:xfrm>
            <a:off x="7863840" y="2807280"/>
            <a:ext cx="31543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zh-CN" sz="950" b="0" u="none" strike="noStrike">
                <a:solidFill>
                  <a:srgbClr val="334155"/>
                </a:solidFill>
                <a:effectLst/>
                <a:uFillTx/>
                <a:latin typeface="Noto Sans CJK SC"/>
                <a:ea typeface="Noto Sans CJK SC"/>
              </a:rPr>
              <a:t>应急人员 → 到岗巡查、排查风险、协助群众转移</a:t>
            </a:r>
            <a:endParaRPr lang="en-US" sz="950" b="0" u="none" strike="noStrike">
              <a:solidFill>
                <a:srgbClr val="000000"/>
              </a:solidFill>
              <a:effectLst/>
              <a:uFillTx/>
              <a:latin typeface="Arial"/>
            </a:endParaRPr>
          </a:p>
        </p:txBody>
      </p:sp>
      <p:sp>
        <p:nvSpPr>
          <p:cNvPr id="431" name="Shape 25"/>
          <p:cNvSpPr/>
          <p:nvPr/>
        </p:nvSpPr>
        <p:spPr>
          <a:xfrm>
            <a:off x="6446520" y="3977640"/>
            <a:ext cx="4800240" cy="914040"/>
          </a:xfrm>
          <a:prstGeom prst="roundRect">
            <a:avLst>
              <a:gd name="adj" fmla="val 8000"/>
            </a:avLst>
          </a:prstGeom>
          <a:solidFill>
            <a:srgbClr val="FFFFFF"/>
          </a:solidFill>
          <a:ln w="1270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32" name="Shape 26"/>
          <p:cNvSpPr/>
          <p:nvPr/>
        </p:nvSpPr>
        <p:spPr>
          <a:xfrm>
            <a:off x="6446520" y="3977640"/>
            <a:ext cx="72720" cy="914040"/>
          </a:xfrm>
          <a:prstGeom prst="rect">
            <a:avLst/>
          </a:prstGeom>
          <a:solidFill>
            <a:srgbClr val="16A34A"/>
          </a:solidFill>
          <a:ln w="12700">
            <a:solidFill>
              <a:srgbClr val="16A34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33" name="Text 27"/>
          <p:cNvSpPr/>
          <p:nvPr/>
        </p:nvSpPr>
        <p:spPr>
          <a:xfrm>
            <a:off x="6675120" y="4142160"/>
            <a:ext cx="11426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1200" b="1" u="none" strike="noStrike">
                <a:solidFill>
                  <a:srgbClr val="0F172A"/>
                </a:solidFill>
                <a:effectLst/>
                <a:uFillTx/>
                <a:latin typeface="Noto Sans CJK SC"/>
                <a:ea typeface="Noto Sans CJK SC"/>
              </a:rPr>
              <a:t>边界控制</a:t>
            </a:r>
            <a:endParaRPr lang="en-US" sz="1200" b="0" u="none" strike="noStrike">
              <a:solidFill>
                <a:srgbClr val="000000"/>
              </a:solidFill>
              <a:effectLst/>
              <a:uFillTx/>
              <a:latin typeface="Arial"/>
            </a:endParaRPr>
          </a:p>
        </p:txBody>
      </p:sp>
      <p:sp>
        <p:nvSpPr>
          <p:cNvPr id="434" name="Text 28"/>
          <p:cNvSpPr/>
          <p:nvPr/>
        </p:nvSpPr>
        <p:spPr>
          <a:xfrm>
            <a:off x="7863840" y="4133160"/>
            <a:ext cx="31543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zh-CN" sz="950" b="0" u="none" strike="noStrike">
                <a:solidFill>
                  <a:srgbClr val="334155"/>
                </a:solidFill>
                <a:effectLst/>
                <a:uFillTx/>
                <a:latin typeface="Noto Sans CJK SC"/>
                <a:ea typeface="Noto Sans CJK SC"/>
              </a:rPr>
              <a:t>生成结果包含免责声明，不出现“预测地震</a:t>
            </a:r>
            <a:r>
              <a:rPr lang="en-US" sz="950" b="0" u="none" strike="noStrike">
                <a:solidFill>
                  <a:srgbClr val="334155"/>
                </a:solidFill>
                <a:effectLst/>
                <a:uFillTx/>
                <a:latin typeface="Noto Sans CJK SC"/>
                <a:ea typeface="Noto Sans CJK SC"/>
              </a:rPr>
              <a:t>/</a:t>
            </a:r>
            <a:r>
              <a:rPr lang="zh-CN" sz="950" b="0" u="none" strike="noStrike">
                <a:solidFill>
                  <a:srgbClr val="334155"/>
                </a:solidFill>
                <a:effectLst/>
                <a:uFillTx/>
                <a:latin typeface="Noto Sans CJK SC"/>
                <a:ea typeface="Noto Sans CJK SC"/>
              </a:rPr>
              <a:t>官方预警”等错误表达</a:t>
            </a:r>
            <a:endParaRPr lang="en-US" sz="950" b="0" u="none" strike="noStrike">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FAE3A-F0A6-22B0-EDED-656F7826A571}"/>
            </a:ext>
          </a:extLst>
        </p:cNvPr>
        <p:cNvGrpSpPr/>
        <p:nvPr/>
      </p:nvGrpSpPr>
      <p:grpSpPr>
        <a:xfrm>
          <a:off x="0" y="0"/>
          <a:ext cx="0" cy="0"/>
          <a:chOff x="0" y="0"/>
          <a:chExt cx="0" cy="0"/>
        </a:xfrm>
      </p:grpSpPr>
      <p:sp>
        <p:nvSpPr>
          <p:cNvPr id="406" name="Text 0">
            <a:extLst>
              <a:ext uri="{FF2B5EF4-FFF2-40B4-BE49-F238E27FC236}">
                <a16:creationId xmlns:a16="http://schemas.microsoft.com/office/drawing/2014/main" id="{AA99C095-10C7-3D9B-CE1D-45C74796E9E0}"/>
              </a:ext>
            </a:extLst>
          </p:cNvPr>
          <p:cNvSpPr/>
          <p:nvPr/>
        </p:nvSpPr>
        <p:spPr>
          <a:xfrm>
            <a:off x="548640" y="411480"/>
            <a:ext cx="81378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2600" b="1" u="none" strike="noStrike">
                <a:solidFill>
                  <a:srgbClr val="0F172A"/>
                </a:solidFill>
                <a:effectLst/>
                <a:uFillTx/>
                <a:latin typeface="Noto Sans CJK SC"/>
                <a:ea typeface="Noto Sans CJK SC"/>
              </a:rPr>
              <a:t>测试验证：功能、数据与安全边界</a:t>
            </a:r>
            <a:endParaRPr lang="en-US" sz="2600" b="0" u="none" strike="noStrike">
              <a:solidFill>
                <a:srgbClr val="000000"/>
              </a:solidFill>
              <a:effectLst/>
              <a:uFillTx/>
              <a:latin typeface="Arial"/>
            </a:endParaRPr>
          </a:p>
        </p:txBody>
      </p:sp>
      <p:sp>
        <p:nvSpPr>
          <p:cNvPr id="408" name="Shape 2">
            <a:extLst>
              <a:ext uri="{FF2B5EF4-FFF2-40B4-BE49-F238E27FC236}">
                <a16:creationId xmlns:a16="http://schemas.microsoft.com/office/drawing/2014/main" id="{8951C8AB-BC6F-05B3-FB1F-C4FD8AAEFA35}"/>
              </a:ext>
            </a:extLst>
          </p:cNvPr>
          <p:cNvSpPr/>
          <p:nvPr/>
        </p:nvSpPr>
        <p:spPr>
          <a:xfrm>
            <a:off x="548640" y="6473880"/>
            <a:ext cx="11091600" cy="360"/>
          </a:xfrm>
          <a:prstGeom prst="line">
            <a:avLst/>
          </a:prstGeom>
          <a:ln w="12700">
            <a:solidFill>
              <a:srgbClr val="E2E8F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09" name="Text 3">
            <a:extLst>
              <a:ext uri="{FF2B5EF4-FFF2-40B4-BE49-F238E27FC236}">
                <a16:creationId xmlns:a16="http://schemas.microsoft.com/office/drawing/2014/main" id="{4D31D26C-0736-26E6-1607-57A882904ADB}"/>
              </a:ext>
            </a:extLst>
          </p:cNvPr>
          <p:cNvSpPr/>
          <p:nvPr/>
        </p:nvSpPr>
        <p:spPr>
          <a:xfrm>
            <a:off x="567000" y="6556320"/>
            <a:ext cx="80463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zh-CN" sz="750" b="0" u="none" strike="noStrike">
                <a:solidFill>
                  <a:srgbClr val="64748B"/>
                </a:solidFill>
                <a:effectLst/>
                <a:uFillTx/>
                <a:latin typeface="Noto Sans CJK SC"/>
                <a:ea typeface="Noto Sans CJK SC"/>
              </a:rPr>
              <a:t>项目</a:t>
            </a:r>
            <a:r>
              <a:rPr lang="en-US" sz="750" b="0" u="none" strike="noStrike">
                <a:solidFill>
                  <a:srgbClr val="64748B"/>
                </a:solidFill>
                <a:effectLst/>
                <a:uFillTx/>
                <a:latin typeface="Noto Sans CJK SC"/>
                <a:ea typeface="Noto Sans CJK SC"/>
              </a:rPr>
              <a:t>09</a:t>
            </a:r>
            <a:r>
              <a:rPr lang="zh-CN" sz="750" b="0" u="none" strike="noStrike">
                <a:solidFill>
                  <a:srgbClr val="64748B"/>
                </a:solidFill>
                <a:effectLst/>
                <a:uFillTx/>
                <a:latin typeface="Noto Sans CJK SC"/>
                <a:ea typeface="Noto Sans CJK SC"/>
              </a:rPr>
              <a:t>｜真实地震数据 </a:t>
            </a:r>
            <a:r>
              <a:rPr lang="en-US" sz="750" b="0" u="none" strike="noStrike">
                <a:solidFill>
                  <a:srgbClr val="64748B"/>
                </a:solidFill>
                <a:effectLst/>
                <a:uFillTx/>
                <a:latin typeface="Noto Sans CJK SC"/>
                <a:ea typeface="Noto Sans CJK SC"/>
              </a:rPr>
              <a:t>+ </a:t>
            </a:r>
            <a:r>
              <a:rPr lang="zh-CN" sz="750" b="0" u="none" strike="noStrike">
                <a:solidFill>
                  <a:srgbClr val="64748B"/>
                </a:solidFill>
                <a:effectLst/>
                <a:uFillTx/>
                <a:latin typeface="Noto Sans CJK SC"/>
                <a:ea typeface="Noto Sans CJK SC"/>
              </a:rPr>
              <a:t>个性化地震应急提醒</a:t>
            </a:r>
            <a:endParaRPr lang="en-US" sz="750" b="0" u="none" strike="noStrike">
              <a:solidFill>
                <a:srgbClr val="000000"/>
              </a:solidFill>
              <a:effectLst/>
              <a:uFillTx/>
              <a:latin typeface="Arial"/>
            </a:endParaRPr>
          </a:p>
        </p:txBody>
      </p:sp>
      <p:sp>
        <p:nvSpPr>
          <p:cNvPr id="410" name="Text 4">
            <a:extLst>
              <a:ext uri="{FF2B5EF4-FFF2-40B4-BE49-F238E27FC236}">
                <a16:creationId xmlns:a16="http://schemas.microsoft.com/office/drawing/2014/main" id="{D6B3BD10-AD72-4A19-8BAC-3ECD21EB0F12}"/>
              </a:ext>
            </a:extLst>
          </p:cNvPr>
          <p:cNvSpPr/>
          <p:nvPr/>
        </p:nvSpPr>
        <p:spPr>
          <a:xfrm>
            <a:off x="11064240" y="6519600"/>
            <a:ext cx="5482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00" b="0" u="none" strike="noStrike">
                <a:solidFill>
                  <a:srgbClr val="64748B"/>
                </a:solidFill>
                <a:effectLst/>
                <a:uFillTx/>
                <a:latin typeface="Noto Sans CJK SC"/>
                <a:ea typeface="Noto Sans CJK SC"/>
              </a:rPr>
              <a:t>12</a:t>
            </a:r>
            <a:endParaRPr lang="en-US" sz="800" b="0" u="none" strike="noStrike">
              <a:solidFill>
                <a:srgbClr val="000000"/>
              </a:solidFill>
              <a:effectLst/>
              <a:uFillTx/>
              <a:latin typeface="Arial"/>
            </a:endParaRPr>
          </a:p>
        </p:txBody>
      </p:sp>
      <p:pic>
        <p:nvPicPr>
          <p:cNvPr id="3" name="图片 2">
            <a:extLst>
              <a:ext uri="{FF2B5EF4-FFF2-40B4-BE49-F238E27FC236}">
                <a16:creationId xmlns:a16="http://schemas.microsoft.com/office/drawing/2014/main" id="{FA704B97-F7CE-5A3E-9C26-C3C7310EA91C}"/>
              </a:ext>
            </a:extLst>
          </p:cNvPr>
          <p:cNvPicPr>
            <a:picLocks noChangeAspect="1"/>
          </p:cNvPicPr>
          <p:nvPr/>
        </p:nvPicPr>
        <p:blipFill>
          <a:blip r:embed="rId3"/>
          <a:stretch>
            <a:fillRect/>
          </a:stretch>
        </p:blipFill>
        <p:spPr>
          <a:xfrm>
            <a:off x="567000" y="904680"/>
            <a:ext cx="5606891" cy="5221684"/>
          </a:xfrm>
          <a:prstGeom prst="rect">
            <a:avLst/>
          </a:prstGeom>
        </p:spPr>
      </p:pic>
      <p:pic>
        <p:nvPicPr>
          <p:cNvPr id="5" name="图片 4">
            <a:extLst>
              <a:ext uri="{FF2B5EF4-FFF2-40B4-BE49-F238E27FC236}">
                <a16:creationId xmlns:a16="http://schemas.microsoft.com/office/drawing/2014/main" id="{3F267CFF-8C02-565E-786B-09377B700C0D}"/>
              </a:ext>
            </a:extLst>
          </p:cNvPr>
          <p:cNvPicPr>
            <a:picLocks noChangeAspect="1"/>
          </p:cNvPicPr>
          <p:nvPr/>
        </p:nvPicPr>
        <p:blipFill>
          <a:blip r:embed="rId4"/>
          <a:stretch>
            <a:fillRect/>
          </a:stretch>
        </p:blipFill>
        <p:spPr>
          <a:xfrm>
            <a:off x="8262040" y="1058974"/>
            <a:ext cx="2712955" cy="4740051"/>
          </a:xfrm>
          <a:prstGeom prst="rect">
            <a:avLst/>
          </a:prstGeom>
        </p:spPr>
      </p:pic>
    </p:spTree>
    <p:extLst>
      <p:ext uri="{BB962C8B-B14F-4D97-AF65-F5344CB8AC3E}">
        <p14:creationId xmlns:p14="http://schemas.microsoft.com/office/powerpoint/2010/main" val="1268821933"/>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SC"/>
        <a:ea typeface=""/>
        <a:cs typeface=""/>
      </a:majorFont>
      <a:minorFont>
        <a:latin typeface="Noto Sans CJK SC"/>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TotalTime>
  <Words>2274</Words>
  <Application>Microsoft Office PowerPoint</Application>
  <PresentationFormat>宽屏</PresentationFormat>
  <Paragraphs>243</Paragraphs>
  <Slides>11</Slides>
  <Notes>11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11</vt:i4>
      </vt:variant>
    </vt:vector>
  </HeadingPairs>
  <TitlesOfParts>
    <vt:vector size="17" baseType="lpstr">
      <vt:lpstr>Noto Sans CJK SC</vt:lpstr>
      <vt:lpstr>Arial</vt:lpstr>
      <vt:lpstr>Symbol</vt:lpstr>
      <vt:lpstr>Times New Roman</vt:lpstr>
      <vt:lpstr>Wingdings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亚壕 张</cp:lastModifiedBy>
  <cp:revision>5</cp:revision>
  <dcterms:modified xsi:type="dcterms:W3CDTF">2026-06-23T00:44:15Z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2026-06-22T19:13:35Z</dcterms:created>
  <dc:creator>OpenAI</dc:creator>
  <dc:description/>
  <dc:language>en-US</dc:language>
  <cp:lastModifiedBy>OpenAI</cp:lastModifiedBy>
  <dcterms:modified xsi:type="dcterms:W3CDTF">2026-06-22T19:13:35Z</dcterms:modified>
  <cp:revision>1</cp:revision>
  <dc:subject>基于真实地震数据的个性化地震预警信息自动生成系统</dc:subject>
  <dc:title>项目09 汇报PPT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14</vt:r8>
  </property>
  <property fmtid="{D5CDD505-2E9C-101B-9397-08002B2CF9AE}" pid="3" name="PresentationFormat">
    <vt:lpwstr>On-screen Show (16:9)</vt:lpwstr>
  </property>
  <property fmtid="{D5CDD505-2E9C-101B-9397-08002B2CF9AE}" pid="4" name="Slides">
    <vt:r8>14</vt:r8>
  </property>
</Properties>
</file>