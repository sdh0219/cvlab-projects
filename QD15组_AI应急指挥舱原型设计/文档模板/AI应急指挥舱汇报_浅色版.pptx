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754880"/>
            <a:ext cx="10362895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73E8"/>
                </a:solidFill>
                <a:latin typeface="微软雅黑"/>
              </a:defRPr>
            </a:pPr>
            <a:r>
              <a:t>AI应急指挥舱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02124"/>
                </a:solidFill>
                <a:latin typeface="微软雅黑"/>
              </a:defRPr>
            </a:pPr>
            <a:r>
              <a:t>跨部门协同应急响应平台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73E8"/>
                </a:solidFill>
                <a:latin typeface="微软雅黑"/>
              </a:defRPr>
            </a:pPr>
            <a:r>
              <a:t>基于大语言模型与多源开放数据的智能应急决策系统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F6368"/>
                </a:solidFill>
                <a:latin typeface="微软雅黑"/>
              </a:defRPr>
            </a:pPr>
            <a:r>
              <a:t>汇报人：XXX    |    指导老师：XXX    |    2026年X月X日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微软雅黑"/>
              </a:defRPr>
            </a:pPr>
            <a:r>
              <a:t>研究背景与痛点分析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73E8"/>
                </a:solidFill>
                <a:latin typeface="微软雅黑"/>
              </a:defRPr>
            </a:pPr>
            <a:r>
              <a:t>现实背景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我国自然灾害种类多、频次高</a:t>
            </a:r>
          </a:p>
          <a:p>
            <a:pPr>
              <a:spcAft>
                <a:spcPts val="800"/>
              </a:spcAft>
              <a:defRPr sz="18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2024年各类自然灾害造成直接经济损失超3000亿元</a:t>
            </a:r>
          </a:p>
          <a:p>
            <a:pPr>
              <a:spcAft>
                <a:spcPts val="800"/>
              </a:spcAft>
              <a:defRPr sz="18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传统应急响应依赖人工经验，决策链条长</a:t>
            </a:r>
          </a:p>
          <a:p>
            <a:pPr>
              <a:spcAft>
                <a:spcPts val="800"/>
              </a:spcAft>
              <a:defRPr sz="18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部门协同效率低，信息传递滞后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710A"/>
                </a:solidFill>
                <a:latin typeface="微软雅黑"/>
              </a:defRPr>
            </a:pPr>
            <a:r>
              <a:t>技术痛点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数据孤岛：灾情、救援、物资、气象数据分散</a:t>
            </a:r>
          </a:p>
          <a:p>
            <a:pPr>
              <a:spcAft>
                <a:spcPts val="800"/>
              </a:spcAft>
              <a:defRPr sz="18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决策滞后：缺乏智能化辅助决策工具</a:t>
            </a:r>
          </a:p>
          <a:p>
            <a:pPr>
              <a:spcAft>
                <a:spcPts val="800"/>
              </a:spcAft>
              <a:defRPr sz="18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可视化不足：多源数据难以统一视图呈现</a:t>
            </a:r>
          </a:p>
          <a:p>
            <a:pPr>
              <a:spcAft>
                <a:spcPts val="800"/>
              </a:spcAft>
              <a:defRPr sz="18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数据可信度：编造数据导致决策偏差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微软雅黑"/>
              </a:defRPr>
            </a:pPr>
            <a:r>
              <a:t>系统目标与设计原则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904F"/>
                </a:solidFill>
                <a:latin typeface="微软雅黑"/>
              </a:defRPr>
            </a:pPr>
            <a:r>
              <a:t>核心目标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构建跨部门协同的应急响应数据平台</a:t>
            </a:r>
          </a:p>
          <a:p>
            <a:pPr>
              <a:spcAft>
                <a:spcPts val="800"/>
              </a:spcAft>
              <a:defRPr sz="18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实现AI驱动的智能决策建议生成</a:t>
            </a:r>
          </a:p>
          <a:p>
            <a:pPr>
              <a:spcAft>
                <a:spcPts val="800"/>
              </a:spcAft>
              <a:defRPr sz="18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提供"一图统览"的态势感知可视化大屏</a:t>
            </a:r>
          </a:p>
          <a:p>
            <a:pPr>
              <a:spcAft>
                <a:spcPts val="800"/>
              </a:spcAft>
              <a:defRPr sz="18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基于开放数据构建可验证原型系统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73E8"/>
                </a:solidFill>
                <a:latin typeface="微软雅黑"/>
              </a:defRPr>
            </a:pPr>
            <a:r>
              <a:t>设计原则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真实数据驱动：地理和气象数据来自开放API</a:t>
            </a:r>
          </a:p>
          <a:p>
            <a:pPr>
              <a:spcAft>
                <a:spcPts val="800"/>
              </a:spcAft>
              <a:defRPr sz="18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不编造数值：敏感字段设为0，确保可信</a:t>
            </a:r>
          </a:p>
          <a:p>
            <a:pPr>
              <a:spcAft>
                <a:spcPts val="800"/>
              </a:spcAft>
              <a:defRPr sz="18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模块化架构：前后端分离，便于扩展</a:t>
            </a:r>
          </a:p>
          <a:p>
            <a:pPr>
              <a:spcAft>
                <a:spcPts val="800"/>
              </a:spcAft>
              <a:defRPr sz="18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可追溯性：每条数据标注来源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微软雅黑"/>
              </a:defRPr>
            </a:pPr>
            <a:r>
              <a:t>系统总体架构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88720"/>
            <a:ext cx="94484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188720"/>
            <a:ext cx="137160" cy="10058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2801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微软雅黑"/>
              </a:defRPr>
            </a:pPr>
            <a:r>
              <a:t>前端展示层 (Vue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9164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微软雅黑"/>
              </a:defRPr>
            </a:pPr>
            <a:r>
              <a:t>Dashboard | 灾情视图 | 救援视图 | 物资视图 | AI决策</a:t>
            </a:r>
            <a:br/>
            <a:r>
              <a:t>Leaflet地图 | ECharts图表 | Element Plus UI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377440"/>
            <a:ext cx="94484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2377440"/>
            <a:ext cx="137160" cy="1005840"/>
          </a:xfrm>
          <a:prstGeom prst="rect">
            <a:avLst/>
          </a:prstGeom>
          <a:solidFill>
            <a:srgbClr val="0D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46888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04F"/>
                </a:solidFill>
                <a:latin typeface="微软雅黑"/>
              </a:defRPr>
            </a:pPr>
            <a:r>
              <a:t>后端服务层 (FastAPI)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88036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微软雅黑"/>
              </a:defRPr>
            </a:pPr>
            <a:r>
              <a:t>灾情API | 救援API | 物资API | 避难API | AI决策API</a:t>
            </a:r>
            <a:br/>
            <a:r>
              <a:t>CORS中间件 | 健康检查 | 缓存服务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566160"/>
            <a:ext cx="94484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3566160"/>
            <a:ext cx="137160" cy="1005840"/>
          </a:xfrm>
          <a:prstGeom prst="rect">
            <a:avLst/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365760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710A"/>
                </a:solidFill>
                <a:latin typeface="微软雅黑"/>
              </a:defRPr>
            </a:pPr>
            <a:r>
              <a:t>数据层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0690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微软雅黑"/>
              </a:defRPr>
            </a:pPr>
            <a:r>
              <a:t>SQLite数据库 | SQLAlchemy ORM | Redis缓存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754880"/>
            <a:ext cx="944849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4754880"/>
            <a:ext cx="137160" cy="1005840"/>
          </a:xfrm>
          <a:prstGeom prst="rect">
            <a:avLst/>
          </a:prstGeom>
          <a:solidFill>
            <a:srgbClr val="D93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484632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93025"/>
                </a:solidFill>
                <a:latin typeface="微软雅黑"/>
              </a:defRPr>
            </a:pPr>
            <a:r>
              <a:t>外部数据源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2578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6368"/>
                </a:solidFill>
                <a:latin typeface="微软雅黑"/>
              </a:defRPr>
            </a:pPr>
            <a:r>
              <a:t>OpenStreetMap API | Open-Meteo API | OpenAI兼容API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微软雅黑"/>
              </a:defRPr>
            </a:pPr>
            <a:r>
              <a:t>技术栈选型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289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5790895"/>
              </a:tblGrid>
              <a:tr h="5283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层级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选型理由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前端框架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Vue 3 + Vite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组合式API、响应式数据绑定、快速热更新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UI组件库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Element Plus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丰富的企业级组件、主题定制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地图引擎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Leaflet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轻量级、开源、支持自定义标记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图表库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ECharts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丰富的图表类型、交互能力强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后端框架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FastAPI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异步支持、自动API文档、高性能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ORM框架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SQLAlchemy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对象化数据库操作、迁移方便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数据库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SQLite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零配置、嵌入式、适合原型开发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AI服务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OpenAI兼容API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支持多种大模型、调用简单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微软雅黑"/>
              </a:defRPr>
            </a:pPr>
            <a:r>
              <a:t>数据库设计（10张核心表）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73E8"/>
                </a:solidFill>
                <a:latin typeface="微软雅黑"/>
              </a:defRPr>
            </a:pPr>
            <a:r>
              <a:t>核心数据表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disaster_events      - 灾情事件（类型、等级、位置）</a:t>
            </a:r>
          </a:p>
          <a:p>
            <a:pPr>
              <a:spcAft>
                <a:spcPts val="4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rescue_teams         - 救援队伍（消防/医疗/无人机/车辆）</a:t>
            </a:r>
          </a:p>
          <a:p>
            <a:pPr>
              <a:spcAft>
                <a:spcPts val="4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relief_materials     - 应急物资（库存、调拨、仓库）</a:t>
            </a:r>
          </a:p>
          <a:p>
            <a:pPr>
              <a:spcAft>
                <a:spcPts val="4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shelters             - 避难场所（容量、设施、状态）</a:t>
            </a:r>
          </a:p>
          <a:p>
            <a:pPr>
              <a:spcAft>
                <a:spcPts val="4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weather_data         - 气象数据（降雨、风速、温度）</a:t>
            </a:r>
          </a:p>
          <a:p>
            <a:pPr>
              <a:spcAft>
                <a:spcPts val="4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road_status          - 道路状态（通畅/拥堵/中断）</a:t>
            </a:r>
          </a:p>
          <a:p>
            <a:pPr>
              <a:spcAft>
                <a:spcPts val="4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population_data      - 人口分布数据</a:t>
            </a:r>
          </a:p>
          <a:p>
            <a:pPr>
              <a:spcAft>
                <a:spcPts val="4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ai_decisions         - AI决策记录（5维度建议）</a:t>
            </a:r>
          </a:p>
          <a:p>
            <a:pPr>
              <a:spcAft>
                <a:spcPts val="4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material_allocations - 物资调拨记录</a:t>
            </a:r>
          </a:p>
          <a:p>
            <a:pPr>
              <a:spcAft>
                <a:spcPts val="4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transfer_records     - 群众转移记录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904F"/>
                </a:solidFill>
                <a:latin typeface="微软雅黑"/>
              </a:defRPr>
            </a:pPr>
            <a:r>
              <a:t>关键设计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枚举类型规范字段：DisasterType、WarningLevel、ResponseLevel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JSON字段存储复杂结构：装备清单、设施清单、重点人群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外键关联保证数据一致性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自动时间戳：created_at、updated_at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支持软删除和状态追踪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微软雅黑"/>
              </a:defRPr>
            </a:pPr>
            <a:r>
              <a:t>数据获取与清洗流程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微软雅黑"/>
              </a:defRPr>
            </a:pPr>
            <a:r>
              <a:t>数据源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OpenStreetMap Overpass API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Open-Meteo气象API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公开报道整理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710A"/>
                </a:solidFill>
                <a:latin typeface="微软雅黑"/>
              </a:defRPr>
            </a:pPr>
            <a:r>
              <a:t>清洗步骤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去重、坐标校验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字段标准化映射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添加source/osm_id溯源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93025"/>
                </a:solidFill>
                <a:latin typeface="微软雅黑"/>
              </a:defRPr>
            </a:pPr>
            <a:r>
              <a:t>清洗原则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6459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保留真实地理坐标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不编造无公开来源数值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每条数据标注来源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40480"/>
            <a:ext cx="11277295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285F4"/>
                </a:solidFill>
                <a:latin typeface="微软雅黑"/>
              </a:defRPr>
            </a:pPr>
            <a:r>
              <a:t>原始JSON → 数据清洗(去重/格式化/字段映射) → processed/*.json → import_real_data.py → SQLite数据库 → FastAPI REST API → 前端展示(Leaflet+ECharts)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微软雅黑"/>
              </a:defRPr>
            </a:pPr>
            <a:r>
              <a:t>数据导入核心逻辑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04F"/>
                </a:solidFill>
                <a:latin typeface="微软雅黑"/>
              </a:defRPr>
            </a:pPr>
            <a:r>
              <a:t>1. 枚举安全转换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109728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73E8"/>
                </a:solidFill>
                <a:latin typeface="Consolas"/>
              </a:defRPr>
            </a:pPr>
            <a:r>
              <a:t>def enum_value(enum_cls, value, fallback):</a:t>
            </a:r>
            <a:br/>
            <a:r>
              <a:t>    try: return enum_cls(value)</a:t>
            </a:r>
            <a:br/>
            <a:r>
              <a:t>    except: return fallback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710A"/>
                </a:solidFill>
                <a:latin typeface="微软雅黑"/>
              </a:defRPr>
            </a:pPr>
            <a:r>
              <a:t>2. 气象预警自动计算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474720"/>
            <a:ext cx="5486400" cy="1371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73E8"/>
                </a:solidFill>
                <a:latin typeface="Consolas"/>
              </a:defRPr>
            </a:pPr>
            <a:r>
              <a:t>if rainfall &gt;= 100: level = red</a:t>
            </a:r>
            <a:br/>
            <a:r>
              <a:t>elif rainfall &gt;= 50:  level = orange</a:t>
            </a:r>
            <a:br/>
            <a:r>
              <a:t>elif rainfall &gt;= 25:  level = yellow</a:t>
            </a:r>
            <a:br/>
            <a:r>
              <a:t>else:                   level = blue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93025"/>
                </a:solidFill>
                <a:latin typeface="微软雅黑"/>
              </a:defRPr>
            </a:pPr>
            <a:r>
              <a:t>3. 敏感字段处理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5303520" cy="1371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373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73E8"/>
                </a:solidFill>
                <a:latin typeface="Consolas"/>
              </a:defRPr>
            </a:pPr>
            <a:r>
              <a:t># 不编造人数和库存</a:t>
            </a:r>
            <a:br/>
            <a:r>
              <a:t>member_count = 0</a:t>
            </a:r>
            <a:br/>
            <a:r>
              <a:t>total_stock = 0</a:t>
            </a:r>
            <a:br/>
            <a:r>
              <a:t>key_population = {</a:t>
            </a:r>
            <a:br/>
            <a:r>
              <a:t>    "note": "未接入公开数据"</a:t>
            </a:r>
            <a:br/>
            <a: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微软雅黑"/>
              </a:defRPr>
            </a:pPr>
            <a:r>
              <a:t>4. 导入流程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0233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reset_tables() - 清空表并重置自增ID</a:t>
            </a:r>
          </a:p>
          <a:p>
            <a:pPr>
              <a:spcAft>
                <a:spcPts val="3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import_disasters() - 导入灾情事件</a:t>
            </a:r>
          </a:p>
          <a:p>
            <a:pPr>
              <a:spcAft>
                <a:spcPts val="3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import_rescue() - 导入消防站+医院</a:t>
            </a:r>
          </a:p>
          <a:p>
            <a:pPr>
              <a:spcAft>
                <a:spcPts val="3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import_materials() - 导入物资目录</a:t>
            </a:r>
          </a:p>
          <a:p>
            <a:pPr>
              <a:spcAft>
                <a:spcPts val="3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import_shelters() - 导入避难场所</a:t>
            </a:r>
          </a:p>
          <a:p>
            <a:pPr>
              <a:spcAft>
                <a:spcPts val="3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import_roads() - 导入道路点位</a:t>
            </a:r>
          </a:p>
          <a:p>
            <a:pPr>
              <a:spcAft>
                <a:spcPts val="3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import_weather() - 导入气象数据</a:t>
            </a:r>
          </a:p>
          <a:p>
            <a:pPr>
              <a:spcAft>
                <a:spcPts val="3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import_population() - 导入人口数据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微软雅黑"/>
              </a:defRPr>
            </a:pPr>
            <a:r>
              <a:t>AI决策引擎设计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微软雅黑"/>
              </a:defRPr>
            </a:pPr>
            <a:r>
              <a:t>输入数据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warning_level: 预警等级</a:t>
            </a:r>
          </a:p>
          <a:p>
            <a:pPr>
              <a:spcAft>
                <a:spcPts val="8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disaster_type: 灾害类型</a:t>
            </a:r>
          </a:p>
          <a:p>
            <a:pPr>
              <a:spcAft>
                <a:spcPts val="8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affected_population: 受灾人口</a:t>
            </a:r>
          </a:p>
          <a:p>
            <a:pPr>
              <a:spcAft>
                <a:spcPts val="8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blocked_roads: 中断道路数</a:t>
            </a:r>
          </a:p>
          <a:p>
            <a:pPr>
              <a:spcAft>
                <a:spcPts val="8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available_hospitals: 可用医院</a:t>
            </a:r>
          </a:p>
          <a:p>
            <a:pPr>
              <a:spcAft>
                <a:spcPts val="8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weather: 天气状况</a:t>
            </a:r>
          </a:p>
          <a:p>
            <a:pPr>
              <a:spcAft>
                <a:spcPts val="8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current_resources: 当前资源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188720"/>
            <a:ext cx="3657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280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904F"/>
                </a:solidFill>
                <a:latin typeface="微软雅黑"/>
              </a:defRPr>
            </a:pPr>
            <a:r>
              <a:t>5维度分析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1. 风险评估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   灾害风险等级和影响范围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2. 响应建议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   应急响应等级(I-IV级)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3. 资源部署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   救援力量调配建议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4. 物资调拨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   应急物资需求计算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5. 群众转移</a:t>
            </a:r>
          </a:p>
          <a:p>
            <a:pPr>
              <a:spcAft>
                <a:spcPts val="200"/>
              </a:spcAft>
              <a:defRPr sz="14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   避难安置计划和策略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1188720"/>
            <a:ext cx="34747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2801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710A"/>
                </a:solidFill>
                <a:latin typeface="微软雅黑"/>
              </a:defRPr>
            </a:pPr>
            <a:r>
              <a:t>输出与容错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JSON结构化响应</a:t>
            </a:r>
          </a:p>
          <a:p>
            <a:pPr>
              <a:spcAft>
                <a:spcPts val="8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temperature=0.7控制创造性</a:t>
            </a:r>
          </a:p>
          <a:p>
            <a:pPr>
              <a:spcAft>
                <a:spcPts val="8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max_tokens=2000限制长度</a:t>
            </a:r>
          </a:p>
          <a:p>
            <a:pPr>
              <a:spcAft>
                <a:spcPts val="8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API失败时切换本地模拟</a:t>
            </a:r>
          </a:p>
          <a:p>
            <a:pPr>
              <a:spcAft>
                <a:spcPts val="8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决策记录持久化存储</a:t>
            </a:r>
          </a:p>
          <a:p>
            <a:pPr>
              <a:spcAft>
                <a:spcPts val="8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支持确认/拒绝操作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微软雅黑"/>
              </a:defRPr>
            </a:pPr>
            <a:r>
              <a:t>AI决策代码实现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4114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1153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A73E8"/>
                </a:solidFill>
                <a:latin typeface="Consolas"/>
              </a:defRPr>
            </a:pPr>
            <a:r>
              <a:t>async def get_ai_decision(input_data: dict) -&gt; dict:</a:t>
            </a:r>
            <a:br/>
            <a:r>
              <a:t>    client = AsyncOpenAI(api_key=settings.OPENAI_API_KEY, base_url=settings.OPENAI_BASE_URL)</a:t>
            </a:r>
            <a:br/>
            <a:r>
              <a:t>    </a:t>
            </a:r>
            <a:br/>
            <a:r>
              <a:t>    prompt = _build_decision_prompt(input_data)</a:t>
            </a:r>
            <a:br/>
            <a:r>
              <a:t>    </a:t>
            </a:r>
            <a:br/>
            <a:r>
              <a:t>    response = await client.chat.completions.create(</a:t>
            </a:r>
            <a:br/>
            <a:r>
              <a:t>        model=settings.OPENAI_MODEL,</a:t>
            </a:r>
            <a:br/>
            <a:r>
              <a:t>        messages=[</a:t>
            </a:r>
            <a:br/>
            <a:r>
              <a:t>            {"role": "system", "content": SYSTEM_PROMPT},  # 5维度分析指令</a:t>
            </a:r>
            <a:br/>
            <a:r>
              <a:t>            {"role": "user", "content": prompt}</a:t>
            </a:r>
            <a:br/>
            <a:r>
              <a:t>        ],</a:t>
            </a:r>
            <a:br/>
            <a:r>
              <a:t>        temperature=0.7,  # 控制创造性</a:t>
            </a:r>
            <a:br/>
            <a:r>
              <a:t>        max_tokens=2000</a:t>
            </a:r>
            <a:br/>
            <a:r>
              <a:t>    )</a:t>
            </a:r>
            <a:br/>
            <a:r>
              <a:t>    </a:t>
            </a:r>
            <a:br/>
            <a:r>
              <a:t>    # 解析JSON输出，失败时返回完整文本</a:t>
            </a:r>
            <a:br/>
            <a:r>
              <a:t>    try:</a:t>
            </a:r>
            <a:br/>
            <a:r>
              <a:t>        result = json.loads(response.content)</a:t>
            </a:r>
            <a:br/>
            <a:r>
              <a:t>    except json.JSONDecodeError:</a:t>
            </a:r>
            <a:br/>
            <a:r>
              <a:t>        result = {"risk_assessment": response.content, ...}</a:t>
            </a:r>
            <a:br/>
            <a:r>
              <a:t>    </a:t>
            </a:r>
            <a:br/>
            <a:r>
              <a:t>    return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285F4"/>
                </a:solidFill>
                <a:latin typeface="微软雅黑"/>
              </a:defRPr>
            </a:pPr>
            <a:r>
              <a:t>API端点：POST /api/ai/decision  |  GET /api/ai/decisions  |  PATCH /api/ai/decisions/{id}/confirm  |  PATCH /api/ai/decisions/{id}/reject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微软雅黑"/>
              </a:defRPr>
            </a:pPr>
            <a:r>
              <a:t>前端架构与路由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微软雅黑"/>
              </a:defRPr>
            </a:pPr>
            <a:r>
              <a:t>路由设计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路径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组件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/dashboard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综合态势大屏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/disasters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DisasterView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灾情管理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/rescue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RescueView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救援力量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/materials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MaterialView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物资调度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/evacuation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EvacuationView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群众转移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/ai-decision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AIDecisionView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AI决策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904F"/>
                </a:solidFill>
                <a:latin typeface="微软雅黑"/>
              </a:defRPr>
            </a:pPr>
            <a:r>
              <a:t>技术特点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路由懒加载（import()动态导入）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Vue 3 Composition API（&lt;script setup&gt;）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Axios统一API请求封装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10秒自动刷新机制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Pinia状态管理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Element Plus组件库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响应式布局适配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微软雅黑"/>
              </a:defRPr>
            </a:pPr>
            <a:r>
              <a:t>Dashboard可视化设计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657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57600" cy="5486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左侧面板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灾情统计（环形饼图）</a:t>
            </a:r>
          </a:p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救援力量（柱状图）</a:t>
            </a:r>
          </a:p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气象预警列表</a:t>
            </a:r>
          </a:p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实时数据指标卡片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3657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657600" cy="548640"/>
          </a:xfrm>
          <a:prstGeom prst="rect">
            <a:avLst/>
          </a:prstGeom>
          <a:solidFill>
            <a:srgbClr val="0D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中间地图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Leaflet态势地图</a:t>
            </a:r>
          </a:p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灾害点（红色脉冲标记）</a:t>
            </a:r>
          </a:p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救援队（绿色，显示人数）</a:t>
            </a:r>
          </a:p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避难所（蓝色标记）</a:t>
            </a:r>
          </a:p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中断道路（红色虚线）</a:t>
            </a:r>
          </a:p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底部实时事件流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657600" cy="548640"/>
          </a:xfrm>
          <a:prstGeom prst="rect">
            <a:avLst/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右侧面板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AI决策建议卡片</a:t>
            </a:r>
          </a:p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物资调度（水平条形图）</a:t>
            </a:r>
          </a:p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群众转移进度条</a:t>
            </a:r>
          </a:p>
          <a:p>
            <a:pPr>
              <a:spcAft>
                <a:spcPts val="600"/>
              </a:spcAft>
              <a:defRPr sz="15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利用率可视化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微软雅黑"/>
              </a:defRPr>
            </a:pPr>
            <a:r>
              <a:t>ECharts图表配置示例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微软雅黑"/>
              </a:defRPr>
            </a:pPr>
            <a:r>
              <a:t>灾情类型分布（环形饼图）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27432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73E8"/>
                </a:solidFill>
                <a:latin typeface="Consolas"/>
              </a:defRPr>
            </a:pPr>
            <a:r>
              <a:t>disasterChart.setOption({</a:t>
            </a:r>
            <a:br/>
            <a:r>
              <a:t>  tooltip: { trigger: 'item' },</a:t>
            </a:r>
            <a:br/>
            <a:r>
              <a:t>  series: [{</a:t>
            </a:r>
            <a:br/>
            <a:r>
              <a:t>    type: 'pie',</a:t>
            </a:r>
            <a:br/>
            <a:r>
              <a:t>    radius: ['34%', '51%'],  // 环形</a:t>
            </a:r>
            <a:br/>
            <a:r>
              <a:t>    center: ['50%', '43%'],</a:t>
            </a:r>
            <a:br/>
            <a:r>
              <a:t>    data: [</a:t>
            </a:r>
            <a:br/>
            <a:r>
              <a:t>      { value: 1, name: '洪涝' },</a:t>
            </a:r>
            <a:br/>
            <a:r>
              <a:t>      { value: 1, name: '极端天气' },</a:t>
            </a:r>
            <a:br/>
            <a:r>
              <a:t>      { value: 1, name: '森林火灾' }</a:t>
            </a:r>
            <a:br/>
            <a:r>
              <a:t>    ],</a:t>
            </a:r>
            <a:br/>
            <a:r>
              <a:t>    label: { color: '#d7efff', fontSize: 10 }</a:t>
            </a:r>
            <a:br/>
            <a:r>
              <a:t>  }]</a:t>
            </a:r>
            <a:br/>
            <a:r>
              <a:t>})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04F"/>
                </a:solidFill>
                <a:latin typeface="微软雅黑"/>
              </a:defRPr>
            </a:pPr>
            <a:r>
              <a:t>动态更新机制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303520" cy="27432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73E8"/>
                </a:solidFill>
                <a:latin typeface="Consolas"/>
              </a:defRPr>
            </a:pPr>
            <a:r>
              <a:t>function updateCharts(disasterStats) {</a:t>
            </a:r>
            <a:br/>
            <a:r>
              <a:t>  const byType = disasterStats?.events_by_type || {}</a:t>
            </a:r>
            <a:br/>
            <a:r>
              <a:t>  const data = Object.entries(byType)</a:t>
            </a:r>
            <a:br/>
            <a:r>
              <a:t>    .filter(([, v]) =&gt; v &gt; 0)</a:t>
            </a:r>
            <a:br/>
            <a:r>
              <a:t>    .map(([name, value]) =&gt; ({</a:t>
            </a:r>
            <a:br/>
            <a:r>
              <a:t>      name: translate(name), value</a:t>
            </a:r>
            <a:br/>
            <a:r>
              <a:t>    }))</a:t>
            </a:r>
            <a:br/>
            <a:r>
              <a:t>  disasterChart.setOption({ </a:t>
            </a:r>
            <a:br/>
            <a:r>
              <a:t>    series: [{ data }] </a:t>
            </a:r>
            <a:br/>
            <a:r>
              <a:t>  })</a:t>
            </a:r>
            <a:br/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285F4"/>
                </a:solidFill>
                <a:latin typeface="微软雅黑"/>
              </a:defRPr>
            </a:pPr>
            <a:r>
              <a:t>图表类型：环形饼图（灾情分布） | 柱状图（救援力量） | 水平条形图（物资库存） | 进度条（避难所利用率）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微软雅黑"/>
              </a:defRPr>
            </a:pPr>
            <a:r>
              <a:t>Leaflet地图实现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微软雅黑"/>
              </a:defRPr>
            </a:pPr>
            <a:r>
              <a:t>地图初始化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1828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73E8"/>
                </a:solidFill>
                <a:latin typeface="Consolas"/>
              </a:defRPr>
            </a:pPr>
            <a:r>
              <a:t>map = L.map(mapRef.value, {</a:t>
            </a:r>
            <a:br/>
            <a:r>
              <a:t>  center: [30.5728, 104.0668],  // 成都</a:t>
            </a:r>
            <a:br/>
            <a:r>
              <a:t>  zoom: 12,</a:t>
            </a:r>
            <a:br/>
            <a:r>
              <a:t>  zoomControl: false</a:t>
            </a:r>
            <a:br/>
            <a:r>
              <a:t>})</a:t>
            </a:r>
            <a:br/>
            <a:br/>
            <a:r>
              <a:t>L.tileLayer(</a:t>
            </a:r>
            <a:br/>
            <a:r>
              <a:t>  'https://{s}.tile.openstreetmap.org/{z}/{x}/{y}.png',</a:t>
            </a:r>
            <a:br/>
            <a:r>
              <a:t>  { attribution: '© OpenStreetMap' }</a:t>
            </a:r>
            <a:br/>
            <a:r>
              <a:t>).addTo(map)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04F"/>
                </a:solidFill>
                <a:latin typeface="微软雅黑"/>
              </a:defRPr>
            </a:pPr>
            <a:r>
              <a:t>自定义标记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303520" cy="22860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73E8"/>
                </a:solidFill>
                <a:latin typeface="Consolas"/>
              </a:defRPr>
            </a:pPr>
            <a:r>
              <a:t>const icon = L.divIcon({</a:t>
            </a:r>
            <a:br/>
            <a:r>
              <a:t>  className: 'custom-marker',</a:t>
            </a:r>
            <a:br/>
            <a:r>
              <a:t>  html: `&lt;div class="beacon-marker"&gt;</a:t>
            </a:r>
            <a:br/>
            <a:r>
              <a:t>    &lt;span class="beacon-halo"&gt;&lt;/span&gt;</a:t>
            </a:r>
            <a:br/>
            <a:r>
              <a:t>    &lt;span class="beacon-core"&gt;&lt;/span&gt;</a:t>
            </a:r>
            <a:br/>
            <a:r>
              <a:t>  &lt;/div&gt;`,</a:t>
            </a:r>
            <a:br/>
            <a:r>
              <a:t>  iconSize: [42, 52],</a:t>
            </a:r>
            <a:br/>
            <a:r>
              <a:t>  popupAnchor: [0, -40]</a:t>
            </a:r>
            <a:br/>
            <a:r>
              <a:t>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710A"/>
                </a:solidFill>
                <a:latin typeface="微软雅黑"/>
              </a:defRPr>
            </a:pPr>
            <a:r>
              <a:t>标记类型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663440"/>
          <a:ext cx="112772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6705295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标记类型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样式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数据来源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灾害点位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红色脉冲标记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灾情事件表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救援队伍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绿色标记（显示人数）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救援队伍表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避难场所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蓝色标记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避难场所表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中断道路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红色虚线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道路状态表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微软雅黑"/>
              </a:defRPr>
            </a:pPr>
            <a:r>
              <a:t>API接口设计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  <a:gridCol w="1371600"/>
                <a:gridCol w="4876495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端点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功能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灾情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/api/disasters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GET/POST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灾情查询/录入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灾情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/api/disasters/statistics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统计数据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救援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/api/rescue/teams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救援队伍列表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救援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/api/rescue/statistics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队伍统计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物资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/api/materials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GET/POST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物资管理/调拨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避难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/api/evacuation/shelters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避难场所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AI决策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/api/ai/decision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生成决策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AI决策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/api/ai/decisions/{id}/confirm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PATCH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确认决策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健康检查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/health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5F6368"/>
                          </a:solidFill>
                          <a:latin typeface="微软雅黑"/>
                        </a:defRPr>
                      </a:pPr>
                      <a:r>
                        <a:t>服务状态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微软雅黑"/>
              </a:defRPr>
            </a:pPr>
            <a:r>
              <a:t>系统运行效果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73E8"/>
                </a:solidFill>
                <a:latin typeface="微软雅黑"/>
              </a:defRPr>
            </a:pPr>
            <a:r>
              <a:t>后端启动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22860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73E8"/>
                </a:solidFill>
                <a:latin typeface="Consolas"/>
              </a:defRPr>
            </a:pPr>
            <a:r>
              <a:t>cd backend</a:t>
            </a:r>
            <a:br/>
            <a:r>
              <a:t>pip install -r requirements.txt</a:t>
            </a:r>
            <a:br/>
            <a:r>
              <a:t>python -m app.data.import_real_data</a:t>
            </a:r>
            <a:br/>
            <a:r>
              <a:t>uvicorn main:app --reload \</a:t>
            </a:r>
            <a:br/>
            <a:r>
              <a:t>  --host 127.0.0.1 --port 8000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04F"/>
                </a:solidFill>
                <a:latin typeface="微软雅黑"/>
              </a:defRPr>
            </a:pPr>
            <a:r>
              <a:t>前端启动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303520" cy="13716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73E8"/>
                </a:solidFill>
                <a:latin typeface="Consolas"/>
              </a:defRPr>
            </a:pPr>
            <a:r>
              <a:t>cd frontend</a:t>
            </a:r>
            <a:br/>
            <a:r>
              <a:t>npm install</a:t>
            </a:r>
            <a:br/>
            <a:r>
              <a:t>npm run dev -- \</a:t>
            </a:r>
            <a:br/>
            <a:r>
              <a:t>  --host 127.0.0.1 --port 3000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06240"/>
            <a:ext cx="1127729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73E8"/>
                </a:solidFill>
                <a:latin typeface="微软雅黑"/>
              </a:defRPr>
            </a:pPr>
            <a:r>
              <a:t>访问地址：http://127.0.0.1:3000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710A"/>
                </a:solidFill>
                <a:latin typeface="微软雅黑"/>
              </a:defRPr>
            </a:pPr>
            <a:r>
              <a:t>功能演示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综合大屏：多源数据融合展示    </a:t>
            </a:r>
          </a:p>
          <a:p>
            <a:pPr>
              <a:spcAft>
                <a:spcPts val="2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灾情录入：表单提交+地图标注    </a:t>
            </a:r>
          </a:p>
          <a:p>
            <a:pPr>
              <a:spcAft>
                <a:spcPts val="2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AI决策：输入灾情→生成5维度建议    </a:t>
            </a:r>
          </a:p>
          <a:p>
            <a:pPr>
              <a:spcAft>
                <a:spcPts val="2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物资调拨：库存查询+调拨方案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微软雅黑"/>
              </a:defRPr>
            </a:pPr>
            <a:r>
              <a:t>技术创新点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微软雅黑"/>
              </a:defRPr>
            </a:pPr>
            <a:r>
              <a:t>AI+应急深度融合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微软雅黑"/>
              </a:defRPr>
            </a:pPr>
            <a:r>
              <a:t>将大语言模型应用于应急决策场景，提供结构化、多维度的智能建议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1127729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057400"/>
            <a:ext cx="54864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微软雅黑"/>
              </a:defRPr>
            </a:pPr>
            <a:r>
              <a:t>多源开放数据整合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微软雅黑"/>
              </a:defRPr>
            </a:pPr>
            <a:r>
              <a:t>融合OSM地理数据、Open-Meteo气象API、公开报道，构建可信数据底座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26080"/>
            <a:ext cx="1127729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26080"/>
            <a:ext cx="54864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632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微软雅黑"/>
              </a:defRPr>
            </a:pPr>
            <a:r>
              <a:t>可视化态势感知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063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微软雅黑"/>
              </a:defRPr>
            </a:pPr>
            <a:r>
              <a:t>基于Leaflet+ECharts实现"一图统览"的指挥大屏，支持10秒自动刷新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94760"/>
            <a:ext cx="1127729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94760"/>
            <a:ext cx="54864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31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微软雅黑"/>
              </a:defRPr>
            </a:pPr>
            <a:r>
              <a:t>真实数据驱动设计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微软雅黑"/>
              </a:defRPr>
            </a:pPr>
            <a:r>
              <a:t>所有数据基于公开来源，敏感字段不编造，确保系统科学可验证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63440"/>
            <a:ext cx="1127729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663440"/>
            <a:ext cx="54864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800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微软雅黑"/>
              </a:defRPr>
            </a:pPr>
            <a:r>
              <a:t>双模式数据支持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800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微软雅黑"/>
              </a:defRPr>
            </a:pPr>
            <a:r>
              <a:t>真实公开数据模式（生产）+ 模拟演示数据模式（测试）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532120"/>
            <a:ext cx="1127729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532120"/>
            <a:ext cx="54864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23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微软雅黑"/>
              </a:defRPr>
            </a:pPr>
            <a:r>
              <a:t>容错决策机制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669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6368"/>
                </a:solidFill>
                <a:latin typeface="微软雅黑"/>
              </a:defRPr>
            </a:pPr>
            <a:r>
              <a:t>AI API不可用时自动切换本地模拟决策，保证系统可用性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微软雅黑"/>
              </a:defRPr>
            </a:pPr>
            <a:r>
              <a:t>项目文件结构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微软雅黑"/>
              </a:defRPr>
            </a:pPr>
            <a:r>
              <a:t>后端 (backend/)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486400" cy="4114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73E8"/>
                </a:solidFill>
                <a:latin typeface="Consolas"/>
              </a:defRPr>
            </a:pPr>
            <a:r>
              <a:t>backend/</a:t>
            </a:r>
            <a:br/>
            <a:r>
              <a:t>├── app/</a:t>
            </a:r>
            <a:br/>
            <a:r>
              <a:t>│   ├── api/           # 路由层（6个模块）</a:t>
            </a:r>
            <a:br/>
            <a:r>
              <a:t>│   ├── models/        # 数据模型（10张表）</a:t>
            </a:r>
            <a:br/>
            <a:r>
              <a:t>│   ├── schemas/       # Pydantic数据验证</a:t>
            </a:r>
            <a:br/>
            <a:r>
              <a:t>│   ├── services/      # 业务逻辑（AI服务）</a:t>
            </a:r>
            <a:br/>
            <a:r>
              <a:t>│   ├── data/          # 数据导入脚本</a:t>
            </a:r>
            <a:br/>
            <a:r>
              <a:t>│   └── utils/         # 工具函数（缓存）</a:t>
            </a:r>
            <a:br/>
            <a:r>
              <a:t>├── main.py            # FastAPI入口</a:t>
            </a:r>
            <a:br/>
            <a:r>
              <a:t>└── requirements.txt   # Python依赖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904F"/>
                </a:solidFill>
                <a:latin typeface="微软雅黑"/>
              </a:defRPr>
            </a:pPr>
            <a:r>
              <a:t>前端 (frontend/)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5303520" cy="4114800"/>
          </a:xfrm>
          <a:prstGeom prst="rect">
            <a:avLst/>
          </a:prstGeom>
          <a:solidFill>
            <a:srgbClr val="F1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73E8"/>
                </a:solidFill>
                <a:latin typeface="Consolas"/>
              </a:defRPr>
            </a:pPr>
            <a:r>
              <a:t>frontend/</a:t>
            </a:r>
            <a:br/>
            <a:r>
              <a:t>├── src/</a:t>
            </a:r>
            <a:br/>
            <a:r>
              <a:t>│   ├── views/         # 页面组件（6个视图）</a:t>
            </a:r>
            <a:br/>
            <a:r>
              <a:t>│   ├── api/           # API请求封装</a:t>
            </a:r>
            <a:br/>
            <a:r>
              <a:t>│   ├── router/        # 路由配置</a:t>
            </a:r>
            <a:br/>
            <a:r>
              <a:t>│   └── data/          # 公开知识库数据</a:t>
            </a:r>
            <a:br/>
            <a:r>
              <a:t>├── package.json       # Node依赖</a:t>
            </a:r>
            <a:br/>
            <a:r>
              <a:t>└── vite.config.js     # Vite配置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微软雅黑"/>
              </a:defRPr>
            </a:pPr>
            <a:r>
              <a:t>不足与改进方向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93025"/>
                </a:solidFill>
                <a:latin typeface="微软雅黑"/>
              </a:defRPr>
            </a:pPr>
            <a:r>
              <a:t>当前不足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部分关键数据缺乏稳定公开接口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AI决策依赖外部API，离线支持有限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尚未实现与真实应急系统对接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用户认证和权限管理未实现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实时数据更新频率受限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904F"/>
                </a:solidFill>
                <a:latin typeface="微软雅黑"/>
              </a:defRPr>
            </a:pPr>
            <a:r>
              <a:t>未来方向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接入IoT传感器、卫星遥感数据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引入强化学习优化资源调度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开发移动端应用支持现场指挥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构建数字孪生城市模拟推演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增加多语言和无障碍支持</a:t>
            </a:r>
          </a:p>
          <a:p>
            <a:pPr>
              <a:spcAft>
                <a:spcPts val="800"/>
              </a:spcAft>
              <a:defRPr sz="16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实现WebSocket实时推送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73E8"/>
                </a:solidFill>
                <a:latin typeface="微软雅黑"/>
              </a:defRPr>
            </a:pPr>
            <a: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8534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构建了基于AI的跨部门协同应急响应平台</a:t>
            </a:r>
          </a:p>
          <a:p>
            <a:pPr>
              <a:spcAft>
                <a:spcPts val="1600"/>
              </a:spcAft>
              <a:defRPr sz="20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实现了灾情监测、资源管理、AI决策、可视化展示等核心功能</a:t>
            </a:r>
          </a:p>
          <a:p>
            <a:pPr>
              <a:spcAft>
                <a:spcPts val="1600"/>
              </a:spcAft>
              <a:defRPr sz="20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采用真实公开数据，确保系统的科学性和可验证性</a:t>
            </a:r>
          </a:p>
          <a:p>
            <a:pPr>
              <a:spcAft>
                <a:spcPts val="1600"/>
              </a:spcAft>
              <a:defRPr sz="20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技术栈涵盖Vue 3、FastAPI、Leaflet、ECharts、OpenAI API等</a:t>
            </a:r>
          </a:p>
          <a:p>
            <a:pPr>
              <a:spcAft>
                <a:spcPts val="1600"/>
              </a:spcAft>
              <a:defRPr sz="20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为城市应急管理提供了新的技术思路和实现方案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10362895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754880"/>
            <a:ext cx="10362895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73E8"/>
                </a:solidFill>
                <a:latin typeface="微软雅黑"/>
              </a:defRPr>
            </a:pPr>
            <a:r>
              <a:t>致谢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474720"/>
            <a:ext cx="6705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感谢指导老师的悉心指导</a:t>
            </a:r>
          </a:p>
          <a:p>
            <a:pPr>
              <a:spcAft>
                <a:spcPts val="1200"/>
              </a:spcAft>
              <a:defRPr sz="20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感谢团队成员的协作支持</a:t>
            </a:r>
          </a:p>
          <a:p>
            <a:pPr>
              <a:spcAft>
                <a:spcPts val="1200"/>
              </a:spcAft>
              <a:defRPr sz="20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感谢OpenStreetMap、Open-Meteo等开源数据平台</a:t>
            </a:r>
          </a:p>
          <a:p>
            <a:pPr>
              <a:spcAft>
                <a:spcPts val="1200"/>
              </a:spcAft>
              <a:defRPr sz="2000">
                <a:solidFill>
                  <a:srgbClr val="5F6368"/>
                </a:solidFill>
                <a:latin typeface="微软雅黑"/>
              </a:defRPr>
              <a:buChar char="●"/>
            </a:pPr>
            <a:r>
              <a:t>感谢Vue、FastAPI、Leaflet等开源社区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73E8"/>
                </a:solidFill>
                <a:latin typeface="微软雅黑"/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