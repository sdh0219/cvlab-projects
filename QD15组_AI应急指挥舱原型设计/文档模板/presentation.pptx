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72" r:id="rId14"/>
    <p:sldId id="274" r:id="rId15"/>
    <p:sldId id="27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99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616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869407" y="2280106"/>
            <a:ext cx="5715000" cy="373075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825258" y="-160180"/>
            <a:ext cx="5840990" cy="178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83456"/>
                </a:solidFill>
              </a:rPr>
              <a:t>AI应急指挥舱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732019" y="834670"/>
            <a:ext cx="9063510" cy="168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200" dirty="0">
                <a:solidFill>
                  <a:srgbClr val="0C5DB8"/>
                </a:solidFill>
              </a:rPr>
              <a:t>基于大语言模型与多源数据的智能应急决策系统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8584407" y="5787121"/>
            <a:ext cx="335584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071979" y="6103051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456"/>
                </a:solidFill>
              </a:rPr>
              <a:t>项目：AI应急指挥舱原型设计</a:t>
            </a:r>
            <a:endParaRPr lang="en-US" sz="1500" dirty="0"/>
          </a:p>
        </p:txBody>
      </p:sp>
      <p:pic>
        <p:nvPicPr>
          <p:cNvPr id="16" name="真实系统截图">
            <a:extLst>
              <a:ext uri="{FF2B5EF4-FFF2-40B4-BE49-F238E27FC236}">
                <a16:creationId xmlns:a16="http://schemas.microsoft.com/office/drawing/2014/main" id="{421CE4C2-FC61-7FDB-A7EE-A74FE7DF9E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83707" y="2366883"/>
            <a:ext cx="5486400" cy="3463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64592" cy="164592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32688" y="277281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83456"/>
                </a:solidFill>
              </a:rPr>
              <a:t>研究背景与意义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17220" y="1363387"/>
            <a:ext cx="5257800" cy="5043424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0120" y="1754909"/>
            <a:ext cx="4572000" cy="39616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</a:rPr>
              <a:t>应急管理场景涉及气象、交通、消防、医疗、避难场所和物资保障等多源信息。传统展示方式容易出现数据割裂、响应链条长、历史经验难复用等问题。本项目以公开可核验数据为基础，构建一套可演示、可扩展的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</a:rPr>
              <a:t>应急指挥舱原型，用统一界面完成灾情态势、资源部署、物资调度、群众转移和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</a:rPr>
              <a:t>研判展示。</a:t>
            </a:r>
            <a:endParaRPr lang="en-US" sz="20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16982" y="1554506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601968" y="1768396"/>
            <a:ext cx="457200" cy="44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75D8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59168" y="1698647"/>
            <a:ext cx="3886200" cy="58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400" b="1" dirty="0">
                <a:solidFill>
                  <a:srgbClr val="183456"/>
                </a:solidFill>
              </a:rPr>
              <a:t>构建跨部门协同的应急响应平台，打破数据壁垒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331887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56248" y="3548091"/>
            <a:ext cx="457200" cy="33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75D8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59168" y="3459351"/>
            <a:ext cx="3977640" cy="55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400" b="1" dirty="0">
                <a:solidFill>
                  <a:srgbClr val="183456"/>
                </a:solidFill>
              </a:rPr>
              <a:t>利用</a:t>
            </a:r>
            <a:r>
              <a:rPr lang="en-US" altLang="zh-CN" sz="1400" b="1" dirty="0">
                <a:solidFill>
                  <a:srgbClr val="183456"/>
                </a:solidFill>
              </a:rPr>
              <a:t>AI</a:t>
            </a:r>
            <a:r>
              <a:rPr lang="zh-CN" altLang="en-US" sz="1400" b="1" dirty="0">
                <a:solidFill>
                  <a:srgbClr val="183456"/>
                </a:solidFill>
              </a:rPr>
              <a:t>辅助决策，提升应急响应的科学性和时效性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16982" y="514929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647688" y="5337823"/>
            <a:ext cx="457200" cy="49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5D8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04888" y="5337823"/>
            <a:ext cx="4126992" cy="49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400" b="1" dirty="0"/>
              <a:t>为城市应急管理提供可复用的技术框架</a:t>
            </a:r>
            <a:endParaRPr lang="en-US" sz="1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系统目标与真实数据范围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ADB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000000"/>
                </a:solidFill>
                <a:latin typeface="Microsoft YaHei" panose="020B0503020204020204" pitchFamily="34" charset="-122"/>
              </a:rPr>
              <a:t>5</a:t>
            </a:r>
            <a:endParaRPr lang="en-US" sz="23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7282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灾情复盘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87168" y="1234440"/>
            <a:ext cx="17830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ADB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487168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000000"/>
                </a:solidFill>
                <a:latin typeface="Microsoft YaHei" panose="020B0503020204020204" pitchFamily="34" charset="-122"/>
              </a:rPr>
              <a:t>50</a:t>
            </a:r>
            <a:endParaRPr lang="en-US" sz="23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87168" y="17282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救援公开点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98848" y="1234440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ADB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498848" y="1371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000000"/>
                </a:solidFill>
                <a:latin typeface="Microsoft YaHei" panose="020B0503020204020204" pitchFamily="34" charset="-122"/>
              </a:rPr>
              <a:t>12</a:t>
            </a:r>
            <a:endParaRPr lang="en-US" sz="23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98848" y="17282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>
                <a:solidFill>
                  <a:srgbClr val="000000"/>
                </a:solidFill>
                <a:latin typeface="Microsoft YaHei" panose="020B0503020204020204" pitchFamily="34" charset="-122"/>
              </a:rPr>
              <a:t>候选避难点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27648" y="1234440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ADB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327648" y="1371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000000"/>
                </a:solidFill>
                <a:latin typeface="Microsoft YaHei" panose="020B0503020204020204" pitchFamily="34" charset="-122"/>
              </a:rPr>
              <a:t>2300+</a:t>
            </a:r>
            <a:endParaRPr lang="en-US" sz="23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27648" y="17282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全市避难场所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6448" y="1234440"/>
            <a:ext cx="19202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ADB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156448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000000"/>
                </a:solidFill>
                <a:latin typeface="Microsoft YaHei" panose="020B0503020204020204" pitchFamily="34" charset="-122"/>
              </a:rPr>
              <a:t>15+</a:t>
            </a:r>
            <a:endParaRPr lang="en-US" sz="23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56448" y="17282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>
                <a:solidFill>
                  <a:srgbClr val="000000"/>
                </a:solidFill>
                <a:latin typeface="Microsoft YaHei" panose="020B0503020204020204" pitchFamily="34" charset="-122"/>
              </a:rPr>
              <a:t>粮油保供天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287000" y="123444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ADB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28700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000000"/>
                </a:solidFill>
                <a:latin typeface="Microsoft YaHei" panose="020B0503020204020204" pitchFamily="34" charset="-122"/>
              </a:rPr>
              <a:t>4</a:t>
            </a:r>
            <a:endParaRPr lang="en-US" sz="23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87000" y="17282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>
                <a:solidFill>
                  <a:srgbClr val="000000"/>
                </a:solidFill>
                <a:latin typeface="Microsoft YaHei" panose="020B0503020204020204" pitchFamily="34" charset="-122"/>
              </a:rPr>
              <a:t>复盘短板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368" y="2331720"/>
            <a:ext cx="5303520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4400" y="26334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5DB8"/>
                </a:solidFill>
              </a:rPr>
              <a:t>项目目标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32688" y="2999232"/>
            <a:ext cx="4526280" cy="238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构建面向应急管理部门的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指挥舱原型。实现灾情态势、救援部署、物资调度、群众转移和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辅助决策的闭环展示。使用公开可核验数据替代不可公开字段，避免虚构库存、人员和容量。通过地图、图表、表格和建议卡形成可解释的应急业务视图。</a:t>
            </a:r>
            <a:endParaRPr lang="en-US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2350008"/>
            <a:ext cx="5230368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10528" y="255117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b="1" dirty="0">
                <a:solidFill>
                  <a:srgbClr val="0C5DB8"/>
                </a:solidFill>
              </a:rPr>
              <a:t>设计原则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10528" y="3138492"/>
            <a:ext cx="132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600" b="1" dirty="0">
                <a:solidFill>
                  <a:srgbClr val="1D75D8"/>
                </a:solidFill>
              </a:rPr>
              <a:t>真实数据驱动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13192" y="31729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</a:rPr>
              <a:t>所有地理和气象数据来自开放</a:t>
            </a:r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</a:rPr>
              <a:t>API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56248" y="3502152"/>
            <a:ext cx="2084011" cy="100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600" b="1" dirty="0">
                <a:solidFill>
                  <a:srgbClr val="1D75D8"/>
                </a:solidFill>
              </a:rPr>
              <a:t>模块化架构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13191" y="3781828"/>
            <a:ext cx="3583809" cy="4701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</a:rPr>
              <a:t>前后端分离，便于扩展和维护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56248" y="4171765"/>
            <a:ext cx="2023780" cy="100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600" b="1" dirty="0">
                <a:solidFill>
                  <a:srgbClr val="1D75D8"/>
                </a:solidFill>
              </a:rPr>
              <a:t>可追溯性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13192" y="455528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</a:rPr>
              <a:t>每条数据标注来源，确保可信可验证</a:t>
            </a:r>
            <a:endParaRPr lang="en-US" sz="16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方法架构：公开数据、接口服务与可视化联动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063240" cy="4224528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20A3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41832" y="1627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A36B"/>
                </a:solidFill>
              </a:rPr>
              <a:t>数据层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987552" y="2139696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24712" y="221284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OSM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救援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避难点位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87552" y="2670048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24712" y="274320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Open-</a:t>
            </a:r>
            <a:r>
              <a:rPr lang="en-US" sz="1200" dirty="0" err="1">
                <a:solidFill>
                  <a:srgbClr val="000000"/>
                </a:solidFill>
                <a:latin typeface="Microsoft YaHei" panose="020B0503020204020204" pitchFamily="34" charset="-122"/>
              </a:rPr>
              <a:t>Meteo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气象实况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87552" y="3200400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24712" y="32735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公开保供指标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87552" y="3730752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24712" y="38039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历史灾害复盘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87552" y="4261104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24712" y="433425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道路点位与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SQLite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库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51960" y="1325880"/>
            <a:ext cx="3063240" cy="4224528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07992" y="1627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75D8"/>
                </a:solidFill>
              </a:rPr>
              <a:t>服务层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53712" y="2139696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690872" y="221284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456"/>
                </a:solidFill>
              </a:rPr>
              <a:t>FastAPI REST 接口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53712" y="2670048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690872" y="274320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456"/>
                </a:solidFill>
              </a:rPr>
              <a:t>SQLite 持久化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53712" y="3200400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690872" y="32735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辅助决策规则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53712" y="3730752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690872" y="38039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需求测算 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候选方案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53712" y="4261104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690872" y="433425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</a:rPr>
              <a:t>运行与数据说明</a:t>
            </a:r>
            <a:endParaRPr lang="en-US" sz="1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18120" y="1325880"/>
            <a:ext cx="3063240" cy="4224528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F39A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074152" y="1627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39A22"/>
                </a:solidFill>
              </a:rPr>
              <a:t>交互层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119872" y="2139696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57032" y="221284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456"/>
                </a:solidFill>
              </a:rPr>
              <a:t>Vue + Element Plus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19872" y="2670048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257032" y="274320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456"/>
                </a:solidFill>
              </a:rPr>
              <a:t>ECharts 统计图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19872" y="3200400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257032" y="32735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456"/>
                </a:solidFill>
              </a:rPr>
              <a:t>Leaflet 地图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19872" y="3730752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257032" y="38039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456"/>
                </a:solidFill>
              </a:rPr>
              <a:t>模块化页面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19872" y="4261104"/>
            <a:ext cx="2423160" cy="329184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762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257032" y="433425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456"/>
                </a:solidFill>
              </a:rPr>
              <a:t>实时态势大屏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22192" y="3429000"/>
            <a:ext cx="429768" cy="0"/>
          </a:xfrm>
          <a:prstGeom prst="line">
            <a:avLst/>
          </a:prstGeom>
          <a:noFill/>
          <a:ln w="25400">
            <a:solidFill>
              <a:srgbClr val="1D75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388352" y="3429000"/>
            <a:ext cx="429768" cy="0"/>
          </a:xfrm>
          <a:prstGeom prst="line">
            <a:avLst/>
          </a:prstGeom>
          <a:noFill/>
          <a:ln w="25400">
            <a:solidFill>
              <a:srgbClr val="1D75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技术栈选型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选型理由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前端框架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Vue 3 +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组合式API、响应式数据绑定、快速热更新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UI组件库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Element Plus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丰富的企业级组件、主题定制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地图引擎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Leaflet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轻量级、开源、支持自定义标记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图表库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ECharts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丰富的图表类型、交互能力强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后端框架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异步支持、自动API文档、高性能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ORM框架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SQLAlchemy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对象化数据库操作、迁移方便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rPr dirty="0"/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零配置、嵌入式、适合原型开发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AI服务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OpenAI兼容API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rPr dirty="0" err="1"/>
                        <a:t>支持多种大模型、调用简单</a:t>
                      </a:r>
                      <a:endParaRPr dirty="0"/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数据库设计（10张核心表）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微软雅黑"/>
              </a:defRPr>
            </a:pPr>
            <a:r>
              <a:rPr sz="2800" dirty="0" err="1"/>
              <a:t>核心数据表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1737360"/>
            <a:ext cx="88446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disaster_events</a:t>
            </a:r>
            <a:r>
              <a:rPr sz="2400" dirty="0"/>
              <a:t>      - </a:t>
            </a:r>
            <a:r>
              <a:rPr sz="2400" dirty="0" err="1"/>
              <a:t>灾情事件（类型、等级、位置</a:t>
            </a:r>
            <a:r>
              <a:rPr sz="2400" dirty="0"/>
              <a:t>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rescue_teams</a:t>
            </a:r>
            <a:r>
              <a:rPr sz="2400" dirty="0"/>
              <a:t>         - </a:t>
            </a:r>
            <a:r>
              <a:rPr sz="2400" dirty="0" err="1"/>
              <a:t>救援队伍（消防</a:t>
            </a:r>
            <a:r>
              <a:rPr sz="2400" dirty="0"/>
              <a:t>/</a:t>
            </a:r>
            <a:r>
              <a:rPr sz="2400" dirty="0" err="1"/>
              <a:t>医疗</a:t>
            </a:r>
            <a:r>
              <a:rPr sz="2400" dirty="0"/>
              <a:t>/</a:t>
            </a:r>
            <a:r>
              <a:rPr sz="2400" dirty="0" err="1"/>
              <a:t>无人机</a:t>
            </a:r>
            <a:r>
              <a:rPr sz="2400" dirty="0"/>
              <a:t>/</a:t>
            </a:r>
            <a:r>
              <a:rPr sz="2400" dirty="0" err="1"/>
              <a:t>车辆</a:t>
            </a:r>
            <a:r>
              <a:rPr sz="2400" dirty="0"/>
              <a:t>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relief_materials</a:t>
            </a:r>
            <a:r>
              <a:rPr sz="2400" dirty="0"/>
              <a:t>     - </a:t>
            </a:r>
            <a:r>
              <a:rPr sz="2400" dirty="0" err="1"/>
              <a:t>应急物资（库存、调拨、仓库</a:t>
            </a:r>
            <a:r>
              <a:rPr sz="2400" dirty="0"/>
              <a:t>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/>
              <a:t>shelters             - </a:t>
            </a:r>
            <a:r>
              <a:rPr sz="2400" dirty="0" err="1"/>
              <a:t>避难场所（容量、设施、状态</a:t>
            </a:r>
            <a:r>
              <a:rPr sz="2400" dirty="0"/>
              <a:t>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weather_data</a:t>
            </a:r>
            <a:r>
              <a:rPr sz="2400" dirty="0"/>
              <a:t>         - </a:t>
            </a:r>
            <a:r>
              <a:rPr sz="2400" dirty="0" err="1"/>
              <a:t>气象数据（降雨、风速、温度</a:t>
            </a:r>
            <a:r>
              <a:rPr sz="2400" dirty="0"/>
              <a:t>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road_status</a:t>
            </a:r>
            <a:r>
              <a:rPr sz="2400" dirty="0"/>
              <a:t>          - </a:t>
            </a:r>
            <a:r>
              <a:rPr sz="2400" dirty="0" err="1"/>
              <a:t>道路状态（通畅</a:t>
            </a:r>
            <a:r>
              <a:rPr sz="2400" dirty="0"/>
              <a:t>/</a:t>
            </a:r>
            <a:r>
              <a:rPr sz="2400" dirty="0" err="1"/>
              <a:t>拥堵</a:t>
            </a:r>
            <a:r>
              <a:rPr sz="2400" dirty="0"/>
              <a:t>/</a:t>
            </a:r>
            <a:r>
              <a:rPr sz="2400" dirty="0" err="1"/>
              <a:t>中断</a:t>
            </a:r>
            <a:r>
              <a:rPr sz="2400" dirty="0"/>
              <a:t>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population_data</a:t>
            </a:r>
            <a:r>
              <a:rPr sz="2400" dirty="0"/>
              <a:t>      - </a:t>
            </a:r>
            <a:r>
              <a:rPr sz="2400" dirty="0" err="1"/>
              <a:t>人口分布数据</a:t>
            </a:r>
            <a:endParaRPr sz="2400" dirty="0"/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ai_decisions</a:t>
            </a:r>
            <a:r>
              <a:rPr sz="2400" dirty="0"/>
              <a:t>         - AI决策记录（5维度建议）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material_allocations</a:t>
            </a:r>
            <a:r>
              <a:rPr sz="2400" dirty="0"/>
              <a:t> - </a:t>
            </a:r>
            <a:r>
              <a:rPr sz="2400" dirty="0" err="1"/>
              <a:t>物资调拨记录</a:t>
            </a:r>
            <a:endParaRPr sz="2400" dirty="0"/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</a:pPr>
            <a:r>
              <a:rPr sz="2400" dirty="0" err="1"/>
              <a:t>transfer_records</a:t>
            </a:r>
            <a:r>
              <a:rPr sz="2400" dirty="0"/>
              <a:t>     - </a:t>
            </a:r>
            <a:r>
              <a:rPr sz="2400" dirty="0" err="1"/>
              <a:t>群众转移记录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指挥大屏：真实公开数据驱动的一屏态势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375845"/>
            <a:ext cx="7799832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458200" y="1412421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732520" y="167759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B8"/>
                </a:solidFill>
              </a:rPr>
              <a:t>模块展开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05088" y="2125653"/>
            <a:ext cx="2542032" cy="2395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左侧汇总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5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条公开灾情复盘、救援公开点和气象实况，形成快速态势入口。中部地图叠加灾害点、救援点、避难点和道路点位，实现空间化指挥。右侧汇聚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决策建议、公开物资指标与群众转移规模，支持跨模块联动。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705088" y="4832277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D75D8">
              <a:alpha val="13000"/>
            </a:srgbClr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778240" y="4887141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公开数据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58400" y="4832277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20A36B">
              <a:alpha val="13000"/>
            </a:srgbClr>
          </a:solidFill>
          <a:ln w="12700">
            <a:solidFill>
              <a:srgbClr val="20A3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131552" y="4887141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地图联动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705088" y="5216325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39A22">
              <a:alpha val="13000"/>
            </a:srgbClr>
          </a:solidFill>
          <a:ln w="12700">
            <a:solidFill>
              <a:srgbClr val="F39A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78240" y="5271189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建议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8400" y="5216325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13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0131552" y="5271189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资源总览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8" name="真实系统截图">
            <a:extLst>
              <a:ext uri="{FF2B5EF4-FFF2-40B4-BE49-F238E27FC236}">
                <a16:creationId xmlns:a16="http://schemas.microsoft.com/office/drawing/2014/main" id="{95321F6F-4259-1F45-325C-7DB39A081B4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" y="1412421"/>
            <a:ext cx="77216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灾情态势：历史复盘与极端天气风险识别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431267"/>
            <a:ext cx="7799832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458200" y="1467843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" name="Text 4"/>
          <p:cNvSpPr/>
          <p:nvPr/>
        </p:nvSpPr>
        <p:spPr>
          <a:xfrm>
            <a:off x="8732520" y="173301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B8"/>
                </a:solidFill>
              </a:rPr>
              <a:t>模块展开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05088" y="2181075"/>
            <a:ext cx="2542032" cy="2395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灾情模块展示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5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条公开复盘记录，其中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4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条为极端天气相关案例。页面保留事件类型、预警等级、响应等级和公开事实说明，不编造受灾人口、伤亡和面积等未公开字段。历史短板纠偏用于支撑后续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研判。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705088" y="4887699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E64B5D">
              <a:alpha val="13000"/>
            </a:srgbClr>
          </a:solidFill>
          <a:ln w="12700">
            <a:solidFill>
              <a:srgbClr val="E64B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778240" y="4942563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历史复盘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58400" y="4887699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39A22">
              <a:alpha val="13000"/>
            </a:srgbClr>
          </a:solidFill>
          <a:ln w="12700">
            <a:solidFill>
              <a:srgbClr val="F39A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131552" y="4942563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极端天气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705088" y="5271747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D75D8">
              <a:alpha val="13000"/>
            </a:srgbClr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78240" y="5326611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短板纠偏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8400" y="5271747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20A36B">
              <a:alpha val="13000"/>
            </a:srgbClr>
          </a:solidFill>
          <a:ln w="12700">
            <a:solidFill>
              <a:srgbClr val="20A3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0131552" y="5326611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公开事实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8" name="真实系统截图">
            <a:extLst>
              <a:ext uri="{FF2B5EF4-FFF2-40B4-BE49-F238E27FC236}">
                <a16:creationId xmlns:a16="http://schemas.microsoft.com/office/drawing/2014/main" id="{7D5C0487-A40F-AE35-1BA6-7EC255DF427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" y="1467843"/>
            <a:ext cx="77216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救援部署：</a:t>
            </a:r>
            <a:r>
              <a:rPr lang="en-US" altLang="zh-CN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OSM</a:t>
            </a: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公开救援点位与就近调度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394311"/>
            <a:ext cx="7799832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458200" y="1430887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732520" y="169606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B8"/>
                </a:solidFill>
              </a:rPr>
              <a:t>模块展开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05088" y="2144119"/>
            <a:ext cx="2542032" cy="2395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救援模块接入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OSM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公开医疗、消防等救援资源点位，展示队伍类型、公开属性和点位说明。最近力量查询基于经纬度计算灾害点附近可用资源，为现场先期处置和路径核验提供参考。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705088" y="4850743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20A36B">
              <a:alpha val="13000"/>
            </a:srgbClr>
          </a:solidFill>
          <a:ln w="12700">
            <a:solidFill>
              <a:srgbClr val="20A3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778240" y="4905607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OSM</a:t>
            </a: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点位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58400" y="4850743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D75D8">
              <a:alpha val="13000"/>
            </a:srgbClr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131552" y="4905607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类型分布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705088" y="5234791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39A22">
              <a:alpha val="13000"/>
            </a:srgbClr>
          </a:solidFill>
          <a:ln w="12700">
            <a:solidFill>
              <a:srgbClr val="F39A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78240" y="5289655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就近查询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8400" y="5234791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13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0131552" y="5289655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公开属性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8" name="真实系统截图">
            <a:extLst>
              <a:ext uri="{FF2B5EF4-FFF2-40B4-BE49-F238E27FC236}">
                <a16:creationId xmlns:a16="http://schemas.microsoft.com/office/drawing/2014/main" id="{39578F3A-EB96-61EF-3263-5C26A618F2B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" y="1430887"/>
            <a:ext cx="77216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物资调度：公开保供指标与需求测算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375847"/>
            <a:ext cx="7799832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458200" y="1412423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732520" y="167759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B8"/>
                </a:solidFill>
              </a:rPr>
              <a:t>模块展开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05088" y="2125655"/>
            <a:ext cx="2542032" cy="2395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物资模块采用公开保供指标和应急物资目录进行展示。页面不显示不可核验的实时库存，而是突出粮油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15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日以上、猪肉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日保供等公开依据，并根据输入人口生成饮用水、食品、药品、帐篷等需求测算。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705088" y="4832279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D75D8">
              <a:alpha val="13000"/>
            </a:srgbClr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778240" y="4887143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保供指标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58400" y="4832279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20A36B">
              <a:alpha val="13000"/>
            </a:srgbClr>
          </a:solidFill>
          <a:ln w="12700">
            <a:solidFill>
              <a:srgbClr val="20A3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131552" y="4887143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需求测算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705088" y="5216327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39A22">
              <a:alpha val="13000"/>
            </a:srgbClr>
          </a:solidFill>
          <a:ln w="12700">
            <a:solidFill>
              <a:srgbClr val="F39A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78240" y="5271191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目录管理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8400" y="5216327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13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0131552" y="5271191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调拨依据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8" name="真实系统截图">
            <a:extLst>
              <a:ext uri="{FF2B5EF4-FFF2-40B4-BE49-F238E27FC236}">
                <a16:creationId xmlns:a16="http://schemas.microsoft.com/office/drawing/2014/main" id="{6FD5B20E-F1E1-B7C0-B2AD-A10F227FE70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" y="1412423"/>
            <a:ext cx="77216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群众转移：公开场所规模与候选安置点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950976"/>
            <a:ext cx="7799832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458200" y="98755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732520" y="12527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B8"/>
                </a:solidFill>
              </a:rPr>
              <a:t>模块展开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05088" y="1700784"/>
            <a:ext cx="2542032" cy="2395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群众转移模块展示全市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2300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余个应急避难场所和</a:t>
            </a:r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100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余个公园内避难场所等公开指标。地图样本点作为候选安置点使用；由于逐点容量未公开，系统生成候选方案并提示需现场核验容量后启用。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705088" y="440740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20A36B">
              <a:alpha val="13000"/>
            </a:srgbClr>
          </a:solidFill>
          <a:ln w="12700">
            <a:solidFill>
              <a:srgbClr val="20A3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778240" y="4462272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80" b="1">
                <a:solidFill>
                  <a:srgbClr val="000000"/>
                </a:solidFill>
                <a:latin typeface="Microsoft YaHei" panose="020B0503020204020204" pitchFamily="34" charset="-122"/>
              </a:rPr>
              <a:t>公开规模</a:t>
            </a:r>
            <a:endParaRPr lang="en-US" sz="88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58400" y="440740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D75D8">
              <a:alpha val="13000"/>
            </a:srgbClr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131552" y="4462272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80" b="1">
                <a:solidFill>
                  <a:srgbClr val="000000"/>
                </a:solidFill>
                <a:latin typeface="Microsoft YaHei" panose="020B0503020204020204" pitchFamily="34" charset="-122"/>
              </a:rPr>
              <a:t>候选点位</a:t>
            </a:r>
            <a:endParaRPr lang="en-US" sz="88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705088" y="4791456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39A22">
              <a:alpha val="13000"/>
            </a:srgbClr>
          </a:solidFill>
          <a:ln w="12700">
            <a:solidFill>
              <a:srgbClr val="F39A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78240" y="484632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80" b="1">
                <a:solidFill>
                  <a:srgbClr val="000000"/>
                </a:solidFill>
                <a:latin typeface="Microsoft YaHei" panose="020B0503020204020204" pitchFamily="34" charset="-122"/>
              </a:rPr>
              <a:t>方案生成</a:t>
            </a:r>
            <a:endParaRPr lang="en-US" sz="88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8400" y="4791456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13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0131552" y="484632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80" b="1">
                <a:solidFill>
                  <a:srgbClr val="000000"/>
                </a:solidFill>
                <a:latin typeface="Microsoft YaHei" panose="020B0503020204020204" pitchFamily="34" charset="-122"/>
              </a:rPr>
              <a:t>容量核验</a:t>
            </a:r>
            <a:endParaRPr lang="en-US" sz="88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8" name="真实系统截图">
            <a:extLst>
              <a:ext uri="{FF2B5EF4-FFF2-40B4-BE49-F238E27FC236}">
                <a16:creationId xmlns:a16="http://schemas.microsoft.com/office/drawing/2014/main" id="{BD38118A-2E92-4E89-3B5B-90673832D4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" y="987552"/>
            <a:ext cx="77216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D75D8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3017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2500" b="1">
                <a:solidFill>
                  <a:srgbClr val="000000"/>
                </a:solidFill>
                <a:latin typeface="Microsoft YaHei" panose="020B0503020204020204" pitchFamily="34" charset="-122"/>
              </a:rPr>
              <a:t>辅助决策：历史不足驱动的纠偏建议</a:t>
            </a:r>
            <a:endParaRPr lang="en-US" sz="25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385080"/>
            <a:ext cx="7799832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458200" y="1421656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732520" y="1686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B8"/>
                </a:solidFill>
              </a:rPr>
              <a:t>模块展开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05088" y="2134888"/>
            <a:ext cx="2542032" cy="2395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zh-CN" sz="1400">
                <a:solidFill>
                  <a:srgbClr val="000000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400">
                <a:solidFill>
                  <a:srgbClr val="000000"/>
                </a:solidFill>
                <a:latin typeface="Microsoft YaHei" panose="020B0503020204020204" pitchFamily="34" charset="-122"/>
              </a:rPr>
              <a:t>决策模块以历史灾害复盘、公开指标和当前输入条件为依据，生成风险评估、历史不足、响应建议、资源部署、物资调拨和群众转移建议。纠偏清单针对短临预警、道路可达性、安置匹配和保供口径提出再次发生时的改进方向。</a:t>
            </a:r>
            <a:endParaRPr lang="en-US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705088" y="4841512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E64B5D">
              <a:alpha val="13000"/>
            </a:srgbClr>
          </a:solidFill>
          <a:ln w="12700">
            <a:solidFill>
              <a:srgbClr val="E64B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778240" y="489637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历史复盘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58400" y="4841512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39A22">
              <a:alpha val="13000"/>
            </a:srgbClr>
          </a:solidFill>
          <a:ln w="12700">
            <a:solidFill>
              <a:srgbClr val="F39A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131552" y="489637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风险研判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705088" y="52255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20A36B">
              <a:alpha val="13000"/>
            </a:srgbClr>
          </a:solidFill>
          <a:ln w="12700">
            <a:solidFill>
              <a:srgbClr val="20A3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78240" y="528042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纠偏清单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8400" y="52255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D75D8">
              <a:alpha val="13000"/>
            </a:srgbClr>
          </a:solidFill>
          <a:ln w="12700">
            <a:solidFill>
              <a:srgbClr val="1D75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0131552" y="528042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00000"/>
                </a:solidFill>
                <a:latin typeface="Microsoft YaHei" panose="020B0503020204020204" pitchFamily="34" charset="-122"/>
              </a:rPr>
              <a:t>人机协同</a:t>
            </a:r>
            <a:endParaRPr lang="en-US" sz="10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7660B2D-2EAD-7E71-778A-879B81BA5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07" y="1385080"/>
            <a:ext cx="7830713" cy="43982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技术创新点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AI+应急深度融合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将大语言模型应用于应急决策场景，提供结构化、多维度的智能建议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多源开放数据整合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融合OSM地理数据、Open-Meteo气象API、公开报道，构建可信数据底座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可视化态势感知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基于Leaflet+ECharts实现"一图统览"的指挥大屏，支持10秒自动刷新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真实数据驱动设计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所有数据基于公开来源，敏感字段不编造，确保系统科学可验证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双模式数据支持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rPr dirty="0" err="1"/>
              <a:t>真实公开数据模式（生产</a:t>
            </a:r>
            <a:r>
              <a:rPr dirty="0"/>
              <a:t>）+ </a:t>
            </a:r>
            <a:r>
              <a:rPr dirty="0" err="1"/>
              <a:t>模拟演示数据模式（测试</a:t>
            </a:r>
            <a:r>
              <a:rPr dirty="0"/>
              <a:t>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321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容错决策机制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rPr dirty="0"/>
              <a:t>AI </a:t>
            </a:r>
            <a:r>
              <a:rPr dirty="0" err="1"/>
              <a:t>API不可用时自动切换本地模拟决策，保证系统可用性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不足与改进方向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3025"/>
                </a:solidFill>
                <a:latin typeface="微软雅黑"/>
              </a:defRPr>
            </a:pPr>
            <a:r>
              <a:t>当前不足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部分关键数据缺乏稳定公开接口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AI决策依赖外部API，离线支持有限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尚未实现与真实应急系统对接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用户认证和权限管理未实现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实时数据更新频率受限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04F"/>
                </a:solidFill>
                <a:latin typeface="微软雅黑"/>
              </a:defRPr>
            </a:pPr>
            <a:r>
              <a:t>未来方向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接入IoT传感器、卫星遥感数据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引入强化学习优化资源调度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开发移动端应用支持现场指挥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构建数字孪生城市模拟推演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增加多语言和无障碍支持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</a:pPr>
            <a:r>
              <a:t>实现WebSocket实时推送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</a:pPr>
            <a:r>
              <a:t>构建了基于AI的跨部门协同应急响应平台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</a:pPr>
            <a:r>
              <a:t>实现了灾情监测、资源管理、AI决策、可视化展示等核心功能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</a:pPr>
            <a:r>
              <a:t>采用真实公开数据，确保系统的科学性和可验证性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</a:pPr>
            <a:r>
              <a:t>技术栈涵盖Vue 3、FastAPI、Leaflet、ECharts、OpenAI API等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</a:pPr>
            <a:r>
              <a:t>为城市应急管理提供了新的技术思路和实现方案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2938</TotalTime>
  <Words>1101</Words>
  <Application>Microsoft Office PowerPoint</Application>
  <PresentationFormat>宽屏</PresentationFormat>
  <Paragraphs>183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Emergency Command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AI应急指挥舱原型系统设计与实现</dc:title>
  <dc:subject>AI应急指挥舱原型系统学术汇报</dc:subject>
  <dc:creator>AI Emergency Command Cabin</dc:creator>
  <cp:lastModifiedBy>cyt2003324@outlook.com</cp:lastModifiedBy>
  <cp:revision>14</cp:revision>
  <dcterms:created xsi:type="dcterms:W3CDTF">2026-06-15T08:55:30Z</dcterms:created>
  <dcterms:modified xsi:type="dcterms:W3CDTF">2026-06-23T00:15:35Z</dcterms:modified>
</cp:coreProperties>
</file>