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6" r:id="rId12"/>
    <p:sldId id="272" r:id="rId13"/>
    <p:sldId id="267" r:id="rId14"/>
    <p:sldId id="265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68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的项目是避开危险路段的救援路径规划。核心目标是在灾害发生后，为救援车辆规划一条比普通最短路更安全、更适合通行的路线。项目不是使用手动画的模拟路网，而是结合真实道路网络和真实历史灾害事件，把地震、洪水、火灾影响转换为道路风险权重，再用 Dijkstra 算法计算普通最短路径和安全路径。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传统导航系统通常以距离最短或时间最短作为目标，但在灾害救援中，这个目标并不总是合理。例如地震后山区道路可能发生塌方，暴雨后城区可能出现积水，火灾周边道路可能拥堵或管制。</a:t>
            </a:r>
          </a:p>
          <a:p>
            <a:r>
              <a:t>因此救援路径规划不能只看短不短，还要看能不能安全通行。本项目就是在这个背景下，把道路风险引入路径规划。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项目目标可以概括为三件事：第一，构建真实道路网络；第二，把历史灾害影响区映射到道路边上；第三，用 Dijkstra 算法分别计算普通最短路径和安全路径。最终输出包括路径结果、危险路段识别结果、对比指标，以及适合汇报展示的路线图。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技术路线从数据开始。首先获取真实道路网络，然后整理历史灾害事件的位置和影响范围。接着进行空间叠加，判断哪些道路落入灾害影响区。完成风险标注后，给每条道路边计算综合权重。最后使用 Dijkstra 算法搜索路径，并把普通路径和安全路径做可视化对比。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数据来源是这个项目比较重要的一点。道路方面，我们使用 OSM/Overpass 抓取连续区域路网，也保留了高德路线和交通状态数据。灾害方面，地震使用 USGS 和公开历史资料，洪水使用中国气象数据网及北京 7·21 暴雨公开记录，火灾使用上海胶州路火灾公开资料。</a:t>
            </a:r>
          </a:p>
          <a:p>
            <a:endParaRPr/>
          </a:p>
          <a:p>
            <a:r>
              <a:t>需要说明的是，公开灾害资料通常难以精确到每条道路，所以我们采用灾害影响区缓冲分析，将真实灾害事件映射到道路网络。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在算法中，道路网络被抽象成图结构。图中的节点代表路口、道路折点、救援起点和灾害终点；图中的边代表两点之间的一段道路。每条边都保存距离、危险类型、拥堵程度、是否可通行和综合安全权重。这样 Dijkstra 算法就可以在图上进行搜索。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灾害映射方法是本项目的关键。我们不是手工说某条路危险，而是先确定真实历史灾害点或影响区域，再建立影响缓冲区。随后把道路折线与灾害影响区做空间叠加，如果道路进入影响区，就标记为塌方、积水或火灾风险。这样风险路段是由数据和规则推导出来的，而不是主观指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普通最短路径只使用道路距离作为权重，而安全路径使用综合权重。综合权重由道路距离、灾害风险系数、拥堵修正和特殊附加代价构成。比如正常道路系数为 1，积水道路系数更高，塌方和火灾影响道路代价更高。这样算法自然会避开高风险路段。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Dijkstra 算法适合解决非负权重图中的最短路径问题。它从起点出发，每次扩展当前总代价最小的节点，并不断更新到其他节点的最小代价。本项目中我们使用同一个算法运行两次。第一次边权是道路距离，得到普通最短路径；第二次边权是综合安全权重，得到更适合救援的安全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这一页主要展示的是项目的一键运行界面。我们把前面地震、洪水和火灾三个场景整理成了一个可视化流水线工具。</a:t>
            </a:r>
          </a:p>
          <a:p>
            <a:r>
              <a:rPr lang="zh-CN" altLang="en-US"/>
              <a:t>它的作用是把“真实路网获取、灾害数据读取、危险路段映射、</a:t>
            </a:r>
            <a:r>
              <a:rPr lang="en-US" altLang="zh-CN"/>
              <a:t>Dijkstra </a:t>
            </a:r>
            <a:r>
              <a:rPr lang="zh-CN" altLang="en-US"/>
              <a:t>路径计算、结果输出和可视化生成”串成一个完整流程。</a:t>
            </a:r>
            <a:endParaRPr lang="en-US" altLang="zh-CN"/>
          </a:p>
          <a:p>
            <a:r>
              <a:rPr lang="zh-CN" altLang="en-US"/>
              <a:t>第一，读取 </a:t>
            </a:r>
            <a:r>
              <a:rPr lang="en-US" altLang="zh-CN"/>
              <a:t>JSON </a:t>
            </a:r>
            <a:r>
              <a:rPr lang="zh-CN" altLang="en-US"/>
              <a:t>配置文件，确定起点、终点、灾害类型和灾害影响范围。</a:t>
            </a:r>
          </a:p>
          <a:p>
            <a:r>
              <a:rPr lang="zh-CN" altLang="en-US"/>
              <a:t>第二，通过 </a:t>
            </a:r>
            <a:r>
              <a:rPr lang="en-US" altLang="zh-CN"/>
              <a:t>OSM / Overpass </a:t>
            </a:r>
            <a:r>
              <a:rPr lang="zh-CN" altLang="en-US"/>
              <a:t>获取指定区域内的真实道路网络。道路不是手动画出来的，而是从真实地图路网数据中抽取出来的。</a:t>
            </a:r>
          </a:p>
          <a:p>
            <a:r>
              <a:rPr lang="zh-CN" altLang="en-US"/>
              <a:t>第三，把历史灾害点或灾害影响区叠加到道路网络上。如果某条道路进入灾害缓冲区，就把它标记为塌方、积水、火灾影响或拥堵风险路段。</a:t>
            </a:r>
          </a:p>
          <a:p>
            <a:r>
              <a:rPr lang="zh-CN" altLang="en-US"/>
              <a:t>第四，把道路网络转换成图结构。路口或道路节点作为图的节点，道路段作为图的边，每条边包含距离、道路名称、危险类型、拥堵程度和综合权重。</a:t>
            </a:r>
          </a:p>
          <a:p>
            <a:r>
              <a:rPr lang="zh-CN" altLang="en-US"/>
              <a:t>第五，使用 </a:t>
            </a:r>
            <a:r>
              <a:rPr lang="en-US" altLang="zh-CN"/>
              <a:t>Dijkstra </a:t>
            </a:r>
            <a:r>
              <a:rPr lang="zh-CN" altLang="en-US"/>
              <a:t>算法计算两条路线。第一条是普通最短路径，只考虑距离；第二条是安全路径，综合考虑距离、灾害风险和拥堵因素。</a:t>
            </a:r>
          </a:p>
          <a:p>
            <a:r>
              <a:rPr lang="zh-CN" altLang="en-US"/>
              <a:t>第六，输出结果文件和可视化图片。结果包括节点表、道路边表、灾害映射表、路径结果 </a:t>
            </a:r>
            <a:r>
              <a:rPr lang="en-US" altLang="zh-CN"/>
              <a:t>JSON、</a:t>
            </a:r>
            <a:r>
              <a:rPr lang="zh-CN" altLang="en-US"/>
              <a:t>路径对比 </a:t>
            </a:r>
            <a:r>
              <a:rPr lang="en-US" altLang="zh-CN"/>
              <a:t>CSV、</a:t>
            </a:r>
            <a:r>
              <a:rPr lang="zh-CN" altLang="en-US"/>
              <a:t>路线图和流水线摘要。</a:t>
            </a:r>
          </a:p>
          <a:p>
            <a:r>
              <a:rPr lang="zh-CN" altLang="en-US"/>
              <a:t>因为这个项目不只是做一次固定实验，而是希望形成一个可以复用的救援路径规划流程。通过这个界面，我们可以快速切换不同灾害和不同城市，验证算法在地震、洪水、火灾等场景下的适用性。这样项目不仅有算法结果，也有比较完整的工程化实现。</a:t>
            </a:r>
          </a:p>
          <a:p>
            <a:r>
              <a:rPr lang="zh-CN" altLang="en-US"/>
              <a:t>道路数据使用的是 </a:t>
            </a:r>
            <a:r>
              <a:rPr lang="en-US" altLang="zh-CN"/>
              <a:t>OSM / Overpass </a:t>
            </a:r>
            <a:r>
              <a:rPr lang="zh-CN" altLang="en-US"/>
              <a:t>获取的真实道路网络；灾害数据使用公开历史灾害资料中的事件位置、时间和影响范围。由于很多灾害数据很难精确到每一条街道，所以我们采用“真实灾害点或影响区 + 缓冲区叠加”的方式，把灾害影响映射到道路上。这种方法符合实际应急分析中常见的空间叠加思路，也比手动指定危险路段更合理。</a:t>
            </a:r>
          </a:p>
          <a:p>
            <a:r>
              <a:rPr lang="zh-CN" altLang="en-US"/>
              <a:t>普通最短路径只追求距离最短，所以可能穿过灾害影响区或拥堵路段。安全路径会提高危险路段的权重，例如积水、塌方或火灾影响道路的代价更高，因此 </a:t>
            </a:r>
            <a:r>
              <a:rPr lang="en-US" altLang="zh-CN"/>
              <a:t>Dijkstra </a:t>
            </a:r>
            <a:r>
              <a:rPr lang="zh-CN" altLang="en-US"/>
              <a:t>在计算综合代价最小时，会倾向于绕开这些高风险道路。安全路径有时距离更长，但综合通行风险更低，更符合救援场景的需求。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是洪水内涝场景。我们选择 2012 年北京 7·21 特大暴雨作为历史事件，路线从清华大学到北京朝阳站。图中的蓝色半透明区域表示代表性的内涝影响区。普通最短路径距离为 19.905 公里，但经过积水风险路段；安全路径为 22.725 公里，距离略长，但危险边数量降为 0，更适合救援车辆通行。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是城市火灾场景。我们选择 2010 年上海胶州路火灾，起点为武宁消防站，终点为胶州路 728 号火灾点。这个场景除了火场影响区，还引入高德交通状态进行拥堵匹配。普通路径距离只有 2.001 公里，但会经过更多火灾影响边；安全路径距离为 3.725 公里，虽然更长，但减少了火灾风险路段，并综合考虑拥堵因素。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是地震场景。我们选择 2008 年汶川地震作为真实历史事件，路线从成都城区到汶川县城。这个场景的特点是山区道路较多，地震后容易出现滑坡、塌方和道路中断。图中蓝色是普通最短路径，绿色是安全路径，红色区域表示历史地震影响区。可以看到普通最短路径距离更短，但会穿过塌方风险区；安全路径距离增加，但避开了主要风险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这一页汇总三组实验结果。可以看到，在地震和洪水场景中，普通最短路径都经过大量危险边，而安全路径将危险边降为 0。火灾场景中，由于终点本身就在火灾影响区附近，完全避开风险不现实，但安全路径仍减少了火灾影响边，并引入了拥堵因素。这说明安全路径规划的目标不是距离最短，而是综合代价最低。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项目的优点是数据来源较真实，模型流程完整，能够展示灾害风险对路径选择的影响。尤其是使用 OSM 区域道路网后，路线不是孤立的一条线，而是在真实路网中搜索得到。同时也要说明不足。由于公开灾害资料很难提供逐路段损毁记录，所以我们使用缓冲区叠加方法进行风险推导。后续如果能接入官方道路封闭数据、实时灾情或更精细的 GIS 面数据，模型会更接近实际应用。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最后总结一下，本项目围绕灾害应急救援中的路径规划问题，构建了真实道路网络、历史灾害影响区和 Dijkstra 路径搜索模型。实验结果说明，在灾害救援中不能只依赖最短路径。安全路径虽然可能距离更长，但能够减少高风险路段，更符合应急救援需求。我的汇报到这里结束，谢谢大家。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Relationship Id="rId1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tags" Target="../tags/tag15.xml"/><Relationship Id="rId4" Type="http://schemas.openxmlformats.org/officeDocument/2006/relationships/tags" Target="../tags/tag16.xml"/><Relationship Id="rId5" Type="http://schemas.openxmlformats.org/officeDocument/2006/relationships/tags" Target="../tags/tag17.xml"/><Relationship Id="rId6" Type="http://schemas.openxmlformats.org/officeDocument/2006/relationships/tags" Target="../tags/tag18.xml"/><Relationship Id="rId7" Type="http://schemas.openxmlformats.org/officeDocument/2006/relationships/tags" Target="../tags/tag19.xml"/><Relationship Id="rId8" Type="http://schemas.openxmlformats.org/officeDocument/2006/relationships/tags" Target="../tags/tag20.xml"/><Relationship Id="rId9" Type="http://schemas.openxmlformats.org/officeDocument/2006/relationships/tags" Target="../tags/tag21.xml"/><Relationship Id="rId10" Type="http://schemas.openxmlformats.org/officeDocument/2006/relationships/tags" Target="../tags/tag22.xml"/><Relationship Id="rId11" Type="http://schemas.openxmlformats.org/officeDocument/2006/relationships/tags" Target="../tags/tag23.xml"/><Relationship Id="rId12" Type="http://schemas.openxmlformats.org/officeDocument/2006/relationships/tags" Target="../tags/tag24.xm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Relationship Id="rId15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tags" Target="../tags/tag26.xml"/><Relationship Id="rId3" Type="http://schemas.openxmlformats.org/officeDocument/2006/relationships/tags" Target="../tags/tag27.xml"/><Relationship Id="rId4" Type="http://schemas.openxmlformats.org/officeDocument/2006/relationships/tags" Target="../tags/tag28.xml"/><Relationship Id="rId5" Type="http://schemas.openxmlformats.org/officeDocument/2006/relationships/tags" Target="../tags/tag29.xml"/><Relationship Id="rId6" Type="http://schemas.openxmlformats.org/officeDocument/2006/relationships/tags" Target="../tags/tag30.xml"/><Relationship Id="rId7" Type="http://schemas.openxmlformats.org/officeDocument/2006/relationships/tags" Target="../tags/tag31.xml"/><Relationship Id="rId8" Type="http://schemas.openxmlformats.org/officeDocument/2006/relationships/tags" Target="../tags/tag32.xml"/><Relationship Id="rId9" Type="http://schemas.openxmlformats.org/officeDocument/2006/relationships/tags" Target="../tags/tag33.xml"/><Relationship Id="rId10" Type="http://schemas.openxmlformats.org/officeDocument/2006/relationships/tags" Target="../tags/tag34.xml"/><Relationship Id="rId11" Type="http://schemas.openxmlformats.org/officeDocument/2006/relationships/tags" Target="../tags/tag35.xml"/><Relationship Id="rId12" Type="http://schemas.openxmlformats.org/officeDocument/2006/relationships/tags" Target="../tags/tag36.xm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Relationship Id="rId15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781050" y="1428750"/>
            <a:ext cx="11326495" cy="746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750" b="1">
                <a:solidFill>
                  <a:srgbClr val="102033"/>
                </a:solidFill>
              </a:defRPr>
            </a:pPr>
            <a:r>
              <a:rPr sz="3750" b="1">
                <a:solidFill>
                  <a:srgbClr val="102033"/>
                </a:solidFill>
              </a:rPr>
              <a:t>避开危险路段的救援路径规划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5725" y="2343150"/>
            <a:ext cx="11915140" cy="5022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5D6B80"/>
                </a:solidFill>
              </a:defRPr>
            </a:pPr>
            <a:r>
              <a:rPr lang="en-US" sz="2100" b="0">
                <a:solidFill>
                  <a:srgbClr val="5D6B80"/>
                </a:solidFill>
              </a:rPr>
              <a:t>           </a:t>
            </a:r>
            <a:r>
              <a:rPr sz="2100" b="0">
                <a:solidFill>
                  <a:srgbClr val="5D6B80"/>
                </a:solidFill>
              </a:rPr>
              <a:t>真实道路网络 + 历史灾害数据 + Dijkstra 安全路径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3644900"/>
            <a:ext cx="11231880" cy="2724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地震 · 洪水 · 火灾 三类救援场景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67715" y="5085080"/>
            <a:ext cx="11244580" cy="376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/>
              <a:t>项目：避开危险路段的救援路径规划</a:t>
            </a:r>
            <a:r>
              <a:rPr lang="en-US" altLang="zh-CN"/>
              <a:t/>
            </a:r>
            <a:r>
              <a:rPr lang="zh-CN" altLang="en-US"/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项目背景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灾害救援场景中，最短路线不一定是最适合路线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1143000" y="1885950"/>
            <a:ext cx="85725" cy="85725"/>
          </a:xfrm>
          <a:prstGeom prst="ellipse">
            <a:avLst/>
          </a:prstGeom>
          <a:solidFill>
            <a:srgbClr val="D64545"/>
          </a:solidFill>
          <a:ln w="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371600" y="1809750"/>
            <a:ext cx="8343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02033"/>
                </a:solidFill>
              </a:defRPr>
            </a:pPr>
            <a:r>
              <a:rPr sz="1875" b="0">
                <a:solidFill>
                  <a:srgbClr val="102033"/>
                </a:solidFill>
              </a:rPr>
              <a:t>地震后可能出现塌方、滑坡、道路中断</a:t>
            </a: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1143000" y="24384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71600" y="2362200"/>
            <a:ext cx="8343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02033"/>
                </a:solidFill>
              </a:defRPr>
            </a:pPr>
            <a:r>
              <a:rPr sz="1875" b="0">
                <a:solidFill>
                  <a:srgbClr val="102033"/>
                </a:solidFill>
              </a:rPr>
              <a:t>暴雨内涝后道路积水、通行能力下降</a:t>
            </a: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143000" y="2990850"/>
            <a:ext cx="85725" cy="85725"/>
          </a:xfrm>
          <a:prstGeom prst="ellipse">
            <a:avLst/>
          </a:prstGeom>
          <a:solidFill>
            <a:srgbClr val="E58B25"/>
          </a:solidFill>
          <a:ln w="0">
            <a:solidFill>
              <a:srgbClr val="E58B2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71600" y="2914650"/>
            <a:ext cx="8343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02033"/>
                </a:solidFill>
              </a:defRPr>
            </a:pPr>
            <a:r>
              <a:rPr sz="1875" b="0">
                <a:solidFill>
                  <a:srgbClr val="102033"/>
                </a:solidFill>
              </a:rPr>
              <a:t>城市火灾救援受火场影响区和道路拥堵制约</a:t>
            </a: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143000" y="35433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71600" y="3467100"/>
            <a:ext cx="8343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02033"/>
                </a:solidFill>
              </a:defRPr>
            </a:pPr>
            <a:r>
              <a:rPr sz="1875" b="0">
                <a:solidFill>
                  <a:srgbClr val="102033"/>
                </a:solidFill>
              </a:rPr>
              <a:t>救援车辆需要综合考虑距离、安全性和通行效率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项目目标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构建面向灾害应急救援的安全路径规划模型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16764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F5EFF"/>
                </a:solidFill>
              </a:defRPr>
            </a:pPr>
            <a:r>
              <a:rPr sz="2025" b="1">
                <a:solidFill>
                  <a:srgbClr val="1F5EFF"/>
                </a:solidFill>
              </a:rPr>
              <a:t>输入数据</a:t>
            </a: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914400" y="22860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43000" y="22098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真实区域道路网络</a:t>
            </a: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914400" y="272415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26479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真实历史灾害事件</a:t>
            </a: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914400" y="31623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43000" y="30861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起点、终点与灾害影响区</a:t>
            </a: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914400" y="360045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35242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道路距离、风险与拥堵属性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72250" y="16764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8A4A"/>
                </a:solidFill>
              </a:defRPr>
            </a:pPr>
            <a:r>
              <a:rPr sz="2025" b="1">
                <a:solidFill>
                  <a:srgbClr val="178A4A"/>
                </a:solidFill>
              </a:rPr>
              <a:t>输出成果</a:t>
            </a: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6610350" y="22860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38950" y="22098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普通最短路径</a:t>
            </a: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6610350" y="272415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38950" y="26479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综合安全路径</a:t>
            </a: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6610350" y="31623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38950" y="30861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危险路段识别结果</a:t>
            </a: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6610350" y="360045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838950" y="35242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路径对比表和可视化图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总体技术路线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从真实数据到安全救援路径的完整流程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0965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5EFF"/>
                </a:solidFill>
              </a:defRPr>
            </a:pPr>
            <a:r>
              <a:rPr sz="1800" b="1">
                <a:solidFill>
                  <a:srgbClr val="1F5EFF"/>
                </a:solidFill>
              </a:rPr>
              <a:t>1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道路数据获取</a:t>
            </a: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2476500" y="2905125"/>
            <a:ext cx="228600" cy="266700"/>
          </a:xfrm>
          <a:prstGeom prst="rightArrow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76225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8E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89560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8A4A"/>
                </a:solidFill>
              </a:defRPr>
            </a:pPr>
            <a:r>
              <a:rPr sz="1800" b="1">
                <a:solidFill>
                  <a:srgbClr val="178A4A"/>
                </a:solidFill>
              </a:rPr>
              <a:t>2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89560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灾害数据整理</a:t>
            </a: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4362450" y="2905125"/>
            <a:ext cx="228600" cy="266700"/>
          </a:xfrm>
          <a:prstGeom prst="rightArrow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64820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8155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5EFF"/>
                </a:solidFill>
              </a:defRPr>
            </a:pPr>
            <a:r>
              <a:rPr sz="1800" b="1">
                <a:solidFill>
                  <a:srgbClr val="1F5EFF"/>
                </a:solidFill>
              </a:rPr>
              <a:t>3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78155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空间叠加</a:t>
            </a: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6248400" y="2905125"/>
            <a:ext cx="228600" cy="266700"/>
          </a:xfrm>
          <a:prstGeom prst="rightArrow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53415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8E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66750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8A4A"/>
                </a:solidFill>
              </a:defRPr>
            </a:pPr>
            <a:r>
              <a:rPr sz="1800" b="1">
                <a:solidFill>
                  <a:srgbClr val="178A4A"/>
                </a:solidFill>
              </a:rPr>
              <a:t>4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66750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权重计算</a:t>
            </a: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8134350" y="2905125"/>
            <a:ext cx="228600" cy="266700"/>
          </a:xfrm>
          <a:prstGeom prst="rightArrow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42010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5345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5EFF"/>
                </a:solidFill>
              </a:defRPr>
            </a:pPr>
            <a:r>
              <a:rPr sz="1800" b="1">
                <a:solidFill>
                  <a:srgbClr val="1F5EFF"/>
                </a:solidFill>
              </a:rPr>
              <a:t>5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55345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Dijkstra</a:t>
            </a:r>
          </a:p>
        </p:txBody>
      </p:sp>
      <p:sp>
        <p:nvSpPr>
          <p:cNvPr id="25" name="右箭头 24"/>
          <p:cNvSpPr>
            <a:spLocks noGrp="1"/>
          </p:cNvSpPr>
          <p:nvPr/>
        </p:nvSpPr>
        <p:spPr>
          <a:xfrm>
            <a:off x="10020300" y="2905125"/>
            <a:ext cx="228600" cy="266700"/>
          </a:xfrm>
          <a:prstGeom prst="rightArrow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1030605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8E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43940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8A4A"/>
                </a:solidFill>
              </a:defRPr>
            </a:pPr>
            <a:r>
              <a:rPr sz="1800" b="1">
                <a:solidFill>
                  <a:srgbClr val="178A4A"/>
                </a:solidFill>
              </a:rPr>
              <a:t>6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43940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结果可视化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238250" y="4095750"/>
            <a:ext cx="9334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核心逻辑：真实道路网络中的每一条道路边，都根据灾害影响和拥堵情况重新计算综合代价。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真实数据来源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道路、灾害与交通状态均来自公开或可调用数据源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1095375" y="17907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323975" y="1714500"/>
            <a:ext cx="9105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OpenStreetMap / Overpass API：区域连续道路网络</a:t>
            </a: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1095375" y="226695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23975" y="2190750"/>
            <a:ext cx="9105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高德 Web 服务：路线数据与上海火灾场景交通状态</a:t>
            </a: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095375" y="2743200"/>
            <a:ext cx="85725" cy="85725"/>
          </a:xfrm>
          <a:prstGeom prst="ellipse">
            <a:avLst/>
          </a:prstGeom>
          <a:solidFill>
            <a:srgbClr val="D64545"/>
          </a:solidFill>
          <a:ln w="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23975" y="2667000"/>
            <a:ext cx="9105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USGS：2008 汶川地震事件资料</a:t>
            </a: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095375" y="321945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23975" y="3143250"/>
            <a:ext cx="9105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中国气象数据网与公开记录：北京 7·21 暴雨内涝</a:t>
            </a: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095375" y="3695700"/>
            <a:ext cx="85725" cy="85725"/>
          </a:xfrm>
          <a:prstGeom prst="ellipse">
            <a:avLst/>
          </a:prstGeom>
          <a:solidFill>
            <a:srgbClr val="E58B25"/>
          </a:solidFill>
          <a:ln w="0">
            <a:solidFill>
              <a:srgbClr val="E58B2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323975" y="3619500"/>
            <a:ext cx="9105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02033"/>
                </a:solidFill>
              </a:defRPr>
            </a:pPr>
            <a:r>
              <a:rPr sz="1725" b="0">
                <a:solidFill>
                  <a:srgbClr val="102033"/>
                </a:solidFill>
              </a:rPr>
              <a:t>公开历史资料：上海胶州路 11·15 火灾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道路网络建模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将真实道路抽象成图结构 Graph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16764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F5EFF"/>
                </a:solidFill>
              </a:defRPr>
            </a:pPr>
            <a:r>
              <a:rPr sz="2025" b="1">
                <a:solidFill>
                  <a:srgbClr val="1F5EFF"/>
                </a:solidFill>
              </a:rPr>
              <a:t>图结构</a:t>
            </a: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914400" y="22860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43000" y="22098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节点：路口、道路折点、起点和终点</a:t>
            </a: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914400" y="272415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26479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边：相邻节点之间的真实道路段</a:t>
            </a: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914400" y="31623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43000" y="30861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无向图：道路默认双向可通行</a:t>
            </a: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914400" y="360045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35242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背景道路和计算道路分开管理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72250" y="16764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8A4A"/>
                </a:solidFill>
              </a:defRPr>
            </a:pPr>
            <a:r>
              <a:rPr sz="2025" b="1">
                <a:solidFill>
                  <a:srgbClr val="178A4A"/>
                </a:solidFill>
              </a:rPr>
              <a:t>道路边属性</a:t>
            </a: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6610350" y="22860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38950" y="22098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距离 distance</a:t>
            </a: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6610350" y="272415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38950" y="26479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危险类型 danger_type</a:t>
            </a: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6610350" y="31623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38950" y="30861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拥堵程度 congestion</a:t>
            </a: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6610350" y="360045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838950" y="35242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是否可通行 passable</a:t>
            </a: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6610350" y="40386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38950" y="39624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综合安全权重 safe_weight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灾害影响区映射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不是手动指定危险路段，而是由空间叠加得到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0965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5EFF"/>
                </a:solidFill>
              </a:defRPr>
            </a:pPr>
            <a:r>
              <a:rPr sz="1800" b="1">
                <a:solidFill>
                  <a:srgbClr val="1F5EFF"/>
                </a:solidFill>
              </a:rPr>
              <a:t>1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历史灾害点</a:t>
            </a: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2476500" y="2905125"/>
            <a:ext cx="228600" cy="266700"/>
          </a:xfrm>
          <a:prstGeom prst="rightArrow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76225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8E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89560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8A4A"/>
                </a:solidFill>
              </a:defRPr>
            </a:pPr>
            <a:r>
              <a:rPr sz="1800" b="1">
                <a:solidFill>
                  <a:srgbClr val="178A4A"/>
                </a:solidFill>
              </a:rPr>
              <a:t>2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89560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影响半径/区域</a:t>
            </a: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4362450" y="2905125"/>
            <a:ext cx="228600" cy="266700"/>
          </a:xfrm>
          <a:prstGeom prst="rightArrow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64820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8155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5EFF"/>
                </a:solidFill>
              </a:defRPr>
            </a:pPr>
            <a:r>
              <a:rPr sz="1800" b="1">
                <a:solidFill>
                  <a:srgbClr val="1F5EFF"/>
                </a:solidFill>
              </a:rPr>
              <a:t>3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78155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道路相交判断</a:t>
            </a: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6248400" y="2905125"/>
            <a:ext cx="228600" cy="266700"/>
          </a:xfrm>
          <a:prstGeom prst="rightArrow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53415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8E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66750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8A4A"/>
                </a:solidFill>
              </a:defRPr>
            </a:pPr>
            <a:r>
              <a:rPr sz="1800" b="1">
                <a:solidFill>
                  <a:srgbClr val="178A4A"/>
                </a:solidFill>
              </a:rPr>
              <a:t>4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66750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标记风险边</a:t>
            </a: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8134350" y="2905125"/>
            <a:ext cx="228600" cy="266700"/>
          </a:xfrm>
          <a:prstGeom prst="rightArrow">
            <a:avLst/>
          </a:prstGeom>
          <a:solidFill>
            <a:srgbClr val="B8C4D4"/>
          </a:solidFill>
          <a:ln w="0">
            <a:solidFill>
              <a:srgbClr val="B8C4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420100" y="2571750"/>
            <a:ext cx="1524000" cy="9525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53450" y="2686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5EFF"/>
                </a:solidFill>
              </a:defRPr>
            </a:pPr>
            <a:r>
              <a:rPr sz="1800" b="1">
                <a:solidFill>
                  <a:srgbClr val="1F5EFF"/>
                </a:solidFill>
              </a:rPr>
              <a:t>5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553450" y="30099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进入权重计算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4900" y="4191000"/>
            <a:ext cx="971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说明：具体到“某条路当时一定受损”的逐路段官方数据较难公开获取，因此项目采用课程级 GIS 缓冲区推导方法。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权重设计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安全路径的目标不是最短距离，而是综合代价最低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17145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综合权重 = 道路距离 × 灾害风险系数 × 拥堵修正系数 + 特殊风险附加代价</a:t>
            </a: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066800" y="278130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38250" y="29146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正常道路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38250" y="31623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8A4A"/>
                </a:solidFill>
              </a:defRPr>
            </a:pPr>
            <a:r>
              <a:rPr sz="1950" b="1">
                <a:solidFill>
                  <a:srgbClr val="178A4A"/>
                </a:solidFill>
              </a:rPr>
              <a:t>1.0</a:t>
            </a: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638550" y="278130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810000" y="29146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积水道路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810000" y="31623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F5EFF"/>
                </a:solidFill>
              </a:defRPr>
            </a:pPr>
            <a:r>
              <a:rPr sz="1950" b="1">
                <a:solidFill>
                  <a:srgbClr val="1F5EFF"/>
                </a:solidFill>
              </a:rPr>
              <a:t>2.2</a:t>
            </a: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210300" y="278130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81750" y="29146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塌方风险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81750" y="31623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D64545"/>
                </a:solidFill>
              </a:defRPr>
            </a:pPr>
            <a:r>
              <a:rPr sz="1950" b="1">
                <a:solidFill>
                  <a:srgbClr val="D64545"/>
                </a:solidFill>
              </a:rPr>
              <a:t>4-8</a:t>
            </a: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782050" y="278130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953500" y="29146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火灾影响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953500" y="31623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E58B25"/>
                </a:solidFill>
              </a:defRPr>
            </a:pPr>
            <a:r>
              <a:rPr sz="1950" b="1">
                <a:solidFill>
                  <a:srgbClr val="E58B25"/>
                </a:solidFill>
              </a:rPr>
              <a:t>9.0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714500" y="43815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5D6B80"/>
                </a:solidFill>
              </a:defRPr>
            </a:pPr>
            <a:r>
              <a:rPr sz="1875" b="1">
                <a:solidFill>
                  <a:srgbClr val="5D6B80"/>
                </a:solidFill>
              </a:rPr>
              <a:t>风险系数越高，Dijkstra 在搜索安全路径时越倾向于绕开该道路。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Dijkstra 算法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非负权重图中的最小代价路径搜索方法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1190625" y="17907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19225" y="1714500"/>
            <a:ext cx="872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02033"/>
                </a:solidFill>
              </a:defRPr>
            </a:pPr>
            <a:r>
              <a:rPr sz="1875" b="0">
                <a:solidFill>
                  <a:srgbClr val="102033"/>
                </a:solidFill>
              </a:rPr>
              <a:t>从起点开始，记录到每个节点的当前最小代价</a:t>
            </a: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1190625" y="234315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419225" y="2266950"/>
            <a:ext cx="872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02033"/>
                </a:solidFill>
              </a:defRPr>
            </a:pPr>
            <a:r>
              <a:rPr sz="1875" b="0">
                <a:solidFill>
                  <a:srgbClr val="102033"/>
                </a:solidFill>
              </a:rPr>
              <a:t>每次选择当前代价最小、尚未确定的节点</a:t>
            </a: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190625" y="2895600"/>
            <a:ext cx="85725" cy="85725"/>
          </a:xfrm>
          <a:prstGeom prst="ellipse">
            <a:avLst/>
          </a:prstGeom>
          <a:solidFill>
            <a:srgbClr val="E58B25"/>
          </a:solidFill>
          <a:ln w="0">
            <a:solidFill>
              <a:srgbClr val="E58B2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19225" y="2819400"/>
            <a:ext cx="872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02033"/>
                </a:solidFill>
              </a:defRPr>
            </a:pPr>
            <a:r>
              <a:rPr sz="1875" b="0">
                <a:solidFill>
                  <a:srgbClr val="102033"/>
                </a:solidFill>
              </a:rPr>
              <a:t>用该节点更新相邻节点的路径代价</a:t>
            </a: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190625" y="3448050"/>
            <a:ext cx="85725" cy="85725"/>
          </a:xfrm>
          <a:prstGeom prst="ellipse">
            <a:avLst/>
          </a:prstGeom>
          <a:solidFill>
            <a:srgbClr val="D64545"/>
          </a:solidFill>
          <a:ln w="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419225" y="3371850"/>
            <a:ext cx="872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02033"/>
                </a:solidFill>
              </a:defRPr>
            </a:pPr>
            <a:r>
              <a:rPr sz="1875" b="0">
                <a:solidFill>
                  <a:srgbClr val="102033"/>
                </a:solidFill>
              </a:rPr>
              <a:t>直到到达终点，得到总代价最小路径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76350" y="4572000"/>
            <a:ext cx="914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02033"/>
                </a:solidFill>
              </a:defRPr>
            </a:pPr>
            <a:r>
              <a:rPr sz="2025" b="1">
                <a:solidFill>
                  <a:srgbClr val="102033"/>
                </a:solidFill>
              </a:rPr>
              <a:t>本项目运行两次 Dijkstra：距离权重 → 普通最短路径；安全权重 → 安全救援路径。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5325" y="268605"/>
            <a:ext cx="5161915" cy="592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Tx/>
              <a:defRPr sz="2625" b="1">
                <a:solidFill>
                  <a:srgbClr val="102033"/>
                </a:solidFill>
              </a:defRPr>
            </a:pPr>
            <a:r>
              <a:t>项目运行</a:t>
            </a:r>
            <a:r>
              <a:rPr sz="2625" b="1">
                <a:solidFill>
                  <a:srgbClr val="102033"/>
                </a:solidFill>
              </a:rPr>
              <a:t>展示</a:t>
            </a:r>
          </a:p>
        </p:txBody>
      </p:sp>
      <p:pic>
        <p:nvPicPr>
          <p:cNvPr id="3" name="图片 2" descr="屏幕截图 2026-06-23 0907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15" y="764540"/>
            <a:ext cx="9828530" cy="58604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洪水场景：北京 7·21 暴雨内涝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清华大学 → 北京朝阳站，重点考虑积水与通行能力下降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264015" y="177292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435465" y="190627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节点</a:t>
            </a: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435465" y="215392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F5EFF"/>
                </a:solidFill>
              </a:defRPr>
            </a:pPr>
            <a:r>
              <a:rPr sz="1950" b="1">
                <a:solidFill>
                  <a:srgbClr val="1F5EFF"/>
                </a:solidFill>
              </a:rPr>
              <a:t>49603</a:t>
            </a: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264015" y="272542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435465" y="285877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道路边</a:t>
            </a: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435465" y="310642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8A4A"/>
                </a:solidFill>
              </a:defRPr>
            </a:pPr>
            <a:r>
              <a:rPr sz="1950" b="1">
                <a:solidFill>
                  <a:srgbClr val="178A4A"/>
                </a:solidFill>
              </a:rPr>
              <a:t>55430</a:t>
            </a: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264015" y="367792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435465" y="381127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积水边</a:t>
            </a: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435465" y="405892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E58B25"/>
                </a:solidFill>
              </a:defRPr>
            </a:pPr>
            <a:r>
              <a:rPr sz="1950" b="1">
                <a:solidFill>
                  <a:srgbClr val="E58B25"/>
                </a:solidFill>
              </a:rPr>
              <a:t>6607</a:t>
            </a: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264015" y="463042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435465" y="476377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安全路径</a:t>
            </a: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435465" y="501142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8A4A"/>
                </a:solidFill>
              </a:defRPr>
            </a:pPr>
            <a:r>
              <a:rPr sz="1950" b="1">
                <a:solidFill>
                  <a:srgbClr val="178A4A"/>
                </a:solidFill>
              </a:rPr>
              <a:t>22.725 km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F0E935F-9116-982F-3810-A669D0F5E69B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79" y="1613304"/>
            <a:ext cx="8504886" cy="46245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3525" y="260985"/>
            <a:ext cx="3683000" cy="532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Tx/>
            </a:pPr>
            <a:r>
              <a:rPr sz="2625" b="1">
                <a:solidFill>
                  <a:srgbClr val="102033"/>
                </a:solidFill>
              </a:rPr>
              <a:t>运行展示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" y="805815"/>
            <a:ext cx="11732895" cy="5823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火灾场景：上海胶州路火灾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消防站 → 火灾点，重点考虑火场影响区与城市拥堵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264015" y="1628775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435465" y="17621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节点</a:t>
            </a: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435465" y="200977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F5EFF"/>
                </a:solidFill>
              </a:defRPr>
            </a:pPr>
            <a:r>
              <a:rPr sz="1950" b="1">
                <a:solidFill>
                  <a:srgbClr val="1F5EFF"/>
                </a:solidFill>
              </a:rPr>
              <a:t>17644</a:t>
            </a: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264015" y="2581275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435465" y="27146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道路边</a:t>
            </a: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435465" y="296227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8A4A"/>
                </a:solidFill>
              </a:defRPr>
            </a:pPr>
            <a:r>
              <a:rPr sz="1950" b="1">
                <a:solidFill>
                  <a:srgbClr val="178A4A"/>
                </a:solidFill>
              </a:rPr>
              <a:t>19502</a:t>
            </a: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264015" y="3533775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435465" y="36671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拥堵匹配</a:t>
            </a: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435465" y="391477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E58B25"/>
                </a:solidFill>
              </a:defRPr>
            </a:pPr>
            <a:r>
              <a:rPr sz="1950" b="1">
                <a:solidFill>
                  <a:srgbClr val="E58B25"/>
                </a:solidFill>
              </a:rPr>
              <a:t>6272</a:t>
            </a: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264015" y="4486275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435465" y="46196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安全路径</a:t>
            </a: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435465" y="486727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8A4A"/>
                </a:solidFill>
              </a:defRPr>
            </a:pPr>
            <a:r>
              <a:rPr sz="1950" b="1">
                <a:solidFill>
                  <a:srgbClr val="178A4A"/>
                </a:solidFill>
              </a:rPr>
              <a:t>3.725 km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7363748-6FF8-4F78-F3E0-7009AB484A3B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8" y="1452562"/>
            <a:ext cx="9161517" cy="49815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地震场景：2008 汶川地震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成都城区 → 汶川县城，重点考虑山区塌方与道路中断风险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19870" y="188595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291320" y="20193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节点</a:t>
            </a: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291320" y="22669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F5EFF"/>
                </a:solidFill>
              </a:defRPr>
            </a:pPr>
            <a:r>
              <a:rPr sz="1950" b="1">
                <a:solidFill>
                  <a:srgbClr val="1F5EFF"/>
                </a:solidFill>
              </a:rPr>
              <a:t>568070</a:t>
            </a: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119870" y="283845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291320" y="29718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道路边</a:t>
            </a: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291320" y="32194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8A4A"/>
                </a:solidFill>
              </a:defRPr>
            </a:pPr>
            <a:r>
              <a:rPr sz="1950" b="1">
                <a:solidFill>
                  <a:srgbClr val="178A4A"/>
                </a:solidFill>
              </a:rPr>
              <a:t>596062</a:t>
            </a: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119870" y="379095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291320" y="39243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风险边</a:t>
            </a: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291320" y="41719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D64545"/>
                </a:solidFill>
              </a:defRPr>
            </a:pPr>
            <a:r>
              <a:rPr sz="1950" b="1">
                <a:solidFill>
                  <a:srgbClr val="D64545"/>
                </a:solidFill>
              </a:rPr>
              <a:t>25123</a:t>
            </a: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119870" y="4743450"/>
            <a:ext cx="21907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291320" y="48768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80"/>
                </a:solidFill>
              </a:defRPr>
            </a:pPr>
            <a:r>
              <a:rPr sz="1200" b="0">
                <a:solidFill>
                  <a:srgbClr val="5D6B80"/>
                </a:solidFill>
              </a:rPr>
              <a:t>安全路径</a:t>
            </a: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291320" y="51244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8A4A"/>
                </a:solidFill>
              </a:defRPr>
            </a:pPr>
            <a:r>
              <a:rPr sz="1950" b="1">
                <a:solidFill>
                  <a:srgbClr val="178A4A"/>
                </a:solidFill>
              </a:rPr>
              <a:t>208.451 km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F6A3DB5-FC03-72FD-3F2A-9C0D415E5062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" y="1473810"/>
            <a:ext cx="9013295" cy="49009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实验结果对比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安全路径通常更长，但危险路段显著减少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1790700"/>
            <a:ext cx="1714500" cy="552450"/>
          </a:xfrm>
          <a:prstGeom prst="rect">
            <a:avLst/>
          </a:prstGeom>
          <a:solidFill>
            <a:srgbClr val="DDE7F7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193357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场景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571750" y="1790700"/>
            <a:ext cx="2190750" cy="552450"/>
          </a:xfrm>
          <a:prstGeom prst="rect">
            <a:avLst/>
          </a:prstGeom>
          <a:solidFill>
            <a:srgbClr val="DDE7F7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667000" y="19335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普通路径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762500" y="1790700"/>
            <a:ext cx="1714500" cy="552450"/>
          </a:xfrm>
          <a:prstGeom prst="rect">
            <a:avLst/>
          </a:prstGeom>
          <a:solidFill>
            <a:srgbClr val="DDE7F7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857750" y="193357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普通危险边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77000" y="1790700"/>
            <a:ext cx="2190750" cy="552450"/>
          </a:xfrm>
          <a:prstGeom prst="rect">
            <a:avLst/>
          </a:prstGeom>
          <a:solidFill>
            <a:srgbClr val="DDE7F7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72250" y="19335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安全路径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667750" y="1790700"/>
            <a:ext cx="1714500" cy="552450"/>
          </a:xfrm>
          <a:prstGeom prst="rect">
            <a:avLst/>
          </a:prstGeom>
          <a:solidFill>
            <a:srgbClr val="DDE7F7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763000" y="193357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安全危险边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57250" y="234315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52500" y="24860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5D6B80"/>
                </a:solidFill>
              </a:defRPr>
            </a:pPr>
            <a:r>
              <a:rPr sz="1425" b="1">
                <a:solidFill>
                  <a:srgbClr val="5D6B80"/>
                </a:solidFill>
              </a:rPr>
              <a:t>汶川地震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571750" y="234315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667000" y="24860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156.684 km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762500" y="234315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857750" y="24860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816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77000" y="234315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572250" y="24860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208.451 km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667750" y="234315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63000" y="24860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0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57250" y="28956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52500" y="303847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5D6B80"/>
                </a:solidFill>
              </a:defRPr>
            </a:pPr>
            <a:r>
              <a:rPr sz="1425" b="1">
                <a:solidFill>
                  <a:srgbClr val="5D6B80"/>
                </a:solidFill>
              </a:rPr>
              <a:t>北京洪水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571750" y="289560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667000" y="30384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19.905 km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762500" y="28956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857750" y="303847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77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477000" y="289560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572250" y="30384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22.725 km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667750" y="28956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763000" y="303847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0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57250" y="344805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52500" y="35909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5D6B80"/>
                </a:solidFill>
              </a:defRPr>
            </a:pPr>
            <a:r>
              <a:rPr sz="1425" b="1">
                <a:solidFill>
                  <a:srgbClr val="5D6B80"/>
                </a:solidFill>
              </a:rPr>
              <a:t>上海火灾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571750" y="344805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667000" y="35909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2.001 km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762500" y="344805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857750" y="35909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14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477000" y="344805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572250" y="35909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3.725 km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667750" y="344805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763000" y="35909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5D6B80"/>
                </a:solidFill>
              </a:defRPr>
            </a:pPr>
            <a:r>
              <a:rPr sz="1425" b="0">
                <a:solidFill>
                  <a:srgbClr val="5D6B80"/>
                </a:solidFill>
              </a:rPr>
              <a:t>7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200150" y="447675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78A4A"/>
                </a:solidFill>
              </a:defRPr>
            </a:pPr>
            <a:r>
              <a:rPr sz="2025" b="1">
                <a:solidFill>
                  <a:srgbClr val="178A4A"/>
                </a:solidFill>
              </a:rPr>
              <a:t>结论：安全路径不是简单追求更短，而是让救援车辆尽量避开高风险区域。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项目特点与不足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真实数据驱动，但仍属于课程级灾害影响建模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16764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F5EFF"/>
                </a:solidFill>
              </a:defRPr>
            </a:pPr>
            <a:r>
              <a:rPr sz="2025" b="1">
                <a:solidFill>
                  <a:srgbClr val="1F5EFF"/>
                </a:solidFill>
              </a:rPr>
              <a:t>项目特点</a:t>
            </a: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914400" y="22860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43000" y="22098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真实道路网络，不是手画路网</a:t>
            </a: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914400" y="272415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26479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真实历史灾害事件作为背景</a:t>
            </a: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914400" y="31623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43000" y="30861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空间叠加自动识别危险边</a:t>
            </a: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914400" y="360045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35242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Dijkstra 同时支持普通路径和安全路径</a:t>
            </a: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914400" y="40386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43000" y="39624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三类灾害场景覆盖较完整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72250" y="16764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8A4A"/>
                </a:solidFill>
              </a:defRPr>
            </a:pPr>
            <a:r>
              <a:rPr sz="2025" b="1">
                <a:solidFill>
                  <a:srgbClr val="178A4A"/>
                </a:solidFill>
              </a:rPr>
              <a:t>不足与改进</a:t>
            </a: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6610350" y="22860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38950" y="22098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公开资料难以精确到逐路段损毁</a:t>
            </a: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6610350" y="272415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38950" y="26479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灾害影响区采用缓冲区近似</a:t>
            </a: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6610350" y="31623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838950" y="30861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可继续接入实时封路和救援车辆约束</a:t>
            </a: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6610350" y="360045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38950" y="352425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后续可使用更专业 GIS 面数据</a:t>
            </a: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6610350" y="403860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38950" y="3962400"/>
            <a:ext cx="424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可加入实时交通监测更新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033"/>
                </a:solidFill>
              </a:defRPr>
            </a:pPr>
            <a:r>
              <a:rPr sz="2625" b="1">
                <a:solidFill>
                  <a:srgbClr val="102033"/>
                </a:solidFill>
              </a:rPr>
              <a:t>总结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144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80"/>
                </a:solidFill>
              </a:defRPr>
            </a:pPr>
            <a:r>
              <a:rPr sz="1350" b="0">
                <a:solidFill>
                  <a:srgbClr val="5D6B80"/>
                </a:solidFill>
              </a:rPr>
              <a:t>救援路径规划应从“最短”转向“安全且可通行”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76350"/>
            <a:ext cx="10572750" cy="9525"/>
          </a:xfrm>
          <a:prstGeom prst="rect">
            <a:avLst/>
          </a:prstGeom>
          <a:solidFill>
            <a:srgbClr val="E6ECF3"/>
          </a:solidFill>
          <a:ln w="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1238250" y="1885950"/>
            <a:ext cx="85725" cy="85725"/>
          </a:xfrm>
          <a:prstGeom prst="ellipse">
            <a:avLst/>
          </a:prstGeom>
          <a:solidFill>
            <a:srgbClr val="178A4A"/>
          </a:solidFill>
          <a:ln w="0">
            <a:solidFill>
              <a:srgbClr val="178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66850" y="1809750"/>
            <a:ext cx="862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102033"/>
                </a:solidFill>
              </a:defRPr>
            </a:pPr>
            <a:r>
              <a:rPr sz="1950" b="0">
                <a:solidFill>
                  <a:srgbClr val="102033"/>
                </a:solidFill>
              </a:rPr>
              <a:t>完成真实道路网络与历史灾害数据融合</a:t>
            </a: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1238250" y="2476500"/>
            <a:ext cx="85725" cy="85725"/>
          </a:xfrm>
          <a:prstGeom prst="ellipse">
            <a:avLst/>
          </a:prstGeom>
          <a:solidFill>
            <a:srgbClr val="1F5EFF"/>
          </a:solidFill>
          <a:ln w="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466850" y="2400300"/>
            <a:ext cx="862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102033"/>
                </a:solidFill>
              </a:defRPr>
            </a:pPr>
            <a:r>
              <a:rPr sz="1950" b="0">
                <a:solidFill>
                  <a:srgbClr val="102033"/>
                </a:solidFill>
              </a:rPr>
              <a:t>实现基于 Dijkstra 的普通路径与安全路径计算</a:t>
            </a: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238250" y="3067050"/>
            <a:ext cx="85725" cy="85725"/>
          </a:xfrm>
          <a:prstGeom prst="ellipse">
            <a:avLst/>
          </a:prstGeom>
          <a:solidFill>
            <a:srgbClr val="E58B25"/>
          </a:solidFill>
          <a:ln w="0">
            <a:solidFill>
              <a:srgbClr val="E58B2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66850" y="2990850"/>
            <a:ext cx="862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102033"/>
                </a:solidFill>
              </a:defRPr>
            </a:pPr>
            <a:r>
              <a:rPr sz="1950" b="0">
                <a:solidFill>
                  <a:srgbClr val="102033"/>
                </a:solidFill>
              </a:rPr>
              <a:t>通过空间叠加把灾害影响转换为道路风险权重</a:t>
            </a: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238250" y="3657600"/>
            <a:ext cx="85725" cy="85725"/>
          </a:xfrm>
          <a:prstGeom prst="ellipse">
            <a:avLst/>
          </a:prstGeom>
          <a:solidFill>
            <a:srgbClr val="D64545"/>
          </a:solidFill>
          <a:ln w="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466850" y="3581400"/>
            <a:ext cx="862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102033"/>
                </a:solidFill>
              </a:defRPr>
            </a:pPr>
            <a:r>
              <a:rPr sz="1950" b="0">
                <a:solidFill>
                  <a:srgbClr val="102033"/>
                </a:solidFill>
              </a:rPr>
              <a:t>实验表明：安全路径可能更长，但更适合灾害救援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1,&quot;left&quot;:654,&quot;top&quot;:126,&quot;width&quot;:247.9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1,&quot;left&quot;:654,&quot;top&quot;:126,&quot;width&quot;:247.9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1,&quot;left&quot;:654,&quot;top&quot;:126,&quot;width&quot;:247.9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1,&quot;left&quot;:654,&quot;top&quot;:126,&quot;width&quot;:247.9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1,&quot;left&quot;:654,&quot;top&quot;:126,&quot;width&quot;:247.9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1,&quot;left&quot;:654,&quot;top&quot;:126,&quot;width&quot;:247.9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1,&quot;left&quot;:654,&quot;top&quot;:126,&quot;width&quot;:247.9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1,&quot;left&quot;:654,&quot;top&quot;:126,&quot;width&quot;:247.9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1,&quot;left&quot;:654,&quot;top&quot;:126,&quot;width&quot;:247.9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1,&quot;left&quot;:654,&quot;top&quot;:126,&quot;width&quot;:247.9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1,&quot;left&quot;:654,&quot;top&quot;:126,&quot;width&quot;:247.9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1,&quot;left&quot;:654,&quot;top&quot;:126,&quot;width&quot;:247.9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75,&quot;left&quot;:654,&quot;top&quot;:126,&quot;width&quot;:247.9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75,&quot;left&quot;:654,&quot;top&quot;:126,&quot;width&quot;:247.9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75,&quot;left&quot;:654,&quot;top&quot;:126,&quot;width&quot;:247.9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75,&quot;left&quot;:654,&quot;top&quot;:126,&quot;width&quot;:247.9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75,&quot;left&quot;:654,&quot;top&quot;:126,&quot;width&quot;:247.9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75,&quot;left&quot;:654,&quot;top&quot;:126,&quot;width&quot;:247.9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75,&quot;left&quot;:654,&quot;top&quot;:126,&quot;width&quot;:247.9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75,&quot;left&quot;:654,&quot;top&quot;:126,&quot;width&quot;:247.9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75,&quot;left&quot;:654,&quot;top&quot;:126,&quot;width&quot;:247.9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75,&quot;left&quot;:654,&quot;top&quot;:126,&quot;width&quot;:247.9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75,&quot;left&quot;:654,&quot;top&quot;:126,&quot;width&quot;:247.9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75,&quot;left&quot;:654,&quot;top&quot;:126,&quot;width&quot;:247.9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54,&quot;top&quot;:126,&quot;width&quot;:236.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54,&quot;top&quot;:126,&quot;width&quot;:236.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54,&quot;top&quot;:126,&quot;width&quot;:236.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54,&quot;top&quot;:126,&quot;width&quot;:236.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54,&quot;top&quot;:126,&quot;width&quot;:236.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54,&quot;top&quot;:126,&quot;width&quot;:236.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54,&quot;top&quot;:126,&quot;width&quot;:236.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54,&quot;top&quot;:126,&quot;width&quot;:236.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54,&quot;top&quot;:126,&quot;width&quot;:236.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54,&quot;top&quot;:126,&quot;width&quot;:236.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54,&quot;top&quot;:126,&quot;width&quot;:236.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54,&quot;top&quot;:126,&quot;width&quot;:236.6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1232</Words>
  <Application>Microsoft Office PowerPoint</Application>
  <PresentationFormat>宽屏</PresentationFormat>
  <Paragraphs>193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9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焜龙 王</cp:lastModifiedBy>
  <cp:revision>6</cp:revision>
  <dcterms:created xsi:type="dcterms:W3CDTF">2026-06-23T00:55:48Z</dcterms:created>
  <dcterms:modified xsi:type="dcterms:W3CDTF">2026-06-26T08:27:02Z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A2A8787FD8984CC6BE61695A1776A694_12</vt:lpwstr>
  </property>
</Properties>
</file>